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0.svg" ContentType="image/svg+xml"/>
  <Override PartName="/ppt/media/image-1-12.svg" ContentType="image/svg+xml"/>
  <Override PartName="/ppt/media/image-1-2.svg" ContentType="image/svg+xml"/>
  <Override PartName="/ppt/media/image-1-4.svg" ContentType="image/svg+xml"/>
  <Override PartName="/ppt/media/image-1-7.svg" ContentType="image/svg+xml"/>
  <Override PartName="/ppt/media/image-10-10.svg" ContentType="image/svg+xml"/>
  <Override PartName="/ppt/media/image-10-12.svg" ContentType="image/svg+xml"/>
  <Override PartName="/ppt/media/image-10-14.svg" ContentType="image/svg+xml"/>
  <Override PartName="/ppt/media/image-10-16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1-10.svg" ContentType="image/svg+xml"/>
  <Override PartName="/ppt/media/image-11-12.svg" ContentType="image/svg+xml"/>
  <Override PartName="/ppt/media/image-11-2.svg" ContentType="image/svg+xml"/>
  <Override PartName="/ppt/media/image-11-5.svg" ContentType="image/svg+xml"/>
  <Override PartName="/ppt/media/image-11-8.svg" ContentType="image/svg+xml"/>
  <Override PartName="/ppt/media/image-12-10.svg" ContentType="image/svg+xml"/>
  <Override PartName="/ppt/media/image-12-12.svg" ContentType="image/svg+xml"/>
  <Override PartName="/ppt/media/image-12-2.svg" ContentType="image/svg+xml"/>
  <Override PartName="/ppt/media/image-12-4.svg" ContentType="image/svg+xml"/>
  <Override PartName="/ppt/media/image-12-6.svg" ContentType="image/svg+xml"/>
  <Override PartName="/ppt/media/image-12-8.svg" ContentType="image/svg+xml"/>
  <Override PartName="/ppt/media/image-13-10.svg" ContentType="image/svg+xml"/>
  <Override PartName="/ppt/media/image-13-12.svg" ContentType="image/svg+xml"/>
  <Override PartName="/ppt/media/image-13-14.svg" ContentType="image/svg+xml"/>
  <Override PartName="/ppt/media/image-13-16.svg" ContentType="image/svg+xml"/>
  <Override PartName="/ppt/media/image-13-18.svg" ContentType="image/svg+xml"/>
  <Override PartName="/ppt/media/image-13-2.svg" ContentType="image/svg+xml"/>
  <Override PartName="/ppt/media/image-13-20.svg" ContentType="image/svg+xml"/>
  <Override PartName="/ppt/media/image-13-22.svg" ContentType="image/svg+xml"/>
  <Override PartName="/ppt/media/image-13-4.svg" ContentType="image/svg+xml"/>
  <Override PartName="/ppt/media/image-13-6.svg" ContentType="image/svg+xml"/>
  <Override PartName="/ppt/media/image-13-8.svg" ContentType="image/svg+xml"/>
  <Override PartName="/ppt/media/image-14-10.svg" ContentType="image/svg+xml"/>
  <Override PartName="/ppt/media/image-14-12.svg" ContentType="image/svg+xml"/>
  <Override PartName="/ppt/media/image-14-2.svg" ContentType="image/svg+xml"/>
  <Override PartName="/ppt/media/image-14-4.svg" ContentType="image/svg+xml"/>
  <Override PartName="/ppt/media/image-14-6.svg" ContentType="image/svg+xml"/>
  <Override PartName="/ppt/media/image-14-8.svg" ContentType="image/svg+xml"/>
  <Override PartName="/ppt/media/image-15-10.svg" ContentType="image/svg+xml"/>
  <Override PartName="/ppt/media/image-15-12.svg" ContentType="image/svg+xml"/>
  <Override PartName="/ppt/media/image-15-14.svg" ContentType="image/svg+xml"/>
  <Override PartName="/ppt/media/image-15-16.svg" ContentType="image/svg+xml"/>
  <Override PartName="/ppt/media/image-15-18.svg" ContentType="image/svg+xml"/>
  <Override PartName="/ppt/media/image-15-2.svg" ContentType="image/svg+xml"/>
  <Override PartName="/ppt/media/image-15-20.svg" ContentType="image/svg+xml"/>
  <Override PartName="/ppt/media/image-15-4.svg" ContentType="image/svg+xml"/>
  <Override PartName="/ppt/media/image-15-6.svg" ContentType="image/svg+xml"/>
  <Override PartName="/ppt/media/image-15-8.svg" ContentType="image/svg+xml"/>
  <Override PartName="/ppt/media/image-16-10.svg" ContentType="image/svg+xml"/>
  <Override PartName="/ppt/media/image-16-12.svg" ContentType="image/svg+xml"/>
  <Override PartName="/ppt/media/image-16-14.svg" ContentType="image/svg+xml"/>
  <Override PartName="/ppt/media/image-16-16.svg" ContentType="image/svg+xml"/>
  <Override PartName="/ppt/media/image-16-18.svg" ContentType="image/svg+xml"/>
  <Override PartName="/ppt/media/image-16-2.svg" ContentType="image/svg+xml"/>
  <Override PartName="/ppt/media/image-16-4.svg" ContentType="image/svg+xml"/>
  <Override PartName="/ppt/media/image-16-6.svg" ContentType="image/svg+xml"/>
  <Override PartName="/ppt/media/image-16-8.svg" ContentType="image/svg+xml"/>
  <Override PartName="/ppt/media/image-17-10.svg" ContentType="image/svg+xml"/>
  <Override PartName="/ppt/media/image-17-13.svg" ContentType="image/svg+xml"/>
  <Override PartName="/ppt/media/image-17-15.svg" ContentType="image/svg+xml"/>
  <Override PartName="/ppt/media/image-17-17.svg" ContentType="image/svg+xml"/>
  <Override PartName="/ppt/media/image-17-2.svg" ContentType="image/svg+xml"/>
  <Override PartName="/ppt/media/image-17-4.svg" ContentType="image/svg+xml"/>
  <Override PartName="/ppt/media/image-17-6.svg" ContentType="image/svg+xml"/>
  <Override PartName="/ppt/media/image-17-8.svg" ContentType="image/svg+xml"/>
  <Override PartName="/ppt/media/image-18-10.svg" ContentType="image/svg+xml"/>
  <Override PartName="/ppt/media/image-18-2.svg" ContentType="image/svg+xml"/>
  <Override PartName="/ppt/media/image-18-4.svg" ContentType="image/svg+xml"/>
  <Override PartName="/ppt/media/image-18-6.svg" ContentType="image/svg+xml"/>
  <Override PartName="/ppt/media/image-18-8.svg" ContentType="image/svg+xml"/>
  <Override PartName="/ppt/media/image-19-11.svg" ContentType="image/svg+xml"/>
  <Override PartName="/ppt/media/image-19-13.svg" ContentType="image/svg+xml"/>
  <Override PartName="/ppt/media/image-19-2.svg" ContentType="image/svg+xml"/>
  <Override PartName="/ppt/media/image-19-4.svg" ContentType="image/svg+xml"/>
  <Override PartName="/ppt/media/image-19-9.svg" ContentType="image/svg+xml"/>
  <Override PartName="/ppt/media/image-2-10.svg" ContentType="image/svg+xml"/>
  <Override PartName="/ppt/media/image-2-12.svg" ContentType="image/svg+xml"/>
  <Override PartName="/ppt/media/image-2-14.svg" ContentType="image/svg+xml"/>
  <Override PartName="/ppt/media/image-2-16.svg" ContentType="image/svg+xml"/>
  <Override PartName="/ppt/media/image-2-18.svg" ContentType="image/svg+xml"/>
  <Override PartName="/ppt/media/image-2-2.svg" ContentType="image/svg+xml"/>
  <Override PartName="/ppt/media/image-2-20.svg" ContentType="image/svg+xml"/>
  <Override PartName="/ppt/media/image-2-22.svg" ContentType="image/svg+xml"/>
  <Override PartName="/ppt/media/image-2-24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3-12.svg" ContentType="image/svg+xml"/>
  <Override PartName="/ppt/media/image-3-15.svg" ContentType="image/svg+xml"/>
  <Override PartName="/ppt/media/image-3-17.svg" ContentType="image/svg+xml"/>
  <Override PartName="/ppt/media/image-3-19.svg" ContentType="image/svg+xml"/>
  <Override PartName="/ppt/media/image-3-2.svg" ContentType="image/svg+xml"/>
  <Override PartName="/ppt/media/image-3-4.svg" ContentType="image/svg+xml"/>
  <Override PartName="/ppt/media/image-3-7.svg" ContentType="image/svg+xml"/>
  <Override PartName="/ppt/media/image-3-9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16.svg" ContentType="image/svg+xml"/>
  <Override PartName="/ppt/media/image-4-18.svg" ContentType="image/svg+xml"/>
  <Override PartName="/ppt/media/image-4-2.svg" ContentType="image/svg+xml"/>
  <Override PartName="/ppt/media/image-4-20.svg" ContentType="image/svg+xml"/>
  <Override PartName="/ppt/media/image-4-22.svg" ContentType="image/svg+xml"/>
  <Override PartName="/ppt/media/image-4-24.svg" ContentType="image/svg+xml"/>
  <Override PartName="/ppt/media/image-4-26.svg" ContentType="image/svg+xml"/>
  <Override PartName="/ppt/media/image-4-28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10.svg" ContentType="image/svg+xml"/>
  <Override PartName="/ppt/media/image-5-12.svg" ContentType="image/svg+xml"/>
  <Override PartName="/ppt/media/image-5-14.svg" ContentType="image/svg+xml"/>
  <Override PartName="/ppt/media/image-5-16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16.svg" ContentType="image/svg+xml"/>
  <Override PartName="/ppt/media/image-6-18.svg" ContentType="image/svg+xml"/>
  <Override PartName="/ppt/media/image-6-2.svg" ContentType="image/svg+xml"/>
  <Override PartName="/ppt/media/image-6-20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2.svg" ContentType="image/svg+xml"/>
  <Override PartName="/ppt/media/image-7-6.svg" ContentType="image/svg+xml"/>
  <Override PartName="/ppt/media/image-7-8.svg" ContentType="image/svg+xml"/>
  <Override PartName="/ppt/media/image-8-10.svg" ContentType="image/svg+xml"/>
  <Override PartName="/ppt/media/image-8-12.svg" ContentType="image/svg+xml"/>
  <Override PartName="/ppt/media/image-8-14.svg" ContentType="image/svg+xml"/>
  <Override PartName="/ppt/media/image-8-16.svg" ContentType="image/svg+xml"/>
  <Override PartName="/ppt/media/image-8-18.svg" ContentType="image/svg+xml"/>
  <Override PartName="/ppt/media/image-8-2.svg" ContentType="image/svg+xml"/>
  <Override PartName="/ppt/media/image-8-4.svg" ContentType="image/svg+xml"/>
  <Override PartName="/ppt/media/image-8-7.svg" ContentType="image/svg+xml"/>
  <Override PartName="/ppt/media/image-9-10.svg" ContentType="image/svg+xml"/>
  <Override PartName="/ppt/media/image-9-14.svg" ContentType="image/svg+xml"/>
  <Override PartName="/ppt/media/image-9-16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Relationship Id="rId1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Relationship Id="rId2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Relationship Id="rId2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Relationship Id="rId31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Relationship Id="rId19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Relationship Id="rId2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Relationship Id="rId1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Relationship Id="rId21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Relationship Id="rId19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Relationship Id="rId19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Relationship Id="rId1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Relationship Id="rId1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3.xml"/><Relationship Id="rId2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Relationship Id="rId1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5.xml"/><Relationship Id="rId2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Relationship Id="rId21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sv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sv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Relationship Id="rId20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Relationship Id="rId1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sv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sv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Relationship Id="rId1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429625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5402" y="215764"/>
            <a:ext cx="1914525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ENGINEERING · RK3588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复杂背景下红外弱小无人机检测 · 工程化阶段汇报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从“能跑”到“可交付”——RK3588 实时管线的构建与验证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01/09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7188" y="1723653"/>
            <a:ext cx="200025" cy="14288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9320" y="1670075"/>
            <a:ext cx="4786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工程化目标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57187" y="1970112"/>
            <a:ext cx="134704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上能运行的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762665" y="1983730"/>
            <a:ext cx="607219" cy="235744"/>
          </a:xfrm>
          <a:prstGeom prst="roundRect">
            <a:avLst>
              <a:gd name="adj" fmla="val 29385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9"/>
              </a:lnSpc>
              <a:buNone/>
            </a:pPr>
            <a:r>
              <a:rPr lang="en-US" sz="12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算法图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88" y="2425973"/>
            <a:ext cx="328613" cy="714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69" y="2340248"/>
            <a:ext cx="178594" cy="1785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0187" y="2386682"/>
            <a:ext cx="985838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99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SHIFT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357188" y="2638946"/>
            <a:ext cx="4357688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上可 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8A68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、可 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8A68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、可 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8A68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实时管线</a:t>
            </a:r>
            <a:endParaRPr lang="en-US" sz="1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457" y="3401988"/>
            <a:ext cx="4857750" cy="71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8750" y="3552006"/>
            <a:ext cx="435769" cy="221456"/>
          </a:xfrm>
          <a:prstGeom prst="roundRect">
            <a:avLst>
              <a:gd name="adj" fmla="val 5161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</a:t>
            </a:r>
            <a:endParaRPr lang="en-US" sz="600" dirty="0"/>
          </a:p>
        </p:txBody>
      </p:sp>
      <p:sp>
        <p:nvSpPr>
          <p:cNvPr id="20" name="Text 14"/>
          <p:cNvSpPr/>
          <p:nvPr/>
        </p:nvSpPr>
        <p:spPr>
          <a:xfrm>
            <a:off x="869082" y="3552006"/>
            <a:ext cx="435769" cy="221456"/>
          </a:xfrm>
          <a:prstGeom prst="roundRect">
            <a:avLst>
              <a:gd name="adj" fmla="val 5161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>
            <a:off x="1379413" y="3552006"/>
            <a:ext cx="435769" cy="221456"/>
          </a:xfrm>
          <a:prstGeom prst="roundRect">
            <a:avLst>
              <a:gd name="adj" fmla="val 5161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可验收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4332573" y="3602013"/>
            <a:ext cx="87868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汇报团队 · 算法攻坚组</a:t>
            </a:r>
            <a:endParaRPr lang="en-US" sz="600" dirty="0"/>
          </a:p>
        </p:txBody>
      </p:sp>
      <p:sp>
        <p:nvSpPr>
          <p:cNvPr id="23" name="Shape 17"/>
          <p:cNvSpPr/>
          <p:nvPr/>
        </p:nvSpPr>
        <p:spPr>
          <a:xfrm>
            <a:off x="5427464" y="1271588"/>
            <a:ext cx="335756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5520333" y="1364456"/>
            <a:ext cx="3171825" cy="2700338"/>
          </a:xfrm>
          <a:prstGeom prst="roundRect">
            <a:avLst>
              <a:gd name="adj" fmla="val 1433"/>
            </a:avLst>
          </a:prstGeom>
          <a:solidFill>
            <a:srgbClr val="101925"/>
          </a:solidFill>
          <a:ln/>
          <a:effectLst>
            <a:outerShdw sx="100000" sy="100000" kx="0" ky="0" algn="bl" rotWithShape="0" blurRad="101600" dist="50800" dir="16200000">
              <a:srgbClr val="FFFFFF">
                <a:alpha val="7000"/>
              </a:srgbClr>
            </a:outerShdw>
          </a:effectLst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8658" y="1364456"/>
            <a:ext cx="3175174" cy="270033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837029" y="1450181"/>
            <a:ext cx="771525" cy="185738"/>
          </a:xfrm>
          <a:prstGeom prst="roundRect">
            <a:avLst>
              <a:gd name="adj" fmla="val 61538"/>
            </a:avLst>
          </a:prstGeom>
          <a:solidFill>
            <a:srgbClr val="0D141D">
              <a:alpha val="76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7916056" y="1521619"/>
            <a:ext cx="42863" cy="42863"/>
          </a:xfrm>
          <a:prstGeom prst="ellipse">
            <a:avLst/>
          </a:prstGeom>
          <a:solidFill>
            <a:srgbClr val="61C4D1"/>
          </a:solidFill>
          <a:ln/>
          <a:effectLst>
            <a:outerShdw sx="100000" sy="100000" kx="0" ky="0" algn="bl" rotWithShape="0" blurRad="101600" dist="50800" dir="16200000">
              <a:srgbClr val="61C4D1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8008925" y="1507331"/>
            <a:ext cx="520601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C3D0D8"/>
                </a:solidFill>
                <a:highlight>
                  <a:srgbClr val="0D141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PIPELINE</a:t>
            </a:r>
            <a:endParaRPr lang="en-US" sz="500" dirty="0"/>
          </a:p>
        </p:txBody>
      </p:sp>
      <p:sp>
        <p:nvSpPr>
          <p:cNvPr id="29" name="Text 22"/>
          <p:cNvSpPr/>
          <p:nvPr/>
        </p:nvSpPr>
        <p:spPr>
          <a:xfrm>
            <a:off x="357188" y="4286250"/>
            <a:ext cx="8429625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188" y="357188"/>
            <a:ext cx="8429625" cy="785813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188" y="4286250"/>
            <a:ext cx="8429625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8401050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两条战线并行，一个底座支撑，一个阶段收口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02/19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8644" y="1478756"/>
            <a:ext cx="771525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7319" y="1478756"/>
            <a:ext cx="3193256" cy="5000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7331" y="1614487"/>
            <a:ext cx="228600" cy="228600"/>
          </a:xfrm>
          <a:prstGeom prst="roundRect">
            <a:avLst>
              <a:gd name="adj" fmla="val 31250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00013" dist="42863" dir="5400000">
              <a:srgbClr val="122033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1823219" y="1594842"/>
            <a:ext cx="13430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难题一｜GMC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1823219" y="1750219"/>
            <a:ext cx="13430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算力开销大 · 延时高 · 稳定性有前提</a:t>
            </a:r>
            <a:endParaRPr lang="en-US" sz="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1478756"/>
            <a:ext cx="3193256" cy="5000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7738" y="1614487"/>
            <a:ext cx="228600" cy="228600"/>
          </a:xfrm>
          <a:prstGeom prst="roundRect">
            <a:avLst>
              <a:gd name="adj" fmla="val 31250"/>
            </a:avLst>
          </a:prstGeom>
          <a:solidFill>
            <a:srgbClr val="5B7B99"/>
          </a:solidFill>
          <a:ln/>
          <a:effectLst>
            <a:outerShdw sx="100000" sy="100000" kx="0" ky="0" algn="bl" rotWithShape="0" blurRad="100013" dist="42863" dir="5400000">
              <a:srgbClr val="122033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5072844" y="1594842"/>
            <a:ext cx="1443038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难题二｜NPU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5072844" y="1750219"/>
            <a:ext cx="14430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算子匹配不完美 · 推理效率与直觉背离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7908131" y="1478756"/>
            <a:ext cx="1071563" cy="500063"/>
          </a:xfrm>
          <a:prstGeom prst="roundRect">
            <a:avLst>
              <a:gd name="adj" fmla="val 9143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→ 战役→ 交付收口</a:t>
            </a:r>
            <a:endParaRPr lang="en-US" sz="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5597" y="1978819"/>
            <a:ext cx="7144" cy="1371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32734" y="2618184"/>
            <a:ext cx="92869" cy="92869"/>
          </a:xfrm>
          <a:prstGeom prst="ellipse">
            <a:avLst/>
          </a:prstGeom>
          <a:solidFill>
            <a:srgbClr val="F8FAFC"/>
          </a:solidFill>
          <a:ln w="14288">
            <a:solidFill>
              <a:srgbClr val="122033">
                <a:alpha val="24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70000"/>
              </a:srgbClr>
            </a:outerShdw>
          </a:effectLst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644" y="2035969"/>
            <a:ext cx="4114800" cy="125730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788" y="2043113"/>
            <a:ext cx="4100513" cy="2143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" y="2154510"/>
            <a:ext cx="315546" cy="200025"/>
          </a:xfrm>
          <a:prstGeom prst="roundRect">
            <a:avLst>
              <a:gd name="adj" fmla="val 36735"/>
            </a:avLst>
          </a:prstGeom>
          <a:solidFill>
            <a:srgbClr val="C9974D">
              <a:alpha val="16000"/>
            </a:srgbClr>
          </a:solidFill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948947" y="2134530"/>
            <a:ext cx="1078706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A｜GMC 之战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948947" y="2281647"/>
            <a:ext cx="107870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内核融合 · 锚点级联 · 函数缓存</a:t>
            </a:r>
            <a:endParaRPr lang="en-US" sz="500" dirty="0"/>
          </a:p>
        </p:txBody>
      </p:sp>
      <p:sp>
        <p:nvSpPr>
          <p:cNvPr id="27" name="Text 19"/>
          <p:cNvSpPr/>
          <p:nvPr/>
        </p:nvSpPr>
        <p:spPr>
          <a:xfrm>
            <a:off x="4143375" y="2135981"/>
            <a:ext cx="785813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500" dirty="0"/>
          </a:p>
        </p:txBody>
      </p:sp>
      <p:sp>
        <p:nvSpPr>
          <p:cNvPr id="28" name="Shape 20"/>
          <p:cNvSpPr/>
          <p:nvPr/>
        </p:nvSpPr>
        <p:spPr>
          <a:xfrm>
            <a:off x="685800" y="2430214"/>
            <a:ext cx="3900488" cy="364331"/>
          </a:xfrm>
          <a:prstGeom prst="roundRect">
            <a:avLst>
              <a:gd name="adj" fmla="val 14764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1"/>
          <p:cNvSpPr/>
          <p:nvPr/>
        </p:nvSpPr>
        <p:spPr>
          <a:xfrm>
            <a:off x="750094" y="2569518"/>
            <a:ext cx="185738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A7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600" dirty="0"/>
          </a:p>
        </p:txBody>
      </p:sp>
      <p:sp>
        <p:nvSpPr>
          <p:cNvPr id="30" name="Text 22"/>
          <p:cNvSpPr/>
          <p:nvPr/>
        </p:nvSpPr>
        <p:spPr>
          <a:xfrm>
            <a:off x="992981" y="2480221"/>
            <a:ext cx="3421856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 融合内核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+ median 搬上 GPU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4471988" y="2587377"/>
            <a:ext cx="50006" cy="50006"/>
          </a:xfrm>
          <a:prstGeom prst="ellipse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685800" y="2830264"/>
            <a:ext cx="3900488" cy="364331"/>
          </a:xfrm>
          <a:prstGeom prst="roundRect">
            <a:avLst>
              <a:gd name="adj" fmla="val 14764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750094" y="2969568"/>
            <a:ext cx="185738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A7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600" dirty="0"/>
          </a:p>
        </p:txBody>
      </p:sp>
      <p:sp>
        <p:nvSpPr>
          <p:cNvPr id="34" name="Text 26"/>
          <p:cNvSpPr/>
          <p:nvPr/>
        </p:nvSpPr>
        <p:spPr>
          <a:xfrm>
            <a:off x="994042" y="2880271"/>
            <a:ext cx="2857500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Tree 锚点级联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逐级拟合，降低每帧候选次数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3908636" y="2930277"/>
            <a:ext cx="614363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→ 6.19 次/帧</a:t>
            </a:r>
            <a:endParaRPr lang="en-US" sz="500" dirty="0"/>
          </a:p>
        </p:txBody>
      </p:sp>
      <p:sp>
        <p:nvSpPr>
          <p:cNvPr id="36" name="Shape 28"/>
          <p:cNvSpPr/>
          <p:nvPr/>
        </p:nvSpPr>
        <p:spPr>
          <a:xfrm>
            <a:off x="685800" y="3230314"/>
            <a:ext cx="3900488" cy="364331"/>
          </a:xfrm>
          <a:prstGeom prst="roundRect">
            <a:avLst>
              <a:gd name="adj" fmla="val 14764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29"/>
          <p:cNvSpPr/>
          <p:nvPr/>
        </p:nvSpPr>
        <p:spPr>
          <a:xfrm>
            <a:off x="750094" y="3369618"/>
            <a:ext cx="185738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A7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600" dirty="0"/>
          </a:p>
        </p:txBody>
      </p:sp>
      <p:sp>
        <p:nvSpPr>
          <p:cNvPr id="38" name="Text 30"/>
          <p:cNvSpPr/>
          <p:nvPr/>
        </p:nvSpPr>
        <p:spPr>
          <a:xfrm>
            <a:off x="991977" y="3280321"/>
            <a:ext cx="2821781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纯函数缓存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结果位精确复用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3870852" y="3344614"/>
            <a:ext cx="650081" cy="135731"/>
          </a:xfrm>
          <a:prstGeom prst="roundRect">
            <a:avLst>
              <a:gd name="adj" fmla="val 84211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18.46 → 3.94 ms</a:t>
            </a:r>
            <a:endParaRPr lang="en-US" sz="500" dirty="0"/>
          </a:p>
        </p:txBody>
      </p:sp>
      <p:sp>
        <p:nvSpPr>
          <p:cNvPr id="40" name="Shape 32"/>
          <p:cNvSpPr/>
          <p:nvPr/>
        </p:nvSpPr>
        <p:spPr>
          <a:xfrm>
            <a:off x="4714875" y="2221706"/>
            <a:ext cx="128588" cy="7144"/>
          </a:xfrm>
          <a:prstGeom prst="rect">
            <a:avLst/>
          </a:prstGeom>
          <a:solidFill>
            <a:srgbClr val="122033">
              <a:alpha val="24000"/>
            </a:srgbClr>
          </a:solidFill>
          <a:ln/>
        </p:spPr>
        <p:txBody>
          <a:bodyPr/>
          <a:p/>
        </p:txBody>
      </p:sp>
      <p:sp>
        <p:nvSpPr>
          <p:cNvPr id="41" name="Shape 33"/>
          <p:cNvSpPr/>
          <p:nvPr/>
        </p:nvSpPr>
        <p:spPr>
          <a:xfrm>
            <a:off x="4714875" y="3100387"/>
            <a:ext cx="128588" cy="7144"/>
          </a:xfrm>
          <a:prstGeom prst="rect">
            <a:avLst/>
          </a:prstGeom>
          <a:solidFill>
            <a:srgbClr val="122033">
              <a:alpha val="24000"/>
            </a:srgbClr>
          </a:solidFill>
          <a:ln/>
        </p:spPr>
        <p:txBody>
          <a:bodyPr/>
          <a:p/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4894" y="2035969"/>
            <a:ext cx="4114800" cy="1257300"/>
          </a:xfrm>
          <a:prstGeom prst="rect">
            <a:avLst/>
          </a:prstGeom>
        </p:spPr>
      </p:pic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72038" y="2043113"/>
            <a:ext cx="4100513" cy="21431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972050" y="2154510"/>
            <a:ext cx="315546" cy="200025"/>
          </a:xfrm>
          <a:prstGeom prst="roundRect">
            <a:avLst>
              <a:gd name="adj" fmla="val 36735"/>
            </a:avLst>
          </a:prstGeom>
          <a:solidFill>
            <a:srgbClr val="5B7B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" dirty="0"/>
          </a:p>
        </p:txBody>
      </p:sp>
      <p:sp>
        <p:nvSpPr>
          <p:cNvPr id="45" name="Text 35"/>
          <p:cNvSpPr/>
          <p:nvPr/>
        </p:nvSpPr>
        <p:spPr>
          <a:xfrm>
            <a:off x="5237150" y="2134530"/>
            <a:ext cx="95726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B｜NPU 之战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5237150" y="2281647"/>
            <a:ext cx="957263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B7B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 · 时延 · 画布 · 精度</a:t>
            </a:r>
            <a:endParaRPr lang="en-US" sz="500" dirty="0"/>
          </a:p>
        </p:txBody>
      </p:sp>
      <p:sp>
        <p:nvSpPr>
          <p:cNvPr id="47" name="Text 37"/>
          <p:cNvSpPr/>
          <p:nvPr/>
        </p:nvSpPr>
        <p:spPr>
          <a:xfrm>
            <a:off x="8429625" y="2135981"/>
            <a:ext cx="785813" cy="150019"/>
          </a:xfrm>
          <a:prstGeom prst="roundRect">
            <a:avLst>
              <a:gd name="adj" fmla="val 76190"/>
            </a:avLst>
          </a:prstGeom>
          <a:solidFill>
            <a:srgbClr val="5B7B99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48" name="Text 38"/>
          <p:cNvSpPr/>
          <p:nvPr/>
        </p:nvSpPr>
        <p:spPr>
          <a:xfrm>
            <a:off x="4972050" y="2423071"/>
            <a:ext cx="3900488" cy="200025"/>
          </a:xfrm>
          <a:prstGeom prst="roundRect">
            <a:avLst>
              <a:gd name="adj" fmla="val 4489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67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算子回退清零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静默失效的交付硬闸门</a:t>
            </a:r>
            <a:endParaRPr lang="en-US" sz="600" dirty="0"/>
          </a:p>
        </p:txBody>
      </p:sp>
      <p:sp>
        <p:nvSpPr>
          <p:cNvPr id="49" name="Text 39"/>
          <p:cNvSpPr/>
          <p:nvPr/>
        </p:nvSpPr>
        <p:spPr>
          <a:xfrm>
            <a:off x="4972050" y="2651671"/>
            <a:ext cx="3900488" cy="200025"/>
          </a:xfrm>
          <a:prstGeom prst="roundRect">
            <a:avLst>
              <a:gd name="adj" fmla="val 4489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67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时延评估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不能靠 FLOPs 外推</a:t>
            </a:r>
            <a:endParaRPr lang="en-US" sz="600" dirty="0"/>
          </a:p>
        </p:txBody>
      </p:sp>
      <p:sp>
        <p:nvSpPr>
          <p:cNvPr id="50" name="Shape 40"/>
          <p:cNvSpPr/>
          <p:nvPr/>
        </p:nvSpPr>
        <p:spPr>
          <a:xfrm>
            <a:off x="4972050" y="2880271"/>
            <a:ext cx="3900488" cy="314325"/>
          </a:xfrm>
          <a:prstGeom prst="roundRect">
            <a:avLst>
              <a:gd name="adj" fmla="val 18182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67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1"/>
          <p:cNvSpPr/>
          <p:nvPr/>
        </p:nvSpPr>
        <p:spPr>
          <a:xfrm>
            <a:off x="5036344" y="2994571"/>
            <a:ext cx="185738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</a:t>
            </a:r>
            <a:endParaRPr lang="en-US" sz="600" dirty="0"/>
          </a:p>
        </p:txBody>
      </p:sp>
      <p:sp>
        <p:nvSpPr>
          <p:cNvPr id="52" name="Text 42"/>
          <p:cNvSpPr/>
          <p:nvPr/>
        </p:nvSpPr>
        <p:spPr>
          <a:xfrm>
            <a:off x="5277501" y="2915989"/>
            <a:ext cx="3093244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 硬件画布拼图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56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RGA 硬件画布 × 单次前向</a:t>
            </a:r>
            <a:endParaRPr lang="en-US" sz="600" dirty="0"/>
          </a:p>
        </p:txBody>
      </p:sp>
      <p:sp>
        <p:nvSpPr>
          <p:cNvPr id="53" name="Text 43"/>
          <p:cNvSpPr/>
          <p:nvPr/>
        </p:nvSpPr>
        <p:spPr>
          <a:xfrm>
            <a:off x="8427839" y="2962424"/>
            <a:ext cx="378619" cy="150019"/>
          </a:xfrm>
          <a:prstGeom prst="roundRect">
            <a:avLst>
              <a:gd name="adj" fmla="val 76190"/>
            </a:avLst>
          </a:prstGeom>
          <a:solidFill>
            <a:srgbClr val="5B7B99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1 次</a:t>
            </a:r>
            <a:endParaRPr lang="en-US" sz="500" dirty="0"/>
          </a:p>
        </p:txBody>
      </p:sp>
      <p:sp>
        <p:nvSpPr>
          <p:cNvPr id="54" name="Text 44"/>
          <p:cNvSpPr/>
          <p:nvPr/>
        </p:nvSpPr>
        <p:spPr>
          <a:xfrm>
            <a:off x="4972050" y="3223171"/>
            <a:ext cx="3900488" cy="200025"/>
          </a:xfrm>
          <a:prstGeom prst="roundRect">
            <a:avLst>
              <a:gd name="adj" fmla="val 4489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67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26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精度账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代价≈0｜打包单独核算</a:t>
            </a:r>
            <a:endParaRPr lang="en-US" sz="600" dirty="0"/>
          </a:p>
        </p:txBody>
      </p:sp>
      <p:sp>
        <p:nvSpPr>
          <p:cNvPr id="55" name="Shape 45"/>
          <p:cNvSpPr/>
          <p:nvPr/>
        </p:nvSpPr>
        <p:spPr>
          <a:xfrm>
            <a:off x="579090" y="3351758"/>
            <a:ext cx="5057775" cy="642938"/>
          </a:xfrm>
          <a:prstGeom prst="roundRect">
            <a:avLst>
              <a:gd name="adj" fmla="val 7111"/>
            </a:avLst>
          </a:prstGeom>
          <a:solidFill>
            <a:srgbClr val="F6F8FB">
              <a:alpha val="92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  <a:effectLst>
            <a:outerShdw sx="100000" sy="100000" kx="0" ky="0" algn="bl" rotWithShape="0" blurRad="171450" dist="64294" dir="5400000">
              <a:srgbClr val="0F172A">
                <a:alpha val="5500"/>
              </a:srgbClr>
            </a:outerShdw>
          </a:effectLst>
        </p:spPr>
        <p:txBody>
          <a:bodyPr/>
          <a:p/>
        </p:txBody>
      </p:sp>
      <p:sp>
        <p:nvSpPr>
          <p:cNvPr id="56" name="Text 46"/>
          <p:cNvSpPr/>
          <p:nvPr/>
        </p:nvSpPr>
        <p:spPr>
          <a:xfrm>
            <a:off x="678656" y="3508921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" dirty="0"/>
          </a:p>
        </p:txBody>
      </p:sp>
      <p:sp>
        <p:nvSpPr>
          <p:cNvPr id="57" name="Text 47"/>
          <p:cNvSpPr/>
          <p:nvPr/>
        </p:nvSpPr>
        <p:spPr>
          <a:xfrm>
            <a:off x="928688" y="3533924"/>
            <a:ext cx="400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公共底座</a:t>
            </a:r>
            <a:endParaRPr lang="en-US" sz="700" dirty="0"/>
          </a:p>
        </p:txBody>
      </p:sp>
      <p:sp>
        <p:nvSpPr>
          <p:cNvPr id="58" name="Text 48"/>
          <p:cNvSpPr/>
          <p:nvPr/>
        </p:nvSpPr>
        <p:spPr>
          <a:xfrm>
            <a:off x="928688" y="3730377"/>
            <a:ext cx="8215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并行与交付</a:t>
            </a:r>
            <a:endParaRPr lang="en-US" sz="500" dirty="0"/>
          </a:p>
        </p:txBody>
      </p:sp>
      <p:sp>
        <p:nvSpPr>
          <p:cNvPr id="59" name="Text 49"/>
          <p:cNvSpPr/>
          <p:nvPr/>
        </p:nvSpPr>
        <p:spPr>
          <a:xfrm>
            <a:off x="2335113" y="3566071"/>
            <a:ext cx="535781" cy="214313"/>
          </a:xfrm>
          <a:prstGeom prst="roundRect">
            <a:avLst>
              <a:gd name="adj" fmla="val 35555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三级流水线</a:t>
            </a:r>
            <a:endParaRPr lang="en-US" sz="600" dirty="0"/>
          </a:p>
        </p:txBody>
      </p:sp>
      <p:sp>
        <p:nvSpPr>
          <p:cNvPr id="60" name="Text 50"/>
          <p:cNvSpPr/>
          <p:nvPr/>
        </p:nvSpPr>
        <p:spPr>
          <a:xfrm>
            <a:off x="2920901" y="3623221"/>
            <a:ext cx="857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AA4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600" dirty="0"/>
          </a:p>
        </p:txBody>
      </p:sp>
      <p:sp>
        <p:nvSpPr>
          <p:cNvPr id="61" name="Text 51"/>
          <p:cNvSpPr/>
          <p:nvPr/>
        </p:nvSpPr>
        <p:spPr>
          <a:xfrm>
            <a:off x="3057971" y="3573214"/>
            <a:ext cx="821531" cy="200025"/>
          </a:xfrm>
          <a:prstGeom prst="roundRect">
            <a:avLst>
              <a:gd name="adj" fmla="val 40816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5.74 → 14.07 fps</a:t>
            </a:r>
            <a:endParaRPr lang="en-US" sz="600" dirty="0"/>
          </a:p>
        </p:txBody>
      </p:sp>
      <p:sp>
        <p:nvSpPr>
          <p:cNvPr id="62" name="Text 52"/>
          <p:cNvSpPr/>
          <p:nvPr/>
        </p:nvSpPr>
        <p:spPr>
          <a:xfrm>
            <a:off x="4465737" y="3548211"/>
            <a:ext cx="1071563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端到端库交付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 · 工程化收束</a:t>
            </a:r>
            <a:endParaRPr lang="en-US" sz="600" dirty="0"/>
          </a:p>
        </p:txBody>
      </p:sp>
      <p:sp>
        <p:nvSpPr>
          <p:cNvPr id="63" name="Shape 53"/>
          <p:cNvSpPr/>
          <p:nvPr/>
        </p:nvSpPr>
        <p:spPr>
          <a:xfrm>
            <a:off x="5665887" y="3673227"/>
            <a:ext cx="100012" cy="7144"/>
          </a:xfrm>
          <a:prstGeom prst="rect">
            <a:avLst/>
          </a:prstGeom>
          <a:solidFill>
            <a:srgbClr val="122033">
              <a:alpha val="18000"/>
            </a:srgbClr>
          </a:solidFill>
          <a:ln/>
        </p:spPr>
        <p:txBody>
          <a:bodyPr/>
          <a:p/>
        </p:txBody>
      </p:sp>
      <p:sp>
        <p:nvSpPr>
          <p:cNvPr id="64" name="Text 54"/>
          <p:cNvSpPr/>
          <p:nvPr/>
        </p:nvSpPr>
        <p:spPr>
          <a:xfrm>
            <a:off x="5655171" y="3612505"/>
            <a:ext cx="121444" cy="121444"/>
          </a:xfrm>
          <a:prstGeom prst="ellipse">
            <a:avLst/>
          </a:prstGeom>
          <a:solidFill>
            <a:srgbClr val="122033"/>
          </a:solidFill>
          <a:ln/>
          <a:effectLst>
            <a:outerShdw sx="100000" sy="100000" kx="0" ky="0" algn="bl" rotWithShape="0" blurRad="101600" dist="50800" dir="16200000">
              <a:srgbClr val="FFFFFF">
                <a:alpha val="8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94028" y="3351758"/>
            <a:ext cx="3186113" cy="642938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5894487" y="3451771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C9974D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2D5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00" dirty="0"/>
          </a:p>
        </p:txBody>
      </p:sp>
      <p:sp>
        <p:nvSpPr>
          <p:cNvPr id="67" name="Text 56"/>
          <p:cNvSpPr/>
          <p:nvPr/>
        </p:nvSpPr>
        <p:spPr>
          <a:xfrm>
            <a:off x="6144518" y="3430339"/>
            <a:ext cx="8643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收口｜遗留与改进</a:t>
            </a:r>
            <a:endParaRPr lang="en-US" sz="700" dirty="0"/>
          </a:p>
        </p:txBody>
      </p:sp>
      <p:sp>
        <p:nvSpPr>
          <p:cNvPr id="68" name="Text 57"/>
          <p:cNvSpPr/>
          <p:nvPr/>
        </p:nvSpPr>
        <p:spPr>
          <a:xfrm>
            <a:off x="6144518" y="3560266"/>
            <a:ext cx="8643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CBD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阶段结论与下一阶段重点</a:t>
            </a:r>
            <a:endParaRPr lang="en-US" sz="500" dirty="0"/>
          </a:p>
        </p:txBody>
      </p:sp>
      <p:sp>
        <p:nvSpPr>
          <p:cNvPr id="69" name="Text 58"/>
          <p:cNvSpPr/>
          <p:nvPr/>
        </p:nvSpPr>
        <p:spPr>
          <a:xfrm>
            <a:off x="5896049" y="3724573"/>
            <a:ext cx="1464469" cy="192881"/>
          </a:xfrm>
          <a:prstGeom prst="roundRect">
            <a:avLst>
              <a:gd name="adj" fmla="val 39506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FFFFFF">
                <a:alpha val="11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DCE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</a:t>
            </a:r>
            <a:endParaRPr lang="en-US" sz="500" dirty="0"/>
          </a:p>
        </p:txBody>
      </p:sp>
      <p:sp>
        <p:nvSpPr>
          <p:cNvPr id="70" name="Text 59"/>
          <p:cNvSpPr/>
          <p:nvPr/>
        </p:nvSpPr>
        <p:spPr>
          <a:xfrm>
            <a:off x="7413650" y="3724573"/>
            <a:ext cx="1464469" cy="192881"/>
          </a:xfrm>
          <a:prstGeom prst="roundRect">
            <a:avLst>
              <a:gd name="adj" fmla="val 39506"/>
            </a:avLst>
          </a:prstGeom>
          <a:solidFill>
            <a:srgbClr val="C9974D">
              <a:alpha val="17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2D5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重点改进方向</a:t>
            </a:r>
            <a:endParaRPr lang="en-US" sz="500" dirty="0"/>
          </a:p>
        </p:txBody>
      </p:sp>
      <p:sp>
        <p:nvSpPr>
          <p:cNvPr id="71" name="Text 60"/>
          <p:cNvSpPr/>
          <p:nvPr/>
        </p:nvSpPr>
        <p:spPr>
          <a:xfrm>
            <a:off x="578644" y="4079081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" dirty="0"/>
          </a:p>
        </p:txBody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8644" y="564356"/>
            <a:ext cx="8401050" cy="785813"/>
          </a:xfrm>
          <a:prstGeom prst="rect">
            <a:avLst/>
          </a:prstGeom>
        </p:spPr>
      </p:pic>
      <p:pic>
        <p:nvPicPr>
          <p:cNvPr id="7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8644" y="1478756"/>
            <a:ext cx="771525" cy="500063"/>
          </a:xfrm>
          <a:prstGeom prst="rect">
            <a:avLst/>
          </a:prstGeom>
        </p:spPr>
      </p:pic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8644" y="4079081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6518" y="215764"/>
            <a:ext cx="1014413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BLOCKERS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两大核心待攻克问题：GMC 与 NPU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管线在板卡上跑起来之后，被两个问题卡住了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8583" y="1271588"/>
            <a:ext cx="4529138" cy="2043113"/>
          </a:xfrm>
          <a:prstGeom prst="roundRect">
            <a:avLst>
              <a:gd name="adj" fmla="val 375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331" y="1278731"/>
            <a:ext cx="35719" cy="20288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1494" y="1407319"/>
            <a:ext cx="221456" cy="221456"/>
          </a:xfrm>
          <a:prstGeom prst="roundRect">
            <a:avLst>
              <a:gd name="adj" fmla="val 33299"/>
            </a:avLst>
          </a:prstGeom>
          <a:solidFill>
            <a:srgbClr val="B66A45">
              <a:alpha val="11000"/>
            </a:srgbClr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" y="1450181"/>
            <a:ext cx="135731" cy="1357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7913" y="1414463"/>
            <a:ext cx="714375" cy="207169"/>
          </a:xfrm>
          <a:prstGeom prst="roundRect">
            <a:avLst>
              <a:gd name="adj" fmla="val 55172"/>
            </a:avLst>
          </a:prstGeom>
          <a:solidFill>
            <a:srgbClr val="B66A4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E57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难题一｜GMC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537607" y="1475184"/>
            <a:ext cx="118586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C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&amp; STABILITY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522889" y="1713161"/>
            <a:ext cx="1021556" cy="3786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3100" b="1" dirty="0">
                <a:solidFill>
                  <a:srgbClr val="B65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78.5%</a:t>
            </a:r>
            <a:endParaRPr lang="en-US" sz="3100" dirty="0"/>
          </a:p>
        </p:txBody>
      </p:sp>
      <p:sp>
        <p:nvSpPr>
          <p:cNvPr id="17" name="Text 12"/>
          <p:cNvSpPr/>
          <p:nvPr/>
        </p:nvSpPr>
        <p:spPr>
          <a:xfrm>
            <a:off x="1638709" y="1814513"/>
            <a:ext cx="75009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端到端时延占比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638709" y="1969889"/>
            <a:ext cx="7500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7A6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稳定性有前提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522889" y="2190452"/>
            <a:ext cx="4200525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+ warp + median</a:t>
            </a:r>
            <a:pPr algn="l" indent="0" marL="0">
              <a:spcAft>
                <a:spcPts val="394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B65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99% 算力开销集中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522889" y="2361902"/>
            <a:ext cx="4200525" cy="71438"/>
          </a:xfrm>
          <a:prstGeom prst="roundRect">
            <a:avLst>
              <a:gd name="adj" fmla="val 159999"/>
            </a:avLst>
          </a:prstGeom>
          <a:solidFill>
            <a:srgbClr val="B66A45">
              <a:alpha val="13000"/>
            </a:srgbClr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708" y="2361902"/>
            <a:ext cx="4164806" cy="714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3056" y="2526209"/>
            <a:ext cx="1364456" cy="228600"/>
          </a:xfrm>
          <a:prstGeom prst="roundRect">
            <a:avLst>
              <a:gd name="adj" fmla="val 31250"/>
            </a:avLst>
          </a:prstGeom>
          <a:solidFill>
            <a:srgbClr val="B66A45">
              <a:alpha val="8000"/>
            </a:srgbClr>
          </a:solidFill>
          <a:ln w="7144">
            <a:solidFill>
              <a:srgbClr val="B66A45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E5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算力开销大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1940756" y="2526209"/>
            <a:ext cx="1364456" cy="228600"/>
          </a:xfrm>
          <a:prstGeom prst="roundRect">
            <a:avLst>
              <a:gd name="adj" fmla="val 31250"/>
            </a:avLst>
          </a:prstGeom>
          <a:solidFill>
            <a:srgbClr val="B66A45">
              <a:alpha val="8000"/>
            </a:srgbClr>
          </a:solidFill>
          <a:ln w="7144">
            <a:solidFill>
              <a:srgbClr val="B66A45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E5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延时高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3358567" y="2526209"/>
            <a:ext cx="1364456" cy="228600"/>
          </a:xfrm>
          <a:prstGeom prst="roundRect">
            <a:avLst>
              <a:gd name="adj" fmla="val 31250"/>
            </a:avLst>
          </a:prstGeom>
          <a:solidFill>
            <a:srgbClr val="AD473C">
              <a:alpha val="9000"/>
            </a:srgbClr>
          </a:solidFill>
          <a:ln w="7144">
            <a:solidFill>
              <a:srgbClr val="AD473C">
                <a:alpha val="1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D4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 零丢帧是前提</a:t>
            </a:r>
            <a:endParaRPr lang="en-US" sz="600" dirty="0"/>
          </a:p>
        </p:txBody>
      </p:sp>
      <p:sp>
        <p:nvSpPr>
          <p:cNvPr id="25" name="Shape 19"/>
          <p:cNvSpPr/>
          <p:nvPr/>
        </p:nvSpPr>
        <p:spPr>
          <a:xfrm>
            <a:off x="5016252" y="1271588"/>
            <a:ext cx="4186238" cy="2043113"/>
          </a:xfrm>
          <a:prstGeom prst="roundRect">
            <a:avLst>
              <a:gd name="adj" fmla="val 375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4847" y="1278731"/>
            <a:ext cx="35719" cy="202882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182009" y="1407319"/>
            <a:ext cx="221456" cy="221456"/>
          </a:xfrm>
          <a:prstGeom prst="roundRect">
            <a:avLst>
              <a:gd name="adj" fmla="val 33299"/>
            </a:avLst>
          </a:prstGeom>
          <a:solidFill>
            <a:srgbClr val="526894">
              <a:alpha val="11000"/>
            </a:srgbClr>
          </a:solidFill>
          <a:ln/>
        </p:spPr>
        <p:txBody>
          <a:bodyPr/>
          <a:p/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4872" y="1450181"/>
            <a:ext cx="135731" cy="13573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66141" y="1414463"/>
            <a:ext cx="700088" cy="207169"/>
          </a:xfrm>
          <a:prstGeom prst="roundRect">
            <a:avLst>
              <a:gd name="adj" fmla="val 55172"/>
            </a:avLst>
          </a:prstGeom>
          <a:solidFill>
            <a:srgbClr val="526894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难题二｜NPU</a:t>
            </a:r>
            <a:endParaRPr lang="en-US" sz="600" dirty="0"/>
          </a:p>
        </p:txBody>
      </p:sp>
      <p:sp>
        <p:nvSpPr>
          <p:cNvPr id="30" name="Text 22"/>
          <p:cNvSpPr/>
          <p:nvPr/>
        </p:nvSpPr>
        <p:spPr>
          <a:xfrm>
            <a:off x="8063508" y="1475184"/>
            <a:ext cx="971550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C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 EXECUTION</a:t>
            </a:r>
            <a:endParaRPr lang="en-US" sz="600" dirty="0"/>
          </a:p>
        </p:txBody>
      </p:sp>
      <p:sp>
        <p:nvSpPr>
          <p:cNvPr id="31" name="Text 23"/>
          <p:cNvSpPr/>
          <p:nvPr/>
        </p:nvSpPr>
        <p:spPr>
          <a:xfrm>
            <a:off x="5180558" y="1705905"/>
            <a:ext cx="3857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算子匹配不完整，推理效率与直觉背离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180558" y="1884108"/>
            <a:ext cx="38576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68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未匹配算子不报错，执行路径被静默改写</a:t>
            </a:r>
            <a:endParaRPr lang="en-US" sz="600" dirty="0"/>
          </a:p>
        </p:txBody>
      </p:sp>
      <p:sp>
        <p:nvSpPr>
          <p:cNvPr id="33" name="Shape 25"/>
          <p:cNvSpPr/>
          <p:nvPr/>
        </p:nvSpPr>
        <p:spPr>
          <a:xfrm>
            <a:off x="5180558" y="2070795"/>
            <a:ext cx="3857625" cy="628650"/>
          </a:xfrm>
          <a:prstGeom prst="roundRect">
            <a:avLst>
              <a:gd name="adj" fmla="val 5785"/>
            </a:avLst>
          </a:prstGeom>
          <a:solidFill>
            <a:srgbClr val="F7F9FC">
              <a:alpha val="88000"/>
            </a:srgbClr>
          </a:solidFill>
          <a:ln w="7144">
            <a:solidFill>
              <a:srgbClr val="526894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26"/>
          <p:cNvSpPr/>
          <p:nvPr/>
        </p:nvSpPr>
        <p:spPr>
          <a:xfrm>
            <a:off x="5274878" y="2188666"/>
            <a:ext cx="4643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</a:t>
            </a:r>
            <a:endParaRPr lang="en-US" sz="600" dirty="0"/>
          </a:p>
        </p:txBody>
      </p:sp>
      <p:sp>
        <p:nvSpPr>
          <p:cNvPr id="35" name="Shape 27"/>
          <p:cNvSpPr/>
          <p:nvPr/>
        </p:nvSpPr>
        <p:spPr>
          <a:xfrm>
            <a:off x="5794921" y="2238673"/>
            <a:ext cx="2450306" cy="14288"/>
          </a:xfrm>
          <a:prstGeom prst="rect">
            <a:avLst/>
          </a:prstGeom>
          <a:solidFill>
            <a:srgbClr val="526894">
              <a:alpha val="30000"/>
            </a:srgbClr>
          </a:solidFill>
          <a:ln/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5767797" y="2217241"/>
            <a:ext cx="57150" cy="57150"/>
          </a:xfrm>
          <a:prstGeom prst="ellipse">
            <a:avLst/>
          </a:prstGeom>
          <a:solidFill>
            <a:srgbClr val="7183AF"/>
          </a:solidFill>
          <a:ln/>
        </p:spPr>
        <p:txBody>
          <a:bodyPr/>
          <a:p/>
        </p:txBody>
      </p:sp>
      <p:sp>
        <p:nvSpPr>
          <p:cNvPr id="37" name="Shape 29"/>
          <p:cNvSpPr/>
          <p:nvPr/>
        </p:nvSpPr>
        <p:spPr>
          <a:xfrm>
            <a:off x="8215201" y="2217241"/>
            <a:ext cx="57150" cy="57150"/>
          </a:xfrm>
          <a:prstGeom prst="ellipse">
            <a:avLst/>
          </a:prstGeom>
          <a:solidFill>
            <a:srgbClr val="7183AF"/>
          </a:solidFill>
          <a:ln/>
        </p:spPr>
        <p:txBody>
          <a:bodyPr/>
          <a:p/>
        </p:txBody>
      </p:sp>
      <p:sp>
        <p:nvSpPr>
          <p:cNvPr id="38" name="Text 30"/>
          <p:cNvSpPr/>
          <p:nvPr/>
        </p:nvSpPr>
        <p:spPr>
          <a:xfrm>
            <a:off x="8300926" y="2156520"/>
            <a:ext cx="642938" cy="178594"/>
          </a:xfrm>
          <a:prstGeom prst="roundRect">
            <a:avLst>
              <a:gd name="adj" fmla="val 40960"/>
            </a:avLst>
          </a:prstGeom>
          <a:solidFill>
            <a:srgbClr val="526894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全量执行</a:t>
            </a:r>
            <a:endParaRPr lang="en-US" sz="500" dirty="0"/>
          </a:p>
        </p:txBody>
      </p:sp>
      <p:sp>
        <p:nvSpPr>
          <p:cNvPr id="39" name="Text 31"/>
          <p:cNvSpPr/>
          <p:nvPr/>
        </p:nvSpPr>
        <p:spPr>
          <a:xfrm>
            <a:off x="5274878" y="2460129"/>
            <a:ext cx="4643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</a:t>
            </a:r>
            <a:endParaRPr lang="en-US" sz="6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94921" y="2510135"/>
            <a:ext cx="2450306" cy="14288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767797" y="2488704"/>
            <a:ext cx="57150" cy="57150"/>
          </a:xfrm>
          <a:prstGeom prst="ellipse">
            <a:avLst/>
          </a:prstGeom>
          <a:solidFill>
            <a:srgbClr val="526894"/>
          </a:solidFill>
          <a:ln/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8215201" y="2488704"/>
            <a:ext cx="57150" cy="57150"/>
          </a:xfrm>
          <a:prstGeom prst="ellipse">
            <a:avLst/>
          </a:prstGeom>
          <a:solidFill>
            <a:srgbClr val="AD473C"/>
          </a:solidFill>
          <a:ln/>
        </p:spPr>
        <p:txBody>
          <a:bodyPr/>
          <a:p/>
        </p:txBody>
      </p:sp>
      <p:sp>
        <p:nvSpPr>
          <p:cNvPr id="43" name="Shape 34"/>
          <p:cNvSpPr/>
          <p:nvPr/>
        </p:nvSpPr>
        <p:spPr>
          <a:xfrm>
            <a:off x="6934684" y="2456557"/>
            <a:ext cx="121444" cy="12144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AD473C"/>
            </a:solidFill>
            <a:prstDash val="solid"/>
          </a:ln>
        </p:spPr>
        <p:txBody>
          <a:bodyPr/>
          <a:p/>
        </p:txBody>
      </p:sp>
      <p:sp>
        <p:nvSpPr>
          <p:cNvPr id="44" name="Text 35"/>
          <p:cNvSpPr/>
          <p:nvPr/>
        </p:nvSpPr>
        <p:spPr>
          <a:xfrm>
            <a:off x="8300926" y="2420838"/>
            <a:ext cx="642938" cy="192881"/>
          </a:xfrm>
          <a:prstGeom prst="roundRect">
            <a:avLst>
              <a:gd name="adj" fmla="val 35117"/>
            </a:avLst>
          </a:prstGeom>
          <a:solidFill>
            <a:srgbClr val="AD473C">
              <a:alpha val="8000"/>
            </a:srgbClr>
          </a:solidFill>
          <a:ln w="7144">
            <a:solidFill>
              <a:srgbClr val="AD473C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9D4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静默回退 CPU</a:t>
            </a:r>
            <a:endParaRPr lang="en-US" sz="500" dirty="0"/>
          </a:p>
        </p:txBody>
      </p:sp>
      <p:sp>
        <p:nvSpPr>
          <p:cNvPr id="45" name="Text 36"/>
          <p:cNvSpPr/>
          <p:nvPr/>
        </p:nvSpPr>
        <p:spPr>
          <a:xfrm>
            <a:off x="5183070" y="2785170"/>
            <a:ext cx="1900238" cy="228600"/>
          </a:xfrm>
          <a:prstGeom prst="roundRect">
            <a:avLst>
              <a:gd name="adj" fmla="val 31250"/>
            </a:avLst>
          </a:prstGeom>
          <a:solidFill>
            <a:srgbClr val="526894">
              <a:alpha val="8000"/>
            </a:srgbClr>
          </a:solidFill>
          <a:ln w="7144">
            <a:solidFill>
              <a:srgbClr val="526894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外推失效</a:t>
            </a:r>
            <a:endParaRPr lang="en-US" sz="600" dirty="0"/>
          </a:p>
        </p:txBody>
      </p:sp>
      <p:sp>
        <p:nvSpPr>
          <p:cNvPr id="46" name="Text 37"/>
          <p:cNvSpPr/>
          <p:nvPr/>
        </p:nvSpPr>
        <p:spPr>
          <a:xfrm>
            <a:off x="7135434" y="2785170"/>
            <a:ext cx="1900238" cy="228600"/>
          </a:xfrm>
          <a:prstGeom prst="roundRect">
            <a:avLst>
              <a:gd name="adj" fmla="val 31250"/>
            </a:avLst>
          </a:prstGeom>
          <a:solidFill>
            <a:srgbClr val="526894">
              <a:alpha val="8000"/>
            </a:srgbClr>
          </a:solidFill>
          <a:ln w="7144">
            <a:solidFill>
              <a:srgbClr val="526894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量化闸门未解</a:t>
            </a:r>
            <a:endParaRPr lang="en-US" sz="600" dirty="0"/>
          </a:p>
        </p:txBody>
      </p:sp>
      <p:sp>
        <p:nvSpPr>
          <p:cNvPr id="47" name="Shape 38"/>
          <p:cNvSpPr/>
          <p:nvPr/>
        </p:nvSpPr>
        <p:spPr>
          <a:xfrm>
            <a:off x="357188" y="3414713"/>
            <a:ext cx="8843963" cy="742950"/>
          </a:xfrm>
          <a:prstGeom prst="roundRect">
            <a:avLst>
              <a:gd name="adj" fmla="val 23669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8" name="Shape 39"/>
          <p:cNvSpPr/>
          <p:nvPr/>
        </p:nvSpPr>
        <p:spPr>
          <a:xfrm>
            <a:off x="521494" y="351472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BC9348">
              <a:alpha val="13000"/>
            </a:srgbClr>
          </a:solidFill>
          <a:ln/>
        </p:spPr>
        <p:txBody>
          <a:bodyPr/>
          <a:p/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3641" y="3546872"/>
            <a:ext cx="107156" cy="10715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750094" y="3532584"/>
            <a:ext cx="65008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本阶段推进抓手</a:t>
            </a:r>
            <a:endParaRPr lang="en-US" sz="700" dirty="0"/>
          </a:p>
        </p:txBody>
      </p:sp>
      <p:sp>
        <p:nvSpPr>
          <p:cNvPr id="51" name="Text 41"/>
          <p:cNvSpPr/>
          <p:nvPr/>
        </p:nvSpPr>
        <p:spPr>
          <a:xfrm>
            <a:off x="8330729" y="3507581"/>
            <a:ext cx="707231" cy="185738"/>
          </a:xfrm>
          <a:prstGeom prst="roundRect">
            <a:avLst>
              <a:gd name="adj" fmla="val 61538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个工作汇报点</a:t>
            </a:r>
            <a:endParaRPr lang="en-US" sz="600" dirty="0"/>
          </a:p>
        </p:txBody>
      </p:sp>
      <p:sp>
        <p:nvSpPr>
          <p:cNvPr id="52" name="Text 42"/>
          <p:cNvSpPr/>
          <p:nvPr/>
        </p:nvSpPr>
        <p:spPr>
          <a:xfrm>
            <a:off x="521494" y="3821906"/>
            <a:ext cx="6429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65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攻克 GMC</a:t>
            </a:r>
            <a:endParaRPr lang="en-US" sz="6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4444" y="3879056"/>
            <a:ext cx="7029450" cy="7144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264444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66A45">
                <a:alpha val="45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7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00" dirty="0"/>
          </a:p>
        </p:txBody>
      </p:sp>
      <p:sp>
        <p:nvSpPr>
          <p:cNvPr id="55" name="Text 44"/>
          <p:cNvSpPr/>
          <p:nvPr/>
        </p:nvSpPr>
        <p:spPr>
          <a:xfrm>
            <a:off x="2115443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66A45">
                <a:alpha val="42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7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00" dirty="0"/>
          </a:p>
        </p:txBody>
      </p:sp>
      <p:sp>
        <p:nvSpPr>
          <p:cNvPr id="56" name="Text 45"/>
          <p:cNvSpPr/>
          <p:nvPr/>
        </p:nvSpPr>
        <p:spPr>
          <a:xfrm>
            <a:off x="2966442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C9348">
                <a:alpha val="48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F69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00" dirty="0"/>
          </a:p>
        </p:txBody>
      </p:sp>
      <p:sp>
        <p:nvSpPr>
          <p:cNvPr id="57" name="Text 46"/>
          <p:cNvSpPr/>
          <p:nvPr/>
        </p:nvSpPr>
        <p:spPr>
          <a:xfrm>
            <a:off x="3817441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C9348">
                <a:alpha val="48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F69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00" dirty="0"/>
          </a:p>
        </p:txBody>
      </p:sp>
      <p:sp>
        <p:nvSpPr>
          <p:cNvPr id="58" name="Text 47"/>
          <p:cNvSpPr/>
          <p:nvPr/>
        </p:nvSpPr>
        <p:spPr>
          <a:xfrm>
            <a:off x="4668441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C9348">
                <a:alpha val="48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F69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500" dirty="0"/>
          </a:p>
        </p:txBody>
      </p:sp>
      <p:sp>
        <p:nvSpPr>
          <p:cNvPr id="59" name="Text 48"/>
          <p:cNvSpPr/>
          <p:nvPr/>
        </p:nvSpPr>
        <p:spPr>
          <a:xfrm>
            <a:off x="5519440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BC9348">
                <a:alpha val="48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F69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500" dirty="0"/>
          </a:p>
        </p:txBody>
      </p:sp>
      <p:sp>
        <p:nvSpPr>
          <p:cNvPr id="60" name="Text 49"/>
          <p:cNvSpPr/>
          <p:nvPr/>
        </p:nvSpPr>
        <p:spPr>
          <a:xfrm>
            <a:off x="6370439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526894">
                <a:alpha val="42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500" dirty="0"/>
          </a:p>
        </p:txBody>
      </p:sp>
      <p:sp>
        <p:nvSpPr>
          <p:cNvPr id="61" name="Text 50"/>
          <p:cNvSpPr/>
          <p:nvPr/>
        </p:nvSpPr>
        <p:spPr>
          <a:xfrm>
            <a:off x="7221438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526894">
                <a:alpha val="42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500" dirty="0"/>
          </a:p>
        </p:txBody>
      </p:sp>
      <p:sp>
        <p:nvSpPr>
          <p:cNvPr id="62" name="Text 51"/>
          <p:cNvSpPr/>
          <p:nvPr/>
        </p:nvSpPr>
        <p:spPr>
          <a:xfrm>
            <a:off x="8072438" y="3768328"/>
            <a:ext cx="221456" cy="221456"/>
          </a:xfrm>
          <a:prstGeom prst="ellipse">
            <a:avLst/>
          </a:prstGeom>
          <a:solidFill>
            <a:srgbClr val="FFFFFF"/>
          </a:solidFill>
          <a:ln w="7144">
            <a:solidFill>
              <a:srgbClr val="526894">
                <a:alpha val="48000"/>
              </a:srgbClr>
            </a:solidFill>
            <a:prstDash val="solid"/>
          </a:ln>
          <a:effectLst>
            <a:outerShdw sx="100000" sy="100000" kx="0" ky="0" algn="bl" rotWithShape="0" blurRad="57150" dist="21431" dir="5400000">
              <a:srgbClr val="0F172A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500" dirty="0"/>
          </a:p>
        </p:txBody>
      </p:sp>
      <p:sp>
        <p:nvSpPr>
          <p:cNvPr id="63" name="Text 52"/>
          <p:cNvSpPr/>
          <p:nvPr/>
        </p:nvSpPr>
        <p:spPr>
          <a:xfrm>
            <a:off x="8393906" y="3821906"/>
            <a:ext cx="6429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攻克 NPU</a:t>
            </a:r>
            <a:endParaRPr lang="en-US" sz="600" dirty="0"/>
          </a:p>
        </p:txBody>
      </p:sp>
      <p:sp>
        <p:nvSpPr>
          <p:cNvPr id="64" name="Shape 53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5" name="Text 54"/>
          <p:cNvSpPr/>
          <p:nvPr/>
        </p:nvSpPr>
        <p:spPr>
          <a:xfrm>
            <a:off x="413333" y="4489847"/>
            <a:ext cx="8072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endParaRPr lang="en-US" sz="600" dirty="0"/>
          </a:p>
        </p:txBody>
      </p:sp>
      <p:sp>
        <p:nvSpPr>
          <p:cNvPr id="66" name="Text 55"/>
          <p:cNvSpPr/>
          <p:nvPr/>
        </p:nvSpPr>
        <p:spPr>
          <a:xfrm>
            <a:off x="1218121" y="4471988"/>
            <a:ext cx="787955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两个难题都不是“算力不够”，而是 </a:t>
            </a:r>
            <a:pPr algn="ctr" indent="0" marL="0">
              <a:buNone/>
            </a:pPr>
            <a:r>
              <a:rPr lang="en-US" sz="700" b="1" dirty="0">
                <a:solidFill>
                  <a:srgbClr val="B66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重复做</a:t>
            </a:r>
            <a:pPr algn="ctr" indent="0" marL="0">
              <a:buNone/>
            </a:pPr>
            <a:r>
              <a:rPr lang="en-US" sz="7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ctr" indent="0" marL="0">
              <a:buNone/>
            </a:pPr>
            <a:r>
              <a:rPr lang="en-US" sz="700" b="1" dirty="0">
                <a:solidFill>
                  <a:srgbClr val="9A71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算错账</a:t>
            </a:r>
            <a:pPr algn="ctr" indent="0" marL="0">
              <a:buNone/>
            </a:pPr>
            <a:r>
              <a:rPr lang="en-US" sz="7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ctr" indent="0" marL="0">
              <a:buNone/>
            </a:pPr>
            <a:r>
              <a:rPr lang="en-US" sz="700" b="1" dirty="0">
                <a:solidFill>
                  <a:srgbClr val="526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藏得深</a:t>
            </a:r>
            <a:endParaRPr lang="en-US" sz="700" dirty="0"/>
          </a:p>
        </p:txBody>
      </p:sp>
      <p:sp>
        <p:nvSpPr>
          <p:cNvPr id="67" name="Text 56"/>
          <p:cNvSpPr/>
          <p:nvPr/>
        </p:nvSpPr>
        <p:spPr>
          <a:xfrm>
            <a:off x="9095110" y="4489847"/>
            <a:ext cx="500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8136" y="215764"/>
            <a:ext cx="1735931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BOTTLENECK · 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 · GMC 账本：开销、延时、不稳定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吃掉端到端时延的 78.5%，三段成本对应本阶段三招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19708" y="1435894"/>
            <a:ext cx="4686300" cy="82867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78644" y="1596628"/>
            <a:ext cx="1285875" cy="4429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6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78.5%</a:t>
            </a:r>
            <a:endParaRPr lang="en-US" sz="3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075" y="2082403"/>
            <a:ext cx="1235869" cy="285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05608" y="1544613"/>
            <a:ext cx="314325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是当前端到端时延的主要瓶颈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05608" y="1758646"/>
            <a:ext cx="31432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spcBef>
                <a:spcPts val="394"/>
              </a:spcBef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 </a:t>
            </a:r>
            <a:pPr algn="l" indent="0" marL="0">
              <a:lnSpc>
                <a:spcPts val="987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gmc_total 62.765 ms</a:t>
            </a:r>
            <a:pPr algn="l" indent="0" marL="0">
              <a:lnSpc>
                <a:spcPts val="987"/>
              </a:lnSpc>
              <a:spcBef>
                <a:spcPts val="394"/>
              </a:spcBef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端到端墙钟 </a:t>
            </a:r>
            <a:pPr algn="l" indent="0" marL="0">
              <a:lnSpc>
                <a:spcPts val="987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79.952 ms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007394" y="1978484"/>
            <a:ext cx="528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时延构成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2605683" y="1985628"/>
            <a:ext cx="2543175" cy="100012"/>
          </a:xfrm>
          <a:prstGeom prst="roundRect">
            <a:avLst>
              <a:gd name="adj" fmla="val 114286"/>
            </a:avLst>
          </a:prstGeom>
          <a:solidFill>
            <a:srgbClr val="EDF0F4"/>
          </a:solidFill>
          <a:ln/>
          <a:effectLst>
            <a:outerShdw sx="100000" sy="100000" kx="0" ky="0" algn="bl" rotWithShape="0" blurRad="101600" dist="50800" dir="16200000">
              <a:srgbClr val="122033">
                <a:alpha val="4000"/>
              </a:srgbClr>
            </a:outerShdw>
          </a:effectLst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2684" y="1985628"/>
            <a:ext cx="2007394" cy="1000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11458" y="1985628"/>
            <a:ext cx="535781" cy="100012"/>
          </a:xfrm>
          <a:prstGeom prst="rect">
            <a:avLst/>
          </a:prstGeom>
          <a:solidFill>
            <a:srgbClr val="DFE5EC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521550" y="2364581"/>
            <a:ext cx="7143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侧算力归因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005802" y="2371725"/>
            <a:ext cx="12001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+ median = 77.4% 核心成本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519708" y="2557463"/>
            <a:ext cx="4686300" cy="142875"/>
          </a:xfrm>
          <a:prstGeom prst="roundRect">
            <a:avLst>
              <a:gd name="adj" fmla="val 56000"/>
            </a:avLst>
          </a:prstGeom>
          <a:solidFill>
            <a:srgbClr val="EDF0F4"/>
          </a:solidFill>
          <a:ln/>
          <a:effectLst>
            <a:outerShdw sx="100000" sy="100000" kx="0" ky="0" algn="bl" rotWithShape="0" blurRad="101600" dist="50800" dir="16200000">
              <a:srgbClr val="122033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-307195" y="2557463"/>
            <a:ext cx="2043113" cy="142875"/>
          </a:xfrm>
          <a:prstGeom prst="rect">
            <a:avLst/>
          </a:prstGeom>
          <a:solidFill>
            <a:srgbClr val="B86A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43.7%</a:t>
            </a:r>
            <a:endParaRPr lang="en-US" sz="500" dirty="0"/>
          </a:p>
        </p:txBody>
      </p:sp>
      <p:sp>
        <p:nvSpPr>
          <p:cNvPr id="24" name="Text 19"/>
          <p:cNvSpPr/>
          <p:nvPr/>
        </p:nvSpPr>
        <p:spPr>
          <a:xfrm>
            <a:off x="1927079" y="2557463"/>
            <a:ext cx="1578769" cy="142875"/>
          </a:xfrm>
          <a:prstGeom prst="rect">
            <a:avLst/>
          </a:prstGeom>
          <a:solidFill>
            <a:srgbClr val="D49A5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33.7%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3733830" y="2557463"/>
            <a:ext cx="1014413" cy="142875"/>
          </a:xfrm>
          <a:prstGeom prst="rect">
            <a:avLst/>
          </a:prstGeom>
          <a:solidFill>
            <a:srgbClr val="7184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21.6%</a:t>
            </a:r>
            <a:endParaRPr lang="en-US" sz="500" dirty="0"/>
          </a:p>
        </p:txBody>
      </p:sp>
      <p:sp>
        <p:nvSpPr>
          <p:cNvPr id="26" name="Shape 21"/>
          <p:cNvSpPr/>
          <p:nvPr/>
        </p:nvSpPr>
        <p:spPr>
          <a:xfrm>
            <a:off x="5136412" y="2557463"/>
            <a:ext cx="50006" cy="142875"/>
          </a:xfrm>
          <a:prstGeom prst="rect">
            <a:avLst/>
          </a:prstGeom>
          <a:solidFill>
            <a:srgbClr val="BAC5D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519708" y="2764631"/>
            <a:ext cx="4686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43.7%</a:t>
            </a:r>
            <a:pPr algn="l" indent="0" marL="0">
              <a:spcBef>
                <a:spcPts val="506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 33.7%</a:t>
            </a:r>
            <a:pPr algn="l" indent="0" marL="0">
              <a:spcBef>
                <a:spcPts val="506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21.6%</a:t>
            </a:r>
            <a:pPr algn="l" indent="0" marL="0">
              <a:spcBef>
                <a:spcPts val="506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读帧 1%</a:t>
            </a:r>
            <a:endParaRPr lang="en-US" sz="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708" y="3263801"/>
            <a:ext cx="4686300" cy="86439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7199" y="3368278"/>
            <a:ext cx="7643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FPS 新硬约束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4360757" y="3357563"/>
            <a:ext cx="735806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吞吐 ≥ 相机率</a:t>
            </a:r>
            <a:endParaRPr lang="en-US" sz="500" dirty="0"/>
          </a:p>
        </p:txBody>
      </p:sp>
      <p:sp>
        <p:nvSpPr>
          <p:cNvPr id="31" name="Text 25"/>
          <p:cNvSpPr/>
          <p:nvPr/>
        </p:nvSpPr>
        <p:spPr>
          <a:xfrm>
            <a:off x="628650" y="3579019"/>
            <a:ext cx="442912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≤40 ms</a:t>
            </a:r>
            <a:endParaRPr lang="en-US" sz="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1214" y="3632597"/>
            <a:ext cx="3228975" cy="92869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5147" y="3632597"/>
            <a:ext cx="2114550" cy="92869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3251634" y="3604022"/>
            <a:ext cx="14288" cy="150019"/>
          </a:xfrm>
          <a:prstGeom prst="rect">
            <a:avLst/>
          </a:prstGeom>
          <a:solidFill>
            <a:srgbClr val="122033"/>
          </a:solidFill>
          <a:ln/>
        </p:spPr>
        <p:txBody>
          <a:bodyPr/>
          <a:p/>
        </p:txBody>
      </p:sp>
      <p:sp>
        <p:nvSpPr>
          <p:cNvPr id="35" name="Text 27"/>
          <p:cNvSpPr/>
          <p:nvPr/>
        </p:nvSpPr>
        <p:spPr>
          <a:xfrm>
            <a:off x="4439841" y="3607594"/>
            <a:ext cx="6572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60.8–61.2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26864" y="3835301"/>
            <a:ext cx="4471988" cy="2143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37" name="Text 29"/>
          <p:cNvSpPr/>
          <p:nvPr/>
        </p:nvSpPr>
        <p:spPr>
          <a:xfrm>
            <a:off x="629878" y="3921026"/>
            <a:ext cx="1443038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step10 仍超目标约 </a:t>
            </a:r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ms</a:t>
            </a:r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，吞吐尚未达标</a:t>
            </a:r>
            <a:endParaRPr lang="en-US" sz="600" dirty="0"/>
          </a:p>
        </p:txBody>
      </p:sp>
      <p:sp>
        <p:nvSpPr>
          <p:cNvPr id="38" name="Text 30"/>
          <p:cNvSpPr/>
          <p:nvPr/>
        </p:nvSpPr>
        <p:spPr>
          <a:xfrm>
            <a:off x="4534440" y="3892451"/>
            <a:ext cx="564356" cy="157163"/>
          </a:xfrm>
          <a:prstGeom prst="roundRect">
            <a:avLst>
              <a:gd name="adj" fmla="val 72727"/>
            </a:avLst>
          </a:prstGeom>
          <a:solidFill>
            <a:srgbClr val="2F8F83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246F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帧 / 0 洞</a:t>
            </a:r>
            <a:endParaRPr lang="en-US" sz="600" dirty="0"/>
          </a:p>
        </p:txBody>
      </p:sp>
      <p:sp>
        <p:nvSpPr>
          <p:cNvPr id="39" name="Shape 31"/>
          <p:cNvSpPr/>
          <p:nvPr/>
        </p:nvSpPr>
        <p:spPr>
          <a:xfrm>
            <a:off x="4534440" y="3892451"/>
            <a:ext cx="50006" cy="50006"/>
          </a:xfrm>
          <a:prstGeom prst="rect">
            <a:avLst/>
          </a:prstGeom>
          <a:solidFill>
            <a:srgbClr val="2F8F83"/>
          </a:solidFill>
          <a:ln/>
        </p:spPr>
        <p:txBody>
          <a:bodyPr/>
          <a:p/>
        </p:txBody>
      </p:sp>
      <p:sp>
        <p:nvSpPr>
          <p:cNvPr id="40" name="Shape 32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Shape 33"/>
          <p:cNvSpPr/>
          <p:nvPr/>
        </p:nvSpPr>
        <p:spPr>
          <a:xfrm>
            <a:off x="5645348" y="1420881"/>
            <a:ext cx="3407569" cy="25717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42" name="Text 34"/>
          <p:cNvSpPr/>
          <p:nvPr/>
        </p:nvSpPr>
        <p:spPr>
          <a:xfrm>
            <a:off x="5662985" y="1420881"/>
            <a:ext cx="1457325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A｜三段成本，三招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8408919" y="1498736"/>
            <a:ext cx="6286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6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 → ACTION</a:t>
            </a:r>
            <a:endParaRPr lang="en-US" sz="500" dirty="0"/>
          </a:p>
        </p:txBody>
      </p:sp>
      <p:sp>
        <p:nvSpPr>
          <p:cNvPr id="44" name="Text 36"/>
          <p:cNvSpPr/>
          <p:nvPr/>
        </p:nvSpPr>
        <p:spPr>
          <a:xfrm>
            <a:off x="5645348" y="1677330"/>
            <a:ext cx="340756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成本项</a:t>
            </a:r>
            <a:pPr algn="l" indent="0" marL="0">
              <a:buNone/>
            </a:pPr>
            <a:r>
              <a:rPr lang="en-US" sz="500" b="1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优化动作</a:t>
            </a:r>
            <a:pPr algn="l" indent="0" marL="0">
              <a:buNone/>
            </a:pPr>
            <a:r>
              <a:rPr lang="en-US" sz="500" b="1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可验证改善</a:t>
            </a:r>
            <a:endParaRPr lang="en-US" sz="500" dirty="0"/>
          </a:p>
        </p:txBody>
      </p:sp>
      <p:sp>
        <p:nvSpPr>
          <p:cNvPr id="45" name="Shape 37"/>
          <p:cNvSpPr/>
          <p:nvPr/>
        </p:nvSpPr>
        <p:spPr>
          <a:xfrm>
            <a:off x="5645348" y="1904367"/>
            <a:ext cx="3407569" cy="557213"/>
          </a:xfrm>
          <a:prstGeom prst="roundRect">
            <a:avLst>
              <a:gd name="adj" fmla="val 7890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38"/>
          <p:cNvSpPr/>
          <p:nvPr/>
        </p:nvSpPr>
        <p:spPr>
          <a:xfrm>
            <a:off x="5719074" y="2079389"/>
            <a:ext cx="935831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+ median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77.4%</a:t>
            </a:r>
            <a:endParaRPr lang="en-US" sz="600" dirty="0"/>
          </a:p>
        </p:txBody>
      </p:sp>
      <p:sp>
        <p:nvSpPr>
          <p:cNvPr id="47" name="Text 39"/>
          <p:cNvSpPr/>
          <p:nvPr/>
        </p:nvSpPr>
        <p:spPr>
          <a:xfrm>
            <a:off x="6712558" y="2086533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600" dirty="0"/>
          </a:p>
        </p:txBody>
      </p:sp>
      <p:sp>
        <p:nvSpPr>
          <p:cNvPr id="48" name="Text 40"/>
          <p:cNvSpPr/>
          <p:nvPr/>
        </p:nvSpPr>
        <p:spPr>
          <a:xfrm>
            <a:off x="6954106" y="2079389"/>
            <a:ext cx="642938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00" b="1" dirty="0">
                <a:solidFill>
                  <a:srgbClr val="2637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 融合内核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804"/>
              </a:lnSpc>
              <a:buNone/>
            </a:pPr>
            <a:r>
              <a:rPr lang="en-US" sz="600" b="1" dirty="0">
                <a:solidFill>
                  <a:srgbClr val="2637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搬到 GPU</a:t>
            </a:r>
            <a:endParaRPr lang="en-US" sz="600" dirty="0"/>
          </a:p>
        </p:txBody>
      </p:sp>
      <p:sp>
        <p:nvSpPr>
          <p:cNvPr id="49" name="Text 41"/>
          <p:cNvSpPr/>
          <p:nvPr/>
        </p:nvSpPr>
        <p:spPr>
          <a:xfrm>
            <a:off x="8144042" y="2079389"/>
            <a:ext cx="835819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承接主战场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E7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融合</a:t>
            </a:r>
            <a:endParaRPr lang="en-US" sz="600" dirty="0"/>
          </a:p>
        </p:txBody>
      </p:sp>
      <p:sp>
        <p:nvSpPr>
          <p:cNvPr id="50" name="Shape 42"/>
          <p:cNvSpPr/>
          <p:nvPr/>
        </p:nvSpPr>
        <p:spPr>
          <a:xfrm>
            <a:off x="5645348" y="2522748"/>
            <a:ext cx="3407569" cy="557213"/>
          </a:xfrm>
          <a:prstGeom prst="roundRect">
            <a:avLst>
              <a:gd name="adj" fmla="val 7890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3"/>
          <p:cNvSpPr/>
          <p:nvPr/>
        </p:nvSpPr>
        <p:spPr>
          <a:xfrm>
            <a:off x="5719074" y="2697770"/>
            <a:ext cx="935831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21.6%</a:t>
            </a:r>
            <a:endParaRPr lang="en-US" sz="600" dirty="0"/>
          </a:p>
        </p:txBody>
      </p:sp>
      <p:sp>
        <p:nvSpPr>
          <p:cNvPr id="52" name="Text 44"/>
          <p:cNvSpPr/>
          <p:nvPr/>
        </p:nvSpPr>
        <p:spPr>
          <a:xfrm>
            <a:off x="6712558" y="2704914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600" dirty="0"/>
          </a:p>
        </p:txBody>
      </p:sp>
      <p:sp>
        <p:nvSpPr>
          <p:cNvPr id="53" name="Text 45"/>
          <p:cNvSpPr/>
          <p:nvPr/>
        </p:nvSpPr>
        <p:spPr>
          <a:xfrm>
            <a:off x="6954329" y="2751293"/>
            <a:ext cx="50006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00" b="1" dirty="0">
                <a:solidFill>
                  <a:srgbClr val="2637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 锚点级联</a:t>
            </a:r>
            <a:endParaRPr lang="en-US" sz="600" dirty="0"/>
          </a:p>
        </p:txBody>
      </p:sp>
      <p:sp>
        <p:nvSpPr>
          <p:cNvPr id="54" name="Text 46"/>
          <p:cNvSpPr/>
          <p:nvPr/>
        </p:nvSpPr>
        <p:spPr>
          <a:xfrm>
            <a:off x="8144042" y="2697770"/>
            <a:ext cx="835819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→ 6.19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E7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 / 帧</a:t>
            </a:r>
            <a:endParaRPr lang="en-US" sz="600" dirty="0"/>
          </a:p>
        </p:txBody>
      </p:sp>
      <p:sp>
        <p:nvSpPr>
          <p:cNvPr id="55" name="Shape 47"/>
          <p:cNvSpPr/>
          <p:nvPr/>
        </p:nvSpPr>
        <p:spPr>
          <a:xfrm>
            <a:off x="5645348" y="3141129"/>
            <a:ext cx="3407569" cy="557213"/>
          </a:xfrm>
          <a:prstGeom prst="roundRect">
            <a:avLst>
              <a:gd name="adj" fmla="val 7890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48"/>
          <p:cNvSpPr/>
          <p:nvPr/>
        </p:nvSpPr>
        <p:spPr>
          <a:xfrm>
            <a:off x="5719074" y="3316151"/>
            <a:ext cx="935831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 内 gFTT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B86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65.8%</a:t>
            </a:r>
            <a:endParaRPr lang="en-US" sz="600" dirty="0"/>
          </a:p>
        </p:txBody>
      </p:sp>
      <p:sp>
        <p:nvSpPr>
          <p:cNvPr id="57" name="Text 49"/>
          <p:cNvSpPr/>
          <p:nvPr/>
        </p:nvSpPr>
        <p:spPr>
          <a:xfrm>
            <a:off x="6712558" y="3323295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600" dirty="0"/>
          </a:p>
        </p:txBody>
      </p:sp>
      <p:sp>
        <p:nvSpPr>
          <p:cNvPr id="58" name="Text 50"/>
          <p:cNvSpPr/>
          <p:nvPr/>
        </p:nvSpPr>
        <p:spPr>
          <a:xfrm>
            <a:off x="6955445" y="3369673"/>
            <a:ext cx="3929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00" b="1" dirty="0">
                <a:solidFill>
                  <a:srgbClr val="2637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纯函数缓存</a:t>
            </a:r>
            <a:endParaRPr lang="en-US" sz="600" dirty="0"/>
          </a:p>
        </p:txBody>
      </p:sp>
      <p:sp>
        <p:nvSpPr>
          <p:cNvPr id="59" name="Text 51"/>
          <p:cNvSpPr/>
          <p:nvPr/>
        </p:nvSpPr>
        <p:spPr>
          <a:xfrm>
            <a:off x="8144042" y="3316151"/>
            <a:ext cx="835819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18.46 → 3.94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E7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</a:t>
            </a:r>
            <a:endParaRPr lang="en-US" sz="600" dirty="0"/>
          </a:p>
        </p:txBody>
      </p:sp>
      <p:sp>
        <p:nvSpPr>
          <p:cNvPr id="60" name="Text 52"/>
          <p:cNvSpPr/>
          <p:nvPr/>
        </p:nvSpPr>
        <p:spPr>
          <a:xfrm>
            <a:off x="5645348" y="3766542"/>
            <a:ext cx="3407569" cy="242888"/>
          </a:xfrm>
          <a:prstGeom prst="roundRect">
            <a:avLst>
              <a:gd name="adj" fmla="val 35986"/>
            </a:avLst>
          </a:prstGeom>
          <a:solidFill>
            <a:srgbClr val="C9974D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优化边界：后续动作必须保持“锚定等价、不丢帧”。</a:t>
            </a:r>
            <a:pPr algn="l" indent="0" marL="0">
              <a:lnSpc>
                <a:spcPts val="759"/>
              </a:lnSpc>
              <a:spcBef>
                <a:spcPts val="563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246F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深缓冲已启用</a:t>
            </a:r>
            <a:endParaRPr lang="en-US" sz="500" dirty="0"/>
          </a:p>
        </p:txBody>
      </p:sp>
      <p:sp>
        <p:nvSpPr>
          <p:cNvPr id="61" name="Text 53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" dirty="0"/>
          </a:p>
        </p:txBody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708" y="1435894"/>
            <a:ext cx="4686300" cy="828675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792684" y="1985628"/>
            <a:ext cx="2007394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F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78.5%</a:t>
            </a:r>
            <a:endParaRPr lang="en-US" sz="50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6864" y="3835301"/>
            <a:ext cx="4471988" cy="214313"/>
          </a:xfrm>
          <a:prstGeom prst="rect">
            <a:avLst/>
          </a:prstGeom>
        </p:spPr>
      </p:pic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45348" y="1420881"/>
            <a:ext cx="3407569" cy="257175"/>
          </a:xfrm>
          <a:prstGeom prst="rect">
            <a:avLst/>
          </a:prstGeom>
        </p:spPr>
      </p:pic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44042" y="2079389"/>
            <a:ext cx="835819" cy="207169"/>
          </a:xfrm>
          <a:prstGeom prst="rect">
            <a:avLst/>
          </a:prstGeom>
        </p:spPr>
      </p:pic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44042" y="2697770"/>
            <a:ext cx="835819" cy="207169"/>
          </a:xfrm>
          <a:prstGeom prst="rect">
            <a:avLst/>
          </a:prstGeom>
        </p:spPr>
      </p:pic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144042" y="3316151"/>
            <a:ext cx="835819" cy="207169"/>
          </a:xfrm>
          <a:prstGeom prst="rect">
            <a:avLst/>
          </a:prstGeom>
        </p:spPr>
      </p:pic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8401050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 · NPU 账本：算子匹配与效率反直觉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不是“算得慢”，而是“算的东西和算的方式都不对”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7193" y="1478756"/>
            <a:ext cx="3228975" cy="1957388"/>
          </a:xfrm>
          <a:prstGeom prst="roundRect">
            <a:avLst>
              <a:gd name="adj" fmla="val 4092"/>
            </a:avLst>
          </a:prstGeom>
          <a:solidFill>
            <a:srgbClr val="122033"/>
          </a:solidFill>
          <a:ln w="7144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6932" y="1614487"/>
            <a:ext cx="471488" cy="185738"/>
          </a:xfrm>
          <a:prstGeom prst="roundRect">
            <a:avLst>
              <a:gd name="adj" fmla="val 61538"/>
            </a:avLst>
          </a:prstGeom>
          <a:solidFill>
            <a:srgbClr val="C9974D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3C1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633811" y="1668066"/>
            <a:ext cx="102155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F8FAFC">
                    <a:alpha val="4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/ SYSTEM MISMATCH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727211" y="1893429"/>
            <a:ext cx="2928938" cy="4429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7"/>
              </a:lnSpc>
              <a:spcBef>
                <a:spcPts val="731"/>
              </a:spcBef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不是“算得慢”，而是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200" b="1" dirty="0">
                <a:solidFill>
                  <a:srgbClr val="E8B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算的东西</a:t>
            </a:r>
            <a:pPr algn="l" indent="0" marL="0">
              <a:lnSpc>
                <a:spcPts val="1747"/>
              </a:lnSpc>
              <a:spcBef>
                <a:spcPts val="731"/>
              </a:spcBef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ts val="1747"/>
              </a:lnSpc>
              <a:buNone/>
            </a:pPr>
            <a:r>
              <a:rPr lang="en-US" sz="1200" b="1" dirty="0">
                <a:solidFill>
                  <a:srgbClr val="E8B8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算的方式</a:t>
            </a:r>
            <a:pPr algn="l" indent="0" marL="0">
              <a:lnSpc>
                <a:spcPts val="1747"/>
              </a:lnSpc>
              <a:spcBef>
                <a:spcPts val="731"/>
              </a:spcBef>
              <a:spcAft>
                <a:spcPts val="675"/>
              </a:spcAft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7211" y="2421843"/>
            <a:ext cx="2928938" cy="357187"/>
          </a:xfrm>
          <a:prstGeom prst="roundRect">
            <a:avLst>
              <a:gd name="adj" fmla="val 16640"/>
            </a:avLst>
          </a:prstGeom>
          <a:solidFill>
            <a:srgbClr val="FFFFFF">
              <a:alpha val="5500"/>
            </a:srgbClr>
          </a:solidFill>
          <a:ln w="7144">
            <a:solidFill>
              <a:srgbClr val="FFFFFF">
                <a:alpha val="75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00100" y="2557574"/>
            <a:ext cx="315546" cy="857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B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1077255" y="2479551"/>
            <a:ext cx="25074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算子落点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077255" y="2614724"/>
            <a:ext cx="25074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F3A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个算子</a:t>
            </a:r>
            <a:pPr algn="l" indent="0" marL="0">
              <a:lnSpc>
                <a:spcPts val="835"/>
              </a:lnSpc>
              <a:spcBef>
                <a:spcPts val="113"/>
              </a:spcBef>
              <a:buNone/>
            </a:pPr>
            <a:r>
              <a:rPr lang="en-US" sz="6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静默落到 CPU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727211" y="2827920"/>
            <a:ext cx="2928938" cy="357187"/>
          </a:xfrm>
          <a:prstGeom prst="roundRect">
            <a:avLst>
              <a:gd name="adj" fmla="val 16640"/>
            </a:avLst>
          </a:prstGeom>
          <a:solidFill>
            <a:srgbClr val="FFFFFF">
              <a:alpha val="5500"/>
            </a:srgbClr>
          </a:solidFill>
          <a:ln w="7144">
            <a:solidFill>
              <a:srgbClr val="FFFFFF">
                <a:alpha val="75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00100" y="2963652"/>
            <a:ext cx="2143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B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077255" y="2885629"/>
            <a:ext cx="25074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计算路径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077255" y="3020802"/>
            <a:ext cx="25074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F3A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次前向</a:t>
            </a:r>
            <a:pPr algn="l" indent="0" marL="0">
              <a:lnSpc>
                <a:spcPts val="835"/>
              </a:lnSpc>
              <a:spcBef>
                <a:spcPts val="113"/>
              </a:spcBef>
              <a:buNone/>
            </a:pPr>
            <a:r>
              <a:rPr lang="en-US" sz="6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叠加空间上限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727211" y="3233998"/>
            <a:ext cx="2928938" cy="357187"/>
          </a:xfrm>
          <a:prstGeom prst="roundRect">
            <a:avLst>
              <a:gd name="adj" fmla="val 16640"/>
            </a:avLst>
          </a:prstGeom>
          <a:solidFill>
            <a:srgbClr val="FFFFFF">
              <a:alpha val="5500"/>
            </a:srgbClr>
          </a:solidFill>
          <a:ln w="7144">
            <a:solidFill>
              <a:srgbClr val="FFFFFF">
                <a:alpha val="75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00100" y="3369729"/>
            <a:ext cx="2143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B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077255" y="3291706"/>
            <a:ext cx="25074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077255" y="3426879"/>
            <a:ext cx="25074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F3A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dtype</a:t>
            </a:r>
            <a:pPr algn="l" indent="0" marL="0">
              <a:lnSpc>
                <a:spcPts val="835"/>
              </a:lnSpc>
              <a:spcBef>
                <a:spcPts val="113"/>
              </a:spcBef>
              <a:buNone/>
            </a:pPr>
            <a:r>
              <a:rPr lang="en-US" sz="6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决定量化路径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3934699" y="1479872"/>
            <a:ext cx="5043488" cy="607219"/>
          </a:xfrm>
          <a:prstGeom prst="roundRect">
            <a:avLst>
              <a:gd name="adj" fmla="val 885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040460" y="1615604"/>
            <a:ext cx="1285875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6C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01</a:t>
            </a:r>
            <a:pPr algn="l" indent="0" marL="0">
              <a:spcAft>
                <a:spcPts val="394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静默回退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4040907" y="1794197"/>
            <a:ext cx="264319" cy="150019"/>
          </a:xfrm>
          <a:prstGeom prst="roundRect">
            <a:avLst>
              <a:gd name="adj" fmla="val 65306"/>
            </a:avLst>
          </a:prstGeom>
          <a:solidFill>
            <a:srgbClr val="EEF3F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8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4341391" y="1815629"/>
            <a:ext cx="928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9978" y="1787054"/>
            <a:ext cx="278606" cy="164306"/>
          </a:xfrm>
          <a:prstGeom prst="roundRect">
            <a:avLst>
              <a:gd name="adj" fmla="val 54442"/>
            </a:avLst>
          </a:prstGeom>
          <a:solidFill>
            <a:srgbClr val="F7F1E7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未匹配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4784303" y="1815629"/>
            <a:ext cx="928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913337" y="1787054"/>
            <a:ext cx="278606" cy="164306"/>
          </a:xfrm>
          <a:prstGeom prst="roundRect">
            <a:avLst>
              <a:gd name="adj" fmla="val 54442"/>
            </a:avLst>
          </a:prstGeom>
          <a:solidFill>
            <a:srgbClr val="FFF0E7"/>
          </a:solidFill>
          <a:ln w="7144">
            <a:solidFill>
              <a:srgbClr val="C96937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95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500" dirty="0"/>
          </a:p>
        </p:txBody>
      </p:sp>
      <p:sp>
        <p:nvSpPr>
          <p:cNvPr id="33" name="Shape 30"/>
          <p:cNvSpPr/>
          <p:nvPr/>
        </p:nvSpPr>
        <p:spPr>
          <a:xfrm>
            <a:off x="5427743" y="1565597"/>
            <a:ext cx="3443288" cy="435769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5534899" y="1564258"/>
            <a:ext cx="3336131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B95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534899" y="1765622"/>
            <a:ext cx="33361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编译通过</a:t>
            </a:r>
            <a:pPr algn="l" indent="0" marL="0">
              <a:lnSpc>
                <a:spcPts val="866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≠ 全程运行于 NPU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534899" y="1895549"/>
            <a:ext cx="33361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不抛异常，不改原指标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3934699" y="2153617"/>
            <a:ext cx="5043488" cy="607219"/>
          </a:xfrm>
          <a:prstGeom prst="roundRect">
            <a:avLst>
              <a:gd name="adj" fmla="val 885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040460" y="2271489"/>
            <a:ext cx="1285875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6C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02</a:t>
            </a:r>
            <a:pPr algn="l" indent="0" marL="0">
              <a:spcAft>
                <a:spcPts val="338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效率反直觉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4040460" y="2439367"/>
            <a:ext cx="257175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</a:t>
            </a:r>
            <a:endParaRPr lang="en-US" sz="500" dirty="0"/>
          </a:p>
        </p:txBody>
      </p:sp>
      <p:sp>
        <p:nvSpPr>
          <p:cNvPr id="40" name="Shape 37"/>
          <p:cNvSpPr/>
          <p:nvPr/>
        </p:nvSpPr>
        <p:spPr>
          <a:xfrm>
            <a:off x="4340498" y="2450083"/>
            <a:ext cx="607219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7000"/>
            </a:srgbClr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339605" y="2450083"/>
            <a:ext cx="92869" cy="50006"/>
          </a:xfrm>
          <a:prstGeom prst="roundRect">
            <a:avLst>
              <a:gd name="adj" fmla="val 228573"/>
            </a:avLst>
          </a:prstGeom>
          <a:solidFill>
            <a:srgbClr val="C08B3E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4990579" y="2435796"/>
            <a:ext cx="33575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−6.8%</a:t>
            </a:r>
            <a:endParaRPr lang="en-US" sz="500" dirty="0"/>
          </a:p>
        </p:txBody>
      </p:sp>
      <p:sp>
        <p:nvSpPr>
          <p:cNvPr id="43" name="Text 40"/>
          <p:cNvSpPr/>
          <p:nvPr/>
        </p:nvSpPr>
        <p:spPr>
          <a:xfrm>
            <a:off x="4040460" y="2550096"/>
            <a:ext cx="25717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</a:t>
            </a:r>
            <a:endParaRPr lang="en-US" sz="500" dirty="0"/>
          </a:p>
        </p:txBody>
      </p:sp>
      <p:sp>
        <p:nvSpPr>
          <p:cNvPr id="44" name="Shape 41"/>
          <p:cNvSpPr/>
          <p:nvPr/>
        </p:nvSpPr>
        <p:spPr>
          <a:xfrm>
            <a:off x="4340498" y="2571527"/>
            <a:ext cx="607219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7000"/>
            </a:srgbClr>
          </a:solidFill>
          <a:ln/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341168" y="2571527"/>
            <a:ext cx="435769" cy="50006"/>
          </a:xfrm>
          <a:prstGeom prst="roundRect">
            <a:avLst>
              <a:gd name="adj" fmla="val 228573"/>
            </a:avLst>
          </a:prstGeom>
          <a:solidFill>
            <a:srgbClr val="168A7A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990579" y="2557239"/>
            <a:ext cx="33575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8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−46.5%</a:t>
            </a:r>
            <a:endParaRPr lang="en-US" sz="500" dirty="0"/>
          </a:p>
        </p:txBody>
      </p:sp>
      <p:sp>
        <p:nvSpPr>
          <p:cNvPr id="47" name="Shape 44"/>
          <p:cNvSpPr/>
          <p:nvPr/>
        </p:nvSpPr>
        <p:spPr>
          <a:xfrm>
            <a:off x="5427743" y="2314352"/>
            <a:ext cx="3443288" cy="285750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5531941" y="2314352"/>
            <a:ext cx="6500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multi-scale 前向次数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5531941" y="2435796"/>
            <a:ext cx="650081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335138" y="2378646"/>
            <a:ext cx="535781" cy="157163"/>
          </a:xfrm>
          <a:prstGeom prst="roundRect">
            <a:avLst>
              <a:gd name="adj" fmla="val 59504"/>
            </a:avLst>
          </a:prstGeom>
          <a:solidFill>
            <a:srgbClr val="F7F1E7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H×W ≤ 16384</a:t>
            </a:r>
            <a:endParaRPr lang="en-US" sz="500" dirty="0"/>
          </a:p>
        </p:txBody>
      </p:sp>
      <p:sp>
        <p:nvSpPr>
          <p:cNvPr id="51" name="Shape 48"/>
          <p:cNvSpPr/>
          <p:nvPr/>
        </p:nvSpPr>
        <p:spPr>
          <a:xfrm>
            <a:off x="3934699" y="2827474"/>
            <a:ext cx="5043488" cy="607219"/>
          </a:xfrm>
          <a:prstGeom prst="roundRect">
            <a:avLst>
              <a:gd name="adj" fmla="val 885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040460" y="2959633"/>
            <a:ext cx="1285875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6C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03</a:t>
            </a:r>
            <a:pPr algn="l" indent="0" marL="0">
              <a:spcAft>
                <a:spcPts val="338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输入路径</a:t>
            </a:r>
            <a:endParaRPr lang="en-US" sz="500" dirty="0"/>
          </a:p>
        </p:txBody>
      </p:sp>
      <p:sp>
        <p:nvSpPr>
          <p:cNvPr id="53" name="Text 50"/>
          <p:cNvSpPr/>
          <p:nvPr/>
        </p:nvSpPr>
        <p:spPr>
          <a:xfrm>
            <a:off x="4041967" y="3123940"/>
            <a:ext cx="442912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4041967" y="3195377"/>
            <a:ext cx="442912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95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45.41 ms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4536393" y="3163230"/>
            <a:ext cx="857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AA5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4670729" y="3123940"/>
            <a:ext cx="39290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</a:t>
            </a:r>
            <a:endParaRPr lang="en-US" sz="500" dirty="0"/>
          </a:p>
        </p:txBody>
      </p:sp>
      <p:sp>
        <p:nvSpPr>
          <p:cNvPr id="57" name="Text 54"/>
          <p:cNvSpPr/>
          <p:nvPr/>
        </p:nvSpPr>
        <p:spPr>
          <a:xfrm>
            <a:off x="4670729" y="3195377"/>
            <a:ext cx="3929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8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 ms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5427743" y="2995352"/>
            <a:ext cx="3443288" cy="27146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5532109" y="3045358"/>
            <a:ext cx="4143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168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133×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022795" y="2995352"/>
            <a:ext cx="28503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dtype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是量化硬闸门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6022795" y="3130525"/>
            <a:ext cx="285035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QAT 无法兼得更高精度与 INT8 输入时延</a:t>
            </a:r>
            <a:endParaRPr lang="en-US" sz="500" dirty="0"/>
          </a:p>
        </p:txBody>
      </p:sp>
      <p:sp>
        <p:nvSpPr>
          <p:cNvPr id="62" name="Shape 59"/>
          <p:cNvSpPr/>
          <p:nvPr/>
        </p:nvSpPr>
        <p:spPr>
          <a:xfrm>
            <a:off x="578644" y="3521869"/>
            <a:ext cx="8401050" cy="428625"/>
          </a:xfrm>
          <a:prstGeom prst="roundRect">
            <a:avLst>
              <a:gd name="adj" fmla="val 16000"/>
            </a:avLst>
          </a:prstGeom>
          <a:solidFill>
            <a:srgbClr val="122033"/>
          </a:solidFill>
          <a:ln w="7144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714375" y="3639741"/>
            <a:ext cx="192881" cy="192881"/>
          </a:xfrm>
          <a:prstGeom prst="roundRect">
            <a:avLst>
              <a:gd name="adj" fmla="val 39506"/>
            </a:avLst>
          </a:prstGeom>
          <a:solidFill>
            <a:srgbClr val="C9974D">
              <a:alpha val="1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C1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970824" y="3621881"/>
            <a:ext cx="1042988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>
                    <a:alpha val="4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CONCLUSION</a:t>
            </a:r>
            <a:endParaRPr lang="en-US" sz="500" dirty="0"/>
          </a:p>
        </p:txBody>
      </p:sp>
      <p:sp>
        <p:nvSpPr>
          <p:cNvPr id="65" name="Text 62"/>
          <p:cNvSpPr/>
          <p:nvPr/>
        </p:nvSpPr>
        <p:spPr>
          <a:xfrm>
            <a:off x="970824" y="3707606"/>
            <a:ext cx="10429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FLOPs 外推失效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3795452" y="3668316"/>
            <a:ext cx="2786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必须用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138966" y="3632597"/>
            <a:ext cx="714375" cy="207169"/>
          </a:xfrm>
          <a:prstGeom prst="roundRect">
            <a:avLst>
              <a:gd name="adj" fmla="val 34245"/>
            </a:avLst>
          </a:prstGeom>
          <a:solidFill>
            <a:srgbClr val="C9974D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C4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 算子表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918249" y="3668316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定位真正的代价项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7443620" y="3682603"/>
            <a:ext cx="1400175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AFC">
                    <a:alpha val="4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D9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查落点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D8B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D9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查输入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D8B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D9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评上限</a:t>
            </a:r>
            <a:endParaRPr lang="en-US" sz="500" dirty="0"/>
          </a:p>
        </p:txBody>
      </p:sp>
      <p:sp>
        <p:nvSpPr>
          <p:cNvPr id="70" name="Text 67"/>
          <p:cNvSpPr/>
          <p:nvPr/>
        </p:nvSpPr>
        <p:spPr>
          <a:xfrm>
            <a:off x="578644" y="4079081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00" dirty="0"/>
          </a:p>
        </p:txBody>
      </p:sp>
      <p:pic>
        <p:nvPicPr>
          <p:cNvPr id="7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644" y="564356"/>
            <a:ext cx="8401050" cy="785813"/>
          </a:xfrm>
          <a:prstGeom prst="rect">
            <a:avLst/>
          </a:prstGeom>
        </p:spPr>
      </p:pic>
      <p:pic>
        <p:nvPicPr>
          <p:cNvPr id="7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7743" y="1565597"/>
            <a:ext cx="3443288" cy="435769"/>
          </a:xfrm>
          <a:prstGeom prst="rect">
            <a:avLst/>
          </a:prstGeom>
        </p:spPr>
      </p:pic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7743" y="2314352"/>
            <a:ext cx="3443288" cy="285750"/>
          </a:xfrm>
          <a:prstGeom prst="rect">
            <a:avLst/>
          </a:prstGeom>
        </p:spPr>
      </p:pic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7743" y="2995352"/>
            <a:ext cx="3443288" cy="271463"/>
          </a:xfrm>
          <a:prstGeom prst="rect">
            <a:avLst/>
          </a:prstGeom>
        </p:spPr>
      </p:pic>
      <p:pic>
        <p:nvPicPr>
          <p:cNvPr id="7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22795" y="3130525"/>
            <a:ext cx="2850356" cy="135731"/>
          </a:xfrm>
          <a:prstGeom prst="rect">
            <a:avLst/>
          </a:prstGeom>
        </p:spPr>
      </p:pic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43620" y="3682603"/>
            <a:ext cx="1400175" cy="107156"/>
          </a:xfrm>
          <a:prstGeom prst="rect">
            <a:avLst/>
          </a:prstGeom>
        </p:spPr>
      </p:pic>
      <p:pic>
        <p:nvPicPr>
          <p:cNvPr id="7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8644" y="4079081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A1｜OpenCL 融合内核：warp + median 搬上 GPU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 step10 瓶颈：把 CPU 最耗时链路迁至 Mali-G610，并以全枚举验证结果可信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92919" y="1428750"/>
            <a:ext cx="1214438" cy="54292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92919" y="1429866"/>
            <a:ext cx="1121569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2919" y="1757363"/>
            <a:ext cx="1121569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338"/>
              </a:spcBef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step10 CPU 侧耗时占比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835"/>
              </a:lnSpc>
              <a:spcBef>
                <a:spcPts val="338"/>
              </a:spcBef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瓶颈链路整体卸下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807369" y="1496616"/>
            <a:ext cx="3714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2241352" y="1493044"/>
            <a:ext cx="2786063" cy="85725"/>
          </a:xfrm>
          <a:prstGeom prst="roundRect">
            <a:avLst>
              <a:gd name="adj" fmla="val 133333"/>
            </a:avLst>
          </a:prstGeom>
          <a:solidFill>
            <a:srgbClr val="E8EDF3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4812" y="1493044"/>
            <a:ext cx="2150269" cy="857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9922" y="1482328"/>
            <a:ext cx="1428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迁出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1807369" y="1660922"/>
            <a:ext cx="3714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500" dirty="0"/>
          </a:p>
        </p:txBody>
      </p:sp>
      <p:sp>
        <p:nvSpPr>
          <p:cNvPr id="19" name="Shape 15"/>
          <p:cNvSpPr/>
          <p:nvPr/>
        </p:nvSpPr>
        <p:spPr>
          <a:xfrm>
            <a:off x="2241352" y="1657350"/>
            <a:ext cx="2786063" cy="85725"/>
          </a:xfrm>
          <a:prstGeom prst="roundRect">
            <a:avLst>
              <a:gd name="adj" fmla="val 133333"/>
            </a:avLst>
          </a:prstGeom>
          <a:solidFill>
            <a:srgbClr val="F1EADC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1352" y="1657350"/>
            <a:ext cx="2786063" cy="857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89922" y="1646634"/>
            <a:ext cx="1428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</a:t>
            </a:r>
            <a:endParaRPr lang="en-US" sz="500" dirty="0"/>
          </a:p>
        </p:txBody>
      </p:sp>
      <p:sp>
        <p:nvSpPr>
          <p:cNvPr id="22" name="Text 17"/>
          <p:cNvSpPr/>
          <p:nvPr/>
        </p:nvSpPr>
        <p:spPr>
          <a:xfrm>
            <a:off x="1805583" y="1810941"/>
            <a:ext cx="34290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融合内核一次承接三类重算子</a:t>
            </a:r>
            <a:endParaRPr lang="en-US" sz="5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133" y="2050256"/>
            <a:ext cx="4743450" cy="8715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84169" y="2064544"/>
            <a:ext cx="1807369" cy="842962"/>
          </a:xfrm>
          <a:prstGeom prst="roundRect">
            <a:avLst>
              <a:gd name="adj" fmla="val 12870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662750" y="2135981"/>
            <a:ext cx="16502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94"/>
              </a:spcAft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保留</a:t>
            </a:r>
            <a:endParaRPr lang="en-US" sz="500" dirty="0"/>
          </a:p>
        </p:txBody>
      </p:sp>
      <p:sp>
        <p:nvSpPr>
          <p:cNvPr id="26" name="Text 20"/>
          <p:cNvSpPr/>
          <p:nvPr/>
        </p:nvSpPr>
        <p:spPr>
          <a:xfrm>
            <a:off x="664871" y="2293144"/>
            <a:ext cx="464344" cy="150019"/>
          </a:xfrm>
          <a:prstGeom prst="roundRect">
            <a:avLst>
              <a:gd name="adj" fmla="val 50794"/>
            </a:avLst>
          </a:prstGeom>
          <a:solidFill>
            <a:srgbClr val="EDF1F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Shi-Tomasi</a:t>
            </a:r>
            <a:endParaRPr lang="en-US" sz="500" dirty="0"/>
          </a:p>
        </p:txBody>
      </p:sp>
      <p:sp>
        <p:nvSpPr>
          <p:cNvPr id="27" name="Text 21"/>
          <p:cNvSpPr/>
          <p:nvPr/>
        </p:nvSpPr>
        <p:spPr>
          <a:xfrm>
            <a:off x="1165436" y="2328863"/>
            <a:ext cx="7143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28" name="Text 22"/>
          <p:cNvSpPr/>
          <p:nvPr/>
        </p:nvSpPr>
        <p:spPr>
          <a:xfrm>
            <a:off x="1273820" y="2293144"/>
            <a:ext cx="178594" cy="150019"/>
          </a:xfrm>
          <a:prstGeom prst="roundRect">
            <a:avLst>
              <a:gd name="adj" fmla="val 50794"/>
            </a:avLst>
          </a:prstGeom>
          <a:solidFill>
            <a:srgbClr val="EDF1F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LK</a:t>
            </a:r>
            <a:endParaRPr lang="en-US" sz="500" dirty="0"/>
          </a:p>
        </p:txBody>
      </p:sp>
      <p:sp>
        <p:nvSpPr>
          <p:cNvPr id="29" name="Text 23"/>
          <p:cNvSpPr/>
          <p:nvPr/>
        </p:nvSpPr>
        <p:spPr>
          <a:xfrm>
            <a:off x="1489360" y="2328863"/>
            <a:ext cx="7143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A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30" name="Text 24"/>
          <p:cNvSpPr/>
          <p:nvPr/>
        </p:nvSpPr>
        <p:spPr>
          <a:xfrm>
            <a:off x="1595679" y="2293144"/>
            <a:ext cx="392906" cy="150019"/>
          </a:xfrm>
          <a:prstGeom prst="roundRect">
            <a:avLst>
              <a:gd name="adj" fmla="val 50794"/>
            </a:avLst>
          </a:prstGeom>
          <a:solidFill>
            <a:srgbClr val="EDF1F5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RANSAC</a:t>
            </a:r>
            <a:endParaRPr lang="en-US" sz="500" dirty="0"/>
          </a:p>
        </p:txBody>
      </p:sp>
      <p:sp>
        <p:nvSpPr>
          <p:cNvPr id="31" name="Text 25"/>
          <p:cNvSpPr/>
          <p:nvPr/>
        </p:nvSpPr>
        <p:spPr>
          <a:xfrm>
            <a:off x="662750" y="2493169"/>
            <a:ext cx="165020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4"/>
              </a:spcBef>
              <a:buNone/>
            </a:pPr>
            <a:r>
              <a:rPr lang="en-US" sz="500" dirty="0">
                <a:solidFill>
                  <a:srgbClr val="6F7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· 跟踪 · 几何估计</a:t>
            </a:r>
            <a:endParaRPr lang="en-US" sz="500" dirty="0"/>
          </a:p>
        </p:txBody>
      </p:sp>
      <p:sp>
        <p:nvSpPr>
          <p:cNvPr id="32" name="Text 26"/>
          <p:cNvSpPr/>
          <p:nvPr/>
        </p:nvSpPr>
        <p:spPr>
          <a:xfrm>
            <a:off x="2439925" y="2389584"/>
            <a:ext cx="214313" cy="19288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8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2704021" y="2071688"/>
            <a:ext cx="2436019" cy="828675"/>
          </a:xfrm>
          <a:prstGeom prst="roundRect">
            <a:avLst>
              <a:gd name="adj" fmla="val 13317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57163" dist="71438" dir="5400000">
              <a:srgbClr val="12203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2775458" y="2135981"/>
            <a:ext cx="2293144" cy="928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MALI-G610 · OPENCL</a:t>
            </a:r>
            <a:pPr algn="l" indent="0" marL="0">
              <a:spcAft>
                <a:spcPts val="394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AEB9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融合内核</a:t>
            </a:r>
            <a:endParaRPr lang="en-US" sz="500" dirty="0"/>
          </a:p>
        </p:txBody>
      </p:sp>
      <p:sp>
        <p:nvSpPr>
          <p:cNvPr id="35" name="Text 29"/>
          <p:cNvSpPr/>
          <p:nvPr/>
        </p:nvSpPr>
        <p:spPr>
          <a:xfrm>
            <a:off x="2775626" y="2278856"/>
            <a:ext cx="735806" cy="235744"/>
          </a:xfrm>
          <a:prstGeom prst="roundRect">
            <a:avLst>
              <a:gd name="adj" fmla="val 26446"/>
            </a:avLst>
          </a:prstGeom>
          <a:solidFill>
            <a:srgbClr val="C9974D">
              <a:alpha val="18000"/>
            </a:srgbClr>
          </a:solidFill>
          <a:ln w="7144">
            <a:solidFill>
              <a:srgbClr val="E0B87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</a:t>
            </a:r>
            <a:endParaRPr lang="en-US" sz="500" dirty="0"/>
          </a:p>
        </p:txBody>
      </p:sp>
      <p:sp>
        <p:nvSpPr>
          <p:cNvPr id="36" name="Text 30"/>
          <p:cNvSpPr/>
          <p:nvPr/>
        </p:nvSpPr>
        <p:spPr>
          <a:xfrm>
            <a:off x="3554071" y="2278856"/>
            <a:ext cx="735806" cy="235744"/>
          </a:xfrm>
          <a:prstGeom prst="roundRect">
            <a:avLst>
              <a:gd name="adj" fmla="val 26446"/>
            </a:avLst>
          </a:prstGeom>
          <a:solidFill>
            <a:srgbClr val="C9974D">
              <a:alpha val="18000"/>
            </a:srgbClr>
          </a:solidFill>
          <a:ln w="7144">
            <a:solidFill>
              <a:srgbClr val="E0B87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帧 median</a:t>
            </a:r>
            <a:endParaRPr lang="en-US" sz="500" dirty="0"/>
          </a:p>
        </p:txBody>
      </p:sp>
      <p:sp>
        <p:nvSpPr>
          <p:cNvPr id="37" name="Text 31"/>
          <p:cNvSpPr/>
          <p:nvPr/>
        </p:nvSpPr>
        <p:spPr>
          <a:xfrm>
            <a:off x="4332517" y="2278856"/>
            <a:ext cx="735806" cy="235744"/>
          </a:xfrm>
          <a:prstGeom prst="roundRect">
            <a:avLst>
              <a:gd name="adj" fmla="val 26446"/>
            </a:avLst>
          </a:prstGeom>
          <a:solidFill>
            <a:srgbClr val="C9974D">
              <a:alpha val="18000"/>
            </a:srgbClr>
          </a:solidFill>
          <a:ln w="7144">
            <a:solidFill>
              <a:srgbClr val="E0B87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三通道组装</a:t>
            </a:r>
            <a:endParaRPr lang="en-US" sz="500" dirty="0"/>
          </a:p>
        </p:txBody>
      </p:sp>
      <p:sp>
        <p:nvSpPr>
          <p:cNvPr id="38" name="Text 32"/>
          <p:cNvSpPr/>
          <p:nvPr/>
        </p:nvSpPr>
        <p:spPr>
          <a:xfrm>
            <a:off x="2775458" y="2564606"/>
            <a:ext cx="229314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94"/>
              </a:spcBef>
              <a:buNone/>
            </a:pPr>
            <a:r>
              <a:rPr lang="en-US" sz="500" dirty="0">
                <a:solidFill>
                  <a:srgbClr val="C9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仅保留检测、跟踪与几何估计</a:t>
            </a:r>
            <a:endParaRPr lang="en-US" sz="500" dirty="0"/>
          </a:p>
        </p:txBody>
      </p:sp>
      <p:sp>
        <p:nvSpPr>
          <p:cNvPr id="39" name="Shape 33"/>
          <p:cNvSpPr/>
          <p:nvPr/>
        </p:nvSpPr>
        <p:spPr>
          <a:xfrm>
            <a:off x="491133" y="2978944"/>
            <a:ext cx="4743450" cy="1042988"/>
          </a:xfrm>
          <a:prstGeom prst="roundRect">
            <a:avLst>
              <a:gd name="adj" fmla="val 10809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4"/>
          <p:cNvSpPr/>
          <p:nvPr/>
        </p:nvSpPr>
        <p:spPr>
          <a:xfrm>
            <a:off x="585229" y="3082528"/>
            <a:ext cx="2421731" cy="442912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41" name="Text 35"/>
          <p:cNvSpPr/>
          <p:nvPr/>
        </p:nvSpPr>
        <p:spPr>
          <a:xfrm>
            <a:off x="585229" y="3082528"/>
            <a:ext cx="2343150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2,097,152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800" b="1" dirty="0">
                <a:solidFill>
                  <a:srgbClr val="A8B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69"/>
              </a:lnSpc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2,097,152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585229" y="3325416"/>
            <a:ext cx="23431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4"/>
              </a:spcBef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2²¹ 全枚举 · 109 个比较器 · 非抽样</a:t>
            </a:r>
            <a:endParaRPr lang="en-US" sz="500" dirty="0"/>
          </a:p>
        </p:txBody>
      </p:sp>
      <p:sp>
        <p:nvSpPr>
          <p:cNvPr id="43" name="Shape 37"/>
          <p:cNvSpPr/>
          <p:nvPr/>
        </p:nvSpPr>
        <p:spPr>
          <a:xfrm>
            <a:off x="585229" y="3482578"/>
            <a:ext cx="2343150" cy="42863"/>
          </a:xfrm>
          <a:prstGeom prst="roundRect">
            <a:avLst>
              <a:gd name="adj" fmla="val 266664"/>
            </a:avLst>
          </a:prstGeom>
          <a:solidFill>
            <a:srgbClr val="DFE5EC"/>
          </a:solidFill>
          <a:ln/>
        </p:spPr>
        <p:txBody>
          <a:bodyPr/>
          <a:p/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29" y="3482578"/>
            <a:ext cx="2343150" cy="4286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076556" y="3120479"/>
            <a:ext cx="206454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9B6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公开伪码证伪</a:t>
            </a:r>
            <a:endParaRPr lang="en-US" sz="500" dirty="0"/>
          </a:p>
        </p:txBody>
      </p:sp>
      <p:sp>
        <p:nvSpPr>
          <p:cNvPr id="46" name="Text 39"/>
          <p:cNvSpPr/>
          <p:nvPr/>
        </p:nvSpPr>
        <p:spPr>
          <a:xfrm>
            <a:off x="3076556" y="3250406"/>
            <a:ext cx="2064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Batchers 奇偶归并</a:t>
            </a:r>
            <a:endParaRPr lang="en-US" sz="600" dirty="0"/>
          </a:p>
        </p:txBody>
      </p:sp>
      <p:sp>
        <p:nvSpPr>
          <p:cNvPr id="47" name="Text 40"/>
          <p:cNvSpPr/>
          <p:nvPr/>
        </p:nvSpPr>
        <p:spPr>
          <a:xfrm>
            <a:off x="3076556" y="3387477"/>
            <a:ext cx="20645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7B5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 n 时会静默越界写</a:t>
            </a:r>
            <a:endParaRPr lang="en-US" sz="500" dirty="0"/>
          </a:p>
        </p:txBody>
      </p:sp>
      <p:sp>
        <p:nvSpPr>
          <p:cNvPr id="48" name="Text 41"/>
          <p:cNvSpPr/>
          <p:nvPr/>
        </p:nvSpPr>
        <p:spPr>
          <a:xfrm>
            <a:off x="584002" y="3600450"/>
            <a:ext cx="4557713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完备验证捕获</a:t>
            </a:r>
            <a:pPr algn="l" indent="0" marL="0">
              <a:spcAft>
                <a:spcPts val="281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9B6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个真缺陷</a:t>
            </a:r>
            <a:endParaRPr lang="en-US" sz="500" dirty="0"/>
          </a:p>
        </p:txBody>
      </p:sp>
      <p:sp>
        <p:nvSpPr>
          <p:cNvPr id="49" name="Text 42"/>
          <p:cNvSpPr/>
          <p:nvPr/>
        </p:nvSpPr>
        <p:spPr>
          <a:xfrm>
            <a:off x="584002" y="3743325"/>
            <a:ext cx="1493044" cy="192881"/>
          </a:xfrm>
          <a:prstGeom prst="roundRect">
            <a:avLst>
              <a:gd name="adj" fmla="val 39506"/>
            </a:avLst>
          </a:prstGeom>
          <a:solidFill>
            <a:srgbClr val="9B654D">
              <a:alpha val="8000"/>
            </a:srgbClr>
          </a:solidFill>
          <a:ln w="7144">
            <a:solidFill>
              <a:srgbClr val="9B654D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549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共享数组</a:t>
            </a:r>
            <a:endParaRPr lang="en-US" sz="500" dirty="0"/>
          </a:p>
        </p:txBody>
      </p:sp>
      <p:sp>
        <p:nvSpPr>
          <p:cNvPr id="50" name="Text 43"/>
          <p:cNvSpPr/>
          <p:nvPr/>
        </p:nvSpPr>
        <p:spPr>
          <a:xfrm>
            <a:off x="2116336" y="3743325"/>
            <a:ext cx="1493044" cy="192881"/>
          </a:xfrm>
          <a:prstGeom prst="roundRect">
            <a:avLst>
              <a:gd name="adj" fmla="val 39506"/>
            </a:avLst>
          </a:prstGeom>
          <a:solidFill>
            <a:srgbClr val="9B654D">
              <a:alpha val="8000"/>
            </a:srgbClr>
          </a:solidFill>
          <a:ln w="7144">
            <a:solidFill>
              <a:srgbClr val="9B654D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549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1/200 假 FAIL</a:t>
            </a:r>
            <a:endParaRPr lang="en-US" sz="500" dirty="0"/>
          </a:p>
        </p:txBody>
      </p:sp>
      <p:sp>
        <p:nvSpPr>
          <p:cNvPr id="51" name="Text 44"/>
          <p:cNvSpPr/>
          <p:nvPr/>
        </p:nvSpPr>
        <p:spPr>
          <a:xfrm>
            <a:off x="3648670" y="3743325"/>
            <a:ext cx="1493044" cy="192881"/>
          </a:xfrm>
          <a:prstGeom prst="roundRect">
            <a:avLst>
              <a:gd name="adj" fmla="val 39506"/>
            </a:avLst>
          </a:prstGeom>
          <a:solidFill>
            <a:srgbClr val="9B654D">
              <a:alpha val="8000"/>
            </a:srgbClr>
          </a:solidFill>
          <a:ln w="7144">
            <a:solidFill>
              <a:srgbClr val="9B654D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549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剪枝恢复并非真 undo</a:t>
            </a:r>
            <a:endParaRPr lang="en-US" sz="500" dirty="0"/>
          </a:p>
        </p:txBody>
      </p:sp>
      <p:sp>
        <p:nvSpPr>
          <p:cNvPr id="52" name="Shape 45"/>
          <p:cNvSpPr/>
          <p:nvPr/>
        </p:nvSpPr>
        <p:spPr>
          <a:xfrm>
            <a:off x="5495330" y="1271588"/>
            <a:ext cx="3707606" cy="1571625"/>
          </a:xfrm>
          <a:prstGeom prst="roundRect">
            <a:avLst>
              <a:gd name="adj" fmla="val 63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5618559" y="1393031"/>
            <a:ext cx="5143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精度验证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5618559" y="1557338"/>
            <a:ext cx="5143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端到端像素级核验</a:t>
            </a:r>
            <a:endParaRPr lang="en-US" sz="500" dirty="0"/>
          </a:p>
        </p:txBody>
      </p:sp>
      <p:sp>
        <p:nvSpPr>
          <p:cNvPr id="55" name="Shape 48"/>
          <p:cNvSpPr/>
          <p:nvPr/>
        </p:nvSpPr>
        <p:spPr>
          <a:xfrm>
            <a:off x="8260184" y="1393031"/>
            <a:ext cx="214313" cy="250031"/>
          </a:xfrm>
          <a:prstGeom prst="roundRect">
            <a:avLst>
              <a:gd name="adj" fmla="val 28444"/>
            </a:avLst>
          </a:prstGeom>
          <a:solidFill>
            <a:srgbClr val="C9974D">
              <a:alpha val="12000"/>
            </a:srgbClr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8310190" y="1428750"/>
            <a:ext cx="11430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" dirty="0"/>
          </a:p>
        </p:txBody>
      </p:sp>
      <p:sp>
        <p:nvSpPr>
          <p:cNvPr id="57" name="Text 50"/>
          <p:cNvSpPr/>
          <p:nvPr/>
        </p:nvSpPr>
        <p:spPr>
          <a:xfrm>
            <a:off x="8310190" y="1528762"/>
            <a:ext cx="1143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8B7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</a:t>
            </a:r>
            <a:endParaRPr lang="en-US" sz="400" dirty="0"/>
          </a:p>
        </p:txBody>
      </p:sp>
      <p:sp>
        <p:nvSpPr>
          <p:cNvPr id="58" name="Shape 51"/>
          <p:cNvSpPr/>
          <p:nvPr/>
        </p:nvSpPr>
        <p:spPr>
          <a:xfrm>
            <a:off x="8510271" y="1393031"/>
            <a:ext cx="242888" cy="250031"/>
          </a:xfrm>
          <a:prstGeom prst="roundRect">
            <a:avLst>
              <a:gd name="adj" fmla="val 22145"/>
            </a:avLst>
          </a:prstGeom>
          <a:solidFill>
            <a:srgbClr val="C9974D">
              <a:alpha val="12000"/>
            </a:srgbClr>
          </a:solidFill>
          <a:ln/>
        </p:spPr>
        <p:txBody>
          <a:bodyPr/>
          <a:p/>
        </p:txBody>
      </p:sp>
      <p:sp>
        <p:nvSpPr>
          <p:cNvPr id="59" name="Text 52"/>
          <p:cNvSpPr/>
          <p:nvPr/>
        </p:nvSpPr>
        <p:spPr>
          <a:xfrm>
            <a:off x="8560277" y="1428750"/>
            <a:ext cx="1428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</a:t>
            </a:r>
            <a:endParaRPr lang="en-US" sz="600" dirty="0"/>
          </a:p>
        </p:txBody>
      </p:sp>
      <p:sp>
        <p:nvSpPr>
          <p:cNvPr id="60" name="Text 53"/>
          <p:cNvSpPr/>
          <p:nvPr/>
        </p:nvSpPr>
        <p:spPr>
          <a:xfrm>
            <a:off x="8560277" y="1528762"/>
            <a:ext cx="1428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8B7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</a:t>
            </a:r>
            <a:endParaRPr lang="en-US" sz="400" dirty="0"/>
          </a:p>
        </p:txBody>
      </p:sp>
      <p:sp>
        <p:nvSpPr>
          <p:cNvPr id="61" name="Shape 54"/>
          <p:cNvSpPr/>
          <p:nvPr/>
        </p:nvSpPr>
        <p:spPr>
          <a:xfrm>
            <a:off x="8787817" y="1393031"/>
            <a:ext cx="292894" cy="250031"/>
          </a:xfrm>
          <a:prstGeom prst="roundRect">
            <a:avLst>
              <a:gd name="adj" fmla="val 20898"/>
            </a:avLst>
          </a:prstGeom>
          <a:solidFill>
            <a:srgbClr val="C9974D">
              <a:alpha val="12000"/>
            </a:srgbClr>
          </a:solidFill>
          <a:ln/>
        </p:spPr>
        <p:txBody>
          <a:bodyPr/>
          <a:p/>
        </p:txBody>
      </p:sp>
      <p:sp>
        <p:nvSpPr>
          <p:cNvPr id="62" name="Text 55"/>
          <p:cNvSpPr/>
          <p:nvPr/>
        </p:nvSpPr>
        <p:spPr>
          <a:xfrm>
            <a:off x="8837823" y="1428750"/>
            <a:ext cx="19288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4345</a:t>
            </a:r>
            <a:endParaRPr lang="en-US" sz="600" dirty="0"/>
          </a:p>
        </p:txBody>
      </p:sp>
      <p:sp>
        <p:nvSpPr>
          <p:cNvPr id="63" name="Text 56"/>
          <p:cNvSpPr/>
          <p:nvPr/>
        </p:nvSpPr>
        <p:spPr>
          <a:xfrm>
            <a:off x="8837823" y="1528762"/>
            <a:ext cx="192881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8B73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万像素</a:t>
            </a:r>
            <a:endParaRPr lang="en-US" sz="400" dirty="0"/>
          </a:p>
        </p:txBody>
      </p:sp>
      <p:sp>
        <p:nvSpPr>
          <p:cNvPr id="64" name="Shape 57"/>
          <p:cNvSpPr/>
          <p:nvPr/>
        </p:nvSpPr>
        <p:spPr>
          <a:xfrm>
            <a:off x="5616773" y="1721644"/>
            <a:ext cx="3464719" cy="392906"/>
          </a:xfrm>
          <a:prstGeom prst="roundRect">
            <a:avLst>
              <a:gd name="adj" fmla="val 14810"/>
            </a:avLst>
          </a:prstGeom>
          <a:solidFill>
            <a:srgbClr val="317062">
              <a:alpha val="8000"/>
            </a:srgbClr>
          </a:solidFill>
          <a:ln w="7144">
            <a:solidFill>
              <a:srgbClr val="317062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58"/>
          <p:cNvSpPr/>
          <p:nvPr/>
        </p:nvSpPr>
        <p:spPr>
          <a:xfrm>
            <a:off x="5704731" y="1800225"/>
            <a:ext cx="10072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75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CH0 · 承重门</a:t>
            </a:r>
            <a:endParaRPr lang="en-US" sz="500" dirty="0"/>
          </a:p>
        </p:txBody>
      </p:sp>
      <p:sp>
        <p:nvSpPr>
          <p:cNvPr id="66" name="Text 59"/>
          <p:cNvSpPr/>
          <p:nvPr/>
        </p:nvSpPr>
        <p:spPr>
          <a:xfrm>
            <a:off x="5704731" y="1928813"/>
            <a:ext cx="10072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37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一次性验证 6 类坐标与通道错误</a:t>
            </a:r>
            <a:endParaRPr lang="en-US" sz="500" dirty="0"/>
          </a:p>
        </p:txBody>
      </p:sp>
      <p:sp>
        <p:nvSpPr>
          <p:cNvPr id="67" name="Text 60"/>
          <p:cNvSpPr/>
          <p:nvPr/>
        </p:nvSpPr>
        <p:spPr>
          <a:xfrm>
            <a:off x="8072214" y="1839516"/>
            <a:ext cx="92154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286E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Max|Diff| = 0</a:t>
            </a:r>
            <a:endParaRPr lang="en-US" sz="1200" dirty="0"/>
          </a:p>
        </p:txBody>
      </p:sp>
      <p:sp>
        <p:nvSpPr>
          <p:cNvPr id="68" name="Text 61"/>
          <p:cNvSpPr/>
          <p:nvPr/>
        </p:nvSpPr>
        <p:spPr>
          <a:xfrm>
            <a:off x="5616773" y="2178844"/>
            <a:ext cx="346471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 / 指标</a:t>
            </a:r>
            <a:pPr algn="l" indent="0" marL="0">
              <a:buNone/>
            </a:pPr>
            <a:r>
              <a:rPr lang="en-US" sz="500" b="1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MAE</a:t>
            </a:r>
            <a:pPr algn="l" indent="0" marL="0">
              <a:buNone/>
            </a:pPr>
            <a:r>
              <a:rPr lang="en-US" sz="500" b="1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500" dirty="0"/>
          </a:p>
        </p:txBody>
      </p:sp>
      <p:sp>
        <p:nvSpPr>
          <p:cNvPr id="69" name="Text 62"/>
          <p:cNvSpPr/>
          <p:nvPr/>
        </p:nvSpPr>
        <p:spPr>
          <a:xfrm>
            <a:off x="5616773" y="2321719"/>
            <a:ext cx="3464719" cy="92869"/>
          </a:xfrm>
          <a:prstGeom prst="roundRect">
            <a:avLst>
              <a:gd name="adj" fmla="val 123077"/>
            </a:avLst>
          </a:prstGeom>
          <a:solidFill>
            <a:srgbClr val="F4F6F9">
              <a:alpha val="7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</a:t>
            </a:r>
            <a:pPr algn="l" indent="0" marL="0">
              <a:buNone/>
            </a:pPr>
            <a:r>
              <a:rPr lang="en-US" sz="5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0.00073</a:t>
            </a:r>
            <a:pPr algn="l" indent="0" marL="0">
              <a:buNone/>
            </a:pPr>
            <a:r>
              <a:rPr lang="en-US" sz="5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残余约 600 px</a:t>
            </a:r>
            <a:endParaRPr lang="en-US" sz="500" dirty="0"/>
          </a:p>
        </p:txBody>
      </p:sp>
      <p:sp>
        <p:nvSpPr>
          <p:cNvPr id="70" name="Text 63"/>
          <p:cNvSpPr/>
          <p:nvPr/>
        </p:nvSpPr>
        <p:spPr>
          <a:xfrm>
            <a:off x="5616773" y="2457450"/>
            <a:ext cx="3464719" cy="92869"/>
          </a:xfrm>
          <a:prstGeom prst="roundRect">
            <a:avLst>
              <a:gd name="adj" fmla="val 123077"/>
            </a:avLst>
          </a:prstGeom>
          <a:solidFill>
            <a:srgbClr val="F4F6F9">
              <a:alpha val="7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Ch2</a:t>
            </a:r>
            <a:pPr algn="l" indent="0" marL="0">
              <a:buNone/>
            </a:pPr>
            <a:r>
              <a:rPr lang="en-US" sz="5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0.00033</a:t>
            </a:r>
            <a:pPr algn="l" indent="0" marL="0">
              <a:buNone/>
            </a:pPr>
            <a:r>
              <a:rPr lang="en-US" sz="5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残余约 600 px</a:t>
            </a:r>
            <a:endParaRPr lang="en-US" sz="500" dirty="0"/>
          </a:p>
        </p:txBody>
      </p:sp>
      <p:sp>
        <p:nvSpPr>
          <p:cNvPr id="71" name="Text 64"/>
          <p:cNvSpPr/>
          <p:nvPr/>
        </p:nvSpPr>
        <p:spPr>
          <a:xfrm>
            <a:off x="5616773" y="2571750"/>
            <a:ext cx="3464719" cy="178594"/>
          </a:xfrm>
          <a:prstGeom prst="roundRect">
            <a:avLst>
              <a:gd name="adj" fmla="val 40960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 / Ch2 相对残差</a:t>
            </a:r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1.4e−7</a:t>
            </a:r>
            <a:endParaRPr lang="en-US" sz="500" dirty="0"/>
          </a:p>
        </p:txBody>
      </p:sp>
      <p:sp>
        <p:nvSpPr>
          <p:cNvPr id="72" name="Shape 65"/>
          <p:cNvSpPr/>
          <p:nvPr/>
        </p:nvSpPr>
        <p:spPr>
          <a:xfrm>
            <a:off x="5495330" y="2928937"/>
            <a:ext cx="3707606" cy="1228725"/>
          </a:xfrm>
          <a:prstGeom prst="roundRect">
            <a:avLst>
              <a:gd name="adj" fmla="val 10384"/>
            </a:avLst>
          </a:prstGeom>
          <a:solidFill>
            <a:srgbClr val="F4F7FA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3" name="Text 66"/>
          <p:cNvSpPr/>
          <p:nvPr/>
        </p:nvSpPr>
        <p:spPr>
          <a:xfrm>
            <a:off x="5618615" y="3039666"/>
            <a:ext cx="9001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Mali-G610 平台适配</a:t>
            </a:r>
            <a:endParaRPr lang="en-US" sz="700" dirty="0"/>
          </a:p>
        </p:txBody>
      </p:sp>
      <p:sp>
        <p:nvSpPr>
          <p:cNvPr id="74" name="Text 67"/>
          <p:cNvSpPr/>
          <p:nvPr/>
        </p:nvSpPr>
        <p:spPr>
          <a:xfrm>
            <a:off x="8443913" y="3036094"/>
            <a:ext cx="635794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7 条 · 关键 4 项</a:t>
            </a:r>
            <a:endParaRPr lang="en-US" sz="500" dirty="0"/>
          </a:p>
        </p:txBody>
      </p:sp>
      <p:sp>
        <p:nvSpPr>
          <p:cNvPr id="75" name="Text 68"/>
          <p:cNvSpPr/>
          <p:nvPr/>
        </p:nvSpPr>
        <p:spPr>
          <a:xfrm>
            <a:off x="5616773" y="3243709"/>
            <a:ext cx="34647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6F7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3 条按平台适配清单归档，不虚构具体项</a:t>
            </a:r>
            <a:endParaRPr lang="en-US" sz="500" dirty="0"/>
          </a:p>
        </p:txBody>
      </p:sp>
      <p:sp>
        <p:nvSpPr>
          <p:cNvPr id="76" name="Shape 69"/>
          <p:cNvSpPr/>
          <p:nvPr/>
        </p:nvSpPr>
        <p:spPr>
          <a:xfrm>
            <a:off x="5617666" y="3386751"/>
            <a:ext cx="1707356" cy="314325"/>
          </a:xfrm>
          <a:prstGeom prst="roundRect">
            <a:avLst>
              <a:gd name="adj" fmla="val 18182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Text 70"/>
          <p:cNvSpPr/>
          <p:nvPr/>
        </p:nvSpPr>
        <p:spPr>
          <a:xfrm>
            <a:off x="5689997" y="3490280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具名标量</a:t>
            </a:r>
            <a:endParaRPr lang="en-US" sz="500" dirty="0"/>
          </a:p>
        </p:txBody>
      </p:sp>
      <p:sp>
        <p:nvSpPr>
          <p:cNvPr id="78" name="Shape 71"/>
          <p:cNvSpPr/>
          <p:nvPr/>
        </p:nvSpPr>
        <p:spPr>
          <a:xfrm>
            <a:off x="7202686" y="3518855"/>
            <a:ext cx="50006" cy="50006"/>
          </a:xfrm>
          <a:prstGeom prst="ellipse">
            <a:avLst/>
          </a:prstGeom>
          <a:solidFill>
            <a:srgbClr val="C99B57"/>
          </a:solidFill>
          <a:ln/>
        </p:spPr>
        <p:txBody>
          <a:bodyPr/>
          <a:p/>
        </p:txBody>
      </p:sp>
      <p:sp>
        <p:nvSpPr>
          <p:cNvPr id="79" name="Text 72"/>
          <p:cNvSpPr/>
          <p:nvPr/>
        </p:nvSpPr>
        <p:spPr>
          <a:xfrm>
            <a:off x="7373243" y="3386751"/>
            <a:ext cx="1707356" cy="314325"/>
          </a:xfrm>
          <a:prstGeom prst="roundRect">
            <a:avLst>
              <a:gd name="adj" fmla="val 18182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9B654D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549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FP64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9B6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</a:t>
            </a:r>
            <a:endParaRPr lang="en-US" sz="500" dirty="0"/>
          </a:p>
        </p:txBody>
      </p:sp>
      <p:sp>
        <p:nvSpPr>
          <p:cNvPr id="80" name="Text 73"/>
          <p:cNvSpPr/>
          <p:nvPr/>
        </p:nvSpPr>
        <p:spPr>
          <a:xfrm>
            <a:off x="5617666" y="3750580"/>
            <a:ext cx="1707356" cy="300038"/>
          </a:xfrm>
          <a:prstGeom prst="roundRect">
            <a:avLst>
              <a:gd name="adj" fmla="val 19955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4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× image2d_t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500" dirty="0"/>
          </a:p>
        </p:txBody>
      </p:sp>
      <p:sp>
        <p:nvSpPr>
          <p:cNvPr id="81" name="Text 74"/>
          <p:cNvSpPr/>
          <p:nvPr/>
        </p:nvSpPr>
        <p:spPr>
          <a:xfrm>
            <a:off x="7373243" y="3750580"/>
            <a:ext cx="1707356" cy="300038"/>
          </a:xfrm>
          <a:prstGeom prst="roundRect">
            <a:avLst>
              <a:gd name="adj" fmla="val 19955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CL_R8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4× 带宽</a:t>
            </a:r>
            <a:endParaRPr lang="en-US" sz="500" dirty="0"/>
          </a:p>
        </p:txBody>
      </p:sp>
      <p:sp>
        <p:nvSpPr>
          <p:cNvPr id="82" name="Text 75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00" dirty="0"/>
          </a:p>
        </p:txBody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2919" y="1428750"/>
            <a:ext cx="1214438" cy="542925"/>
          </a:xfrm>
          <a:prstGeom prst="rect">
            <a:avLst/>
          </a:prstGeom>
        </p:spPr>
      </p:pic>
      <p:pic>
        <p:nvPicPr>
          <p:cNvPr id="8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5229" y="3082528"/>
            <a:ext cx="2421731" cy="442912"/>
          </a:xfrm>
          <a:prstGeom prst="rect">
            <a:avLst/>
          </a:prstGeom>
        </p:spPr>
      </p:pic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16773" y="2178844"/>
            <a:ext cx="3464719" cy="100012"/>
          </a:xfrm>
          <a:prstGeom prst="rect">
            <a:avLst/>
          </a:prstGeom>
        </p:spPr>
      </p:pic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429625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7522" y="215764"/>
            <a:ext cx="2386013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 RESULT A2 · ALGORITHM EFFICIENCY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5722144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A2｜GMC Tree 锚点级联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572214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22 → 6.19 次/帧｜节省 71.9%，精度基本保持，但 warp 仍需执行 22 次/帧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20948" y="357188"/>
            <a:ext cx="2450306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 current_page_number }}/{{ total_page_count }}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7690" y="1271588"/>
            <a:ext cx="4772025" cy="2400300"/>
          </a:xfrm>
          <a:prstGeom prst="roundRect">
            <a:avLst>
              <a:gd name="adj" fmla="val 272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94426" y="1400175"/>
            <a:ext cx="22217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树状锚点级联：只拟合锚点，其余 lag 缓存连乘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249973" y="1393031"/>
            <a:ext cx="742950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× transform</a:t>
            </a:r>
            <a:endParaRPr lang="en-US" sz="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9" y="1578769"/>
            <a:ext cx="4501567" cy="107870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3421" y="2707481"/>
            <a:ext cx="4500563" cy="364331"/>
          </a:xfrm>
          <a:prstGeom prst="roundRect">
            <a:avLst>
              <a:gd name="adj" fmla="val 17224"/>
            </a:avLst>
          </a:prstGeom>
          <a:solidFill>
            <a:srgbClr val="12203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78532" y="2800350"/>
            <a:ext cx="2071688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→ 6.19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次拟合 / 帧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22829" y="2786062"/>
            <a:ext cx="578644" cy="207169"/>
          </a:xfrm>
          <a:prstGeom prst="roundRect">
            <a:avLst>
              <a:gd name="adj" fmla="val 55172"/>
            </a:avLst>
          </a:prstGeom>
          <a:solidFill>
            <a:srgbClr val="75D391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9EA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 71.9%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3373469" y="2771775"/>
            <a:ext cx="15359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仍为 22 次 / 帧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373469" y="2907506"/>
            <a:ext cx="15359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AE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收益边界：仅减少冗余拟合</a:t>
            </a:r>
            <a:endParaRPr lang="en-US" sz="500" dirty="0"/>
          </a:p>
        </p:txBody>
      </p:sp>
      <p:sp>
        <p:nvSpPr>
          <p:cNvPr id="19" name="Shape 15"/>
          <p:cNvSpPr/>
          <p:nvPr/>
        </p:nvSpPr>
        <p:spPr>
          <a:xfrm>
            <a:off x="5258246" y="1271588"/>
            <a:ext cx="3529013" cy="2400300"/>
          </a:xfrm>
          <a:prstGeom prst="roundRect">
            <a:avLst>
              <a:gd name="adj" fmla="val 272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536" y="1392138"/>
            <a:ext cx="4286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精度判决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678303" y="1409998"/>
            <a:ext cx="97155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val · 31,613 帧 / 25,111 GT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5393978" y="1598414"/>
            <a:ext cx="3257550" cy="578644"/>
          </a:xfrm>
          <a:prstGeom prst="roundRect">
            <a:avLst>
              <a:gd name="adj" fmla="val 7316"/>
            </a:avLst>
          </a:prstGeom>
          <a:solidFill>
            <a:srgbClr val="F4F6F9"/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5479870" y="1676995"/>
            <a:ext cx="15716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空对照臂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5479870" y="1798439"/>
            <a:ext cx="1571625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69"/>
              </a:spcBef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ΔF1 = +0.0000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79870" y="1998464"/>
            <a:ext cx="15716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门限｜24 序列全为 0</a:t>
            </a:r>
            <a:endParaRPr lang="en-US" sz="500" dirty="0"/>
          </a:p>
        </p:txBody>
      </p:sp>
      <p:sp>
        <p:nvSpPr>
          <p:cNvPr id="26" name="Shape 22"/>
          <p:cNvSpPr/>
          <p:nvPr/>
        </p:nvSpPr>
        <p:spPr>
          <a:xfrm>
            <a:off x="7138560" y="1777008"/>
            <a:ext cx="150019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317098" y="1777008"/>
            <a:ext cx="157163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502779" y="1777008"/>
            <a:ext cx="150019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7681317" y="1777008"/>
            <a:ext cx="157163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7866999" y="1777008"/>
            <a:ext cx="150019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8045537" y="1777008"/>
            <a:ext cx="157163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8231219" y="1777008"/>
            <a:ext cx="150019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8409756" y="1777008"/>
            <a:ext cx="157163" cy="107156"/>
          </a:xfrm>
          <a:prstGeom prst="roundRect">
            <a:avLst>
              <a:gd name="adj" fmla="val 42667"/>
            </a:avLst>
          </a:prstGeom>
          <a:solidFill>
            <a:srgbClr val="C9974D">
              <a:alpha val="18000"/>
            </a:srgbClr>
          </a:solidFill>
          <a:ln/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136606" y="1927027"/>
            <a:ext cx="1428750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8A9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threshold × 8</a:t>
            </a:r>
            <a:pPr algn="l" indent="0" marL="0">
              <a:buNone/>
            </a:pPr>
            <a:r>
              <a:rPr lang="en-US" sz="400" dirty="0">
                <a:solidFill>
                  <a:srgbClr val="8A9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 × 24</a:t>
            </a:r>
            <a:endParaRPr lang="en-US" sz="400" dirty="0"/>
          </a:p>
        </p:txBody>
      </p:sp>
      <p:sp>
        <p:nvSpPr>
          <p:cNvPr id="35" name="Shape 31"/>
          <p:cNvSpPr/>
          <p:nvPr/>
        </p:nvSpPr>
        <p:spPr>
          <a:xfrm>
            <a:off x="5393978" y="2241352"/>
            <a:ext cx="3257550" cy="414338"/>
          </a:xfrm>
          <a:prstGeom prst="roundRect">
            <a:avLst>
              <a:gd name="adj" fmla="val 14269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5478810" y="2330648"/>
            <a:ext cx="992981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 F1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5478810" y="2416373"/>
            <a:ext cx="99298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113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0.9060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526039" y="2319933"/>
            <a:ext cx="992981" cy="25717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6604620" y="2319933"/>
            <a:ext cx="91440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GMC</a:t>
            </a:r>
            <a:endParaRPr lang="en-US" sz="500" dirty="0"/>
          </a:p>
        </p:txBody>
      </p:sp>
      <p:sp>
        <p:nvSpPr>
          <p:cNvPr id="40" name="Text 36"/>
          <p:cNvSpPr/>
          <p:nvPr/>
        </p:nvSpPr>
        <p:spPr>
          <a:xfrm>
            <a:off x="6604620" y="2427089"/>
            <a:ext cx="9144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113"/>
              </a:spcBef>
              <a:buNone/>
            </a:pPr>
            <a:r>
              <a:rPr lang="en-US" sz="1100" b="1" dirty="0">
                <a:solidFill>
                  <a:srgbClr val="8B5D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−0.0003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573268" y="2319933"/>
            <a:ext cx="992981" cy="25717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7651849" y="2319933"/>
            <a:ext cx="91440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精度保留</a:t>
            </a:r>
            <a:endParaRPr lang="en-US" sz="500" dirty="0"/>
          </a:p>
        </p:txBody>
      </p:sp>
      <p:sp>
        <p:nvSpPr>
          <p:cNvPr id="43" name="Text 39"/>
          <p:cNvSpPr/>
          <p:nvPr/>
        </p:nvSpPr>
        <p:spPr>
          <a:xfrm>
            <a:off x="7651849" y="2427089"/>
            <a:ext cx="9144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113"/>
              </a:spcBef>
              <a:buNone/>
            </a:pPr>
            <a:r>
              <a:rPr lang="en-US" sz="1100" b="1" dirty="0">
                <a:solidFill>
                  <a:srgbClr val="4E8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99.6%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393978" y="2719983"/>
            <a:ext cx="3257550" cy="742950"/>
          </a:xfrm>
          <a:prstGeom prst="roundRect">
            <a:avLst>
              <a:gd name="adj" fmla="val 17751"/>
            </a:avLst>
          </a:prstGeom>
          <a:solidFill>
            <a:srgbClr val="FBFAF7"/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5480875" y="2816423"/>
            <a:ext cx="585788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板端三臂 · F1 窄带</a:t>
            </a:r>
            <a:endParaRPr lang="en-US" sz="500" dirty="0"/>
          </a:p>
        </p:txBody>
      </p:sp>
      <p:sp>
        <p:nvSpPr>
          <p:cNvPr id="46" name="Text 42"/>
          <p:cNvSpPr/>
          <p:nvPr/>
        </p:nvSpPr>
        <p:spPr>
          <a:xfrm>
            <a:off x="7872301" y="2791420"/>
            <a:ext cx="692944" cy="150019"/>
          </a:xfrm>
          <a:prstGeom prst="roundRect">
            <a:avLst>
              <a:gd name="adj" fmla="val 76190"/>
            </a:avLst>
          </a:prstGeom>
          <a:solidFill>
            <a:srgbClr val="75D391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E8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差异处于噪声下限内</a:t>
            </a:r>
            <a:endParaRPr lang="en-US" sz="500" dirty="0"/>
          </a:p>
        </p:txBody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261" y="2991445"/>
            <a:ext cx="3084984" cy="407194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357076" y="3743325"/>
            <a:ext cx="8429625" cy="414338"/>
          </a:xfrm>
          <a:prstGeom prst="roundRect">
            <a:avLst>
              <a:gd name="adj" fmla="val 17122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9" name="Text 44"/>
          <p:cNvSpPr/>
          <p:nvPr/>
        </p:nvSpPr>
        <p:spPr>
          <a:xfrm>
            <a:off x="464344" y="3896916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代价分量</a:t>
            </a:r>
            <a:endParaRPr lang="en-US" sz="500" dirty="0"/>
          </a:p>
        </p:txBody>
      </p:sp>
      <p:sp>
        <p:nvSpPr>
          <p:cNvPr id="50" name="Text 45"/>
          <p:cNvSpPr/>
          <p:nvPr/>
        </p:nvSpPr>
        <p:spPr>
          <a:xfrm>
            <a:off x="821420" y="3871913"/>
            <a:ext cx="792956" cy="157163"/>
          </a:xfrm>
          <a:prstGeom prst="roundRect">
            <a:avLst>
              <a:gd name="adj" fmla="val 66115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−1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8B7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−0.00002</a:t>
            </a:r>
            <a:endParaRPr lang="en-US" sz="500" dirty="0"/>
          </a:p>
        </p:txBody>
      </p:sp>
      <p:sp>
        <p:nvSpPr>
          <p:cNvPr id="51" name="Text 46"/>
          <p:cNvSpPr/>
          <p:nvPr/>
        </p:nvSpPr>
        <p:spPr>
          <a:xfrm>
            <a:off x="1683972" y="3871913"/>
            <a:ext cx="835819" cy="157163"/>
          </a:xfrm>
          <a:prstGeom prst="roundRect">
            <a:avLst>
              <a:gd name="adj" fmla="val 66115"/>
            </a:avLst>
          </a:prstGeom>
          <a:solidFill>
            <a:srgbClr val="9D5B4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5D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 +13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9A6F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8B5D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−0.00025</a:t>
            </a:r>
            <a:endParaRPr lang="en-US" sz="500" dirty="0"/>
          </a:p>
        </p:txBody>
      </p:sp>
      <p:sp>
        <p:nvSpPr>
          <p:cNvPr id="52" name="Text 47"/>
          <p:cNvSpPr/>
          <p:nvPr/>
        </p:nvSpPr>
        <p:spPr>
          <a:xfrm>
            <a:off x="2588102" y="3900488"/>
            <a:ext cx="3214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 为主因</a:t>
            </a:r>
            <a:endParaRPr lang="en-US" sz="500" dirty="0"/>
          </a:p>
        </p:txBody>
      </p:sp>
      <p:sp>
        <p:nvSpPr>
          <p:cNvPr id="53" name="Text 48"/>
          <p:cNvSpPr/>
          <p:nvPr/>
        </p:nvSpPr>
        <p:spPr>
          <a:xfrm>
            <a:off x="4551685" y="3864769"/>
            <a:ext cx="414338" cy="171450"/>
          </a:xfrm>
          <a:prstGeom prst="roundRect">
            <a:avLst>
              <a:gd name="adj" fmla="val 6666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空对照臂</a:t>
            </a:r>
            <a:endParaRPr lang="en-US" sz="500" dirty="0"/>
          </a:p>
        </p:txBody>
      </p:sp>
      <p:sp>
        <p:nvSpPr>
          <p:cNvPr id="54" name="Text 49"/>
          <p:cNvSpPr/>
          <p:nvPr/>
        </p:nvSpPr>
        <p:spPr>
          <a:xfrm>
            <a:off x="5014243" y="3864769"/>
            <a:ext cx="992981" cy="171450"/>
          </a:xfrm>
          <a:prstGeom prst="roundRect">
            <a:avLst>
              <a:gd name="adj" fmla="val 66667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代数等价性 ≠ 估计量等价性</a:t>
            </a:r>
            <a:endParaRPr lang="en-US" sz="500" dirty="0"/>
          </a:p>
        </p:txBody>
      </p:sp>
      <p:sp>
        <p:nvSpPr>
          <p:cNvPr id="55" name="Text 50"/>
          <p:cNvSpPr/>
          <p:nvPr/>
        </p:nvSpPr>
        <p:spPr>
          <a:xfrm>
            <a:off x="6056784" y="3864769"/>
            <a:ext cx="621506" cy="171450"/>
          </a:xfrm>
          <a:prstGeom prst="roundRect">
            <a:avLst>
              <a:gd name="adj" fmla="val 66667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TP/FP 分量拆解</a:t>
            </a:r>
            <a:endParaRPr lang="en-US" sz="500" dirty="0"/>
          </a:p>
        </p:txBody>
      </p:sp>
      <p:sp>
        <p:nvSpPr>
          <p:cNvPr id="56" name="Shape 51"/>
          <p:cNvSpPr/>
          <p:nvPr/>
        </p:nvSpPr>
        <p:spPr>
          <a:xfrm>
            <a:off x="7529122" y="3846909"/>
            <a:ext cx="1150144" cy="207169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57" name="Text 52"/>
          <p:cNvSpPr/>
          <p:nvPr/>
        </p:nvSpPr>
        <p:spPr>
          <a:xfrm>
            <a:off x="7621991" y="3846909"/>
            <a:ext cx="10572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 lag 描述同一段相机运动</a:t>
            </a:r>
            <a:endParaRPr lang="en-US" sz="500" dirty="0"/>
          </a:p>
        </p:txBody>
      </p:sp>
      <p:sp>
        <p:nvSpPr>
          <p:cNvPr id="58" name="Text 53"/>
          <p:cNvSpPr/>
          <p:nvPr/>
        </p:nvSpPr>
        <p:spPr>
          <a:xfrm>
            <a:off x="7621991" y="3961209"/>
            <a:ext cx="105727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8A9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拟合收益已确认，warp 开销仍待优化</a:t>
            </a:r>
            <a:endParaRPr lang="en-US" sz="500" dirty="0"/>
          </a:p>
        </p:txBody>
      </p:sp>
      <p:sp>
        <p:nvSpPr>
          <p:cNvPr id="59" name="Text 54"/>
          <p:cNvSpPr/>
          <p:nvPr/>
        </p:nvSpPr>
        <p:spPr>
          <a:xfrm>
            <a:off x="357188" y="4286250"/>
            <a:ext cx="8429625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 current_page_number }}</a:t>
            </a:r>
            <a:endParaRPr lang="en-US" sz="600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188" y="357188"/>
            <a:ext cx="8429625" cy="785813"/>
          </a:xfrm>
          <a:prstGeom prst="rect">
            <a:avLst/>
          </a:prstGeom>
        </p:spPr>
      </p:pic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6039" y="2319933"/>
            <a:ext cx="992981" cy="257175"/>
          </a:xfrm>
          <a:prstGeom prst="rect">
            <a:avLst/>
          </a:prstGeom>
        </p:spPr>
      </p:pic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3268" y="2319933"/>
            <a:ext cx="992981" cy="257175"/>
          </a:xfrm>
          <a:prstGeom prst="rect">
            <a:avLst/>
          </a:prstGeom>
        </p:spPr>
      </p:pic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9122" y="3846909"/>
            <a:ext cx="1150144" cy="207169"/>
          </a:xfrm>
          <a:prstGeom prst="rect">
            <a:avLst/>
          </a:prstGeom>
        </p:spPr>
      </p:pic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4286250"/>
            <a:ext cx="8429625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7355" y="215764"/>
            <a:ext cx="1535906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/ BOTTLENECK REVISION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A3｜纯函数缓存：fit 18.46 → 3.94 ms，位精确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从“只缓存金字塔”升级为“三项按绝对帧号缓存”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7690" y="1271588"/>
            <a:ext cx="5579269" cy="2500313"/>
          </a:xfrm>
          <a:prstGeom prst="roundRect">
            <a:avLst>
              <a:gd name="adj" fmla="val 250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21829" y="1450181"/>
            <a:ext cx="1593056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真正的主瓶颈｜角点检测 65.8%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87367" y="1435894"/>
            <a:ext cx="585788" cy="171450"/>
          </a:xfrm>
          <a:prstGeom prst="roundRect">
            <a:avLst>
              <a:gd name="adj" fmla="val 66667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推翻既有假设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21996" y="1671638"/>
            <a:ext cx="5264944" cy="335756"/>
          </a:xfrm>
          <a:prstGeom prst="roundRect">
            <a:avLst>
              <a:gd name="adj" fmla="val 17383"/>
            </a:avLst>
          </a:prstGeom>
          <a:solidFill>
            <a:srgbClr val="EDF0F3"/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7144" dir="5400000">
              <a:srgbClr val="FFFFFF">
                <a:alpha val="8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28693" y="1678781"/>
            <a:ext cx="164306" cy="321469"/>
          </a:xfrm>
          <a:prstGeom prst="rect">
            <a:avLst/>
          </a:prstGeom>
          <a:solidFill>
            <a:srgbClr val="8FA2B4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192712" y="1678781"/>
            <a:ext cx="1585913" cy="321469"/>
          </a:xfrm>
          <a:prstGeom prst="rect">
            <a:avLst/>
          </a:prstGeom>
          <a:solidFill>
            <a:srgbClr val="E2E6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362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其余计算 30.9%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521494" y="2088989"/>
            <a:ext cx="57150" cy="57150"/>
          </a:xfrm>
          <a:prstGeom prst="roundRect">
            <a:avLst>
              <a:gd name="adj" fmla="val 150000"/>
            </a:avLst>
          </a:prstGeom>
          <a:solidFill>
            <a:srgbClr val="8FA2B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1953" y="2063986"/>
            <a:ext cx="5929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金字塔构建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3.2%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1930375" y="2088989"/>
            <a:ext cx="57150" cy="57150"/>
          </a:xfrm>
          <a:prstGeom prst="roundRect">
            <a:avLst>
              <a:gd name="adj" fmla="val 150000"/>
            </a:avLst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031057" y="2063986"/>
            <a:ext cx="17930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同为单帧纯函数，却在每帧 fit 中重复计算约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3.25 次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420977" y="2088989"/>
            <a:ext cx="57150" cy="57150"/>
          </a:xfrm>
          <a:prstGeom prst="roundRect">
            <a:avLst>
              <a:gd name="adj" fmla="val 150000"/>
            </a:avLst>
          </a:prstGeom>
          <a:solidFill>
            <a:srgbClr val="DFE4E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21603" y="2063986"/>
            <a:ext cx="3786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/ 推算</a:t>
            </a:r>
            <a:endParaRPr lang="en-US" sz="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96" y="2421731"/>
            <a:ext cx="5250656" cy="118586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5794" y="2560979"/>
            <a:ext cx="14001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统一缓存方案｜覆盖三项纯函数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815892" y="2528888"/>
            <a:ext cx="842962" cy="185738"/>
          </a:xfrm>
          <a:prstGeom prst="roundRect">
            <a:avLst>
              <a:gd name="adj" fmla="val 61538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缓存键：绝对帧号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4815892" y="2528888"/>
            <a:ext cx="42863" cy="42863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35236" y="2786732"/>
            <a:ext cx="885825" cy="221456"/>
          </a:xfrm>
          <a:prstGeom prst="roundRect">
            <a:avLst>
              <a:gd name="adj" fmla="val 36629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334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输入帧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520503" y="2840310"/>
            <a:ext cx="114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9A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634244" y="2786732"/>
            <a:ext cx="885825" cy="221456"/>
          </a:xfrm>
          <a:prstGeom prst="roundRect">
            <a:avLst>
              <a:gd name="adj" fmla="val 36629"/>
            </a:avLst>
          </a:prstGeom>
          <a:solidFill>
            <a:srgbClr val="C9974D">
              <a:alpha val="11000"/>
            </a:srgbClr>
          </a:solidFill>
          <a:ln w="7144">
            <a:solidFill>
              <a:srgbClr val="C9974D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resize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2069455" y="2743870"/>
            <a:ext cx="42863" cy="42863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2519511" y="2840310"/>
            <a:ext cx="114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9A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634314" y="2786732"/>
            <a:ext cx="1042988" cy="221456"/>
          </a:xfrm>
          <a:prstGeom prst="roundRect">
            <a:avLst>
              <a:gd name="adj" fmla="val 36629"/>
            </a:avLst>
          </a:prstGeom>
          <a:solidFill>
            <a:srgbClr val="C9974D">
              <a:alpha val="11000"/>
            </a:srgbClr>
          </a:solidFill>
          <a:ln w="7144">
            <a:solidFill>
              <a:srgbClr val="C9974D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角点检测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3149110" y="2743870"/>
            <a:ext cx="42863" cy="42863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3677803" y="2840310"/>
            <a:ext cx="114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9A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792717" y="2786732"/>
            <a:ext cx="1042988" cy="221456"/>
          </a:xfrm>
          <a:prstGeom prst="roundRect">
            <a:avLst>
              <a:gd name="adj" fmla="val 36629"/>
            </a:avLst>
          </a:prstGeom>
          <a:solidFill>
            <a:srgbClr val="C9974D">
              <a:alpha val="11000"/>
            </a:srgbClr>
          </a:solidFill>
          <a:ln w="7144">
            <a:solidFill>
              <a:srgbClr val="C9974D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金字塔构建</a:t>
            </a:r>
            <a:endParaRPr lang="en-US" sz="600" dirty="0"/>
          </a:p>
        </p:txBody>
      </p:sp>
      <p:sp>
        <p:nvSpPr>
          <p:cNvPr id="35" name="Shape 31"/>
          <p:cNvSpPr/>
          <p:nvPr/>
        </p:nvSpPr>
        <p:spPr>
          <a:xfrm>
            <a:off x="4307625" y="2743870"/>
            <a:ext cx="42863" cy="42863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4836319" y="2840310"/>
            <a:ext cx="114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9A5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950954" y="2786732"/>
            <a:ext cx="707231" cy="221456"/>
          </a:xfrm>
          <a:prstGeom prst="roundRect">
            <a:avLst>
              <a:gd name="adj" fmla="val 36629"/>
            </a:avLst>
          </a:prstGeom>
          <a:solidFill>
            <a:srgbClr val="122033"/>
          </a:solidFill>
          <a:ln w="7144">
            <a:solidFill>
              <a:srgbClr val="12203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636296" y="3080296"/>
            <a:ext cx="5022056" cy="250031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634175" y="3190968"/>
            <a:ext cx="17787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命中：</a:t>
            </a:r>
            <a:pPr algn="l" indent="0" marL="0">
              <a:lnSpc>
                <a:spcPts val="79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直接读取三项结果</a:t>
            </a:r>
            <a:endParaRPr lang="en-US" sz="500" dirty="0"/>
          </a:p>
        </p:txBody>
      </p:sp>
      <p:sp>
        <p:nvSpPr>
          <p:cNvPr id="40" name="Text 36"/>
          <p:cNvSpPr/>
          <p:nvPr/>
        </p:nvSpPr>
        <p:spPr>
          <a:xfrm>
            <a:off x="2481225" y="3190968"/>
            <a:ext cx="17787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未命中：</a:t>
            </a:r>
            <a:pPr algn="l" indent="0" marL="0">
              <a:lnSpc>
                <a:spcPts val="79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重算完整链路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4328108" y="3151733"/>
            <a:ext cx="642938" cy="178594"/>
          </a:xfrm>
          <a:prstGeom prst="roundRect">
            <a:avLst>
              <a:gd name="adj" fmla="val 40960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角点单项 2.14×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5017480" y="3151733"/>
            <a:ext cx="642938" cy="178594"/>
          </a:xfrm>
          <a:prstGeom prst="roundRect">
            <a:avLst>
              <a:gd name="adj" fmla="val 40960"/>
            </a:avLst>
          </a:prstGeom>
          <a:solidFill>
            <a:srgbClr val="C9974D">
              <a:alpha val="14000"/>
            </a:srgbClr>
          </a:solidFill>
          <a:ln w="7144">
            <a:solidFill>
              <a:srgbClr val="C9974D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三项全开 5.15×</a:t>
            </a:r>
            <a:endParaRPr lang="en-US" sz="500" dirty="0"/>
          </a:p>
        </p:txBody>
      </p:sp>
      <p:sp>
        <p:nvSpPr>
          <p:cNvPr id="43" name="Shape 39"/>
          <p:cNvSpPr/>
          <p:nvPr/>
        </p:nvSpPr>
        <p:spPr>
          <a:xfrm>
            <a:off x="6065490" y="1271588"/>
            <a:ext cx="3136106" cy="2500313"/>
          </a:xfrm>
          <a:prstGeom prst="roundRect">
            <a:avLst>
              <a:gd name="adj" fmla="val 250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6172646" y="1378744"/>
            <a:ext cx="2921794" cy="585788"/>
          </a:xfrm>
          <a:prstGeom prst="roundRect">
            <a:avLst>
              <a:gd name="adj" fmla="val 7615"/>
            </a:avLst>
          </a:prstGeom>
          <a:solidFill>
            <a:srgbClr val="122033"/>
          </a:solidFill>
          <a:ln w="7144">
            <a:solidFill>
              <a:srgbClr val="122033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6272659" y="1462348"/>
            <a:ext cx="2721769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 · fit</a:t>
            </a:r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性能收益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6272659" y="1598079"/>
            <a:ext cx="2721769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18.46</a:t>
            </a:r>
            <a:pPr algn="l" indent="0" marL="0">
              <a:lnSpc>
                <a:spcPts val="1294"/>
              </a:lnSpc>
              <a:spcBef>
                <a:spcPts val="169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C99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294"/>
              </a:lnSpc>
              <a:spcBef>
                <a:spcPts val="169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3.94</a:t>
            </a:r>
            <a:pPr algn="l" indent="0" marL="0">
              <a:lnSpc>
                <a:spcPts val="1294"/>
              </a:lnSpc>
              <a:spcBef>
                <a:spcPts val="169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272659" y="1789509"/>
            <a:ext cx="2721769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9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FFFFFF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单次拟合耗时，生产环境实测</a:t>
            </a:r>
            <a:endParaRPr lang="en-US" sz="500" dirty="0"/>
          </a:p>
        </p:txBody>
      </p:sp>
      <p:sp>
        <p:nvSpPr>
          <p:cNvPr id="48" name="Text 44"/>
          <p:cNvSpPr/>
          <p:nvPr/>
        </p:nvSpPr>
        <p:spPr>
          <a:xfrm>
            <a:off x="8531144" y="1478756"/>
            <a:ext cx="471488" cy="250031"/>
          </a:xfrm>
          <a:prstGeom prst="roundRect">
            <a:avLst>
              <a:gd name="adj" fmla="val 26122"/>
            </a:avLst>
          </a:prstGeom>
          <a:solidFill>
            <a:srgbClr val="C9974D">
              <a:alpha val="20000"/>
            </a:srgbClr>
          </a:solidFill>
          <a:ln w="7144">
            <a:solidFill>
              <a:srgbClr val="C9974D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D2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4.68×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6172646" y="2021681"/>
            <a:ext cx="2921794" cy="485775"/>
          </a:xfrm>
          <a:prstGeom prst="roundRect">
            <a:avLst>
              <a:gd name="adj" fmla="val 11073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272659" y="2121694"/>
            <a:ext cx="2721769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端到端吞吐</a:t>
            </a:r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2.38×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6272659" y="2257425"/>
            <a:ext cx="2721769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49.5</a:t>
            </a:r>
            <a:pPr algn="l" indent="0" marL="0">
              <a:lnSpc>
                <a:spcPts val="1181"/>
              </a:lnSpc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181"/>
              </a:lnSpc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117.6</a:t>
            </a:r>
            <a:pPr algn="l" indent="0" marL="0">
              <a:lnSpc>
                <a:spcPts val="1181"/>
              </a:lnSpc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6172646" y="2564606"/>
            <a:ext cx="2921794" cy="485775"/>
          </a:xfrm>
          <a:prstGeom prst="roundRect">
            <a:avLst>
              <a:gd name="adj" fmla="val 11073"/>
            </a:avLst>
          </a:prstGeom>
          <a:solidFill>
            <a:srgbClr val="4A9169">
              <a:alpha val="11000"/>
            </a:srgbClr>
          </a:solidFill>
          <a:ln w="7144">
            <a:solidFill>
              <a:srgbClr val="4A9169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72659" y="2661047"/>
            <a:ext cx="2721769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输出一致性</a:t>
            </a:r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Bitwise Identical</a:t>
            </a:r>
            <a:endParaRPr lang="en-US" sz="600" dirty="0"/>
          </a:p>
        </p:txBody>
      </p:sp>
      <p:sp>
        <p:nvSpPr>
          <p:cNvPr id="54" name="Text 50"/>
          <p:cNvSpPr/>
          <p:nvPr/>
        </p:nvSpPr>
        <p:spPr>
          <a:xfrm>
            <a:off x="6273105" y="2807494"/>
            <a:ext cx="87868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225"/>
              </a:spcBef>
              <a:buNone/>
            </a:pPr>
            <a:r>
              <a:rPr lang="en-US" sz="1100" b="1" dirty="0">
                <a:solidFill>
                  <a:srgbClr val="27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逐位相同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550957" y="2775347"/>
            <a:ext cx="442912" cy="178594"/>
          </a:xfrm>
          <a:prstGeom prst="roundRect">
            <a:avLst>
              <a:gd name="adj" fmla="val 64000"/>
            </a:avLst>
          </a:prstGeom>
          <a:solidFill>
            <a:srgbClr val="4A9169">
              <a:alpha val="14000"/>
            </a:srgbClr>
          </a:solidFill>
          <a:ln/>
        </p:spPr>
        <p:txBody>
          <a:bodyPr/>
          <a:p/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963" y="2818209"/>
            <a:ext cx="92869" cy="92869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8729551" y="2832497"/>
            <a:ext cx="214313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9775A"/>
                </a:solidFill>
                <a:highlight>
                  <a:srgbClr val="4A9169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500" dirty="0"/>
          </a:p>
        </p:txBody>
      </p:sp>
      <p:sp>
        <p:nvSpPr>
          <p:cNvPr id="58" name="Shape 53"/>
          <p:cNvSpPr/>
          <p:nvPr/>
        </p:nvSpPr>
        <p:spPr>
          <a:xfrm>
            <a:off x="6172646" y="3107531"/>
            <a:ext cx="2921794" cy="371475"/>
          </a:xfrm>
          <a:prstGeom prst="roundRect">
            <a:avLst>
              <a:gd name="adj" fmla="val 16568"/>
            </a:avLst>
          </a:prstGeom>
          <a:solidFill>
            <a:srgbClr val="CB7D3E">
              <a:alpha val="11000"/>
            </a:srgbClr>
          </a:solidFill>
          <a:ln w="7144">
            <a:solidFill>
              <a:srgbClr val="CB7D3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4"/>
          <p:cNvSpPr/>
          <p:nvPr/>
        </p:nvSpPr>
        <p:spPr>
          <a:xfrm>
            <a:off x="6257199" y="3175397"/>
            <a:ext cx="22860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86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代价边界｜平移误差</a:t>
            </a:r>
            <a:endParaRPr lang="en-US" sz="500" dirty="0"/>
          </a:p>
        </p:txBody>
      </p:sp>
      <p:sp>
        <p:nvSpPr>
          <p:cNvPr id="60" name="Text 55"/>
          <p:cNvSpPr/>
          <p:nvPr/>
        </p:nvSpPr>
        <p:spPr>
          <a:xfrm>
            <a:off x="6257199" y="3296841"/>
            <a:ext cx="22860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113"/>
              </a:spcBef>
              <a:buNone/>
            </a:pPr>
            <a:r>
              <a:rPr lang="en-US" sz="900" b="1" dirty="0">
                <a:solidFill>
                  <a:srgbClr val="7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 → 5.44 px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8599847" y="3196828"/>
            <a:ext cx="407194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500" dirty="0">
                <a:solidFill>
                  <a:srgbClr val="8A5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 / 缩放</a:t>
            </a:r>
            <a:pPr algn="r" indent="0" marL="0">
              <a:buNone/>
            </a:pPr>
            <a:endParaRPr lang="en-US" sz="500" dirty="0"/>
          </a:p>
          <a:p>
            <a:pPr algn="r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8A5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几乎不变</a:t>
            </a:r>
            <a:endParaRPr lang="en-US" sz="50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188" y="3857625"/>
            <a:ext cx="8843963" cy="300038"/>
          </a:xfrm>
          <a:prstGeom prst="rect">
            <a:avLst/>
          </a:prstGeom>
        </p:spPr>
      </p:pic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921919"/>
            <a:ext cx="171450" cy="171450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705780" y="3950494"/>
            <a:ext cx="28146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600" b="1" dirty="0">
                <a:solidFill>
                  <a:srgbClr val="7045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引用任何加速比前，必须先报告该序列的点数 / 纹理水平，否则不可迁移。</a:t>
            </a:r>
            <a:endParaRPr lang="en-US" sz="600" dirty="0"/>
          </a:p>
        </p:txBody>
      </p:sp>
      <p:sp>
        <p:nvSpPr>
          <p:cNvPr id="65" name="Text 58"/>
          <p:cNvSpPr/>
          <p:nvPr/>
        </p:nvSpPr>
        <p:spPr>
          <a:xfrm>
            <a:off x="7658323" y="3954066"/>
            <a:ext cx="14430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A5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 = 占比 × 命中率｜保留运行时自检</a:t>
            </a:r>
            <a:endParaRPr lang="en-US" sz="500" dirty="0"/>
          </a:p>
        </p:txBody>
      </p:sp>
      <p:sp>
        <p:nvSpPr>
          <p:cNvPr id="66" name="Text 59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691883" y="1678781"/>
            <a:ext cx="350043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3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角点检测 65.8%</a:t>
            </a:r>
            <a:endParaRPr lang="en-US" sz="600" dirty="0"/>
          </a:p>
        </p:txBody>
      </p:sp>
      <p:pic>
        <p:nvPicPr>
          <p:cNvPr id="6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296" y="3080296"/>
            <a:ext cx="5022056" cy="250031"/>
          </a:xfrm>
          <a:prstGeom prst="rect">
            <a:avLst/>
          </a:prstGeom>
        </p:spPr>
      </p:pic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99847" y="3196828"/>
            <a:ext cx="407194" cy="192881"/>
          </a:xfrm>
          <a:prstGeom prst="rect">
            <a:avLst/>
          </a:prstGeom>
        </p:spPr>
      </p:pic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58323" y="3954066"/>
            <a:ext cx="1443038" cy="107156"/>
          </a:xfrm>
          <a:prstGeom prst="rect">
            <a:avLst/>
          </a:prstGeom>
        </p:spPr>
      </p:pic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5457" y="215764"/>
            <a:ext cx="1171575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 RESULT / B1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B1｜算子回退清零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静默失效的交付硬闸门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328863"/>
          </a:xfrm>
          <a:prstGeom prst="roundRect">
            <a:avLst>
              <a:gd name="adj" fmla="val 289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5588" y="1435894"/>
            <a:ext cx="120729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静默失效定位与等效改写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505588" y="1435894"/>
            <a:ext cx="128588" cy="21431"/>
          </a:xfrm>
          <a:prstGeom prst="rect">
            <a:avLst/>
          </a:prstGeom>
          <a:solidFill>
            <a:srgbClr val="C9974D">
              <a:alpha val="72000"/>
            </a:srgbClr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532584" y="1407319"/>
            <a:ext cx="557213" cy="178594"/>
          </a:xfrm>
          <a:prstGeom prst="roundRect">
            <a:avLst>
              <a:gd name="adj" fmla="val 64000"/>
            </a:avLst>
          </a:prstGeom>
          <a:solidFill>
            <a:srgbClr val="F4F6F9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静默失效治理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132659" y="1407319"/>
            <a:ext cx="485775" cy="178594"/>
          </a:xfrm>
          <a:prstGeom prst="roundRect">
            <a:avLst>
              <a:gd name="adj" fmla="val 64000"/>
            </a:avLst>
          </a:prstGeom>
          <a:solidFill>
            <a:srgbClr val="F4F6F9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位精确等价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661297" y="1407319"/>
            <a:ext cx="557213" cy="178594"/>
          </a:xfrm>
          <a:prstGeom prst="roundRect">
            <a:avLst>
              <a:gd name="adj" fmla="val 64000"/>
            </a:avLst>
          </a:prstGeom>
          <a:solidFill>
            <a:srgbClr val="F4F6F9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板卡实测纪律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505420" y="1657350"/>
            <a:ext cx="47148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端侧第一敌人不是崩溃，而是</a:t>
            </a:r>
            <a:pPr algn="l" indent="0" marL="0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9A5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不抛异常、不改指标</a:t>
            </a:r>
            <a:pPr algn="l" indent="0" marL="0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的静默失效。</a:t>
            </a:r>
            <a:endParaRPr lang="en-US" sz="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420" y="1878806"/>
            <a:ext cx="4714875" cy="7358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8289" y="1964531"/>
            <a:ext cx="4529138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trial_0474 v1</a:t>
            </a:r>
            <a:pPr algn="l" indent="0" marL="0">
              <a:spcAft>
                <a:spcPts val="506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OK · METRICS NORMAL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601414" y="2128838"/>
            <a:ext cx="1228725" cy="400050"/>
          </a:xfrm>
          <a:prstGeom prst="roundRect">
            <a:avLst>
              <a:gd name="adj" fmla="val 11224"/>
            </a:avLst>
          </a:prstGeom>
          <a:solidFill>
            <a:srgbClr val="FFFFFF">
              <a:alpha val="80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Conv </a:t>
            </a:r>
            <a:pPr algn="ctr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正常执行</a:t>
            </a:r>
            <a:endParaRPr lang="en-US" sz="500" dirty="0"/>
          </a:p>
        </p:txBody>
      </p:sp>
      <p:sp>
        <p:nvSpPr>
          <p:cNvPr id="20" name="Text 16"/>
          <p:cNvSpPr/>
          <p:nvPr/>
        </p:nvSpPr>
        <p:spPr>
          <a:xfrm>
            <a:off x="1867198" y="2257425"/>
            <a:ext cx="1285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030499" y="2128838"/>
            <a:ext cx="1664494" cy="400050"/>
          </a:xfrm>
          <a:prstGeom prst="roundRect">
            <a:avLst>
              <a:gd name="adj" fmla="val 11224"/>
            </a:avLst>
          </a:prstGeom>
          <a:solidFill>
            <a:srgbClr val="EECCA6">
              <a:alpha val="28000"/>
            </a:srgbClr>
          </a:solidFill>
          <a:ln w="7144">
            <a:solidFill>
              <a:srgbClr val="B5703D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180531" y="2085975"/>
            <a:ext cx="464344" cy="100012"/>
          </a:xfrm>
          <a:prstGeom prst="roundRect">
            <a:avLst>
              <a:gd name="adj" fmla="val 114286"/>
            </a:avLst>
          </a:prstGeom>
          <a:solidFill>
            <a:srgbClr val="A864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3"/>
              </a:lnSpc>
              <a:buNone/>
            </a:pPr>
            <a:r>
              <a:rPr lang="en-US" sz="400" b="1" dirty="0">
                <a:solidFill>
                  <a:srgbClr val="FFFA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fallback</a:t>
            </a:r>
            <a:endParaRPr lang="en-US" sz="400" dirty="0"/>
          </a:p>
        </p:txBody>
      </p:sp>
      <p:sp>
        <p:nvSpPr>
          <p:cNvPr id="23" name="Text 19"/>
          <p:cNvSpPr/>
          <p:nvPr/>
        </p:nvSpPr>
        <p:spPr>
          <a:xfrm>
            <a:off x="2572978" y="2233315"/>
            <a:ext cx="579537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3"/>
              </a:lnSpc>
              <a:buNone/>
            </a:pPr>
            <a:r>
              <a:rPr lang="en-US" sz="500" b="1" dirty="0">
                <a:solidFill>
                  <a:srgbClr val="8B4E25"/>
                </a:solidFill>
                <a:highlight>
                  <a:srgbClr val="EECCA6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p0_highway/pool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2609087" y="2344936"/>
            <a:ext cx="50720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9A5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Reshape · 无告警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3729707" y="2257425"/>
            <a:ext cx="1285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895409" y="2128838"/>
            <a:ext cx="1228725" cy="400050"/>
          </a:xfrm>
          <a:prstGeom prst="roundRect">
            <a:avLst>
              <a:gd name="adj" fmla="val 11224"/>
            </a:avLst>
          </a:prstGeom>
          <a:solidFill>
            <a:srgbClr val="FFFFFF">
              <a:alpha val="80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Head </a:t>
            </a:r>
            <a:pPr algn="ctr" indent="0" marL="0">
              <a:lnSpc>
                <a:spcPts val="633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正常执行</a:t>
            </a:r>
            <a:endParaRPr lang="en-US" sz="500" dirty="0"/>
          </a:p>
        </p:txBody>
      </p:sp>
      <p:sp>
        <p:nvSpPr>
          <p:cNvPr id="27" name="Shape 23"/>
          <p:cNvSpPr/>
          <p:nvPr/>
        </p:nvSpPr>
        <p:spPr>
          <a:xfrm>
            <a:off x="505420" y="2686050"/>
            <a:ext cx="4714875" cy="642938"/>
          </a:xfrm>
          <a:prstGeom prst="roundRect">
            <a:avLst>
              <a:gd name="adj" fmla="val 6716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00025" dist="85725" dir="5400000">
              <a:srgbClr val="12203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34454" y="2921794"/>
            <a:ext cx="18645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buNone/>
            </a:pPr>
            <a:r>
              <a:rPr lang="en-US" sz="600" b="1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 OPS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2591395" y="2871787"/>
            <a:ext cx="542925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FA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13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4561284" y="2918222"/>
            <a:ext cx="528638" cy="178594"/>
          </a:xfrm>
          <a:prstGeom prst="roundRect">
            <a:avLst>
              <a:gd name="adj" fmla="val 64000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FFFFFF">
                <a:alpha val="1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B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回退算子清零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506090" y="3399309"/>
            <a:ext cx="1314450" cy="328613"/>
          </a:xfrm>
          <a:prstGeom prst="roundRect">
            <a:avLst>
              <a:gd name="adj" fmla="val 18147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Reshape / 布局变换 </a:t>
            </a:r>
            <a:pPr algn="ctr" indent="0" marL="0">
              <a:lnSpc>
                <a:spcPts val="65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D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旧路径</a:t>
            </a:r>
            <a:endParaRPr lang="en-US" sz="500" dirty="0"/>
          </a:p>
        </p:txBody>
      </p:sp>
      <p:sp>
        <p:nvSpPr>
          <p:cNvPr id="32" name="Text 28"/>
          <p:cNvSpPr/>
          <p:nvPr/>
        </p:nvSpPr>
        <p:spPr>
          <a:xfrm>
            <a:off x="1855143" y="3399309"/>
            <a:ext cx="171450" cy="328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062646" y="3399309"/>
            <a:ext cx="1600200" cy="328613"/>
          </a:xfrm>
          <a:prstGeom prst="roundRect">
            <a:avLst>
              <a:gd name="adj" fmla="val 18147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3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00" b="1" dirty="0">
                <a:solidFill>
                  <a:srgbClr val="694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stride-2 depthwise conv </a:t>
            </a:r>
            <a:pPr algn="ctr" indent="0" marL="0">
              <a:lnSpc>
                <a:spcPts val="65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D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算术等效</a:t>
            </a:r>
            <a:endParaRPr lang="en-US" sz="500" dirty="0"/>
          </a:p>
        </p:txBody>
      </p:sp>
      <p:sp>
        <p:nvSpPr>
          <p:cNvPr id="34" name="Text 30"/>
          <p:cNvSpPr/>
          <p:nvPr/>
        </p:nvSpPr>
        <p:spPr>
          <a:xfrm>
            <a:off x="3698900" y="3399309"/>
            <a:ext cx="171450" cy="328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904952" y="3399309"/>
            <a:ext cx="1314450" cy="328613"/>
          </a:xfrm>
          <a:prstGeom prst="roundRect">
            <a:avLst>
              <a:gd name="adj" fmla="val 18147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读窗口，写小图 </a:t>
            </a:r>
            <a:pPr algn="ctr" indent="0" marL="0">
              <a:lnSpc>
                <a:spcPts val="65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D7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位精确输出</a:t>
            </a:r>
            <a:endParaRPr lang="en-US" sz="500" dirty="0"/>
          </a:p>
        </p:txBody>
      </p:sp>
      <p:sp>
        <p:nvSpPr>
          <p:cNvPr id="36" name="Shape 32"/>
          <p:cNvSpPr/>
          <p:nvPr/>
        </p:nvSpPr>
        <p:spPr>
          <a:xfrm>
            <a:off x="5495330" y="1271588"/>
            <a:ext cx="3707606" cy="2328863"/>
          </a:xfrm>
          <a:prstGeom prst="roundRect">
            <a:avLst>
              <a:gd name="adj" fmla="val 289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2486" y="1378744"/>
            <a:ext cx="3493294" cy="65722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8563570" y="1378744"/>
            <a:ext cx="514350" cy="514350"/>
          </a:xfrm>
          <a:prstGeom prst="rect">
            <a:avLst/>
          </a:prstGeom>
          <a:solidFill>
            <a:srgbClr val="C9974D">
              <a:alpha val="7000"/>
            </a:srgbClr>
          </a:solidFill>
          <a:ln/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5716786" y="1471612"/>
            <a:ext cx="3264694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计算算子</a:t>
            </a:r>
            <a:pPr algn="l" indent="0" marL="0">
              <a:spcAft>
                <a:spcPts val="281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00" b="1" dirty="0">
                <a:solidFill>
                  <a:srgbClr val="9AA5B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CALC OPS ON CPU</a:t>
            </a:r>
            <a:endParaRPr lang="en-US" sz="500" dirty="0"/>
          </a:p>
        </p:txBody>
      </p:sp>
      <p:sp>
        <p:nvSpPr>
          <p:cNvPr id="40" name="Text 35"/>
          <p:cNvSpPr/>
          <p:nvPr/>
        </p:nvSpPr>
        <p:spPr>
          <a:xfrm>
            <a:off x="5720079" y="1671638"/>
            <a:ext cx="571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900" b="1" dirty="0">
                <a:solidFill>
                  <a:srgbClr val="9A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835774" y="1614487"/>
            <a:ext cx="17859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6072913" y="1614487"/>
            <a:ext cx="9286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722519" y="1678781"/>
            <a:ext cx="257175" cy="135731"/>
          </a:xfrm>
          <a:prstGeom prst="roundRect">
            <a:avLst>
              <a:gd name="adj" fmla="val 84211"/>
            </a:avLst>
          </a:prstGeom>
          <a:solidFill>
            <a:srgbClr val="377D6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00" b="1" dirty="0">
                <a:solidFill>
                  <a:srgbClr val="337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清零</a:t>
            </a:r>
            <a:endParaRPr lang="en-US" sz="600" dirty="0"/>
          </a:p>
        </p:txBody>
      </p:sp>
      <p:sp>
        <p:nvSpPr>
          <p:cNvPr id="44" name="Text 39"/>
          <p:cNvSpPr/>
          <p:nvPr/>
        </p:nvSpPr>
        <p:spPr>
          <a:xfrm>
            <a:off x="5716786" y="1857375"/>
            <a:ext cx="32646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500" b="1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trial_0474 v1 → 改写版本</a:t>
            </a:r>
            <a:endParaRPr lang="en-US" sz="5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2486" y="2107406"/>
            <a:ext cx="3493294" cy="657225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8563570" y="2107406"/>
            <a:ext cx="514350" cy="514350"/>
          </a:xfrm>
          <a:prstGeom prst="rect">
            <a:avLst/>
          </a:prstGeom>
          <a:solidFill>
            <a:srgbClr val="C9974D">
              <a:alpha val="7000"/>
            </a:srgbClr>
          </a:solidFill>
          <a:ln/>
        </p:spPr>
        <p:txBody>
          <a:bodyPr/>
          <a:p/>
        </p:txBody>
      </p:sp>
      <p:sp>
        <p:nvSpPr>
          <p:cNvPr id="47" name="Text 41"/>
          <p:cNvSpPr/>
          <p:nvPr/>
        </p:nvSpPr>
        <p:spPr>
          <a:xfrm>
            <a:off x="5716786" y="2200275"/>
            <a:ext cx="3264694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rknn_run 板卡耗时</a:t>
            </a:r>
            <a:pPr algn="l" indent="0" marL="0">
              <a:spcAft>
                <a:spcPts val="281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00" b="1" dirty="0">
                <a:solidFill>
                  <a:srgbClr val="9AA5B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LATENCY</a:t>
            </a:r>
            <a:endParaRPr lang="en-US" sz="500" dirty="0"/>
          </a:p>
        </p:txBody>
      </p:sp>
      <p:sp>
        <p:nvSpPr>
          <p:cNvPr id="48" name="Text 42"/>
          <p:cNvSpPr/>
          <p:nvPr/>
        </p:nvSpPr>
        <p:spPr>
          <a:xfrm>
            <a:off x="5719800" y="2400300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900" b="1" dirty="0">
                <a:solidFill>
                  <a:srgbClr val="9A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151.2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6042385" y="2343150"/>
            <a:ext cx="17859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6277570" y="2343150"/>
            <a:ext cx="4286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103.7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6762508" y="2436019"/>
            <a:ext cx="1143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600" dirty="0"/>
          </a:p>
        </p:txBody>
      </p:sp>
      <p:sp>
        <p:nvSpPr>
          <p:cNvPr id="52" name="Text 46"/>
          <p:cNvSpPr/>
          <p:nvPr/>
        </p:nvSpPr>
        <p:spPr>
          <a:xfrm>
            <a:off x="8679991" y="2407444"/>
            <a:ext cx="300038" cy="135731"/>
          </a:xfrm>
          <a:prstGeom prst="roundRect">
            <a:avLst>
              <a:gd name="adj" fmla="val 84211"/>
            </a:avLst>
          </a:prstGeom>
          <a:solidFill>
            <a:srgbClr val="377D6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00" b="1" dirty="0">
                <a:solidFill>
                  <a:srgbClr val="337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1.46×</a:t>
            </a:r>
            <a:endParaRPr lang="en-US" sz="600" dirty="0"/>
          </a:p>
        </p:txBody>
      </p:sp>
      <p:sp>
        <p:nvSpPr>
          <p:cNvPr id="53" name="Text 47"/>
          <p:cNvSpPr/>
          <p:nvPr/>
        </p:nvSpPr>
        <p:spPr>
          <a:xfrm>
            <a:off x="5718572" y="2600325"/>
            <a:ext cx="321469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400" dirty="0"/>
          </a:p>
        </p:txBody>
      </p:sp>
      <p:sp>
        <p:nvSpPr>
          <p:cNvPr id="54" name="Shape 48"/>
          <p:cNvSpPr/>
          <p:nvPr/>
        </p:nvSpPr>
        <p:spPr>
          <a:xfrm>
            <a:off x="6088261" y="2614613"/>
            <a:ext cx="2893219" cy="35719"/>
          </a:xfrm>
          <a:prstGeom prst="roundRect">
            <a:avLst>
              <a:gd name="adj" fmla="val 319998"/>
            </a:avLst>
          </a:prstGeom>
          <a:solidFill>
            <a:srgbClr val="122033">
              <a:alpha val="7000"/>
            </a:srgbClr>
          </a:solidFill>
          <a:ln/>
        </p:spPr>
        <p:txBody>
          <a:bodyPr/>
          <a:p/>
        </p:txBody>
      </p:sp>
      <p:sp>
        <p:nvSpPr>
          <p:cNvPr id="55" name="Shape 49"/>
          <p:cNvSpPr/>
          <p:nvPr/>
        </p:nvSpPr>
        <p:spPr>
          <a:xfrm>
            <a:off x="6088261" y="2614613"/>
            <a:ext cx="2893219" cy="35719"/>
          </a:xfrm>
          <a:prstGeom prst="roundRect">
            <a:avLst>
              <a:gd name="adj" fmla="val 319998"/>
            </a:avLst>
          </a:prstGeom>
          <a:solidFill>
            <a:srgbClr val="122033">
              <a:alpha val="23000"/>
            </a:srgbClr>
          </a:solidFill>
          <a:ln/>
        </p:spPr>
        <p:txBody>
          <a:bodyPr/>
          <a:p/>
        </p:txBody>
      </p:sp>
      <p:sp>
        <p:nvSpPr>
          <p:cNvPr id="56" name="Text 50"/>
          <p:cNvSpPr/>
          <p:nvPr/>
        </p:nvSpPr>
        <p:spPr>
          <a:xfrm>
            <a:off x="5718572" y="2721769"/>
            <a:ext cx="321469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400" dirty="0"/>
          </a:p>
        </p:txBody>
      </p:sp>
      <p:sp>
        <p:nvSpPr>
          <p:cNvPr id="57" name="Shape 51"/>
          <p:cNvSpPr/>
          <p:nvPr/>
        </p:nvSpPr>
        <p:spPr>
          <a:xfrm>
            <a:off x="6088261" y="2736056"/>
            <a:ext cx="2893219" cy="35719"/>
          </a:xfrm>
          <a:prstGeom prst="roundRect">
            <a:avLst>
              <a:gd name="adj" fmla="val 319998"/>
            </a:avLst>
          </a:prstGeom>
          <a:solidFill>
            <a:srgbClr val="122033">
              <a:alpha val="7000"/>
            </a:srgbClr>
          </a:solidFill>
          <a:ln/>
        </p:spPr>
        <p:txBody>
          <a:bodyPr/>
          <a:p/>
        </p:txBody>
      </p:sp>
      <p:sp>
        <p:nvSpPr>
          <p:cNvPr id="58" name="Shape 52"/>
          <p:cNvSpPr/>
          <p:nvPr/>
        </p:nvSpPr>
        <p:spPr>
          <a:xfrm>
            <a:off x="6091721" y="2736056"/>
            <a:ext cx="1978819" cy="35719"/>
          </a:xfrm>
          <a:prstGeom prst="roundRect">
            <a:avLst>
              <a:gd name="adj" fmla="val 319998"/>
            </a:avLst>
          </a:prstGeom>
          <a:solidFill>
            <a:srgbClr val="377D68"/>
          </a:solidFill>
          <a:ln/>
        </p:spPr>
        <p:txBody>
          <a:bodyPr/>
          <a:p/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2486" y="2836069"/>
            <a:ext cx="3493294" cy="657225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8563570" y="2836069"/>
            <a:ext cx="514350" cy="514350"/>
          </a:xfrm>
          <a:prstGeom prst="rect">
            <a:avLst/>
          </a:prstGeom>
          <a:solidFill>
            <a:srgbClr val="C9974D">
              <a:alpha val="7000"/>
            </a:srgbClr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716786" y="2928938"/>
            <a:ext cx="3264694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精度代价</a:t>
            </a:r>
            <a:pPr algn="l" indent="0" marL="0">
              <a:spcAft>
                <a:spcPts val="281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00" b="1" dirty="0">
                <a:solidFill>
                  <a:srgbClr val="9AA5B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BITWISE</a:t>
            </a:r>
            <a:endParaRPr lang="en-US" sz="500" dirty="0"/>
          </a:p>
        </p:txBody>
      </p:sp>
      <p:sp>
        <p:nvSpPr>
          <p:cNvPr id="62" name="Text 55"/>
          <p:cNvSpPr/>
          <p:nvPr/>
        </p:nvSpPr>
        <p:spPr>
          <a:xfrm>
            <a:off x="5718125" y="3071813"/>
            <a:ext cx="128588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00" b="1" dirty="0">
                <a:solidFill>
                  <a:srgbClr val="337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90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3143250"/>
            <a:ext cx="100012" cy="100012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8622506" y="3161109"/>
            <a:ext cx="357187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37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逐字节相同</a:t>
            </a:r>
            <a:endParaRPr lang="en-US" sz="500" dirty="0"/>
          </a:p>
        </p:txBody>
      </p:sp>
      <p:sp>
        <p:nvSpPr>
          <p:cNvPr id="65" name="Text 57"/>
          <p:cNvSpPr/>
          <p:nvPr/>
        </p:nvSpPr>
        <p:spPr>
          <a:xfrm>
            <a:off x="5716786" y="3357562"/>
            <a:ext cx="32646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500" b="1" dirty="0">
                <a:solidFill>
                  <a:srgbClr val="7180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输出位模式完全一致</a:t>
            </a:r>
            <a:endParaRPr lang="en-US" sz="500" dirty="0"/>
          </a:p>
        </p:txBody>
      </p:sp>
      <p:sp>
        <p:nvSpPr>
          <p:cNvPr id="66" name="Shape 58"/>
          <p:cNvSpPr/>
          <p:nvPr/>
        </p:nvSpPr>
        <p:spPr>
          <a:xfrm>
            <a:off x="357188" y="3700463"/>
            <a:ext cx="8843963" cy="457200"/>
          </a:xfrm>
          <a:prstGeom prst="roundRect">
            <a:avLst>
              <a:gd name="adj" fmla="val 14063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14313" dist="100013" dir="5400000">
              <a:srgbClr val="0F172A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7" name="Shape 59"/>
          <p:cNvSpPr/>
          <p:nvPr/>
        </p:nvSpPr>
        <p:spPr>
          <a:xfrm>
            <a:off x="478631" y="3786188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3850481"/>
            <a:ext cx="157163" cy="157163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879016" y="3889772"/>
            <a:ext cx="33575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FA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GATE-01</a:t>
            </a:r>
            <a:endParaRPr lang="en-US" sz="500" dirty="0"/>
          </a:p>
        </p:txBody>
      </p:sp>
      <p:sp>
        <p:nvSpPr>
          <p:cNvPr id="70" name="Text 61"/>
          <p:cNvSpPr/>
          <p:nvPr/>
        </p:nvSpPr>
        <p:spPr>
          <a:xfrm>
            <a:off x="1285094" y="3850481"/>
            <a:ext cx="247888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上板模型必须 0 个 CPU 计算算子 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，I/O 边界除外</a:t>
            </a:r>
            <a:endParaRPr lang="en-US" sz="900" dirty="0"/>
          </a:p>
        </p:txBody>
      </p:sp>
      <p:sp>
        <p:nvSpPr>
          <p:cNvPr id="71" name="Text 62"/>
          <p:cNvSpPr/>
          <p:nvPr/>
        </p:nvSpPr>
        <p:spPr>
          <a:xfrm>
            <a:off x="8206997" y="3825478"/>
            <a:ext cx="871538" cy="207169"/>
          </a:xfrm>
          <a:prstGeom prst="roundRect">
            <a:avLst>
              <a:gd name="adj" fmla="val 41855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CE8E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PASS / BLOCKED</a:t>
            </a:r>
            <a:endParaRPr lang="en-US" sz="500" dirty="0"/>
          </a:p>
        </p:txBody>
      </p:sp>
      <p:sp>
        <p:nvSpPr>
          <p:cNvPr id="72" name="Shape 63"/>
          <p:cNvSpPr/>
          <p:nvPr/>
        </p:nvSpPr>
        <p:spPr>
          <a:xfrm>
            <a:off x="8206997" y="3825478"/>
            <a:ext cx="50006" cy="50006"/>
          </a:xfrm>
          <a:prstGeom prst="rect">
            <a:avLst/>
          </a:prstGeom>
          <a:solidFill>
            <a:srgbClr val="78B7A4"/>
          </a:solidFill>
          <a:ln/>
        </p:spPr>
        <p:txBody>
          <a:bodyPr/>
          <a:p/>
        </p:txBody>
      </p:sp>
      <p:sp>
        <p:nvSpPr>
          <p:cNvPr id="73" name="Text 64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0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5457" y="194332"/>
            <a:ext cx="1128713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 实测｜性能优化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B2｜NPU 时延不能靠 FLOPs 外推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只降 6.8%，实测时延却降 46.5%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1643062"/>
          </a:xfrm>
          <a:prstGeom prst="roundRect">
            <a:avLst>
              <a:gd name="adj" fmla="val 580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">
            <a:off x="5547122" y="1464469"/>
            <a:ext cx="57150" cy="7715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193" y="1403747"/>
            <a:ext cx="8501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同尺度对比｜变化幅度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539686" y="1385887"/>
            <a:ext cx="692944" cy="150019"/>
          </a:xfrm>
          <a:prstGeom prst="roundRect">
            <a:avLst>
              <a:gd name="adj" fmla="val 76190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计算量 ≠ 实测时延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492919" y="1648197"/>
            <a:ext cx="62865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1193006" y="1594619"/>
            <a:ext cx="84296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−6.8%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105620" y="1651769"/>
            <a:ext cx="3128963" cy="92869"/>
          </a:xfrm>
          <a:prstGeom prst="roundRect">
            <a:avLst>
              <a:gd name="adj" fmla="val 123077"/>
            </a:avLst>
          </a:prstGeom>
          <a:solidFill>
            <a:srgbClr val="122033">
              <a:alpha val="6000"/>
            </a:srgbClr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6960" y="1651769"/>
            <a:ext cx="457200" cy="928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919" y="1906935"/>
            <a:ext cx="6286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 时延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1193006" y="1853357"/>
            <a:ext cx="842962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−46.5%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1.87×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105620" y="1921222"/>
            <a:ext cx="3128963" cy="92869"/>
          </a:xfrm>
          <a:prstGeom prst="roundRect">
            <a:avLst>
              <a:gd name="adj" fmla="val 123077"/>
            </a:avLst>
          </a:prstGeom>
          <a:solidFill>
            <a:srgbClr val="122033">
              <a:alpha val="6000"/>
            </a:srgbClr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5620" y="1921222"/>
            <a:ext cx="3128963" cy="92869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91133" y="2160538"/>
            <a:ext cx="4743450" cy="657225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492361" y="2242691"/>
            <a:ext cx="11930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优化动作｜删除 P0 Highway 支路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4415172" y="2224832"/>
            <a:ext cx="471488" cy="150019"/>
          </a:xfrm>
          <a:prstGeom prst="roundRect">
            <a:avLst>
              <a:gd name="adj" fmla="val 76190"/>
            </a:avLst>
          </a:prstGeom>
          <a:solidFill>
            <a:srgbClr val="2F7658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算子 0</a:t>
            </a:r>
            <a:endParaRPr lang="en-US" sz="500" dirty="0"/>
          </a:p>
        </p:txBody>
      </p:sp>
      <p:sp>
        <p:nvSpPr>
          <p:cNvPr id="25" name="Text 19"/>
          <p:cNvSpPr/>
          <p:nvPr/>
        </p:nvSpPr>
        <p:spPr>
          <a:xfrm>
            <a:off x="4931532" y="2224832"/>
            <a:ext cx="300038" cy="150019"/>
          </a:xfrm>
          <a:prstGeom prst="roundRect">
            <a:avLst>
              <a:gd name="adj" fmla="val 76190"/>
            </a:avLst>
          </a:prstGeom>
          <a:solidFill>
            <a:srgbClr val="2F7658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 0</a:t>
            </a:r>
            <a:endParaRPr lang="en-US" sz="500" dirty="0"/>
          </a:p>
        </p:txBody>
      </p:sp>
      <p:sp>
        <p:nvSpPr>
          <p:cNvPr id="26" name="Shape 20"/>
          <p:cNvSpPr/>
          <p:nvPr/>
        </p:nvSpPr>
        <p:spPr>
          <a:xfrm>
            <a:off x="492026" y="2424857"/>
            <a:ext cx="2135981" cy="392906"/>
          </a:xfrm>
          <a:prstGeom prst="roundRect">
            <a:avLst>
              <a:gd name="adj" fmla="val 12694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563463" y="2482007"/>
            <a:ext cx="199310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9"/>
              </a:spcAft>
              <a:buNone/>
            </a:pPr>
            <a:r>
              <a:rPr lang="en-US" sz="500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500" dirty="0"/>
          </a:p>
        </p:txBody>
      </p:sp>
      <p:sp>
        <p:nvSpPr>
          <p:cNvPr id="28" name="Text 22"/>
          <p:cNvSpPr/>
          <p:nvPr/>
        </p:nvSpPr>
        <p:spPr>
          <a:xfrm>
            <a:off x="563463" y="2574875"/>
            <a:ext cx="19931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P0 Highway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563463" y="2724894"/>
            <a:ext cx="1993106" cy="35719"/>
          </a:xfrm>
          <a:prstGeom prst="roundRect">
            <a:avLst>
              <a:gd name="adj" fmla="val 319998"/>
            </a:avLst>
          </a:prstGeom>
          <a:solidFill>
            <a:srgbClr val="B54C41">
              <a:alpha val="42000"/>
            </a:srgbClr>
          </a:solidFill>
          <a:ln/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2677120" y="2535585"/>
            <a:ext cx="3714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097709" y="2424857"/>
            <a:ext cx="2135981" cy="392906"/>
          </a:xfrm>
          <a:prstGeom prst="roundRect">
            <a:avLst>
              <a:gd name="adj" fmla="val 12694"/>
            </a:avLst>
          </a:prstGeom>
          <a:solidFill>
            <a:srgbClr val="2F7658">
              <a:alpha val="6000"/>
            </a:srgbClr>
          </a:solidFill>
          <a:ln w="7144">
            <a:solidFill>
              <a:srgbClr val="2F765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3169146" y="2482007"/>
            <a:ext cx="199310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9"/>
              </a:spcAft>
              <a:buNone/>
            </a:pPr>
            <a:r>
              <a:rPr lang="en-US" sz="500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500" dirty="0"/>
          </a:p>
        </p:txBody>
      </p:sp>
      <p:sp>
        <p:nvSpPr>
          <p:cNvPr id="33" name="Text 27"/>
          <p:cNvSpPr/>
          <p:nvPr/>
        </p:nvSpPr>
        <p:spPr>
          <a:xfrm>
            <a:off x="3169146" y="2574875"/>
            <a:ext cx="19931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移除最劣形状支路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3169146" y="2724894"/>
            <a:ext cx="1993106" cy="35719"/>
          </a:xfrm>
          <a:prstGeom prst="roundRect">
            <a:avLst>
              <a:gd name="adj" fmla="val 319998"/>
            </a:avLst>
          </a:prstGeom>
          <a:solidFill>
            <a:srgbClr val="2F7658">
              <a:alpha val="62000"/>
            </a:srgbClr>
          </a:solidFill>
          <a:ln/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5495330" y="1271588"/>
            <a:ext cx="3707606" cy="1643062"/>
          </a:xfrm>
          <a:prstGeom prst="roundRect">
            <a:avLst>
              <a:gd name="adj" fmla="val 580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Text 30"/>
          <p:cNvSpPr/>
          <p:nvPr/>
        </p:nvSpPr>
        <p:spPr>
          <a:xfrm>
            <a:off x="5631061" y="1385888"/>
            <a:ext cx="343614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瓶颈机理</a:t>
            </a:r>
            <a:pPr algn="l" indent="0" marL="0">
              <a:spcAft>
                <a:spcPts val="394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HIGHWAY</a:t>
            </a:r>
            <a:endParaRPr lang="en-US" sz="600" dirty="0"/>
          </a:p>
        </p:txBody>
      </p:sp>
      <p:sp>
        <p:nvSpPr>
          <p:cNvPr id="37" name="Shape 31"/>
          <p:cNvSpPr/>
          <p:nvPr/>
        </p:nvSpPr>
        <p:spPr>
          <a:xfrm>
            <a:off x="5631061" y="1557338"/>
            <a:ext cx="1114425" cy="350044"/>
          </a:xfrm>
          <a:prstGeom prst="roundRect">
            <a:avLst>
              <a:gd name="adj" fmla="val 17326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5695355" y="1614488"/>
            <a:ext cx="985838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9"/>
              </a:spcAft>
              <a:buNone/>
            </a:pPr>
            <a:r>
              <a:rPr lang="en-US" sz="500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输入分辨率</a:t>
            </a:r>
            <a:endParaRPr lang="en-US" sz="500" dirty="0"/>
          </a:p>
        </p:txBody>
      </p:sp>
      <p:sp>
        <p:nvSpPr>
          <p:cNvPr id="39" name="Text 33"/>
          <p:cNvSpPr/>
          <p:nvPr/>
        </p:nvSpPr>
        <p:spPr>
          <a:xfrm>
            <a:off x="5695355" y="1728788"/>
            <a:ext cx="9858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791920" y="1557338"/>
            <a:ext cx="1114425" cy="350044"/>
          </a:xfrm>
          <a:prstGeom prst="roundRect">
            <a:avLst>
              <a:gd name="adj" fmla="val 17326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5"/>
          <p:cNvSpPr/>
          <p:nvPr/>
        </p:nvSpPr>
        <p:spPr>
          <a:xfrm>
            <a:off x="6856214" y="1614488"/>
            <a:ext cx="985838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9"/>
              </a:spcAft>
              <a:buNone/>
            </a:pPr>
            <a:r>
              <a:rPr lang="en-US" sz="500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通道数</a:t>
            </a:r>
            <a:endParaRPr lang="en-US" sz="500" dirty="0"/>
          </a:p>
        </p:txBody>
      </p:sp>
      <p:sp>
        <p:nvSpPr>
          <p:cNvPr id="42" name="Text 36"/>
          <p:cNvSpPr/>
          <p:nvPr/>
        </p:nvSpPr>
        <p:spPr>
          <a:xfrm>
            <a:off x="6856214" y="1728788"/>
            <a:ext cx="9858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16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7952780" y="1557338"/>
            <a:ext cx="1114425" cy="350044"/>
          </a:xfrm>
          <a:prstGeom prst="roundRect">
            <a:avLst>
              <a:gd name="adj" fmla="val 17326"/>
            </a:avLst>
          </a:prstGeom>
          <a:solidFill>
            <a:srgbClr val="B54C41">
              <a:alpha val="7000"/>
            </a:srgbClr>
          </a:solidFill>
          <a:ln w="7144">
            <a:solidFill>
              <a:srgbClr val="B54C4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8017073" y="1614488"/>
            <a:ext cx="985838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9"/>
              </a:spcAft>
              <a:buNone/>
            </a:pPr>
            <a:r>
              <a:rPr lang="en-US" sz="500" dirty="0">
                <a:solidFill>
                  <a:srgbClr val="A8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空间乘积</a:t>
            </a:r>
            <a:endParaRPr lang="en-US" sz="500" dirty="0"/>
          </a:p>
        </p:txBody>
      </p:sp>
      <p:sp>
        <p:nvSpPr>
          <p:cNvPr id="45" name="Text 39"/>
          <p:cNvSpPr/>
          <p:nvPr/>
        </p:nvSpPr>
        <p:spPr>
          <a:xfrm>
            <a:off x="8017073" y="1728788"/>
            <a:ext cx="9858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E49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16,384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631061" y="1957388"/>
            <a:ext cx="3436144" cy="214313"/>
          </a:xfrm>
          <a:prstGeom prst="roundRect">
            <a:avLst>
              <a:gd name="adj" fmla="val 42667"/>
            </a:avLst>
          </a:prstGeom>
          <a:solidFill>
            <a:srgbClr val="B54C41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E49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最劣形状 → 时延异常放大</a:t>
            </a:r>
            <a:pPr algn="l" indent="0" marL="0">
              <a:spcBef>
                <a:spcPts val="394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A8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H×W ≤ 16384</a:t>
            </a:r>
            <a:endParaRPr lang="en-US" sz="600" dirty="0"/>
          </a:p>
        </p:txBody>
      </p:sp>
      <p:sp>
        <p:nvSpPr>
          <p:cNvPr id="47" name="Text 41"/>
          <p:cNvSpPr/>
          <p:nvPr/>
        </p:nvSpPr>
        <p:spPr>
          <a:xfrm>
            <a:off x="5631061" y="2563155"/>
            <a:ext cx="3436144" cy="235744"/>
          </a:xfrm>
          <a:prstGeom prst="roundRect">
            <a:avLst>
              <a:gd name="adj" fmla="val 38200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6"/>
              </a:lnSpc>
              <a:spcBef>
                <a:spcPts val="3072"/>
              </a:spcBef>
              <a:buNone/>
            </a:pPr>
            <a:r>
              <a:rPr lang="en-US" sz="600" b="1" dirty="0">
                <a:solidFill>
                  <a:srgbClr val="6F5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结论：NPU 时延上限卡在“空间乘积”，与后续张量如何拼接无关。</a:t>
            </a:r>
            <a:endParaRPr lang="en-US" sz="600" dirty="0"/>
          </a:p>
        </p:txBody>
      </p:sp>
      <p:sp>
        <p:nvSpPr>
          <p:cNvPr id="48" name="Shape 42"/>
          <p:cNvSpPr/>
          <p:nvPr/>
        </p:nvSpPr>
        <p:spPr>
          <a:xfrm>
            <a:off x="357188" y="2984971"/>
            <a:ext cx="2900362" cy="535781"/>
          </a:xfrm>
          <a:prstGeom prst="roundRect">
            <a:avLst>
              <a:gd name="adj" fmla="val 9102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57163" dist="571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/>
        </p:nvSpPr>
        <p:spPr>
          <a:xfrm>
            <a:off x="457200" y="3102843"/>
            <a:ext cx="35719" cy="300038"/>
          </a:xfrm>
          <a:prstGeom prst="roundRect">
            <a:avLst>
              <a:gd name="adj" fmla="val 319998"/>
            </a:avLst>
          </a:prstGeom>
          <a:solidFill>
            <a:srgbClr val="122033"/>
          </a:solidFill>
          <a:ln/>
        </p:spPr>
        <p:txBody>
          <a:bodyPr/>
          <a:p/>
        </p:txBody>
      </p:sp>
      <p:sp>
        <p:nvSpPr>
          <p:cNvPr id="50" name="Text 44"/>
          <p:cNvSpPr/>
          <p:nvPr/>
        </p:nvSpPr>
        <p:spPr>
          <a:xfrm>
            <a:off x="578644" y="3057525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9"/>
              </a:spcAft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 单帧时延</a:t>
            </a:r>
            <a:endParaRPr lang="en-US" sz="500" dirty="0"/>
          </a:p>
        </p:txBody>
      </p:sp>
      <p:sp>
        <p:nvSpPr>
          <p:cNvPr id="51" name="Text 45"/>
          <p:cNvSpPr/>
          <p:nvPr/>
        </p:nvSpPr>
        <p:spPr>
          <a:xfrm>
            <a:off x="578644" y="3184996"/>
            <a:ext cx="257889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103.7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55.5 ms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578644" y="3341043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1.87× 加速｜−46.5%</a:t>
            </a:r>
            <a:endParaRPr lang="en-US" sz="500" dirty="0"/>
          </a:p>
        </p:txBody>
      </p:sp>
      <p:sp>
        <p:nvSpPr>
          <p:cNvPr id="53" name="Shape 47"/>
          <p:cNvSpPr/>
          <p:nvPr/>
        </p:nvSpPr>
        <p:spPr>
          <a:xfrm>
            <a:off x="3328988" y="2984971"/>
            <a:ext cx="2900362" cy="535781"/>
          </a:xfrm>
          <a:prstGeom prst="roundRect">
            <a:avLst>
              <a:gd name="adj" fmla="val 9102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57163" dist="571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/>
        </p:nvSpPr>
        <p:spPr>
          <a:xfrm>
            <a:off x="3429000" y="3102843"/>
            <a:ext cx="35719" cy="300038"/>
          </a:xfrm>
          <a:prstGeom prst="roundRect">
            <a:avLst>
              <a:gd name="adj" fmla="val 319998"/>
            </a:avLst>
          </a:prstGeom>
          <a:solidFill>
            <a:srgbClr val="2F7658"/>
          </a:solidFill>
          <a:ln/>
        </p:spPr>
        <p:txBody>
          <a:bodyPr/>
          <a:p/>
        </p:txBody>
      </p:sp>
      <p:sp>
        <p:nvSpPr>
          <p:cNvPr id="55" name="Text 49"/>
          <p:cNvSpPr/>
          <p:nvPr/>
        </p:nvSpPr>
        <p:spPr>
          <a:xfrm>
            <a:off x="3550444" y="3057525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9"/>
              </a:spcAft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端到端帧率</a:t>
            </a:r>
            <a:endParaRPr lang="en-US" sz="500" dirty="0"/>
          </a:p>
        </p:txBody>
      </p:sp>
      <p:sp>
        <p:nvSpPr>
          <p:cNvPr id="56" name="Text 50"/>
          <p:cNvSpPr/>
          <p:nvPr/>
        </p:nvSpPr>
        <p:spPr>
          <a:xfrm>
            <a:off x="3550444" y="3184996"/>
            <a:ext cx="257889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17.7 fps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3550444" y="3341043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2F7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1.86×｜同口径实测</a:t>
            </a:r>
            <a:endParaRPr lang="en-US" sz="500" dirty="0"/>
          </a:p>
        </p:txBody>
      </p:sp>
      <p:sp>
        <p:nvSpPr>
          <p:cNvPr id="58" name="Shape 52"/>
          <p:cNvSpPr/>
          <p:nvPr/>
        </p:nvSpPr>
        <p:spPr>
          <a:xfrm>
            <a:off x="6300788" y="2984971"/>
            <a:ext cx="2900362" cy="535781"/>
          </a:xfrm>
          <a:prstGeom prst="roundRect">
            <a:avLst>
              <a:gd name="adj" fmla="val 9102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57163" dist="571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/>
        </p:nvSpPr>
        <p:spPr>
          <a:xfrm>
            <a:off x="6400800" y="3102843"/>
            <a:ext cx="35719" cy="300038"/>
          </a:xfrm>
          <a:prstGeom prst="roundRect">
            <a:avLst>
              <a:gd name="adj" fmla="val 319998"/>
            </a:avLst>
          </a:prstGeom>
          <a:solidFill>
            <a:srgbClr val="C5814C"/>
          </a:solidFill>
          <a:ln/>
        </p:spPr>
        <p:txBody>
          <a:bodyPr/>
          <a:p/>
        </p:txBody>
      </p:sp>
      <p:sp>
        <p:nvSpPr>
          <p:cNvPr id="60" name="Text 54"/>
          <p:cNvSpPr/>
          <p:nvPr/>
        </p:nvSpPr>
        <p:spPr>
          <a:xfrm>
            <a:off x="6522244" y="3061432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9"/>
              </a:spcAft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模型精度 F1</a:t>
            </a:r>
            <a:endParaRPr lang="en-US" sz="500" dirty="0"/>
          </a:p>
        </p:txBody>
      </p:sp>
      <p:sp>
        <p:nvSpPr>
          <p:cNvPr id="61" name="Text 55"/>
          <p:cNvSpPr/>
          <p:nvPr/>
        </p:nvSpPr>
        <p:spPr>
          <a:xfrm>
            <a:off x="6522244" y="3188568"/>
            <a:ext cx="257889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7B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0.906361</a:t>
            </a:r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0.905736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6522244" y="3337136"/>
            <a:ext cx="25788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B56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−0.000625｜全量实测</a:t>
            </a:r>
            <a:endParaRPr lang="en-US" sz="500" dirty="0"/>
          </a:p>
        </p:txBody>
      </p:sp>
      <p:sp>
        <p:nvSpPr>
          <p:cNvPr id="63" name="Shape 57"/>
          <p:cNvSpPr/>
          <p:nvPr/>
        </p:nvSpPr>
        <p:spPr>
          <a:xfrm>
            <a:off x="357188" y="3557588"/>
            <a:ext cx="8843963" cy="200025"/>
          </a:xfrm>
          <a:prstGeom prst="roundRect">
            <a:avLst>
              <a:gd name="adj" fmla="val 48980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42875" dist="571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4" name="Text 58"/>
          <p:cNvSpPr/>
          <p:nvPr/>
        </p:nvSpPr>
        <p:spPr>
          <a:xfrm>
            <a:off x="442243" y="3582591"/>
            <a:ext cx="342900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4C1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新铁律</a:t>
            </a:r>
            <a:endParaRPr lang="en-US" sz="500" dirty="0"/>
          </a:p>
        </p:txBody>
      </p:sp>
      <p:sp>
        <p:nvSpPr>
          <p:cNvPr id="65" name="Text 59"/>
          <p:cNvSpPr/>
          <p:nvPr/>
        </p:nvSpPr>
        <p:spPr>
          <a:xfrm>
            <a:off x="854739" y="3596878"/>
            <a:ext cx="306466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禁止用 MAC/FLOPs 外推 NPU 时延，必须使用 RKNN 算子表与真实 profiling。</a:t>
            </a:r>
            <a:endParaRPr lang="en-US" sz="600" dirty="0"/>
          </a:p>
        </p:txBody>
      </p:sp>
      <p:sp>
        <p:nvSpPr>
          <p:cNvPr id="66" name="Text 60"/>
          <p:cNvSpPr/>
          <p:nvPr/>
        </p:nvSpPr>
        <p:spPr>
          <a:xfrm>
            <a:off x="7123491" y="3604022"/>
            <a:ext cx="19931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BD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宁可牺牲约 0.0006 F1，换取 1.87× 时延；精度必须全量实测。</a:t>
            </a:r>
            <a:endParaRPr lang="en-US" sz="500" dirty="0"/>
          </a:p>
        </p:txBody>
      </p:sp>
      <p:sp>
        <p:nvSpPr>
          <p:cNvPr id="67" name="Text 61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" dirty="0"/>
          </a:p>
        </p:txBody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133" y="2160538"/>
            <a:ext cx="4743450" cy="657225"/>
          </a:xfrm>
          <a:prstGeom prst="rect">
            <a:avLst/>
          </a:prstGeom>
        </p:spPr>
      </p:pic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31061" y="1957388"/>
            <a:ext cx="3436144" cy="214313"/>
          </a:xfrm>
          <a:prstGeom prst="rect">
            <a:avLst/>
          </a:prstGeom>
        </p:spPr>
      </p:pic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5681" y="357188"/>
            <a:ext cx="8515350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6797" y="321469"/>
            <a:ext cx="1471612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RESULT / B3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607219"/>
            <a:ext cx="7436644" cy="2357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563"/>
              </a:spcBef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B3｜640×640 拼图 × RGA 硬件画布：</a:t>
            </a:r>
            <a:pPr algn="l" indent="0" marL="0">
              <a:lnSpc>
                <a:spcPts val="1856"/>
              </a:lnSpc>
              <a:buNone/>
            </a:pPr>
            <a:r>
              <a:rPr lang="en-US" sz="1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次前向压成 1 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43664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338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形状决定代价｜RGA 硬件画布｜逐帧零 CPU 拷贝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83835" y="357188"/>
            <a:ext cx="68580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11/19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8135280" y="657225"/>
            <a:ext cx="735806" cy="178594"/>
          </a:xfrm>
          <a:prstGeom prst="roundRect">
            <a:avLst>
              <a:gd name="adj" fmla="val 51200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 → COST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358862" y="1271588"/>
            <a:ext cx="301466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7876" y="1407319"/>
            <a:ext cx="9786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07876" y="1550194"/>
            <a:ext cx="978694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Bef>
                <a:spcPts val="225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逐尺度重复前向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40050" y="1475184"/>
            <a:ext cx="685800" cy="185738"/>
          </a:xfrm>
          <a:prstGeom prst="roundRect">
            <a:avLst>
              <a:gd name="adj" fmla="val 56805"/>
            </a:avLst>
          </a:prstGeom>
          <a:solidFill>
            <a:srgbClr val="4B5B70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multi-scale</a:t>
            </a:r>
            <a:endParaRPr lang="en-US" sz="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1785938"/>
            <a:ext cx="2717974" cy="155733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04121" y="1271588"/>
            <a:ext cx="536495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654475" y="1407319"/>
            <a:ext cx="16787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654475" y="1550194"/>
            <a:ext cx="1678781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Bef>
                <a:spcPts val="225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三尺度一次装配，一次前向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662676" y="1464469"/>
            <a:ext cx="1057275" cy="207169"/>
          </a:xfrm>
          <a:prstGeom prst="roundRect">
            <a:avLst>
              <a:gd name="adj" fmla="val 55172"/>
            </a:avLst>
          </a:prstGeom>
          <a:solidFill>
            <a:srgbClr val="C9974D">
              <a:alpha val="10000"/>
            </a:srgbClr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734616" y="1546622"/>
            <a:ext cx="42863" cy="42863"/>
          </a:xfrm>
          <a:prstGeom prst="ellipse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827429" y="1528763"/>
            <a:ext cx="820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7D5A22"/>
                </a:solidFill>
                <a:highlight>
                  <a:srgbClr val="C9974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路输入 · 1 条硬件路径</a:t>
            </a:r>
            <a:endParaRPr lang="en-US" sz="5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2968" y="1778794"/>
            <a:ext cx="3278981" cy="2293144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386" y="1914525"/>
            <a:ext cx="3120144" cy="204311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032352" y="1778794"/>
            <a:ext cx="1685925" cy="857250"/>
          </a:xfrm>
          <a:prstGeom prst="roundRect">
            <a:avLst>
              <a:gd name="adj" fmla="val 15111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1450" dist="85725" dir="5400000">
              <a:srgbClr val="12203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7129742" y="1907381"/>
            <a:ext cx="67865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OUTPUT</a:t>
            </a:r>
            <a:endParaRPr lang="en-US" sz="500" dirty="0"/>
          </a:p>
        </p:txBody>
      </p:sp>
      <p:sp>
        <p:nvSpPr>
          <p:cNvPr id="26" name="Text 20"/>
          <p:cNvSpPr/>
          <p:nvPr/>
        </p:nvSpPr>
        <p:spPr>
          <a:xfrm>
            <a:off x="8248017" y="1871663"/>
            <a:ext cx="371475" cy="150019"/>
          </a:xfrm>
          <a:prstGeom prst="roundRect">
            <a:avLst>
              <a:gd name="adj" fmla="val 58050"/>
            </a:avLst>
          </a:prstGeom>
          <a:solidFill>
            <a:srgbClr val="C9974D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3D9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 NPU</a:t>
            </a:r>
            <a:endParaRPr lang="en-US" sz="500" dirty="0"/>
          </a:p>
        </p:txBody>
      </p:sp>
      <p:sp>
        <p:nvSpPr>
          <p:cNvPr id="27" name="Text 21"/>
          <p:cNvSpPr/>
          <p:nvPr/>
        </p:nvSpPr>
        <p:spPr>
          <a:xfrm>
            <a:off x="7132365" y="2078831"/>
            <a:ext cx="14859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14.951 </a:t>
            </a:r>
            <a:pPr algn="l" indent="0" marL="0">
              <a:lnSpc>
                <a:spcPts val="788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7132365" y="2378869"/>
            <a:ext cx="1485900" cy="35719"/>
          </a:xfrm>
          <a:prstGeom prst="roundRect">
            <a:avLst>
              <a:gd name="adj" fmla="val 319998"/>
            </a:avLst>
          </a:prstGeom>
          <a:solidFill>
            <a:srgbClr val="F8FAFC">
              <a:alpha val="14000"/>
            </a:srgbClr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0411" y="2378869"/>
            <a:ext cx="1428750" cy="3571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32365" y="2457450"/>
            <a:ext cx="1485900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理论天花板 15.60</a:t>
            </a:r>
            <a:pPr algn="l" indent="0" marL="0">
              <a:spcBef>
                <a:spcPts val="338"/>
              </a:spcBef>
              <a:buNone/>
            </a:pPr>
            <a:r>
              <a:rPr lang="en-US" sz="400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400" b="1" dirty="0">
                <a:solidFill>
                  <a:srgbClr val="F3D9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损耗 4.1%</a:t>
            </a:r>
            <a:endParaRPr lang="en-US" sz="400" dirty="0"/>
          </a:p>
        </p:txBody>
      </p:sp>
      <p:sp>
        <p:nvSpPr>
          <p:cNvPr id="31" name="Shape 24"/>
          <p:cNvSpPr/>
          <p:nvPr/>
        </p:nvSpPr>
        <p:spPr>
          <a:xfrm>
            <a:off x="7032352" y="2700338"/>
            <a:ext cx="1685925" cy="350044"/>
          </a:xfrm>
          <a:prstGeom prst="roundRect">
            <a:avLst>
              <a:gd name="adj" fmla="val 18659"/>
            </a:avLst>
          </a:prstGeom>
          <a:solidFill>
            <a:srgbClr val="2E7D5B">
              <a:alpha val="8000"/>
            </a:srgbClr>
          </a:solidFill>
          <a:ln w="7144">
            <a:solidFill>
              <a:srgbClr val="2E7D5B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7117017" y="2811066"/>
            <a:ext cx="32146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0.943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511151" y="2778919"/>
            <a:ext cx="1121569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ms/帧</a:t>
            </a:r>
            <a:endParaRPr lang="en-US" sz="500" dirty="0"/>
          </a:p>
        </p:txBody>
      </p:sp>
      <p:sp>
        <p:nvSpPr>
          <p:cNvPr id="34" name="Text 27"/>
          <p:cNvSpPr/>
          <p:nvPr/>
        </p:nvSpPr>
        <p:spPr>
          <a:xfrm>
            <a:off x="7511151" y="2886075"/>
            <a:ext cx="112156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4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拼图装配｜相对 102 ms 可忽略</a:t>
            </a:r>
            <a:endParaRPr lang="en-US" sz="400" dirty="0"/>
          </a:p>
        </p:txBody>
      </p:sp>
      <p:sp>
        <p:nvSpPr>
          <p:cNvPr id="35" name="Shape 28"/>
          <p:cNvSpPr/>
          <p:nvPr/>
        </p:nvSpPr>
        <p:spPr>
          <a:xfrm>
            <a:off x="7032352" y="3107531"/>
            <a:ext cx="1685925" cy="350044"/>
          </a:xfrm>
          <a:prstGeom prst="roundRect">
            <a:avLst>
              <a:gd name="adj" fmla="val 18659"/>
            </a:avLst>
          </a:prstGeom>
          <a:solidFill>
            <a:srgbClr val="2E7D5B">
              <a:alpha val="8000"/>
            </a:srgbClr>
          </a:solidFill>
          <a:ln w="7144">
            <a:solidFill>
              <a:srgbClr val="2E7D5B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29"/>
          <p:cNvSpPr/>
          <p:nvPr/>
        </p:nvSpPr>
        <p:spPr>
          <a:xfrm>
            <a:off x="7115287" y="3218259"/>
            <a:ext cx="478631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= 0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662956" y="3186112"/>
            <a:ext cx="9715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字节级一致</a:t>
            </a:r>
            <a:endParaRPr lang="en-US" sz="500" dirty="0"/>
          </a:p>
        </p:txBody>
      </p:sp>
      <p:sp>
        <p:nvSpPr>
          <p:cNvPr id="38" name="Text 31"/>
          <p:cNvSpPr/>
          <p:nvPr/>
        </p:nvSpPr>
        <p:spPr>
          <a:xfrm>
            <a:off x="7662956" y="3293269"/>
            <a:ext cx="971550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4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区与 CPU 参考一致</a:t>
            </a:r>
            <a:endParaRPr lang="en-US" sz="400" dirty="0"/>
          </a:p>
        </p:txBody>
      </p:sp>
      <p:sp>
        <p:nvSpPr>
          <p:cNvPr id="39" name="Shape 32"/>
          <p:cNvSpPr/>
          <p:nvPr/>
        </p:nvSpPr>
        <p:spPr>
          <a:xfrm>
            <a:off x="7032352" y="3521869"/>
            <a:ext cx="1685925" cy="471488"/>
          </a:xfrm>
          <a:prstGeom prst="roundRect">
            <a:avLst>
              <a:gd name="adj" fmla="val 10285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7118077" y="3600450"/>
            <a:ext cx="1514475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TIME INVARIANT</a:t>
            </a:r>
            <a:endParaRPr lang="en-US" sz="400" dirty="0"/>
          </a:p>
        </p:txBody>
      </p:sp>
      <p:sp>
        <p:nvSpPr>
          <p:cNvPr id="41" name="Text 34"/>
          <p:cNvSpPr/>
          <p:nvPr/>
        </p:nvSpPr>
        <p:spPr>
          <a:xfrm>
            <a:off x="7118077" y="3707606"/>
            <a:ext cx="151447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单尺度 NPU 时间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16"/>
              </a:lnSpc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拼图 NPU 时间</a:t>
            </a:r>
            <a:endParaRPr lang="en-US" sz="500" dirty="0"/>
          </a:p>
        </p:txBody>
      </p:sp>
      <p:sp>
        <p:nvSpPr>
          <p:cNvPr id="42" name="Text 35"/>
          <p:cNvSpPr/>
          <p:nvPr/>
        </p:nvSpPr>
        <p:spPr>
          <a:xfrm>
            <a:off x="355681" y="4286250"/>
            <a:ext cx="85153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6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81" y="357188"/>
            <a:ext cx="8515350" cy="785813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746729" y="1871663"/>
            <a:ext cx="115728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TENSOR · STATIC SHAPE</a:t>
            </a:r>
            <a:endParaRPr lang="en-US" sz="5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5681" y="4286250"/>
            <a:ext cx="85153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56629" y="194332"/>
            <a:ext cx="978694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B4 · 精度归因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B4｜精度账：f16 代价 ≈ 0，打包的账单独算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同图对照 · 7 臂重算 · 口径现场抽取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22108" y="1446609"/>
            <a:ext cx="2171700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B 臂，不能把总差值算成量化损失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47915" y="1435894"/>
            <a:ext cx="457200" cy="185738"/>
          </a:xfrm>
          <a:prstGeom prst="roundRect">
            <a:avLst>
              <a:gd name="adj" fmla="val 61538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归因边界</a:t>
            </a:r>
            <a:endParaRPr lang="en-US" sz="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708" y="1694297"/>
            <a:ext cx="4686300" cy="542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9708" y="1694297"/>
            <a:ext cx="28575" cy="531094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55439" y="1793081"/>
            <a:ext cx="44291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 · 先纠偏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655439" y="1937184"/>
            <a:ext cx="442912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与 C 的 −0.002139 是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“打包＋量化”合计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，不是量化损失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2833" y="2303636"/>
            <a:ext cx="2121694" cy="535781"/>
          </a:xfrm>
          <a:prstGeom prst="roundRect">
            <a:avLst>
              <a:gd name="adj" fmla="val 7964"/>
            </a:avLst>
          </a:prstGeom>
          <a:solidFill>
            <a:srgbClr val="F4F6F9">
              <a:alpha val="72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07219" y="2381324"/>
            <a:ext cx="315546" cy="178594"/>
          </a:xfrm>
          <a:prstGeom prst="roundRect">
            <a:avLst>
              <a:gd name="adj" fmla="val 40960"/>
            </a:avLst>
          </a:prstGeom>
          <a:solidFill>
            <a:srgbClr val="122033"/>
          </a:solidFill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858589" y="2382217"/>
            <a:ext cx="1700213" cy="3786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9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 arm 全部重算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99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统一使用同一个打分器，避免评分口径漂移。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2710607" y="2303636"/>
            <a:ext cx="2493169" cy="535781"/>
          </a:xfrm>
          <a:prstGeom prst="roundRect">
            <a:avLst>
              <a:gd name="adj" fmla="val 7964"/>
            </a:avLst>
          </a:prstGeom>
          <a:solidFill>
            <a:srgbClr val="F4F6F9">
              <a:alpha val="72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2795885" y="2381324"/>
            <a:ext cx="315546" cy="178594"/>
          </a:xfrm>
          <a:prstGeom prst="roundRect">
            <a:avLst>
              <a:gd name="adj" fmla="val 40960"/>
            </a:avLst>
          </a:prstGeom>
          <a:solidFill>
            <a:srgbClr val="122033"/>
          </a:solidFill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3044800" y="2379538"/>
            <a:ext cx="1293019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9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臂完成隔离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99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f32＋同一画布＋同一次前向。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519708" y="2905274"/>
            <a:ext cx="4686300" cy="257175"/>
          </a:xfrm>
          <a:prstGeom prst="roundRect">
            <a:avLst>
              <a:gd name="adj" fmla="val 32099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1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 黄金池</a:t>
            </a:r>
            <a:pPr algn="l" indent="0" marL="0">
              <a:spcBef>
                <a:spcPts val="506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11"/>
              </a:lnSpc>
              <a:buNone/>
            </a:pPr>
            <a:r>
              <a:rPr lang="en-US" sz="600" b="1" dirty="0">
                <a:solidFill>
                  <a:srgbClr val="33425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A / B / C F1 = 0.998949 / 0.999790 / 0.999790 · 完全相同 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519708" y="3227412"/>
            <a:ext cx="4686300" cy="314325"/>
          </a:xfrm>
          <a:prstGeom prst="roundRect">
            <a:avLst>
              <a:gd name="adj" fmla="val 21488"/>
            </a:avLst>
          </a:prstGeom>
          <a:solidFill>
            <a:srgbClr val="F4F6F9">
              <a:alpha val="7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14363" y="3298850"/>
            <a:ext cx="1143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07411" y="3323797"/>
            <a:ext cx="24288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dedup_radius 768</a:t>
            </a:r>
            <a:pPr algn="l" indent="0" marL="0">
              <a:lnSpc>
                <a:spcPts val="94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＞ 帧内任意两点距离； </a:t>
            </a:r>
            <a:pPr algn="l" indent="0" marL="0">
              <a:lnSpc>
                <a:spcPts val="94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每帧只留最高分候选</a:t>
            </a:r>
            <a:endParaRPr lang="en-US" sz="600" dirty="0"/>
          </a:p>
        </p:txBody>
      </p:sp>
      <p:sp>
        <p:nvSpPr>
          <p:cNvPr id="27" name="Shape 23"/>
          <p:cNvSpPr/>
          <p:nvPr/>
        </p:nvSpPr>
        <p:spPr>
          <a:xfrm>
            <a:off x="519708" y="3700463"/>
            <a:ext cx="4686300" cy="292894"/>
          </a:xfrm>
          <a:prstGeom prst="roundRect">
            <a:avLst>
              <a:gd name="adj" fmla="val 28554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1450" dist="71438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06382" y="3782616"/>
            <a:ext cx="1293019" cy="1285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800" b="1" dirty="0">
                <a:solidFill>
                  <a:srgbClr val="E6BD77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−0.002668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1955713" y="3771900"/>
            <a:ext cx="10715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8FAFC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242579" y="3789759"/>
            <a:ext cx="1571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2450697" y="3782616"/>
            <a:ext cx="57864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+0.000529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081077" y="3782616"/>
            <a:ext cx="207169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3468737" y="3771900"/>
            <a:ext cx="10715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8FAFC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632653" y="3779044"/>
            <a:ext cx="1485900" cy="13573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总账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−0.002139</a:t>
            </a:r>
            <a:endParaRPr lang="en-US" sz="600" dirty="0"/>
          </a:p>
        </p:txBody>
      </p:sp>
      <p:sp>
        <p:nvSpPr>
          <p:cNvPr id="35" name="Shape 31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5659971" y="1439466"/>
            <a:ext cx="10287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盲测｜11,810 帧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466739" y="1435894"/>
            <a:ext cx="571500" cy="157163"/>
          </a:xfrm>
          <a:prstGeom prst="roundRect">
            <a:avLst>
              <a:gd name="adj" fmla="val 72727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 → C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5659636" y="1650206"/>
            <a:ext cx="3378994" cy="557213"/>
          </a:xfrm>
          <a:prstGeom prst="roundRect">
            <a:avLst>
              <a:gd name="adj" fmla="val 8416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5659636" y="1650206"/>
            <a:ext cx="28575" cy="542925"/>
          </a:xfrm>
          <a:prstGeom prst="rect">
            <a:avLst/>
          </a:prstGeom>
          <a:solidFill>
            <a:srgbClr val="8995A5"/>
          </a:solidFill>
          <a:ln/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5740003" y="1785938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161652" y="1806253"/>
            <a:ext cx="20288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f32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6161652" y="1951081"/>
            <a:ext cx="20288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5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逐尺度 3 次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8270788" y="1760934"/>
            <a:ext cx="6715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0.897694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8558101" y="1946672"/>
            <a:ext cx="385763" cy="150019"/>
          </a:xfrm>
          <a:prstGeom prst="roundRect">
            <a:avLst>
              <a:gd name="adj" fmla="val 76190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冻结基准</a:t>
            </a:r>
            <a:endParaRPr lang="en-US" sz="500" dirty="0"/>
          </a:p>
        </p:txBody>
      </p:sp>
      <p:sp>
        <p:nvSpPr>
          <p:cNvPr id="45" name="Shape 41"/>
          <p:cNvSpPr/>
          <p:nvPr/>
        </p:nvSpPr>
        <p:spPr>
          <a:xfrm>
            <a:off x="5838230" y="2321719"/>
            <a:ext cx="3018234" cy="7144"/>
          </a:xfrm>
          <a:prstGeom prst="rect">
            <a:avLst/>
          </a:prstGeom>
          <a:solidFill>
            <a:srgbClr val="122033">
              <a:alpha val="13000"/>
            </a:srgbClr>
          </a:solidFill>
          <a:ln/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7006233" y="2232422"/>
            <a:ext cx="685800" cy="178594"/>
          </a:xfrm>
          <a:prstGeom prst="roundRect">
            <a:avLst>
              <a:gd name="adj" fmla="val 64000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</a:t>
            </a:r>
            <a:pPr algn="l" indent="0" marL="0">
              <a:buNone/>
            </a:pPr>
            <a:r>
              <a:rPr lang="en-US" sz="500" b="1" dirty="0">
                <a:solidFill>
                  <a:srgbClr val="9A6D2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−0.002668</a:t>
            </a:r>
            <a:endParaRPr lang="en-US" sz="500" dirty="0"/>
          </a:p>
        </p:txBody>
      </p:sp>
      <p:sp>
        <p:nvSpPr>
          <p:cNvPr id="47" name="Shape 43"/>
          <p:cNvSpPr/>
          <p:nvPr/>
        </p:nvSpPr>
        <p:spPr>
          <a:xfrm rot="2700000">
            <a:off x="8743950" y="2300288"/>
            <a:ext cx="57150" cy="57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Shape 44"/>
          <p:cNvSpPr/>
          <p:nvPr/>
        </p:nvSpPr>
        <p:spPr>
          <a:xfrm>
            <a:off x="5659636" y="2436019"/>
            <a:ext cx="3378994" cy="557213"/>
          </a:xfrm>
          <a:prstGeom prst="roundRect">
            <a:avLst>
              <a:gd name="adj" fmla="val 8416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5659636" y="2436019"/>
            <a:ext cx="28575" cy="542925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5740003" y="2571750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B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161652" y="2592065"/>
            <a:ext cx="20288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f32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6161652" y="2736893"/>
            <a:ext cx="20288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5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 1 次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8270788" y="2546747"/>
            <a:ext cx="6715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0.895025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8415226" y="2732484"/>
            <a:ext cx="528638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隔离打包损失</a:t>
            </a:r>
            <a:endParaRPr lang="en-US" sz="500" dirty="0"/>
          </a:p>
        </p:txBody>
      </p:sp>
      <p:sp>
        <p:nvSpPr>
          <p:cNvPr id="55" name="Shape 51"/>
          <p:cNvSpPr/>
          <p:nvPr/>
        </p:nvSpPr>
        <p:spPr>
          <a:xfrm>
            <a:off x="5838230" y="3107531"/>
            <a:ext cx="3018234" cy="7144"/>
          </a:xfrm>
          <a:prstGeom prst="rect">
            <a:avLst/>
          </a:prstGeom>
          <a:solidFill>
            <a:srgbClr val="122033">
              <a:alpha val="13000"/>
            </a:srgbClr>
          </a:solidFill>
          <a:ln/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945455" y="3018234"/>
            <a:ext cx="807244" cy="178594"/>
          </a:xfrm>
          <a:prstGeom prst="roundRect">
            <a:avLst>
              <a:gd name="adj" fmla="val 64000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量化</a:t>
            </a:r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+0.000529</a:t>
            </a:r>
            <a:endParaRPr lang="en-US" sz="500" dirty="0"/>
          </a:p>
        </p:txBody>
      </p:sp>
      <p:sp>
        <p:nvSpPr>
          <p:cNvPr id="57" name="Shape 53"/>
          <p:cNvSpPr/>
          <p:nvPr/>
        </p:nvSpPr>
        <p:spPr>
          <a:xfrm rot="2700000">
            <a:off x="8743950" y="3086100"/>
            <a:ext cx="57150" cy="57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Shape 54"/>
          <p:cNvSpPr/>
          <p:nvPr/>
        </p:nvSpPr>
        <p:spPr>
          <a:xfrm>
            <a:off x="5659636" y="3221831"/>
            <a:ext cx="3378994" cy="557213"/>
          </a:xfrm>
          <a:prstGeom prst="roundRect">
            <a:avLst>
              <a:gd name="adj" fmla="val 8416"/>
            </a:avLst>
          </a:prstGeom>
          <a:solidFill>
            <a:srgbClr val="F4F6F9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5"/>
          <p:cNvSpPr/>
          <p:nvPr/>
        </p:nvSpPr>
        <p:spPr>
          <a:xfrm>
            <a:off x="5659636" y="3221831"/>
            <a:ext cx="28575" cy="542925"/>
          </a:xfrm>
          <a:prstGeom prst="rect">
            <a:avLst/>
          </a:prstGeom>
          <a:solidFill>
            <a:srgbClr val="122033"/>
          </a:solidFill>
          <a:ln/>
        </p:spPr>
        <p:txBody>
          <a:bodyPr/>
          <a:p/>
        </p:txBody>
      </p:sp>
      <p:sp>
        <p:nvSpPr>
          <p:cNvPr id="60" name="Text 56"/>
          <p:cNvSpPr/>
          <p:nvPr/>
        </p:nvSpPr>
        <p:spPr>
          <a:xfrm>
            <a:off x="5740003" y="3357562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6161652" y="3377878"/>
            <a:ext cx="20288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 f16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6161652" y="3522706"/>
            <a:ext cx="20288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5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 1 次</a:t>
            </a:r>
            <a:endParaRPr lang="en-US" sz="600" dirty="0"/>
          </a:p>
        </p:txBody>
      </p:sp>
      <p:sp>
        <p:nvSpPr>
          <p:cNvPr id="63" name="Text 59"/>
          <p:cNvSpPr/>
          <p:nvPr/>
        </p:nvSpPr>
        <p:spPr>
          <a:xfrm>
            <a:off x="8270788" y="3332559"/>
            <a:ext cx="6715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0.895555</a:t>
            </a:r>
            <a:endParaRPr lang="en-US" sz="1100" dirty="0"/>
          </a:p>
        </p:txBody>
      </p:sp>
      <p:sp>
        <p:nvSpPr>
          <p:cNvPr id="64" name="Text 60"/>
          <p:cNvSpPr/>
          <p:nvPr/>
        </p:nvSpPr>
        <p:spPr>
          <a:xfrm>
            <a:off x="8558101" y="3518297"/>
            <a:ext cx="385763" cy="150019"/>
          </a:xfrm>
          <a:prstGeom prst="roundRect">
            <a:avLst>
              <a:gd name="adj" fmla="val 76190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交付产物</a:t>
            </a:r>
            <a:endParaRPr lang="en-US" sz="500" dirty="0"/>
          </a:p>
        </p:txBody>
      </p:sp>
      <p:sp>
        <p:nvSpPr>
          <p:cNvPr id="65" name="Text 61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600" dirty="0"/>
          </a:p>
        </p:txBody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00000">
            <a:off x="8743950" y="2300288"/>
            <a:ext cx="57150" cy="57150"/>
          </a:xfrm>
          <a:prstGeom prst="rect">
            <a:avLst/>
          </a:prstGeom>
        </p:spPr>
      </p:pic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700000">
            <a:off x="8743950" y="3086100"/>
            <a:ext cx="57150" cy="57150"/>
          </a:xfrm>
          <a:prstGeom prst="rect">
            <a:avLst/>
          </a:prstGeom>
        </p:spPr>
      </p:pic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8029575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0294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1｜并行结构：先分清「算法慢」还是「被抢慢」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02945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先拆线程争抢，再谈算法优化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50994" y="564356"/>
            <a:ext cx="657225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9983" y="1518033"/>
            <a:ext cx="4993481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6854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14431" y="1638751"/>
            <a:ext cx="2807494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同一线程发生串行争抢，独立线程恢复时间重叠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4431" y="1803002"/>
            <a:ext cx="28074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硬件计算仅 59.96 ms，其余耗时来自同线程 CPU letterbox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324592" y="1639477"/>
            <a:ext cx="1114425" cy="271463"/>
          </a:xfrm>
          <a:prstGeom prst="roundRect">
            <a:avLst>
              <a:gd name="adj" fmla="val 26593"/>
            </a:avLst>
          </a:prstGeom>
          <a:solidFill>
            <a:srgbClr val="C9974D">
              <a:alpha val="1003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7D5A22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2.3×</a:t>
            </a:r>
            <a:pPr algn="l" indent="0" marL="0">
              <a:buNone/>
            </a:pPr>
            <a:r>
              <a:rPr lang="en-US" sz="900" dirty="0">
                <a:solidFill>
                  <a:srgbClr val="7D5A22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D5A22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28.60 → 12.23 ms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4375" y="1973503"/>
            <a:ext cx="485775" cy="4643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6"/>
              </a:lnSpc>
              <a:buNone/>
            </a:pPr>
            <a:r>
              <a:rPr lang="en-US" sz="6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NPU 线程 </a:t>
            </a:r>
            <a:pPr algn="l" indent="0" marL="0">
              <a:lnSpc>
                <a:spcPts val="923"/>
              </a:lnSpc>
              <a:spcBef>
                <a:spcPts val="113"/>
              </a:spcBef>
              <a:buNone/>
            </a:pPr>
            <a:r>
              <a:rPr lang="en-US" sz="6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串行占用 88.56 ms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64444" y="2155613"/>
            <a:ext cx="4857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同一线程</a:t>
            </a:r>
            <a:endParaRPr lang="en-US" sz="500" dirty="0"/>
          </a:p>
        </p:txBody>
      </p:sp>
      <p:sp>
        <p:nvSpPr>
          <p:cNvPr id="16" name="Shape 13"/>
          <p:cNvSpPr/>
          <p:nvPr/>
        </p:nvSpPr>
        <p:spPr>
          <a:xfrm>
            <a:off x="1808708" y="2119894"/>
            <a:ext cx="3629025" cy="171450"/>
          </a:xfrm>
          <a:prstGeom prst="roundRect">
            <a:avLst>
              <a:gd name="adj" fmla="val 44444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807871" y="2119894"/>
            <a:ext cx="2457450" cy="171450"/>
          </a:xfrm>
          <a:prstGeom prst="rect">
            <a:avLst/>
          </a:prstGeom>
          <a:solidFill>
            <a:srgbClr val="122033">
              <a:alpha val="8358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计算 · 59.96 ms</a:t>
            </a:r>
            <a:endParaRPr lang="en-US" sz="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8038" y="2291344"/>
            <a:ext cx="1171575" cy="171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39010" y="2159184"/>
            <a:ext cx="45720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等待 / 空转</a:t>
            </a:r>
            <a:endParaRPr lang="en-US" sz="400" dirty="0"/>
          </a:p>
        </p:txBody>
      </p:sp>
      <p:sp>
        <p:nvSpPr>
          <p:cNvPr id="20" name="Text 16"/>
          <p:cNvSpPr/>
          <p:nvPr/>
        </p:nvSpPr>
        <p:spPr>
          <a:xfrm>
            <a:off x="714375" y="2505824"/>
            <a:ext cx="485775" cy="4643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6"/>
              </a:lnSpc>
              <a:buNone/>
            </a:pPr>
            <a:r>
              <a:rPr lang="en-US" sz="6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独立线程 </a:t>
            </a:r>
            <a:pPr algn="l" indent="0" marL="0">
              <a:lnSpc>
                <a:spcPts val="923"/>
              </a:lnSpc>
              <a:spcBef>
                <a:spcPts val="113"/>
              </a:spcBef>
              <a:buNone/>
            </a:pPr>
            <a:r>
              <a:rPr lang="en-US" sz="6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阶段耗时可重叠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1264444" y="2591493"/>
            <a:ext cx="4857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1808429" y="2545059"/>
            <a:ext cx="2957513" cy="171450"/>
          </a:xfrm>
          <a:prstGeom prst="roundRect">
            <a:avLst>
              <a:gd name="adj" fmla="val 44444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808318" y="2545059"/>
            <a:ext cx="2457450" cy="171450"/>
          </a:xfrm>
          <a:prstGeom prst="rect">
            <a:avLst/>
          </a:prstGeom>
          <a:solidFill>
            <a:srgbClr val="122033">
              <a:alpha val="8358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59.96 ms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1264444" y="2805805"/>
            <a:ext cx="4857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500" dirty="0"/>
          </a:p>
        </p:txBody>
      </p:sp>
      <p:sp>
        <p:nvSpPr>
          <p:cNvPr id="25" name="Shape 21"/>
          <p:cNvSpPr/>
          <p:nvPr/>
        </p:nvSpPr>
        <p:spPr>
          <a:xfrm>
            <a:off x="1808429" y="2759371"/>
            <a:ext cx="2957513" cy="171450"/>
          </a:xfrm>
          <a:prstGeom prst="roundRect">
            <a:avLst>
              <a:gd name="adj" fmla="val 44444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1807369" y="2759371"/>
            <a:ext cx="500063" cy="171450"/>
          </a:xfrm>
          <a:prstGeom prst="rect">
            <a:avLst/>
          </a:prstGeom>
          <a:solidFill>
            <a:srgbClr val="4D8877">
              <a:alpha val="8358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12.23 ms</a:t>
            </a:r>
            <a:endParaRPr lang="en-US" sz="5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714" y="3082514"/>
            <a:ext cx="4722019" cy="78581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3383" y="3182527"/>
            <a:ext cx="17859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纯搬运 / 纯计算迁移：零差异证据已闭环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4438948" y="3168239"/>
            <a:ext cx="900113" cy="171450"/>
          </a:xfrm>
          <a:prstGeom prst="roundRect">
            <a:avLst>
              <a:gd name="adj" fmla="val 66667"/>
            </a:avLst>
          </a:prstGeom>
          <a:solidFill>
            <a:srgbClr val="4D8877">
              <a:alpha val="8358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FFFFF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等价性白送｜无需重验精度</a:t>
            </a:r>
            <a:endParaRPr lang="en-US" sz="500" dirty="0"/>
          </a:p>
        </p:txBody>
      </p:sp>
      <p:sp>
        <p:nvSpPr>
          <p:cNvPr id="30" name="Text 25"/>
          <p:cNvSpPr/>
          <p:nvPr/>
        </p:nvSpPr>
        <p:spPr>
          <a:xfrm>
            <a:off x="815950" y="3389695"/>
            <a:ext cx="1935956" cy="3929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5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heatmap + offset</a:t>
            </a:r>
            <a:pPr algn="ctr" indent="0" marL="0">
              <a:buNone/>
            </a:pPr>
            <a:r>
              <a:rPr lang="en-US" sz="900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1070/1070 逐字节一致</a:t>
            </a:r>
            <a:endParaRPr lang="en-US" sz="500" dirty="0"/>
          </a:p>
        </p:txBody>
      </p:sp>
      <p:sp>
        <p:nvSpPr>
          <p:cNvPr id="31" name="Text 26"/>
          <p:cNvSpPr/>
          <p:nvPr/>
        </p:nvSpPr>
        <p:spPr>
          <a:xfrm>
            <a:off x="2752911" y="3389695"/>
            <a:ext cx="1150144" cy="3929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5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TSV</a:t>
            </a:r>
            <a:pPr algn="ctr" indent="0" marL="0">
              <a:buNone/>
            </a:pPr>
            <a:r>
              <a:rPr lang="en-US" sz="900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行差异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3902720" y="3389695"/>
            <a:ext cx="1435894" cy="3929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5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 · 6 档</a:t>
            </a:r>
            <a:pPr algn="ctr" indent="0" marL="0">
              <a:buNone/>
            </a:pPr>
            <a:r>
              <a:rPr lang="en-US" sz="900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全为 d5e81977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5702052" y="1518033"/>
            <a:ext cx="2907506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6854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5839123" y="1638751"/>
            <a:ext cx="1000125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三级流水线收益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839123" y="1830907"/>
            <a:ext cx="10001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逐级释放性能，逼近理论天花板</a:t>
            </a:r>
            <a:endParaRPr lang="en-US" sz="500" dirty="0"/>
          </a:p>
        </p:txBody>
      </p:sp>
      <p:sp>
        <p:nvSpPr>
          <p:cNvPr id="36" name="Text 31"/>
          <p:cNvSpPr/>
          <p:nvPr/>
        </p:nvSpPr>
        <p:spPr>
          <a:xfrm>
            <a:off x="7843838" y="1639477"/>
            <a:ext cx="628650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1003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D5A22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算法慢还是被抢慢</a:t>
            </a:r>
            <a:endParaRPr lang="en-US" sz="400" dirty="0"/>
          </a:p>
        </p:txBody>
      </p:sp>
      <p:sp>
        <p:nvSpPr>
          <p:cNvPr id="37" name="Shape 32"/>
          <p:cNvSpPr/>
          <p:nvPr/>
        </p:nvSpPr>
        <p:spPr>
          <a:xfrm>
            <a:off x="8465344" y="2053870"/>
            <a:ext cx="7144" cy="1135856"/>
          </a:xfrm>
          <a:prstGeom prst="rect">
            <a:avLst/>
          </a:prstGeom>
          <a:solidFill>
            <a:srgbClr val="C9974D">
              <a:alpha val="4012"/>
            </a:srgbClr>
          </a:solidFill>
          <a:ln/>
        </p:spPr>
        <p:txBody>
          <a:bodyPr/>
          <a:p/>
        </p:txBody>
      </p:sp>
      <p:sp>
        <p:nvSpPr>
          <p:cNvPr id="38" name="Text 33"/>
          <p:cNvSpPr/>
          <p:nvPr/>
        </p:nvSpPr>
        <p:spPr>
          <a:xfrm>
            <a:off x="5839123" y="2450292"/>
            <a:ext cx="5143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2"/>
              </a:lnSpc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去落盘</a:t>
            </a:r>
            <a:endParaRPr lang="en-US" sz="500" dirty="0"/>
          </a:p>
        </p:txBody>
      </p:sp>
      <p:sp>
        <p:nvSpPr>
          <p:cNvPr id="39" name="Shape 34"/>
          <p:cNvSpPr/>
          <p:nvPr/>
        </p:nvSpPr>
        <p:spPr>
          <a:xfrm>
            <a:off x="6402139" y="2418145"/>
            <a:ext cx="1643062" cy="142875"/>
          </a:xfrm>
          <a:prstGeom prst="roundRect">
            <a:avLst>
              <a:gd name="adj" fmla="val 56000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4000" y="2418145"/>
            <a:ext cx="628650" cy="14287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093869" y="2446720"/>
            <a:ext cx="3786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5.74→8.16</a:t>
            </a:r>
            <a:endParaRPr lang="en-US" sz="600" dirty="0"/>
          </a:p>
        </p:txBody>
      </p:sp>
      <p:sp>
        <p:nvSpPr>
          <p:cNvPr id="42" name="Text 36"/>
          <p:cNvSpPr/>
          <p:nvPr/>
        </p:nvSpPr>
        <p:spPr>
          <a:xfrm>
            <a:off x="5839123" y="2650317"/>
            <a:ext cx="5143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2"/>
              </a:lnSpc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2 级</a:t>
            </a:r>
            <a:endParaRPr lang="en-US" sz="500" dirty="0"/>
          </a:p>
        </p:txBody>
      </p:sp>
      <p:sp>
        <p:nvSpPr>
          <p:cNvPr id="43" name="Shape 37"/>
          <p:cNvSpPr/>
          <p:nvPr/>
        </p:nvSpPr>
        <p:spPr>
          <a:xfrm>
            <a:off x="6402139" y="2618170"/>
            <a:ext cx="1643062" cy="142875"/>
          </a:xfrm>
          <a:prstGeom prst="roundRect">
            <a:avLst>
              <a:gd name="adj" fmla="val 56000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6076" y="2618170"/>
            <a:ext cx="1107281" cy="14287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093869" y="2646745"/>
            <a:ext cx="3786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10.15</a:t>
            </a:r>
            <a:endParaRPr lang="en-US" sz="600" dirty="0"/>
          </a:p>
        </p:txBody>
      </p:sp>
      <p:sp>
        <p:nvSpPr>
          <p:cNvPr id="46" name="Text 39"/>
          <p:cNvSpPr/>
          <p:nvPr/>
        </p:nvSpPr>
        <p:spPr>
          <a:xfrm>
            <a:off x="5839123" y="2850342"/>
            <a:ext cx="5143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2"/>
              </a:lnSpc>
              <a:buNone/>
            </a:pPr>
            <a:r>
              <a:rPr lang="en-US" sz="500" b="1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3 级</a:t>
            </a:r>
            <a:endParaRPr lang="en-US" sz="500" dirty="0"/>
          </a:p>
        </p:txBody>
      </p:sp>
      <p:sp>
        <p:nvSpPr>
          <p:cNvPr id="47" name="Shape 40"/>
          <p:cNvSpPr/>
          <p:nvPr/>
        </p:nvSpPr>
        <p:spPr>
          <a:xfrm>
            <a:off x="6402139" y="2818195"/>
            <a:ext cx="1643062" cy="142875"/>
          </a:xfrm>
          <a:prstGeom prst="roundRect">
            <a:avLst>
              <a:gd name="adj" fmla="val 56000"/>
            </a:avLst>
          </a:prstGeom>
          <a:solidFill>
            <a:srgbClr val="122033">
              <a:alpha val="460"/>
            </a:srgbClr>
          </a:solidFill>
          <a:ln/>
        </p:spPr>
        <p:txBody>
          <a:bodyPr/>
          <a:p/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71879" y="2818195"/>
            <a:ext cx="1535906" cy="14287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093869" y="2846770"/>
            <a:ext cx="3786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14.07</a:t>
            </a:r>
            <a:endParaRPr lang="en-US" sz="600" dirty="0"/>
          </a:p>
        </p:txBody>
      </p:sp>
      <p:sp>
        <p:nvSpPr>
          <p:cNvPr id="50" name="Text 42"/>
          <p:cNvSpPr/>
          <p:nvPr/>
        </p:nvSpPr>
        <p:spPr>
          <a:xfrm>
            <a:off x="5837783" y="3348563"/>
            <a:ext cx="2636044" cy="307181"/>
          </a:xfrm>
          <a:prstGeom prst="roundRect">
            <a:avLst>
              <a:gd name="adj" fmla="val 24229"/>
            </a:avLst>
          </a:prstGeom>
          <a:solidFill>
            <a:srgbClr val="4D8877">
              <a:alpha val="836"/>
            </a:srgbClr>
          </a:solidFill>
          <a:ln w="7144">
            <a:solidFill>
              <a:srgbClr val="4D8877">
                <a:alpha val="1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16F61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累计吞吐提升</a:t>
            </a:r>
            <a:pPr algn="l" indent="0" marL="0">
              <a:buNone/>
            </a:pPr>
            <a:r>
              <a:rPr lang="en-US" sz="900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4D8877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2.45×</a:t>
            </a:r>
            <a:endParaRPr lang="en-US" sz="500" dirty="0"/>
          </a:p>
        </p:txBody>
      </p:sp>
      <p:sp>
        <p:nvSpPr>
          <p:cNvPr id="51" name="Text 43"/>
          <p:cNvSpPr/>
          <p:nvPr/>
        </p:nvSpPr>
        <p:spPr>
          <a:xfrm>
            <a:off x="5837783" y="3719257"/>
            <a:ext cx="2636044" cy="1500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1"/>
              </a:lnSpc>
              <a:buNone/>
            </a:pPr>
            <a:r>
              <a:rPr lang="en-US" sz="4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硬地板｜rknn 60.77 + dequant 2.75 + peaks 0.35 ms</a:t>
            </a:r>
            <a:pPr algn="l" indent="0" marL="0">
              <a:lnSpc>
                <a:spcPts val="661"/>
              </a:lnSpc>
              <a:buNone/>
            </a:pPr>
            <a:r>
              <a:rPr lang="en-US" sz="400" dirty="0">
                <a:solidFill>
                  <a:srgbClr val="5A6879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61"/>
              </a:lnSpc>
              <a:buNone/>
            </a:pPr>
            <a:r>
              <a:rPr lang="en-US" sz="400" b="1" dirty="0">
                <a:solidFill>
                  <a:srgbClr val="122033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14.07 fps</a:t>
            </a:r>
            <a:endParaRPr lang="en-US" sz="400" dirty="0"/>
          </a:p>
        </p:txBody>
      </p:sp>
      <p:sp>
        <p:nvSpPr>
          <p:cNvPr id="52" name="Text 44"/>
          <p:cNvSpPr/>
          <p:nvPr/>
        </p:nvSpPr>
        <p:spPr>
          <a:xfrm>
            <a:off x="578644" y="4079081"/>
            <a:ext cx="8029575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600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644" y="564356"/>
            <a:ext cx="8029575" cy="785813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1808038" y="2291344"/>
            <a:ext cx="1171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DF8">
                    <a:alpha val="8358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letterbox · 28.60 ms</a:t>
            </a:r>
            <a:endParaRPr lang="en-US" sz="5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52911" y="3389695"/>
            <a:ext cx="1150144" cy="392906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02720" y="3389695"/>
            <a:ext cx="1435894" cy="392906"/>
          </a:xfrm>
          <a:prstGeom prst="rect">
            <a:avLst/>
          </a:prstGeom>
        </p:spPr>
      </p:pic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37783" y="3719257"/>
            <a:ext cx="2636044" cy="150019"/>
          </a:xfrm>
          <a:prstGeom prst="rect">
            <a:avLst/>
          </a:prstGeom>
        </p:spPr>
      </p:pic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8644" y="4079081"/>
            <a:ext cx="8029575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7986713" cy="892969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530089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843688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2｜从 demo 到“契约成立”：端到端库交付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200150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 ABI × 错误路径验证 × 跨架构交付 × 吞吐验收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6858" y="1457325"/>
            <a:ext cx="4521994" cy="2235994"/>
          </a:xfrm>
          <a:prstGeom prst="roundRect">
            <a:avLst>
              <a:gd name="adj" fmla="val 313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589" y="1578769"/>
            <a:ext cx="4250531" cy="4857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495" y="1750219"/>
            <a:ext cx="900113" cy="142875"/>
          </a:xfrm>
          <a:prstGeom prst="roundRect">
            <a:avLst>
              <a:gd name="adj" fmla="val 80000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1798048" y="1743075"/>
            <a:ext cx="1421606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跑通 ≠ 库契约成立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61197" y="1764506"/>
            <a:ext cx="10001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 ABI · 专门验证错误路径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714431" y="2135981"/>
            <a:ext cx="692944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端到端服务链路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4040181" y="2153841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丢帧点必须前移到 GMC 之下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713482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F1F4F8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相机队列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采集入口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1326952" y="2500313"/>
            <a:ext cx="114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40359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F8EEEE"/>
          </a:solidFill>
          <a:ln w="7144">
            <a:solidFill>
              <a:srgbClr val="9D4848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服务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A6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跨帧对齐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2053828" y="2500313"/>
            <a:ext cx="114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167235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特征缓冲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buffer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2780705" y="2500313"/>
            <a:ext cx="114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894112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122033"/>
          </a:solidFill>
          <a:ln w="7144">
            <a:solidFill>
              <a:srgbClr val="12203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NPU×2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双上下文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3507581" y="2500313"/>
            <a:ext cx="114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20988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热图缓冲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Heatmap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4234458" y="2500313"/>
            <a:ext cx="114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347865" y="2336006"/>
            <a:ext cx="614363" cy="471488"/>
          </a:xfrm>
          <a:prstGeom prst="roundRect">
            <a:avLst>
              <a:gd name="adj" fmla="val 10285"/>
            </a:avLst>
          </a:prstGeom>
          <a:solidFill>
            <a:srgbClr val="F1F4F8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结果交付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715268" y="2864644"/>
            <a:ext cx="2093119" cy="250031"/>
          </a:xfrm>
          <a:prstGeom prst="roundRect">
            <a:avLst>
              <a:gd name="adj" fmla="val 31347"/>
            </a:avLst>
          </a:prstGeom>
          <a:solidFill>
            <a:srgbClr val="9D4848">
              <a:alpha val="8000"/>
            </a:srgbClr>
          </a:solidFill>
          <a:ln w="7144">
            <a:solidFill>
              <a:srgbClr val="9D4848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784027" y="2921794"/>
            <a:ext cx="457200" cy="135731"/>
          </a:xfrm>
          <a:prstGeom prst="roundRect">
            <a:avLst>
              <a:gd name="adj" fmla="val 84211"/>
            </a:avLst>
          </a:prstGeom>
          <a:solidFill>
            <a:srgbClr val="9D484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丢 1 帧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1296591" y="2932509"/>
            <a:ext cx="4714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7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后续每帧失配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2867323" y="2864644"/>
            <a:ext cx="2093119" cy="250031"/>
          </a:xfrm>
          <a:prstGeom prst="roundRect">
            <a:avLst>
              <a:gd name="adj" fmla="val 31347"/>
            </a:avLst>
          </a:prstGeom>
          <a:solidFill>
            <a:srgbClr val="C9974D">
              <a:alpha val="9000"/>
            </a:srgbClr>
          </a:solidFill>
          <a:ln w="7144">
            <a:solidFill>
              <a:srgbClr val="C9974D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2936081" y="2921794"/>
            <a:ext cx="442912" cy="135731"/>
          </a:xfrm>
          <a:prstGeom prst="roundRect">
            <a:avLst>
              <a:gd name="adj" fmla="val 84211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跳 1 帧</a:t>
            </a:r>
            <a:endParaRPr lang="en-US" sz="500" dirty="0"/>
          </a:p>
        </p:txBody>
      </p:sp>
      <p:sp>
        <p:nvSpPr>
          <p:cNvPr id="33" name="Text 29"/>
          <p:cNvSpPr/>
          <p:nvPr/>
        </p:nvSpPr>
        <p:spPr>
          <a:xfrm>
            <a:off x="3434358" y="2932509"/>
            <a:ext cx="5500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D54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仅损失一次检测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714375" y="3200400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异常路径专项修复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4226868" y="3203972"/>
            <a:ext cx="735806" cy="128588"/>
          </a:xfrm>
          <a:prstGeom prst="roundRect">
            <a:avLst>
              <a:gd name="adj" fmla="val 88889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DEFECTS FIXED</a:t>
            </a:r>
            <a:endParaRPr lang="en-US" sz="500" dirty="0"/>
          </a:p>
        </p:txBody>
      </p:sp>
      <p:sp>
        <p:nvSpPr>
          <p:cNvPr id="36" name="Shape 32"/>
          <p:cNvSpPr/>
          <p:nvPr/>
        </p:nvSpPr>
        <p:spPr>
          <a:xfrm>
            <a:off x="712589" y="3378994"/>
            <a:ext cx="4250531" cy="192881"/>
          </a:xfrm>
          <a:prstGeom prst="roundRect">
            <a:avLst>
              <a:gd name="adj" fmla="val 52675"/>
            </a:avLst>
          </a:prstGeom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719733" y="3386137"/>
            <a:ext cx="2293144" cy="207169"/>
          </a:xfrm>
          <a:prstGeom prst="rect">
            <a:avLst/>
          </a:prstGeom>
          <a:solidFill>
            <a:srgbClr val="F1F4F8">
              <a:alpha val="7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Mat::operator= 浅拷贝</a:t>
            </a:r>
            <a:endParaRPr lang="en-US" sz="500" dirty="0"/>
          </a:p>
        </p:txBody>
      </p:sp>
      <p:sp>
        <p:nvSpPr>
          <p:cNvPr id="38" name="Text 34"/>
          <p:cNvSpPr/>
          <p:nvPr/>
        </p:nvSpPr>
        <p:spPr>
          <a:xfrm>
            <a:off x="3011091" y="3432572"/>
            <a:ext cx="1571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3168142" y="3386137"/>
            <a:ext cx="1785938" cy="207169"/>
          </a:xfrm>
          <a:prstGeom prst="rect">
            <a:avLst/>
          </a:prstGeom>
          <a:solidFill>
            <a:srgbClr val="9D4848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悬垂指针</a:t>
            </a:r>
            <a:endParaRPr lang="en-US" sz="500" dirty="0"/>
          </a:p>
        </p:txBody>
      </p:sp>
      <p:sp>
        <p:nvSpPr>
          <p:cNvPr id="40" name="Text 36"/>
          <p:cNvSpPr/>
          <p:nvPr/>
        </p:nvSpPr>
        <p:spPr>
          <a:xfrm>
            <a:off x="719733" y="3593306"/>
            <a:ext cx="2293144" cy="207169"/>
          </a:xfrm>
          <a:prstGeom prst="rect">
            <a:avLst/>
          </a:prstGeom>
          <a:solidFill>
            <a:srgbClr val="F1F4F8">
              <a:alpha val="7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config_defaults 漏 5 字段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3011091" y="3639741"/>
            <a:ext cx="1571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3168142" y="3593306"/>
            <a:ext cx="1785938" cy="207169"/>
          </a:xfrm>
          <a:prstGeom prst="rect">
            <a:avLst/>
          </a:prstGeom>
          <a:solidFill>
            <a:srgbClr val="9D4848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门限读取栈垃圾</a:t>
            </a:r>
            <a:endParaRPr lang="en-US" sz="500" dirty="0"/>
          </a:p>
        </p:txBody>
      </p:sp>
      <p:sp>
        <p:nvSpPr>
          <p:cNvPr id="43" name="Shape 39"/>
          <p:cNvSpPr/>
          <p:nvPr/>
        </p:nvSpPr>
        <p:spPr>
          <a:xfrm>
            <a:off x="5223867" y="1457325"/>
            <a:ext cx="3343275" cy="2235994"/>
          </a:xfrm>
          <a:prstGeom prst="roundRect">
            <a:avLst>
              <a:gd name="adj" fmla="val 313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1023" y="1565151"/>
            <a:ext cx="3128963" cy="542925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423892" y="1629445"/>
            <a:ext cx="3786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跨架构交付</a:t>
            </a:r>
            <a:endParaRPr lang="en-US" sz="500" dirty="0"/>
          </a:p>
        </p:txBody>
      </p:sp>
      <p:sp>
        <p:nvSpPr>
          <p:cNvPr id="46" name="Text 41"/>
          <p:cNvSpPr/>
          <p:nvPr/>
        </p:nvSpPr>
        <p:spPr>
          <a:xfrm>
            <a:off x="8009316" y="1615157"/>
            <a:ext cx="357187" cy="135731"/>
          </a:xfrm>
          <a:prstGeom prst="roundRect">
            <a:avLst>
              <a:gd name="adj" fmla="val 84211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 ABI</a:t>
            </a:r>
            <a:endParaRPr lang="en-US" sz="500" dirty="0"/>
          </a:p>
        </p:txBody>
      </p:sp>
      <p:sp>
        <p:nvSpPr>
          <p:cNvPr id="47" name="Text 42"/>
          <p:cNvSpPr/>
          <p:nvPr/>
        </p:nvSpPr>
        <p:spPr>
          <a:xfrm>
            <a:off x="5423892" y="1779463"/>
            <a:ext cx="2943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libmosaic_pipeline.a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424283" y="1943770"/>
            <a:ext cx="257175" cy="114300"/>
          </a:xfrm>
          <a:prstGeom prst="roundRect">
            <a:avLst>
              <a:gd name="adj" fmla="val 100000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500" dirty="0"/>
          </a:p>
        </p:txBody>
      </p:sp>
      <p:sp>
        <p:nvSpPr>
          <p:cNvPr id="49" name="Text 44"/>
          <p:cNvSpPr/>
          <p:nvPr/>
        </p:nvSpPr>
        <p:spPr>
          <a:xfrm>
            <a:off x="5722367" y="1961629"/>
            <a:ext cx="42863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500" dirty="0"/>
          </a:p>
        </p:txBody>
      </p:sp>
      <p:sp>
        <p:nvSpPr>
          <p:cNvPr id="50" name="Text 45"/>
          <p:cNvSpPr/>
          <p:nvPr/>
        </p:nvSpPr>
        <p:spPr>
          <a:xfrm>
            <a:off x="5806864" y="1943770"/>
            <a:ext cx="371475" cy="114300"/>
          </a:xfrm>
          <a:prstGeom prst="roundRect">
            <a:avLst>
              <a:gd name="adj" fmla="val 100000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aarch64</a:t>
            </a:r>
            <a:endParaRPr lang="en-US" sz="500" dirty="0"/>
          </a:p>
        </p:txBody>
      </p:sp>
      <p:sp>
        <p:nvSpPr>
          <p:cNvPr id="51" name="Text 46"/>
          <p:cNvSpPr/>
          <p:nvPr/>
        </p:nvSpPr>
        <p:spPr>
          <a:xfrm>
            <a:off x="8079470" y="1947342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36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编译通过</a:t>
            </a:r>
            <a:endParaRPr lang="en-US" sz="500" dirty="0"/>
          </a:p>
        </p:txBody>
      </p:sp>
      <p:sp>
        <p:nvSpPr>
          <p:cNvPr id="52" name="Shape 47"/>
          <p:cNvSpPr/>
          <p:nvPr/>
        </p:nvSpPr>
        <p:spPr>
          <a:xfrm>
            <a:off x="5331023" y="2173709"/>
            <a:ext cx="3128963" cy="728663"/>
          </a:xfrm>
          <a:prstGeom prst="roundRect">
            <a:avLst>
              <a:gd name="adj" fmla="val 19685"/>
            </a:avLst>
          </a:prstGeom>
          <a:solidFill>
            <a:srgbClr val="C9974D">
              <a:alpha val="6700"/>
            </a:srgbClr>
          </a:solidFill>
          <a:ln w="7144">
            <a:solidFill>
              <a:srgbClr val="C9974D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48"/>
          <p:cNvSpPr/>
          <p:nvPr/>
        </p:nvSpPr>
        <p:spPr>
          <a:xfrm>
            <a:off x="5424394" y="2255862"/>
            <a:ext cx="7643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当前最优吞吐</a:t>
            </a:r>
            <a:endParaRPr lang="en-US" sz="500" dirty="0"/>
          </a:p>
        </p:txBody>
      </p:sp>
      <p:sp>
        <p:nvSpPr>
          <p:cNvPr id="54" name="Text 49"/>
          <p:cNvSpPr/>
          <p:nvPr/>
        </p:nvSpPr>
        <p:spPr>
          <a:xfrm>
            <a:off x="5424394" y="2370162"/>
            <a:ext cx="764381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56"/>
              </a:spcBef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14.838 </a:t>
            </a:r>
            <a:pPr algn="l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600" dirty="0"/>
          </a:p>
        </p:txBody>
      </p:sp>
      <p:sp>
        <p:nvSpPr>
          <p:cNvPr id="55" name="Text 50"/>
          <p:cNvSpPr/>
          <p:nvPr/>
        </p:nvSpPr>
        <p:spPr>
          <a:xfrm>
            <a:off x="7959142" y="2320156"/>
            <a:ext cx="407194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97.2%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7959142" y="2484462"/>
            <a:ext cx="4071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硬件占用</a:t>
            </a:r>
            <a:endParaRPr lang="en-US" sz="500" dirty="0"/>
          </a:p>
        </p:txBody>
      </p:sp>
      <p:sp>
        <p:nvSpPr>
          <p:cNvPr id="57" name="Shape 52"/>
          <p:cNvSpPr/>
          <p:nvPr/>
        </p:nvSpPr>
        <p:spPr>
          <a:xfrm>
            <a:off x="5423892" y="2641625"/>
            <a:ext cx="2943225" cy="50006"/>
          </a:xfrm>
          <a:prstGeom prst="roundRect">
            <a:avLst>
              <a:gd name="adj" fmla="val 228573"/>
            </a:avLst>
          </a:prstGeom>
          <a:solidFill>
            <a:srgbClr val="DFE3E8"/>
          </a:solidFill>
          <a:ln/>
        </p:spPr>
        <p:txBody>
          <a:bodyPr/>
          <a:p/>
        </p:txBody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5567" y="2641625"/>
            <a:ext cx="2857500" cy="50006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5423892" y="2727350"/>
            <a:ext cx="294322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已接近饱和</a:t>
            </a:r>
            <a:pPr algn="l" indent="0" marL="0">
              <a:spcBef>
                <a:spcPts val="281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≈ 15.3–15.6 fps</a:t>
            </a:r>
            <a:endParaRPr lang="en-US" sz="500" dirty="0"/>
          </a:p>
        </p:txBody>
      </p:sp>
      <p:sp>
        <p:nvSpPr>
          <p:cNvPr id="60" name="Shape 54"/>
          <p:cNvSpPr/>
          <p:nvPr/>
        </p:nvSpPr>
        <p:spPr>
          <a:xfrm>
            <a:off x="5331023" y="2965940"/>
            <a:ext cx="3128963" cy="621506"/>
          </a:xfrm>
          <a:prstGeom prst="roundRect">
            <a:avLst>
              <a:gd name="adj" fmla="val 6764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5"/>
          <p:cNvSpPr/>
          <p:nvPr/>
        </p:nvSpPr>
        <p:spPr>
          <a:xfrm>
            <a:off x="5423892" y="3012430"/>
            <a:ext cx="2943225" cy="17859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核心性能杠杆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06"/>
              </a:lnSpc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1.84×</a:t>
            </a:r>
            <a:endParaRPr lang="en-US" sz="500" dirty="0"/>
          </a:p>
        </p:txBody>
      </p:sp>
      <p:sp>
        <p:nvSpPr>
          <p:cNvPr id="62" name="Text 56"/>
          <p:cNvSpPr/>
          <p:nvPr/>
        </p:nvSpPr>
        <p:spPr>
          <a:xfrm>
            <a:off x="6399014" y="3233886"/>
            <a:ext cx="385763" cy="164306"/>
          </a:xfrm>
          <a:prstGeom prst="roundRect">
            <a:avLst>
              <a:gd name="adj" fmla="val 6049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×1</a:t>
            </a:r>
            <a:endParaRPr lang="en-US" sz="500" dirty="0"/>
          </a:p>
        </p:txBody>
      </p:sp>
      <p:sp>
        <p:nvSpPr>
          <p:cNvPr id="63" name="Text 57"/>
          <p:cNvSpPr/>
          <p:nvPr/>
        </p:nvSpPr>
        <p:spPr>
          <a:xfrm>
            <a:off x="6849070" y="3255318"/>
            <a:ext cx="1071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7020520" y="3241030"/>
            <a:ext cx="371475" cy="150019"/>
          </a:xfrm>
          <a:prstGeom prst="roundRect">
            <a:avLst>
              <a:gd name="adj" fmla="val 72562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×2</a:t>
            </a:r>
            <a:endParaRPr lang="en-US" sz="500" dirty="0"/>
          </a:p>
        </p:txBody>
      </p:sp>
      <p:sp>
        <p:nvSpPr>
          <p:cNvPr id="65" name="Text 59"/>
          <p:cNvSpPr/>
          <p:nvPr/>
        </p:nvSpPr>
        <p:spPr>
          <a:xfrm>
            <a:off x="5423892" y="3441055"/>
            <a:ext cx="294322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8"/>
              </a:spcBef>
              <a:buNone/>
            </a:pPr>
            <a:r>
              <a:rPr lang="en-US" sz="600" b="1" dirty="0">
                <a:solidFill>
                  <a:srgbClr val="7D5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7.984 → 14.654 fps</a:t>
            </a:r>
            <a:endParaRPr lang="en-US" sz="600" dirty="0"/>
          </a:p>
        </p:txBody>
      </p:sp>
      <p:sp>
        <p:nvSpPr>
          <p:cNvPr id="66" name="Shape 60"/>
          <p:cNvSpPr/>
          <p:nvPr/>
        </p:nvSpPr>
        <p:spPr>
          <a:xfrm>
            <a:off x="578644" y="3764756"/>
            <a:ext cx="7986713" cy="307181"/>
          </a:xfrm>
          <a:prstGeom prst="roundRect">
            <a:avLst>
              <a:gd name="adj" fmla="val 27691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1450" dist="71438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7" name="Text 61"/>
          <p:cNvSpPr/>
          <p:nvPr/>
        </p:nvSpPr>
        <p:spPr>
          <a:xfrm>
            <a:off x="679270" y="3843338"/>
            <a:ext cx="385763" cy="150019"/>
          </a:xfrm>
          <a:prstGeom prst="roundRect">
            <a:avLst>
              <a:gd name="adj" fmla="val 76190"/>
            </a:avLst>
          </a:prstGeom>
          <a:solidFill>
            <a:srgbClr val="F8FAFC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性能瓶颈</a:t>
            </a:r>
            <a:endParaRPr lang="en-US" sz="500" dirty="0"/>
          </a:p>
        </p:txBody>
      </p:sp>
      <p:sp>
        <p:nvSpPr>
          <p:cNvPr id="68" name="Text 62"/>
          <p:cNvSpPr/>
          <p:nvPr/>
        </p:nvSpPr>
        <p:spPr>
          <a:xfrm>
            <a:off x="1138033" y="3861197"/>
            <a:ext cx="7358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线程同线程串行</a:t>
            </a:r>
            <a:endParaRPr lang="en-US" sz="600" dirty="0"/>
          </a:p>
        </p:txBody>
      </p:sp>
      <p:sp>
        <p:nvSpPr>
          <p:cNvPr id="69" name="Text 63"/>
          <p:cNvSpPr/>
          <p:nvPr/>
        </p:nvSpPr>
        <p:spPr>
          <a:xfrm>
            <a:off x="1946225" y="3857625"/>
            <a:ext cx="342900" cy="121444"/>
          </a:xfrm>
          <a:prstGeom prst="roundRect">
            <a:avLst>
              <a:gd name="adj" fmla="val 66436"/>
            </a:avLst>
          </a:prstGeom>
          <a:solidFill>
            <a:srgbClr val="F8FAFC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DB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500" dirty="0"/>
          </a:p>
        </p:txBody>
      </p:sp>
      <p:sp>
        <p:nvSpPr>
          <p:cNvPr id="70" name="Text 64"/>
          <p:cNvSpPr/>
          <p:nvPr/>
        </p:nvSpPr>
        <p:spPr>
          <a:xfrm>
            <a:off x="2360563" y="3861197"/>
            <a:ext cx="785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endParaRPr lang="en-US" sz="600" dirty="0"/>
          </a:p>
        </p:txBody>
      </p:sp>
      <p:sp>
        <p:nvSpPr>
          <p:cNvPr id="71" name="Text 65"/>
          <p:cNvSpPr/>
          <p:nvPr/>
        </p:nvSpPr>
        <p:spPr>
          <a:xfrm>
            <a:off x="2510582" y="3857625"/>
            <a:ext cx="428625" cy="121444"/>
          </a:xfrm>
          <a:prstGeom prst="roundRect">
            <a:avLst>
              <a:gd name="adj" fmla="val 66436"/>
            </a:avLst>
          </a:prstGeom>
          <a:solidFill>
            <a:srgbClr val="F8FAFC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DB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rknn_run</a:t>
            </a:r>
            <a:endParaRPr lang="en-US" sz="500" dirty="0"/>
          </a:p>
        </p:txBody>
      </p:sp>
      <p:sp>
        <p:nvSpPr>
          <p:cNvPr id="72" name="Text 66"/>
          <p:cNvSpPr/>
          <p:nvPr/>
        </p:nvSpPr>
        <p:spPr>
          <a:xfrm>
            <a:off x="3010867" y="3861197"/>
            <a:ext cx="2571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抢核 ⇒</a:t>
            </a:r>
            <a:endParaRPr lang="en-US" sz="600" dirty="0"/>
          </a:p>
        </p:txBody>
      </p:sp>
      <p:sp>
        <p:nvSpPr>
          <p:cNvPr id="73" name="Text 67"/>
          <p:cNvSpPr/>
          <p:nvPr/>
        </p:nvSpPr>
        <p:spPr>
          <a:xfrm>
            <a:off x="3340484" y="3854053"/>
            <a:ext cx="821531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0C9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130.98 ms/帧/线程</a:t>
            </a:r>
            <a:endParaRPr lang="en-US" sz="600" dirty="0"/>
          </a:p>
        </p:txBody>
      </p:sp>
      <p:sp>
        <p:nvSpPr>
          <p:cNvPr id="74" name="Text 68"/>
          <p:cNvSpPr/>
          <p:nvPr/>
        </p:nvSpPr>
        <p:spPr>
          <a:xfrm>
            <a:off x="7500938" y="3836194"/>
            <a:ext cx="964406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2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0C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后续优化：上传与推理并行化</a:t>
            </a:r>
            <a:endParaRPr lang="en-US" sz="500" dirty="0"/>
          </a:p>
        </p:txBody>
      </p:sp>
      <p:sp>
        <p:nvSpPr>
          <p:cNvPr id="75" name="Text 69"/>
          <p:cNvSpPr/>
          <p:nvPr/>
        </p:nvSpPr>
        <p:spPr>
          <a:xfrm>
            <a:off x="578644" y="4071938"/>
            <a:ext cx="7986713" cy="50720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600" dirty="0"/>
          </a:p>
        </p:txBody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644" y="564356"/>
            <a:ext cx="7986713" cy="892969"/>
          </a:xfrm>
          <a:prstGeom prst="rect">
            <a:avLst/>
          </a:prstGeom>
        </p:spPr>
      </p:pic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644" y="4071938"/>
            <a:ext cx="7986713" cy="5072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8029575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0294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遗留问题：两条战线各剩什么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02945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当前瓶颈已从“能否跑通”转为“前提是否成立、吞吐是否触顶、结果能否复现”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50994" y="564356"/>
            <a:ext cx="657225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15/19</a:t>
            </a:r>
            <a:endParaRPr lang="en-US" sz="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974" y="1479259"/>
            <a:ext cx="3293269" cy="24003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7974" y="1593559"/>
            <a:ext cx="21431" cy="2158420"/>
          </a:xfrm>
          <a:prstGeom prst="rect">
            <a:avLst/>
          </a:prstGeom>
          <a:solidFill>
            <a:srgbClr val="C39A4E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14375" y="1600200"/>
            <a:ext cx="200025" cy="200025"/>
          </a:xfrm>
          <a:prstGeom prst="roundRect">
            <a:avLst>
              <a:gd name="adj" fmla="val 36735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978694" y="1625203"/>
            <a:ext cx="53578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性能与锚定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92612" y="1618059"/>
            <a:ext cx="342900" cy="164306"/>
          </a:xfrm>
          <a:prstGeom prst="roundRect">
            <a:avLst>
              <a:gd name="adj" fmla="val 69565"/>
            </a:avLst>
          </a:prstGeom>
          <a:solidFill>
            <a:srgbClr val="B6423F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</a:t>
            </a:r>
            <a:endParaRPr lang="en-US" sz="500" dirty="0"/>
          </a:p>
        </p:txBody>
      </p:sp>
      <p:sp>
        <p:nvSpPr>
          <p:cNvPr id="15" name="Shape 11"/>
          <p:cNvSpPr/>
          <p:nvPr/>
        </p:nvSpPr>
        <p:spPr>
          <a:xfrm>
            <a:off x="3392612" y="1618059"/>
            <a:ext cx="42863" cy="42863"/>
          </a:xfrm>
          <a:prstGeom prst="rect">
            <a:avLst/>
          </a:prstGeom>
          <a:solidFill>
            <a:srgbClr val="B6423F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13705" y="1865468"/>
            <a:ext cx="3021806" cy="771525"/>
          </a:xfrm>
          <a:prstGeom prst="roundRect">
            <a:avLst>
              <a:gd name="adj" fmla="val 13169"/>
            </a:avLst>
          </a:prstGeom>
          <a:solidFill>
            <a:srgbClr val="F6F8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92287" y="1935956"/>
            <a:ext cx="2864644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pPr algn="l" indent="0" marL="0">
              <a:spcAft>
                <a:spcPts val="225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零丢帧等价前提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792287" y="2070236"/>
            <a:ext cx="286464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dropped</a:t>
            </a:r>
            <a:pPr algn="l" indent="0" marL="0">
              <a:buNone/>
            </a:pPr>
            <a:r>
              <a:rPr lang="en-US" sz="6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== 0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2287" y="2283712"/>
            <a:ext cx="28646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消费序号与物理帧号必须保持严格等价。</a:t>
            </a:r>
            <a:endParaRPr lang="en-US" sz="500" dirty="0"/>
          </a:p>
        </p:txBody>
      </p:sp>
      <p:sp>
        <p:nvSpPr>
          <p:cNvPr id="20" name="Text 16"/>
          <p:cNvSpPr/>
          <p:nvPr/>
        </p:nvSpPr>
        <p:spPr>
          <a:xfrm>
            <a:off x="792287" y="2418271"/>
            <a:ext cx="2864644" cy="150019"/>
          </a:xfrm>
          <a:prstGeom prst="roundRect">
            <a:avLst>
              <a:gd name="adj" fmla="val 50794"/>
            </a:avLst>
          </a:prstGeom>
          <a:solidFill>
            <a:srgbClr val="B6423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3"/>
              </a:lnSpc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934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深缓冲不能替代零丢帧前提</a:t>
            </a:r>
            <a:endParaRPr lang="en-US" sz="500" dirty="0"/>
          </a:p>
        </p:txBody>
      </p:sp>
      <p:sp>
        <p:nvSpPr>
          <p:cNvPr id="21" name="Shape 17"/>
          <p:cNvSpPr/>
          <p:nvPr/>
        </p:nvSpPr>
        <p:spPr>
          <a:xfrm>
            <a:off x="713705" y="2701342"/>
            <a:ext cx="3021806" cy="914400"/>
          </a:xfrm>
          <a:prstGeom prst="roundRect">
            <a:avLst>
              <a:gd name="adj" fmla="val 9375"/>
            </a:avLst>
          </a:prstGeom>
          <a:solidFill>
            <a:srgbClr val="F6F8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792287" y="2773673"/>
            <a:ext cx="2864644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pPr algn="l" indent="0" marL="0">
              <a:spcAft>
                <a:spcPts val="225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吞吐红线</a:t>
            </a:r>
            <a:endParaRPr lang="en-US" sz="500" dirty="0"/>
          </a:p>
        </p:txBody>
      </p:sp>
      <p:sp>
        <p:nvSpPr>
          <p:cNvPr id="23" name="Text 19"/>
          <p:cNvSpPr/>
          <p:nvPr/>
        </p:nvSpPr>
        <p:spPr>
          <a:xfrm>
            <a:off x="792287" y="2907953"/>
            <a:ext cx="286464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</a:t>
            </a:r>
            <a:pPr algn="l" indent="0" marL="0">
              <a:buNone/>
            </a:pPr>
            <a:r>
              <a:rPr lang="en-US" sz="6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&gt; 40 ms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92956" y="3135102"/>
            <a:ext cx="45005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7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step10</a:t>
            </a:r>
            <a:endParaRPr lang="en-US" sz="500" dirty="0"/>
          </a:p>
        </p:txBody>
      </p:sp>
      <p:sp>
        <p:nvSpPr>
          <p:cNvPr id="25" name="Shape 21"/>
          <p:cNvSpPr/>
          <p:nvPr/>
        </p:nvSpPr>
        <p:spPr>
          <a:xfrm>
            <a:off x="1285205" y="3145817"/>
            <a:ext cx="2000250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  <p:txBody>
          <a:bodyPr/>
          <a:p/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5205" y="3145817"/>
            <a:ext cx="2000250" cy="5000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327648" y="3135102"/>
            <a:ext cx="328613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792956" y="3249402"/>
            <a:ext cx="45005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7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相机率</a:t>
            </a:r>
            <a:endParaRPr lang="en-US" sz="500" dirty="0"/>
          </a:p>
        </p:txBody>
      </p:sp>
      <p:sp>
        <p:nvSpPr>
          <p:cNvPr id="29" name="Shape 24"/>
          <p:cNvSpPr/>
          <p:nvPr/>
        </p:nvSpPr>
        <p:spPr>
          <a:xfrm>
            <a:off x="1285205" y="3270833"/>
            <a:ext cx="2000250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  <p:txBody>
          <a:bodyPr/>
          <a:p/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4703" y="3270833"/>
            <a:ext cx="1321594" cy="5000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327648" y="3260117"/>
            <a:ext cx="328613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40.0</a:t>
            </a:r>
            <a:endParaRPr lang="en-US" sz="500" dirty="0"/>
          </a:p>
        </p:txBody>
      </p:sp>
      <p:sp>
        <p:nvSpPr>
          <p:cNvPr id="32" name="Text 26"/>
          <p:cNvSpPr/>
          <p:nvPr/>
        </p:nvSpPr>
        <p:spPr>
          <a:xfrm>
            <a:off x="792287" y="3370845"/>
            <a:ext cx="28646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5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step2 差距约 4×，仍未达实时红线</a:t>
            </a:r>
            <a:endParaRPr lang="en-US" sz="500" dirty="0"/>
          </a:p>
        </p:txBody>
      </p:sp>
      <p:sp>
        <p:nvSpPr>
          <p:cNvPr id="33" name="Text 27"/>
          <p:cNvSpPr/>
          <p:nvPr/>
        </p:nvSpPr>
        <p:spPr>
          <a:xfrm>
            <a:off x="713705" y="3615296"/>
            <a:ext cx="3021806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未闭环：</a:t>
            </a:r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零丢帧前提尚未被严格保证，性能优化不能绕过锚定条件。</a:t>
            </a:r>
            <a:endParaRPr lang="en-US" sz="5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9663" y="1479259"/>
            <a:ext cx="4607719" cy="24003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999663" y="1593559"/>
            <a:ext cx="21431" cy="2158420"/>
          </a:xfrm>
          <a:prstGeom prst="rect">
            <a:avLst/>
          </a:prstGeom>
          <a:solidFill>
            <a:srgbClr val="5F83A7"/>
          </a:solidFill>
          <a:ln/>
        </p:spPr>
        <p:txBody>
          <a:bodyPr/>
          <a:p/>
        </p:txBody>
      </p:sp>
      <p:sp>
        <p:nvSpPr>
          <p:cNvPr id="36" name="Text 29"/>
          <p:cNvSpPr/>
          <p:nvPr/>
        </p:nvSpPr>
        <p:spPr>
          <a:xfrm>
            <a:off x="4134892" y="1600200"/>
            <a:ext cx="200025" cy="200025"/>
          </a:xfrm>
          <a:prstGeom prst="roundRect">
            <a:avLst>
              <a:gd name="adj" fmla="val 36735"/>
            </a:avLst>
          </a:prstGeom>
          <a:solidFill>
            <a:srgbClr val="376FA3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76F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4399211" y="1625203"/>
            <a:ext cx="75009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吞吐上限与迁移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8057145" y="1618059"/>
            <a:ext cx="414338" cy="164306"/>
          </a:xfrm>
          <a:prstGeom prst="roundRect">
            <a:avLst>
              <a:gd name="adj" fmla="val 69565"/>
            </a:avLst>
          </a:prstGeom>
          <a:solidFill>
            <a:srgbClr val="B56D24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500" dirty="0"/>
          </a:p>
        </p:txBody>
      </p:sp>
      <p:sp>
        <p:nvSpPr>
          <p:cNvPr id="39" name="Shape 32"/>
          <p:cNvSpPr/>
          <p:nvPr/>
        </p:nvSpPr>
        <p:spPr>
          <a:xfrm>
            <a:off x="8057145" y="1618059"/>
            <a:ext cx="42863" cy="42863"/>
          </a:xfrm>
          <a:prstGeom prst="rect">
            <a:avLst/>
          </a:prstGeom>
          <a:solidFill>
            <a:srgbClr val="B56D24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4134613" y="1863682"/>
            <a:ext cx="1693069" cy="728663"/>
          </a:xfrm>
          <a:prstGeom prst="roundRect">
            <a:avLst>
              <a:gd name="adj" fmla="val 14764"/>
            </a:avLst>
          </a:prstGeom>
          <a:solidFill>
            <a:srgbClr val="F6F8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4213194" y="1935956"/>
            <a:ext cx="1535906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pPr algn="l" indent="0" marL="0">
              <a:spcAft>
                <a:spcPts val="225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有效吞吐天花板</a:t>
            </a:r>
            <a:endParaRPr lang="en-US" sz="500" dirty="0"/>
          </a:p>
        </p:txBody>
      </p:sp>
      <p:sp>
        <p:nvSpPr>
          <p:cNvPr id="42" name="Text 35"/>
          <p:cNvSpPr/>
          <p:nvPr/>
        </p:nvSpPr>
        <p:spPr>
          <a:xfrm>
            <a:off x="4213194" y="2070236"/>
            <a:ext cx="1535906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14.838</a:t>
            </a:r>
            <a:pPr algn="l" indent="0" marL="0">
              <a:buNone/>
            </a:pPr>
            <a:r>
              <a:rPr lang="en-US" sz="6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4213194" y="2283712"/>
            <a:ext cx="15359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上限约 15.3–15.6 fps；17.51 fps 已作废。</a:t>
            </a:r>
            <a:endParaRPr lang="en-US" sz="500" dirty="0"/>
          </a:p>
        </p:txBody>
      </p:sp>
      <p:sp>
        <p:nvSpPr>
          <p:cNvPr id="44" name="Text 37"/>
          <p:cNvSpPr/>
          <p:nvPr/>
        </p:nvSpPr>
        <p:spPr>
          <a:xfrm>
            <a:off x="4213473" y="2427201"/>
            <a:ext cx="45005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7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占用率</a:t>
            </a:r>
            <a:endParaRPr lang="en-US" sz="500" dirty="0"/>
          </a:p>
        </p:txBody>
      </p:sp>
      <p:sp>
        <p:nvSpPr>
          <p:cNvPr id="45" name="Shape 38"/>
          <p:cNvSpPr/>
          <p:nvPr/>
        </p:nvSpPr>
        <p:spPr>
          <a:xfrm>
            <a:off x="4706113" y="2448632"/>
            <a:ext cx="671513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  <p:txBody>
          <a:bodyPr/>
          <a:p/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07341" y="2448632"/>
            <a:ext cx="650081" cy="5000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420209" y="2437916"/>
            <a:ext cx="328613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97.2%</a:t>
            </a:r>
            <a:endParaRPr lang="en-US" sz="500" dirty="0"/>
          </a:p>
        </p:txBody>
      </p:sp>
      <p:sp>
        <p:nvSpPr>
          <p:cNvPr id="48" name="Shape 40"/>
          <p:cNvSpPr/>
          <p:nvPr/>
        </p:nvSpPr>
        <p:spPr>
          <a:xfrm>
            <a:off x="5898114" y="1863682"/>
            <a:ext cx="1178719" cy="728663"/>
          </a:xfrm>
          <a:prstGeom prst="roundRect">
            <a:avLst>
              <a:gd name="adj" fmla="val 14764"/>
            </a:avLst>
          </a:prstGeom>
          <a:solidFill>
            <a:srgbClr val="F6F8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5976696" y="1935956"/>
            <a:ext cx="1021556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pPr algn="l" indent="0" marL="0">
              <a:spcAft>
                <a:spcPts val="225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离线测速偏差</a:t>
            </a:r>
            <a:endParaRPr lang="en-US" sz="500" dirty="0"/>
          </a:p>
        </p:txBody>
      </p:sp>
      <p:sp>
        <p:nvSpPr>
          <p:cNvPr id="50" name="Text 42"/>
          <p:cNvSpPr/>
          <p:nvPr/>
        </p:nvSpPr>
        <p:spPr>
          <a:xfrm>
            <a:off x="5976696" y="2070236"/>
            <a:ext cx="1021556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1.78×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5976696" y="2284326"/>
            <a:ext cx="1021556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离线测速低估在线有效吞吐，不能代表真实表现。</a:t>
            </a:r>
            <a:endParaRPr lang="en-US" sz="500" dirty="0"/>
          </a:p>
        </p:txBody>
      </p:sp>
      <p:sp>
        <p:nvSpPr>
          <p:cNvPr id="52" name="Shape 44"/>
          <p:cNvSpPr/>
          <p:nvPr/>
        </p:nvSpPr>
        <p:spPr>
          <a:xfrm>
            <a:off x="7149052" y="1863682"/>
            <a:ext cx="1321594" cy="728663"/>
          </a:xfrm>
          <a:prstGeom prst="roundRect">
            <a:avLst>
              <a:gd name="adj" fmla="val 14764"/>
            </a:avLst>
          </a:prstGeom>
          <a:solidFill>
            <a:srgbClr val="F6F8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45"/>
          <p:cNvSpPr/>
          <p:nvPr/>
        </p:nvSpPr>
        <p:spPr>
          <a:xfrm>
            <a:off x="7227633" y="1935956"/>
            <a:ext cx="1164431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pPr algn="l" indent="0" marL="0">
              <a:spcAft>
                <a:spcPts val="225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场景迁移覆盖</a:t>
            </a:r>
            <a:endParaRPr lang="en-US" sz="500" dirty="0"/>
          </a:p>
        </p:txBody>
      </p:sp>
      <p:sp>
        <p:nvSpPr>
          <p:cNvPr id="54" name="Text 46"/>
          <p:cNvSpPr/>
          <p:nvPr/>
        </p:nvSpPr>
        <p:spPr>
          <a:xfrm>
            <a:off x="7225122" y="2071688"/>
            <a:ext cx="228600" cy="2071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6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algn="l" indent="0" marL="0">
              <a:buNone/>
            </a:pPr>
            <a:r>
              <a:rPr lang="en-US" sz="900" b="1" dirty="0">
                <a:solidFill>
                  <a:srgbClr val="9A7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buNone/>
            </a:pPr>
            <a:r>
              <a:rPr lang="en-US" sz="6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7227633" y="2308659"/>
            <a:ext cx="1164431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Skill 仅跑通 1 个场景，尚无领域迁移 SOP。</a:t>
            </a:r>
            <a:endParaRPr lang="en-US" sz="500" dirty="0"/>
          </a:p>
        </p:txBody>
      </p:sp>
      <p:sp>
        <p:nvSpPr>
          <p:cNvPr id="56" name="Text 48"/>
          <p:cNvSpPr/>
          <p:nvPr/>
        </p:nvSpPr>
        <p:spPr>
          <a:xfrm>
            <a:off x="4135394" y="3615296"/>
            <a:ext cx="4336256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未闭环：</a:t>
            </a:r>
            <a:pPr algn="l" indent="0" marL="0">
              <a:lnSpc>
                <a:spcPts val="738"/>
              </a:lnSpc>
              <a:spcBef>
                <a:spcPts val="8058"/>
              </a:spcBef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吞吐接近饱和，但在线测速与场景可复制性仍不可信。</a:t>
            </a:r>
            <a:endParaRPr lang="en-US" sz="500" dirty="0"/>
          </a:p>
        </p:txBody>
      </p:sp>
      <p:sp>
        <p:nvSpPr>
          <p:cNvPr id="57" name="Shape 49"/>
          <p:cNvSpPr/>
          <p:nvPr/>
        </p:nvSpPr>
        <p:spPr>
          <a:xfrm>
            <a:off x="579760" y="3278981"/>
            <a:ext cx="5264944" cy="1085850"/>
          </a:xfrm>
          <a:prstGeom prst="roundRect">
            <a:avLst>
              <a:gd name="adj" fmla="val 1329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" name="Shape 50"/>
          <p:cNvSpPr/>
          <p:nvPr/>
        </p:nvSpPr>
        <p:spPr>
          <a:xfrm>
            <a:off x="714375" y="3418284"/>
            <a:ext cx="57150" cy="57150"/>
          </a:xfrm>
          <a:prstGeom prst="ellipse">
            <a:avLst/>
          </a:prstGeom>
          <a:solidFill>
            <a:srgbClr val="B6423F"/>
          </a:solidFill>
          <a:ln/>
          <a:effectLst>
            <a:outerShdw sx="100000" sy="100000" kx="0" ky="0" algn="bl" rotWithShape="0" blurRad="101600" dist="50800" dir="16200000">
              <a:srgbClr val="B6423F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59" name="Text 51"/>
          <p:cNvSpPr/>
          <p:nvPr/>
        </p:nvSpPr>
        <p:spPr>
          <a:xfrm>
            <a:off x="821531" y="3407569"/>
            <a:ext cx="1604442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历史锚定缺陷：消费计数 ≠ 物理帧号</a:t>
            </a:r>
            <a:endParaRPr lang="en-US" sz="600" dirty="0"/>
          </a:p>
        </p:txBody>
      </p:sp>
      <p:sp>
        <p:nvSpPr>
          <p:cNvPr id="60" name="Text 52"/>
          <p:cNvSpPr/>
          <p:nvPr/>
        </p:nvSpPr>
        <p:spPr>
          <a:xfrm>
            <a:off x="712645" y="3664744"/>
            <a:ext cx="2707481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历史锚定使用 </a:t>
            </a:r>
            <a:pPr algn="l" indent="0" marL="0">
              <a:lnSpc>
                <a:spcPts val="82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abs_counter</a:t>
            </a:r>
            <a:pPr algn="l" indent="0" marL="0">
              <a:lnSpc>
                <a:spcPts val="82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对齐物理帧号 </a:t>
            </a:r>
            <a:pPr algn="l" indent="0" marL="0">
              <a:lnSpc>
                <a:spcPts val="82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next_id</a:t>
            </a:r>
            <a:pPr algn="l" indent="0" marL="0">
              <a:lnSpc>
                <a:spcPts val="827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</a:t>
            </a:r>
            <a:pPr algn="l" indent="0" marL="0">
              <a:lnSpc>
                <a:spcPts val="827"/>
              </a:lnSpc>
              <a:buNone/>
            </a:pPr>
            <a:r>
              <a:rPr lang="en-US" sz="500" b="1" dirty="0">
                <a:solidFill>
                  <a:srgbClr val="B642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一旦发生丢帧，两套编号不再等价，结果会静默错位。</a:t>
            </a:r>
            <a:endParaRPr lang="en-US" sz="500" dirty="0"/>
          </a:p>
        </p:txBody>
      </p:sp>
      <p:sp>
        <p:nvSpPr>
          <p:cNvPr id="61" name="Shape 53"/>
          <p:cNvSpPr/>
          <p:nvPr/>
        </p:nvSpPr>
        <p:spPr>
          <a:xfrm>
            <a:off x="3546258" y="3550444"/>
            <a:ext cx="2164556" cy="435769"/>
          </a:xfrm>
          <a:prstGeom prst="roundRect">
            <a:avLst>
              <a:gd name="adj" fmla="val 10320"/>
            </a:avLst>
          </a:prstGeom>
          <a:solidFill>
            <a:srgbClr val="F7F9FB">
              <a:alpha val="92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54"/>
          <p:cNvSpPr/>
          <p:nvPr/>
        </p:nvSpPr>
        <p:spPr>
          <a:xfrm>
            <a:off x="3625565" y="3632597"/>
            <a:ext cx="50006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4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消费计数</a:t>
            </a:r>
            <a:endParaRPr lang="en-US" sz="500" dirty="0"/>
          </a:p>
        </p:txBody>
      </p:sp>
      <p:sp>
        <p:nvSpPr>
          <p:cNvPr id="63" name="Text 55"/>
          <p:cNvSpPr/>
          <p:nvPr/>
        </p:nvSpPr>
        <p:spPr>
          <a:xfrm>
            <a:off x="4161346" y="3643313"/>
            <a:ext cx="6286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abs_counter</a:t>
            </a:r>
            <a:endParaRPr lang="en-US" sz="500" dirty="0"/>
          </a:p>
        </p:txBody>
      </p:sp>
      <p:sp>
        <p:nvSpPr>
          <p:cNvPr id="64" name="Text 56"/>
          <p:cNvSpPr/>
          <p:nvPr/>
        </p:nvSpPr>
        <p:spPr>
          <a:xfrm>
            <a:off x="4826608" y="362188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54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500" dirty="0"/>
          </a:p>
        </p:txBody>
      </p:sp>
      <p:sp>
        <p:nvSpPr>
          <p:cNvPr id="65" name="Text 57"/>
          <p:cNvSpPr/>
          <p:nvPr/>
        </p:nvSpPr>
        <p:spPr>
          <a:xfrm>
            <a:off x="5107000" y="362188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54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500" dirty="0"/>
          </a:p>
        </p:txBody>
      </p:sp>
      <p:sp>
        <p:nvSpPr>
          <p:cNvPr id="66" name="Text 58"/>
          <p:cNvSpPr/>
          <p:nvPr/>
        </p:nvSpPr>
        <p:spPr>
          <a:xfrm>
            <a:off x="5387392" y="362188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54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500" dirty="0"/>
          </a:p>
        </p:txBody>
      </p:sp>
      <p:sp>
        <p:nvSpPr>
          <p:cNvPr id="67" name="Text 59"/>
          <p:cNvSpPr/>
          <p:nvPr/>
        </p:nvSpPr>
        <p:spPr>
          <a:xfrm>
            <a:off x="3625565" y="3804047"/>
            <a:ext cx="50006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4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物理帧号</a:t>
            </a:r>
            <a:endParaRPr lang="en-US" sz="500" dirty="0"/>
          </a:p>
        </p:txBody>
      </p:sp>
      <p:sp>
        <p:nvSpPr>
          <p:cNvPr id="68" name="Text 60"/>
          <p:cNvSpPr/>
          <p:nvPr/>
        </p:nvSpPr>
        <p:spPr>
          <a:xfrm>
            <a:off x="4161346" y="3814763"/>
            <a:ext cx="6286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next_id</a:t>
            </a:r>
            <a:endParaRPr lang="en-US" sz="500" dirty="0"/>
          </a:p>
        </p:txBody>
      </p:sp>
      <p:sp>
        <p:nvSpPr>
          <p:cNvPr id="69" name="Text 61"/>
          <p:cNvSpPr/>
          <p:nvPr/>
        </p:nvSpPr>
        <p:spPr>
          <a:xfrm>
            <a:off x="4826608" y="379333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54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500" dirty="0"/>
          </a:p>
        </p:txBody>
      </p:sp>
      <p:sp>
        <p:nvSpPr>
          <p:cNvPr id="70" name="Text 62"/>
          <p:cNvSpPr/>
          <p:nvPr/>
        </p:nvSpPr>
        <p:spPr>
          <a:xfrm>
            <a:off x="5107000" y="379333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B6423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B64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500" dirty="0"/>
          </a:p>
        </p:txBody>
      </p:sp>
      <p:sp>
        <p:nvSpPr>
          <p:cNvPr id="71" name="Text 63"/>
          <p:cNvSpPr/>
          <p:nvPr/>
        </p:nvSpPr>
        <p:spPr>
          <a:xfrm>
            <a:off x="5387392" y="3793331"/>
            <a:ext cx="242888" cy="121444"/>
          </a:xfrm>
          <a:prstGeom prst="roundRect">
            <a:avLst>
              <a:gd name="adj" fmla="val 55363"/>
            </a:avLst>
          </a:prstGeom>
          <a:solidFill>
            <a:srgbClr val="B6423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B64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500" dirty="0"/>
          </a:p>
        </p:txBody>
      </p:sp>
      <p:sp>
        <p:nvSpPr>
          <p:cNvPr id="72" name="Text 64"/>
          <p:cNvSpPr/>
          <p:nvPr/>
        </p:nvSpPr>
        <p:spPr>
          <a:xfrm>
            <a:off x="715491" y="4029075"/>
            <a:ext cx="4993481" cy="250031"/>
          </a:xfrm>
          <a:prstGeom prst="roundRect">
            <a:avLst>
              <a:gd name="adj" fmla="val 26122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8"/>
              </a:lnSpc>
              <a:buNone/>
            </a:pPr>
            <a:r>
              <a:rPr lang="en-US" sz="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主杠杆：NPU 上下文 1→2 = 1.84× ｜ jitter 仅 +1.2% ｜ 吞吐已饱和</a:t>
            </a:r>
            <a:pPr algn="l" indent="0" marL="0">
              <a:lnSpc>
                <a:spcPts val="668"/>
              </a:lnSpc>
              <a:buNone/>
            </a:pPr>
            <a:r>
              <a:rPr lang="en-US" sz="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68"/>
              </a:lnSpc>
              <a:buNone/>
            </a:pPr>
            <a:r>
              <a:rPr lang="en-US" sz="500" dirty="0">
                <a:solidFill>
                  <a:srgbClr val="F8FAFC">
                    <a:alpha val="7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优先修复锚定与迁移规范，而非继续堆缓冲</a:t>
            </a:r>
            <a:endParaRPr lang="en-US" sz="500" dirty="0"/>
          </a:p>
        </p:txBody>
      </p:sp>
      <p:sp>
        <p:nvSpPr>
          <p:cNvPr id="73" name="Shape 65"/>
          <p:cNvSpPr/>
          <p:nvPr/>
        </p:nvSpPr>
        <p:spPr>
          <a:xfrm>
            <a:off x="5973124" y="3278981"/>
            <a:ext cx="2636044" cy="1085850"/>
          </a:xfrm>
          <a:prstGeom prst="roundRect">
            <a:avLst>
              <a:gd name="adj" fmla="val 1329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4" name="Shape 66"/>
          <p:cNvSpPr/>
          <p:nvPr/>
        </p:nvSpPr>
        <p:spPr>
          <a:xfrm>
            <a:off x="6111255" y="3386138"/>
            <a:ext cx="1135856" cy="871538"/>
          </a:xfrm>
          <a:prstGeom prst="roundRect">
            <a:avLst>
              <a:gd name="adj" fmla="val 9460"/>
            </a:avLst>
          </a:prstGeom>
          <a:solidFill>
            <a:srgbClr val="F7F9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Text 67"/>
          <p:cNvSpPr/>
          <p:nvPr/>
        </p:nvSpPr>
        <p:spPr>
          <a:xfrm>
            <a:off x="6182692" y="3450431"/>
            <a:ext cx="9929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禁用项 / 负结果</a:t>
            </a:r>
            <a:endParaRPr lang="en-US" sz="500" dirty="0"/>
          </a:p>
        </p:txBody>
      </p:sp>
      <p:sp>
        <p:nvSpPr>
          <p:cNvPr id="76" name="Text 68"/>
          <p:cNvSpPr/>
          <p:nvPr/>
        </p:nvSpPr>
        <p:spPr>
          <a:xfrm>
            <a:off x="6180237" y="3593306"/>
            <a:ext cx="657225" cy="107156"/>
          </a:xfrm>
          <a:prstGeom prst="roundRect">
            <a:avLst>
              <a:gd name="adj" fmla="val 71111"/>
            </a:avLst>
          </a:prstGeom>
          <a:solidFill>
            <a:srgbClr val="687688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8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--npu-core-mask 7</a:t>
            </a:r>
            <a:endParaRPr lang="en-US" sz="400" dirty="0"/>
          </a:p>
        </p:txBody>
      </p:sp>
      <p:sp>
        <p:nvSpPr>
          <p:cNvPr id="77" name="Text 69"/>
          <p:cNvSpPr/>
          <p:nvPr/>
        </p:nvSpPr>
        <p:spPr>
          <a:xfrm>
            <a:off x="6182358" y="3729038"/>
            <a:ext cx="550069" cy="107156"/>
          </a:xfrm>
          <a:prstGeom prst="roundRect">
            <a:avLst>
              <a:gd name="adj" fmla="val 71111"/>
            </a:avLst>
          </a:prstGeom>
          <a:solidFill>
            <a:srgbClr val="687688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8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queue_depth 16</a:t>
            </a:r>
            <a:endParaRPr lang="en-US" sz="400" dirty="0"/>
          </a:p>
        </p:txBody>
      </p:sp>
      <p:sp>
        <p:nvSpPr>
          <p:cNvPr id="78" name="Text 70"/>
          <p:cNvSpPr/>
          <p:nvPr/>
        </p:nvSpPr>
        <p:spPr>
          <a:xfrm>
            <a:off x="6182358" y="3864769"/>
            <a:ext cx="550069" cy="107156"/>
          </a:xfrm>
          <a:prstGeom prst="roundRect">
            <a:avLst>
              <a:gd name="adj" fmla="val 71111"/>
            </a:avLst>
          </a:prstGeom>
          <a:solidFill>
            <a:srgbClr val="687688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8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post_workers 2</a:t>
            </a:r>
            <a:endParaRPr lang="en-US" sz="400" dirty="0"/>
          </a:p>
        </p:txBody>
      </p:sp>
      <p:sp>
        <p:nvSpPr>
          <p:cNvPr id="79" name="Text 71"/>
          <p:cNvSpPr/>
          <p:nvPr/>
        </p:nvSpPr>
        <p:spPr>
          <a:xfrm>
            <a:off x="6182692" y="4008537"/>
            <a:ext cx="99298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"/>
              </a:lnSpc>
              <a:spcBef>
                <a:spcPts val="281"/>
              </a:spcBef>
              <a:buNone/>
            </a:pPr>
            <a:r>
              <a:rPr lang="en-US" sz="4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崩溃 139；后两项为负结果，避免重复试验。</a:t>
            </a:r>
            <a:endParaRPr lang="en-US" sz="400" dirty="0"/>
          </a:p>
        </p:txBody>
      </p:sp>
      <p:sp>
        <p:nvSpPr>
          <p:cNvPr id="80" name="Shape 72"/>
          <p:cNvSpPr/>
          <p:nvPr/>
        </p:nvSpPr>
        <p:spPr>
          <a:xfrm>
            <a:off x="7335069" y="3386138"/>
            <a:ext cx="1135856" cy="871538"/>
          </a:xfrm>
          <a:prstGeom prst="roundRect">
            <a:avLst>
              <a:gd name="adj" fmla="val 9460"/>
            </a:avLst>
          </a:prstGeom>
          <a:solidFill>
            <a:srgbClr val="F7F9FB">
              <a:alpha val="90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73"/>
          <p:cNvSpPr/>
          <p:nvPr/>
        </p:nvSpPr>
        <p:spPr>
          <a:xfrm>
            <a:off x="7406506" y="3450431"/>
            <a:ext cx="9929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精度链冲突</a:t>
            </a:r>
            <a:endParaRPr lang="en-US" sz="500" dirty="0"/>
          </a:p>
        </p:txBody>
      </p:sp>
      <p:sp>
        <p:nvSpPr>
          <p:cNvPr id="82" name="Text 74"/>
          <p:cNvSpPr/>
          <p:nvPr/>
        </p:nvSpPr>
        <p:spPr>
          <a:xfrm>
            <a:off x="7406506" y="3594869"/>
            <a:ext cx="992981" cy="2786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ref@fullGT = 0.891871 </a:t>
            </a:r>
            <a:pPr algn="l" indent="0" marL="0">
              <a:lnSpc>
                <a:spcPts val="645"/>
              </a:lnSpc>
              <a:spcBef>
                <a:spcPts val="169"/>
              </a:spcBef>
              <a:buNone/>
            </a:pPr>
            <a:r>
              <a:rPr lang="en-US" sz="400" b="1" dirty="0">
                <a:solidFill>
                  <a:srgbClr val="B56D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臂双数并存：0.891676 / 0.891871</a:t>
            </a:r>
            <a:endParaRPr lang="en-US" sz="500" dirty="0"/>
          </a:p>
        </p:txBody>
      </p:sp>
      <p:sp>
        <p:nvSpPr>
          <p:cNvPr id="83" name="Text 75"/>
          <p:cNvSpPr/>
          <p:nvPr/>
        </p:nvSpPr>
        <p:spPr>
          <a:xfrm>
            <a:off x="578644" y="4079081"/>
            <a:ext cx="8029575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600" dirty="0"/>
          </a:p>
        </p:txBody>
      </p:sp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644" y="564356"/>
            <a:ext cx="8029575" cy="785813"/>
          </a:xfrm>
          <a:prstGeom prst="rect">
            <a:avLst/>
          </a:prstGeom>
        </p:spPr>
      </p:pic>
      <p:pic>
        <p:nvPicPr>
          <p:cNvPr id="8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3705" y="3615296"/>
            <a:ext cx="3021806" cy="157163"/>
          </a:xfrm>
          <a:prstGeom prst="rect">
            <a:avLst/>
          </a:prstGeom>
        </p:spPr>
      </p:pic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35394" y="3615296"/>
            <a:ext cx="4336256" cy="157163"/>
          </a:xfrm>
          <a:prstGeom prst="rect">
            <a:avLst/>
          </a:prstGeom>
        </p:spPr>
      </p:pic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8644" y="4079081"/>
            <a:ext cx="8029575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798671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7807" y="422932"/>
            <a:ext cx="2071688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DIRECTION A · ENGINEERING DECISION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A｜Lite GMC / No-GMC：解开硬保证与可对账的互斥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内容判据替代墙钟判据：Lite GMC 接近“免费”，Native 保留为可对账基线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6858" y="1478756"/>
            <a:ext cx="4521994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2756" y="1601539"/>
            <a:ext cx="1771650" cy="678656"/>
          </a:xfrm>
          <a:prstGeom prst="roundRect">
            <a:avLst>
              <a:gd name="adj" fmla="val 5673"/>
            </a:avLst>
          </a:prstGeom>
          <a:solidFill>
            <a:srgbClr val="C9974D">
              <a:alpha val="9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19913" y="1687264"/>
            <a:ext cx="155733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语义代价 · ΔF1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819913" y="1822996"/>
            <a:ext cx="1557337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3"/>
              </a:spcBef>
              <a:buNone/>
            </a:pPr>
            <a:r>
              <a:rPr lang="en-US" sz="1600" b="1" dirty="0">
                <a:solidFill>
                  <a:srgbClr val="9A6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−0.000195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9913" y="2073027"/>
            <a:ext cx="1557337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600" dirty="0">
                <a:solidFill>
                  <a:srgbClr val="6F5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近零损失，但仍是精度代价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568290" y="1601539"/>
            <a:ext cx="2393156" cy="678656"/>
          </a:xfrm>
          <a:prstGeom prst="roundRect">
            <a:avLst>
              <a:gd name="adj" fmla="val 5673"/>
            </a:avLst>
          </a:prstGeom>
          <a:solidFill>
            <a:srgbClr val="2F7D5C">
              <a:alpha val="8000"/>
            </a:srgbClr>
          </a:solidFill>
          <a:ln w="7144">
            <a:solidFill>
              <a:srgbClr val="2F7D5C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675446" y="1685925"/>
            <a:ext cx="217884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F7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吞吐收益 · 推荐主路线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675390" y="1821656"/>
            <a:ext cx="500063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00" b="1" dirty="0">
                <a:solidFill>
                  <a:srgbClr val="276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2.39×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61680" y="1894433"/>
            <a:ext cx="1078706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6.156 → 14.704 fps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75446" y="2074366"/>
            <a:ext cx="217884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600" dirty="0">
                <a:solidFill>
                  <a:srgbClr val="496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性能收益显著，语义代价接近可忽略</a:t>
            </a:r>
            <a:endParaRPr lang="en-US" sz="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589" y="2343150"/>
            <a:ext cx="4250531" cy="75723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1531" y="2592958"/>
            <a:ext cx="657225" cy="192881"/>
          </a:xfrm>
          <a:prstGeom prst="roundRect">
            <a:avLst>
              <a:gd name="adj" fmla="val 59259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· 优先落地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821531" y="2834227"/>
            <a:ext cx="10715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94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恒等门控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21531" y="3004728"/>
            <a:ext cx="10715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6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内容判据替代墙钟判据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1979488" y="2495624"/>
            <a:ext cx="428625" cy="721519"/>
          </a:xfrm>
          <a:prstGeom prst="roundRect">
            <a:avLst>
              <a:gd name="adj" fmla="val 10667"/>
            </a:avLst>
          </a:prstGeom>
          <a:solidFill>
            <a:srgbClr val="FFFFFF">
              <a:alpha val="90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2036638" y="2567062"/>
            <a:ext cx="3143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仅拟合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2036638" y="2702793"/>
            <a:ext cx="3143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个矩阵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036638" y="3059981"/>
            <a:ext cx="314325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3"/>
              </a:spcBef>
              <a:buNone/>
            </a:pPr>
            <a:r>
              <a:rPr lang="en-US" sz="6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1.8 ms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2430214" y="2777803"/>
            <a:ext cx="18573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6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38053" y="2567062"/>
            <a:ext cx="428625" cy="578644"/>
          </a:xfrm>
          <a:prstGeom prst="roundRect">
            <a:avLst>
              <a:gd name="adj" fmla="val 10667"/>
            </a:avLst>
          </a:prstGeom>
          <a:solidFill>
            <a:srgbClr val="FFFFFF">
              <a:alpha val="90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2695203" y="2638499"/>
            <a:ext cx="3143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2695203" y="2774231"/>
            <a:ext cx="3143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近恒等？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088779" y="2777803"/>
            <a:ext cx="18573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6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96283" y="2663503"/>
            <a:ext cx="728663" cy="385763"/>
          </a:xfrm>
          <a:prstGeom prst="roundRect">
            <a:avLst>
              <a:gd name="adj" fmla="val 13169"/>
            </a:avLst>
          </a:prstGeom>
          <a:solidFill>
            <a:srgbClr val="2F7D5C">
              <a:alpha val="10000"/>
            </a:srgbClr>
          </a:solidFill>
          <a:ln w="7144">
            <a:solidFill>
              <a:srgbClr val="2F7D5C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3353433" y="2734940"/>
            <a:ext cx="6143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F7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3353433" y="2870671"/>
            <a:ext cx="6143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700" b="1" dirty="0">
                <a:solidFill>
                  <a:srgbClr val="276F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warp(I,I)≡I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4111228" y="2436019"/>
            <a:ext cx="742950" cy="578644"/>
          </a:xfrm>
          <a:prstGeom prst="roundRect">
            <a:avLst>
              <a:gd name="adj" fmla="val 5853"/>
            </a:avLst>
          </a:prstGeom>
          <a:solidFill>
            <a:srgbClr val="122033">
              <a:alpha val="94000"/>
            </a:srgbClr>
          </a:solidFill>
          <a:ln/>
          <a:effectLst>
            <a:outerShdw sx="100000" sy="100000" kx="0" ky="0" algn="bl" rotWithShape="0" blurRad="128588" dist="57150" dir="5400000">
              <a:srgbClr val="0F172A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4168378" y="2507456"/>
            <a:ext cx="6286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跳过全量 GMC</a:t>
            </a:r>
            <a:endParaRPr lang="en-US" sz="600" dirty="0"/>
          </a:p>
        </p:txBody>
      </p:sp>
      <p:sp>
        <p:nvSpPr>
          <p:cNvPr id="38" name="Text 34"/>
          <p:cNvSpPr/>
          <p:nvPr/>
        </p:nvSpPr>
        <p:spPr>
          <a:xfrm>
            <a:off x="4168378" y="2643188"/>
            <a:ext cx="6286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−21 FIT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168378" y="2800350"/>
            <a:ext cx="6286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3"/>
              </a:spcBef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−21 WARP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111228" y="3063553"/>
            <a:ext cx="74295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未命中则继续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GMC 路径</a:t>
            </a: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715268" y="3157538"/>
            <a:ext cx="2085975" cy="371475"/>
          </a:xfrm>
          <a:prstGeom prst="roundRect">
            <a:avLst>
              <a:gd name="adj" fmla="val 16568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800100" y="3221831"/>
            <a:ext cx="242888" cy="242888"/>
          </a:xfrm>
          <a:prstGeom prst="roundRect">
            <a:avLst>
              <a:gd name="adj" fmla="val 33218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6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1114425" y="3207544"/>
            <a:ext cx="1100138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GMC-Net 可微替换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1114425" y="3364706"/>
            <a:ext cx="11001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降低拟合成本，作为后续优化项</a:t>
            </a:r>
            <a:endParaRPr lang="en-US" sz="600" dirty="0"/>
          </a:p>
        </p:txBody>
      </p:sp>
      <p:sp>
        <p:nvSpPr>
          <p:cNvPr id="45" name="Shape 41"/>
          <p:cNvSpPr/>
          <p:nvPr/>
        </p:nvSpPr>
        <p:spPr>
          <a:xfrm>
            <a:off x="2874466" y="3157538"/>
            <a:ext cx="2085975" cy="371475"/>
          </a:xfrm>
          <a:prstGeom prst="roundRect">
            <a:avLst>
              <a:gd name="adj" fmla="val 16568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2959298" y="3221831"/>
            <a:ext cx="242888" cy="242888"/>
          </a:xfrm>
          <a:prstGeom prst="roundRect">
            <a:avLst>
              <a:gd name="adj" fmla="val 33218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6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600" dirty="0"/>
          </a:p>
        </p:txBody>
      </p:sp>
      <p:sp>
        <p:nvSpPr>
          <p:cNvPr id="47" name="Text 43"/>
          <p:cNvSpPr/>
          <p:nvPr/>
        </p:nvSpPr>
        <p:spPr>
          <a:xfrm>
            <a:off x="3271893" y="3207544"/>
            <a:ext cx="80724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 优化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3271893" y="3364706"/>
            <a:ext cx="8072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 </a:t>
            </a:r>
            <a:pPr algn="l" indent="0" marL="0">
              <a:buNone/>
            </a:pPr>
            <a:r>
              <a:rPr lang="en-US" sz="600" b="1" dirty="0">
                <a:solidFill>
                  <a:srgbClr val="9A6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61.71 ms · 99.9%</a:t>
            </a:r>
            <a:endParaRPr lang="en-US" sz="600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589" y="3586163"/>
            <a:ext cx="4250531" cy="24288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20415" y="3650456"/>
            <a:ext cx="16787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00" b="1" dirty="0">
                <a:solidFill>
                  <a:srgbClr val="6D5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门禁：先测净位移幅度分布，再确定门限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3932634" y="3657600"/>
            <a:ext cx="9429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7D6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分布未测出前不得预设阈值</a:t>
            </a:r>
            <a:endParaRPr lang="en-US" sz="600" dirty="0"/>
          </a:p>
        </p:txBody>
      </p:sp>
      <p:sp>
        <p:nvSpPr>
          <p:cNvPr id="52" name="Shape 47"/>
          <p:cNvSpPr/>
          <p:nvPr/>
        </p:nvSpPr>
        <p:spPr>
          <a:xfrm>
            <a:off x="5223867" y="1478756"/>
            <a:ext cx="3343275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Shape 48"/>
          <p:cNvSpPr/>
          <p:nvPr/>
        </p:nvSpPr>
        <p:spPr>
          <a:xfrm>
            <a:off x="5345311" y="1600200"/>
            <a:ext cx="3100388" cy="971550"/>
          </a:xfrm>
          <a:prstGeom prst="roundRect">
            <a:avLst>
              <a:gd name="adj" fmla="val 12457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49"/>
          <p:cNvSpPr/>
          <p:nvPr/>
        </p:nvSpPr>
        <p:spPr>
          <a:xfrm>
            <a:off x="5439966" y="1685925"/>
            <a:ext cx="4000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路径定位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7828322" y="1700213"/>
            <a:ext cx="5214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F7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Lite GMC</a:t>
            </a:r>
            <a:endParaRPr lang="en-US" sz="600" dirty="0"/>
          </a:p>
        </p:txBody>
      </p:sp>
      <p:sp>
        <p:nvSpPr>
          <p:cNvPr id="56" name="Shape 51"/>
          <p:cNvSpPr/>
          <p:nvPr/>
        </p:nvSpPr>
        <p:spPr>
          <a:xfrm>
            <a:off x="5439966" y="1893094"/>
            <a:ext cx="35719" cy="178594"/>
          </a:xfrm>
          <a:prstGeom prst="roundRect">
            <a:avLst>
              <a:gd name="adj" fmla="val 319998"/>
            </a:avLst>
          </a:prstGeom>
          <a:solidFill>
            <a:srgbClr val="36516E"/>
          </a:solidFill>
          <a:ln/>
        </p:spPr>
        <p:txBody>
          <a:bodyPr/>
          <a:p/>
        </p:txBody>
      </p:sp>
      <p:sp>
        <p:nvSpPr>
          <p:cNvPr id="57" name="Text 52"/>
          <p:cNvSpPr/>
          <p:nvPr/>
        </p:nvSpPr>
        <p:spPr>
          <a:xfrm>
            <a:off x="5532834" y="1932384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</a:t>
            </a:r>
            <a:endParaRPr lang="en-US" sz="600" dirty="0"/>
          </a:p>
        </p:txBody>
      </p:sp>
      <p:sp>
        <p:nvSpPr>
          <p:cNvPr id="58" name="Text 53"/>
          <p:cNvSpPr/>
          <p:nvPr/>
        </p:nvSpPr>
        <p:spPr>
          <a:xfrm>
            <a:off x="6059686" y="1925241"/>
            <a:ext cx="163591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96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183.32 ms｜F1 0.9062｜22 拟合 / 21 warp</a:t>
            </a:r>
            <a:endParaRPr lang="en-US" sz="600" dirty="0"/>
          </a:p>
        </p:txBody>
      </p:sp>
      <p:sp>
        <p:nvSpPr>
          <p:cNvPr id="59" name="Text 54"/>
          <p:cNvSpPr/>
          <p:nvPr/>
        </p:nvSpPr>
        <p:spPr>
          <a:xfrm>
            <a:off x="7750969" y="1925241"/>
            <a:ext cx="600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6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可对账基线</a:t>
            </a:r>
            <a:endParaRPr lang="en-US" sz="600" dirty="0"/>
          </a:p>
        </p:txBody>
      </p:sp>
      <p:sp>
        <p:nvSpPr>
          <p:cNvPr id="60" name="Shape 55"/>
          <p:cNvSpPr/>
          <p:nvPr/>
        </p:nvSpPr>
        <p:spPr>
          <a:xfrm>
            <a:off x="5439966" y="2135981"/>
            <a:ext cx="35719" cy="178594"/>
          </a:xfrm>
          <a:prstGeom prst="roundRect">
            <a:avLst>
              <a:gd name="adj" fmla="val 319998"/>
            </a:avLst>
          </a:prstGeom>
          <a:solidFill>
            <a:srgbClr val="D08A45"/>
          </a:solidFill>
          <a:ln/>
        </p:spPr>
        <p:txBody>
          <a:bodyPr/>
          <a:p/>
        </p:txBody>
      </p:sp>
      <p:sp>
        <p:nvSpPr>
          <p:cNvPr id="61" name="Text 56"/>
          <p:cNvSpPr/>
          <p:nvPr/>
        </p:nvSpPr>
        <p:spPr>
          <a:xfrm>
            <a:off x="5532834" y="2175272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No-GMC</a:t>
            </a:r>
            <a:endParaRPr lang="en-US" sz="600" dirty="0"/>
          </a:p>
        </p:txBody>
      </p:sp>
      <p:sp>
        <p:nvSpPr>
          <p:cNvPr id="62" name="Text 57"/>
          <p:cNvSpPr/>
          <p:nvPr/>
        </p:nvSpPr>
        <p:spPr>
          <a:xfrm>
            <a:off x="6059686" y="2168128"/>
            <a:ext cx="163591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96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61.78 ms｜0.34×｜ΔF1 −0.0054</a:t>
            </a:r>
            <a:endParaRPr lang="en-US" sz="600" dirty="0"/>
          </a:p>
        </p:txBody>
      </p:sp>
      <p:sp>
        <p:nvSpPr>
          <p:cNvPr id="63" name="Text 58"/>
          <p:cNvSpPr/>
          <p:nvPr/>
        </p:nvSpPr>
        <p:spPr>
          <a:xfrm>
            <a:off x="7750969" y="2168128"/>
            <a:ext cx="600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B66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消融参照</a:t>
            </a:r>
            <a:endParaRPr lang="en-US" sz="600" dirty="0"/>
          </a:p>
        </p:txBody>
      </p:sp>
      <p:sp>
        <p:nvSpPr>
          <p:cNvPr id="64" name="Shape 59"/>
          <p:cNvSpPr/>
          <p:nvPr/>
        </p:nvSpPr>
        <p:spPr>
          <a:xfrm>
            <a:off x="5438180" y="2364581"/>
            <a:ext cx="2914650" cy="207169"/>
          </a:xfrm>
          <a:prstGeom prst="roundRect">
            <a:avLst>
              <a:gd name="adj" fmla="val 34245"/>
            </a:avLst>
          </a:prstGeom>
          <a:solidFill>
            <a:srgbClr val="2F7D5C">
              <a:alpha val="8000"/>
            </a:srgbClr>
          </a:solidFill>
          <a:ln/>
        </p:spPr>
        <p:txBody>
          <a:bodyPr/>
          <a:p/>
        </p:txBody>
      </p:sp>
      <p:sp>
        <p:nvSpPr>
          <p:cNvPr id="65" name="Shape 60"/>
          <p:cNvSpPr/>
          <p:nvPr/>
        </p:nvSpPr>
        <p:spPr>
          <a:xfrm>
            <a:off x="5482828" y="2378869"/>
            <a:ext cx="35719" cy="178594"/>
          </a:xfrm>
          <a:prstGeom prst="roundRect">
            <a:avLst>
              <a:gd name="adj" fmla="val 319998"/>
            </a:avLst>
          </a:prstGeom>
          <a:solidFill>
            <a:srgbClr val="2F7D5C"/>
          </a:solidFill>
          <a:ln/>
        </p:spPr>
        <p:txBody>
          <a:bodyPr/>
          <a:p/>
        </p:txBody>
      </p:sp>
      <p:sp>
        <p:nvSpPr>
          <p:cNvPr id="66" name="Text 61"/>
          <p:cNvSpPr/>
          <p:nvPr/>
        </p:nvSpPr>
        <p:spPr>
          <a:xfrm>
            <a:off x="5575697" y="2418159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GMC</a:t>
            </a:r>
            <a:endParaRPr lang="en-US" sz="600" dirty="0"/>
          </a:p>
        </p:txBody>
      </p:sp>
      <p:sp>
        <p:nvSpPr>
          <p:cNvPr id="67" name="Text 62"/>
          <p:cNvSpPr/>
          <p:nvPr/>
        </p:nvSpPr>
        <p:spPr>
          <a:xfrm>
            <a:off x="6102548" y="2411016"/>
            <a:ext cx="15501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96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14.704 fps｜ΔF1 −0.000195</a:t>
            </a:r>
            <a:endParaRPr lang="en-US" sz="600" dirty="0"/>
          </a:p>
        </p:txBody>
      </p:sp>
      <p:sp>
        <p:nvSpPr>
          <p:cNvPr id="68" name="Text 63"/>
          <p:cNvSpPr/>
          <p:nvPr/>
        </p:nvSpPr>
        <p:spPr>
          <a:xfrm>
            <a:off x="7708106" y="2411016"/>
            <a:ext cx="600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F7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推荐主线</a:t>
            </a:r>
            <a:endParaRPr lang="en-US" sz="600" dirty="0"/>
          </a:p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5311" y="2643187"/>
            <a:ext cx="3100388" cy="557213"/>
          </a:xfrm>
          <a:prstGeom prst="rect">
            <a:avLst/>
          </a:prstGeom>
        </p:spPr>
      </p:pic>
      <p:sp>
        <p:nvSpPr>
          <p:cNvPr id="70" name="Text 64"/>
          <p:cNvSpPr/>
          <p:nvPr/>
        </p:nvSpPr>
        <p:spPr>
          <a:xfrm>
            <a:off x="5445547" y="2732484"/>
            <a:ext cx="664369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两级缓存</a:t>
            </a:r>
            <a:endParaRPr lang="en-US" sz="700" dirty="0"/>
          </a:p>
        </p:txBody>
      </p:sp>
      <p:sp>
        <p:nvSpPr>
          <p:cNvPr id="71" name="Text 65"/>
          <p:cNvSpPr/>
          <p:nvPr/>
        </p:nvSpPr>
        <p:spPr>
          <a:xfrm>
            <a:off x="7958138" y="2728912"/>
            <a:ext cx="385763" cy="150019"/>
          </a:xfrm>
          <a:prstGeom prst="roundRect">
            <a:avLst>
              <a:gd name="adj" fmla="val 76190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免费提速</a:t>
            </a:r>
            <a:endParaRPr lang="en-US" sz="500" dirty="0"/>
          </a:p>
        </p:txBody>
      </p:sp>
      <p:sp>
        <p:nvSpPr>
          <p:cNvPr id="72" name="Text 66"/>
          <p:cNvSpPr/>
          <p:nvPr/>
        </p:nvSpPr>
        <p:spPr>
          <a:xfrm>
            <a:off x="5445323" y="2921794"/>
            <a:ext cx="93583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36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帧</a:t>
            </a:r>
            <a:endParaRPr lang="en-US" sz="1100" dirty="0"/>
          </a:p>
        </p:txBody>
      </p:sp>
      <p:sp>
        <p:nvSpPr>
          <p:cNvPr id="73" name="Text 67"/>
          <p:cNvSpPr/>
          <p:nvPr/>
        </p:nvSpPr>
        <p:spPr>
          <a:xfrm>
            <a:off x="5445323" y="3100388"/>
            <a:ext cx="9358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单次读取恒定</a:t>
            </a:r>
            <a:endParaRPr lang="en-US" sz="500" dirty="0"/>
          </a:p>
        </p:txBody>
      </p:sp>
      <p:sp>
        <p:nvSpPr>
          <p:cNvPr id="74" name="Shape 68"/>
          <p:cNvSpPr/>
          <p:nvPr/>
        </p:nvSpPr>
        <p:spPr>
          <a:xfrm>
            <a:off x="6427589" y="2932509"/>
            <a:ext cx="935831" cy="264319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75" name="Text 69"/>
          <p:cNvSpPr/>
          <p:nvPr/>
        </p:nvSpPr>
        <p:spPr>
          <a:xfrm>
            <a:off x="6434733" y="2932509"/>
            <a:ext cx="92154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+7.19</a:t>
            </a:r>
            <a:endParaRPr lang="en-US" sz="1000" dirty="0"/>
          </a:p>
        </p:txBody>
      </p:sp>
      <p:sp>
        <p:nvSpPr>
          <p:cNvPr id="76" name="Text 70"/>
          <p:cNvSpPr/>
          <p:nvPr/>
        </p:nvSpPr>
        <p:spPr>
          <a:xfrm>
            <a:off x="6434733" y="30896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MiB / 引擎</a:t>
            </a:r>
            <a:endParaRPr lang="en-US" sz="500" dirty="0"/>
          </a:p>
        </p:txBody>
      </p:sp>
      <p:sp>
        <p:nvSpPr>
          <p:cNvPr id="77" name="Text 71"/>
          <p:cNvSpPr/>
          <p:nvPr/>
        </p:nvSpPr>
        <p:spPr>
          <a:xfrm>
            <a:off x="7409855" y="2932509"/>
            <a:ext cx="935831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0.45–0.48</a:t>
            </a:r>
            <a:endParaRPr lang="en-US" sz="1000" dirty="0"/>
          </a:p>
        </p:txBody>
      </p:sp>
      <p:sp>
        <p:nvSpPr>
          <p:cNvPr id="78" name="Text 72"/>
          <p:cNvSpPr/>
          <p:nvPr/>
        </p:nvSpPr>
        <p:spPr>
          <a:xfrm>
            <a:off x="7409855" y="3089672"/>
            <a:ext cx="9358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/ 帧</a:t>
            </a:r>
            <a:endParaRPr lang="en-US" sz="500" dirty="0"/>
          </a:p>
        </p:txBody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45311" y="3271838"/>
            <a:ext cx="3100388" cy="557213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5445547" y="3368278"/>
            <a:ext cx="564356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多引擎</a:t>
            </a:r>
            <a:endParaRPr lang="en-US" sz="700" dirty="0"/>
          </a:p>
        </p:txBody>
      </p:sp>
      <p:sp>
        <p:nvSpPr>
          <p:cNvPr id="81" name="Text 74"/>
          <p:cNvSpPr/>
          <p:nvPr/>
        </p:nvSpPr>
        <p:spPr>
          <a:xfrm>
            <a:off x="7929563" y="3357563"/>
            <a:ext cx="414338" cy="164306"/>
          </a:xfrm>
          <a:prstGeom prst="roundRect">
            <a:avLst>
              <a:gd name="adj" fmla="val 69565"/>
            </a:avLst>
          </a:prstGeom>
          <a:solidFill>
            <a:srgbClr val="36516E">
              <a:alpha val="10000"/>
            </a:srgbClr>
          </a:solidFill>
          <a:ln w="7144">
            <a:solidFill>
              <a:srgbClr val="36516E">
                <a:alpha val="13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65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逐位一致</a:t>
            </a:r>
            <a:endParaRPr lang="en-US" sz="500" dirty="0"/>
          </a:p>
        </p:txBody>
      </p:sp>
      <p:sp>
        <p:nvSpPr>
          <p:cNvPr id="82" name="Text 75"/>
          <p:cNvSpPr/>
          <p:nvPr/>
        </p:nvSpPr>
        <p:spPr>
          <a:xfrm>
            <a:off x="5447723" y="3564731"/>
            <a:ext cx="4357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wall / 帧</a:t>
            </a:r>
            <a:endParaRPr lang="en-US" sz="600" dirty="0"/>
          </a:p>
        </p:txBody>
      </p:sp>
      <p:sp>
        <p:nvSpPr>
          <p:cNvPr id="83" name="Text 76"/>
          <p:cNvSpPr/>
          <p:nvPr/>
        </p:nvSpPr>
        <p:spPr>
          <a:xfrm>
            <a:off x="5447723" y="3700463"/>
            <a:ext cx="435769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247.50</a:t>
            </a:r>
            <a:endParaRPr lang="en-US" sz="1100" dirty="0"/>
          </a:p>
        </p:txBody>
      </p:sp>
      <p:sp>
        <p:nvSpPr>
          <p:cNvPr id="84" name="Text 77"/>
          <p:cNvSpPr/>
          <p:nvPr/>
        </p:nvSpPr>
        <p:spPr>
          <a:xfrm>
            <a:off x="6264287" y="3618309"/>
            <a:ext cx="1500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F7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85" name="Text 78"/>
          <p:cNvSpPr/>
          <p:nvPr/>
        </p:nvSpPr>
        <p:spPr>
          <a:xfrm>
            <a:off x="6793037" y="3564731"/>
            <a:ext cx="6858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600" dirty="0"/>
          </a:p>
        </p:txBody>
      </p:sp>
      <p:sp>
        <p:nvSpPr>
          <p:cNvPr id="86" name="Text 79"/>
          <p:cNvSpPr/>
          <p:nvPr/>
        </p:nvSpPr>
        <p:spPr>
          <a:xfrm>
            <a:off x="6793037" y="3700463"/>
            <a:ext cx="6858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276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151.03 ms</a:t>
            </a:r>
            <a:endParaRPr lang="en-US" sz="1100" dirty="0"/>
          </a:p>
        </p:txBody>
      </p:sp>
      <p:sp>
        <p:nvSpPr>
          <p:cNvPr id="87" name="Text 80"/>
          <p:cNvSpPr/>
          <p:nvPr/>
        </p:nvSpPr>
        <p:spPr>
          <a:xfrm>
            <a:off x="7857902" y="3575447"/>
            <a:ext cx="485775" cy="257175"/>
          </a:xfrm>
          <a:prstGeom prst="roundRect">
            <a:avLst>
              <a:gd name="adj" fmla="val 27160"/>
            </a:avLst>
          </a:prstGeom>
          <a:solidFill>
            <a:srgbClr val="2F7D5C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F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1.64×</a:t>
            </a:r>
            <a:endParaRPr lang="en-US" sz="1000" dirty="0"/>
          </a:p>
        </p:txBody>
      </p:sp>
      <p:sp>
        <p:nvSpPr>
          <p:cNvPr id="88" name="Text 81"/>
          <p:cNvSpPr/>
          <p:nvPr/>
        </p:nvSpPr>
        <p:spPr>
          <a:xfrm>
            <a:off x="578644" y="4079081"/>
            <a:ext cx="798671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600" dirty="0"/>
          </a:p>
        </p:txBody>
      </p:sp>
      <p:pic>
        <p:nvPicPr>
          <p:cNvPr id="8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644" y="564356"/>
            <a:ext cx="7986713" cy="785813"/>
          </a:xfrm>
          <a:prstGeom prst="rect">
            <a:avLst/>
          </a:prstGeom>
        </p:spPr>
      </p:pic>
      <p:pic>
        <p:nvPicPr>
          <p:cNvPr id="9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2589" y="3586163"/>
            <a:ext cx="4250531" cy="242888"/>
          </a:xfrm>
          <a:prstGeom prst="rect">
            <a:avLst/>
          </a:prstGeom>
        </p:spPr>
      </p:pic>
      <p:pic>
        <p:nvPicPr>
          <p:cNvPr id="9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7589" y="2932509"/>
            <a:ext cx="935831" cy="264319"/>
          </a:xfrm>
          <a:prstGeom prst="rect">
            <a:avLst/>
          </a:prstGeom>
        </p:spPr>
      </p:pic>
      <p:pic>
        <p:nvPicPr>
          <p:cNvPr id="9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8644" y="4079081"/>
            <a:ext cx="798671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798671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0294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B / C / D：扩场景、交出去、降带宽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02945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扩场景建立复制能力，交出去建立交付能力，降带宽建立性能收益。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50994" y="564356"/>
            <a:ext cx="657225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9760" y="1478756"/>
            <a:ext cx="2593181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760" y="1478756"/>
            <a:ext cx="2581123" cy="285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231" y="1627324"/>
            <a:ext cx="242888" cy="242888"/>
          </a:xfrm>
          <a:prstGeom prst="roundRect">
            <a:avLst>
              <a:gd name="adj" fmla="val 33218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28588" dist="57150" dir="5400000">
              <a:srgbClr val="0F172A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14413" y="1606786"/>
            <a:ext cx="550069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扩场景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14413" y="1791072"/>
            <a:ext cx="5500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6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领域迁移与复制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707287" y="2000920"/>
            <a:ext cx="885825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领域迁移 SOP · 七步</a:t>
            </a:r>
            <a:endParaRPr lang="en-US" sz="500" dirty="0"/>
          </a:p>
        </p:txBody>
      </p:sp>
      <p:sp>
        <p:nvSpPr>
          <p:cNvPr id="16" name="Shape 12"/>
          <p:cNvSpPr/>
          <p:nvPr/>
        </p:nvSpPr>
        <p:spPr>
          <a:xfrm>
            <a:off x="707287" y="2000920"/>
            <a:ext cx="100013" cy="14288"/>
          </a:xfrm>
          <a:prstGeom prst="rect">
            <a:avLst/>
          </a:prstGeom>
          <a:solidFill>
            <a:srgbClr val="C9974D">
              <a:alpha val="72000"/>
            </a:srgbClr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110" y="2243807"/>
            <a:ext cx="7144" cy="6215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7231" y="2183085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00" dirty="0"/>
          </a:p>
        </p:txBody>
      </p:sp>
      <p:sp>
        <p:nvSpPr>
          <p:cNvPr id="19" name="Text 14"/>
          <p:cNvSpPr/>
          <p:nvPr/>
        </p:nvSpPr>
        <p:spPr>
          <a:xfrm>
            <a:off x="900113" y="2208088"/>
            <a:ext cx="1714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定界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1919101" y="2183085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00" dirty="0"/>
          </a:p>
        </p:txBody>
      </p:sp>
      <p:sp>
        <p:nvSpPr>
          <p:cNvPr id="21" name="Text 16"/>
          <p:cNvSpPr/>
          <p:nvPr/>
        </p:nvSpPr>
        <p:spPr>
          <a:xfrm>
            <a:off x="2111313" y="2208088"/>
            <a:ext cx="42148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 Config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707231" y="2383110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00" dirty="0"/>
          </a:p>
        </p:txBody>
      </p:sp>
      <p:sp>
        <p:nvSpPr>
          <p:cNvPr id="23" name="Text 18"/>
          <p:cNvSpPr/>
          <p:nvPr/>
        </p:nvSpPr>
        <p:spPr>
          <a:xfrm>
            <a:off x="900113" y="2408113"/>
            <a:ext cx="34290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官方特征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1919101" y="2383110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2111871" y="2408113"/>
            <a:ext cx="30718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 对账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707231" y="2583135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900113" y="2608138"/>
            <a:ext cx="34290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特征固化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1919101" y="2583135"/>
            <a:ext cx="315546" cy="142875"/>
          </a:xfrm>
          <a:prstGeom prst="ellipse">
            <a:avLst/>
          </a:prstGeom>
          <a:solidFill>
            <a:srgbClr val="F7F5EF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500" dirty="0"/>
          </a:p>
        </p:txBody>
      </p:sp>
      <p:sp>
        <p:nvSpPr>
          <p:cNvPr id="29" name="Text 24"/>
          <p:cNvSpPr/>
          <p:nvPr/>
        </p:nvSpPr>
        <p:spPr>
          <a:xfrm>
            <a:off x="2111983" y="2608138"/>
            <a:ext cx="25717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防护网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707231" y="2783160"/>
            <a:ext cx="315546" cy="142875"/>
          </a:xfrm>
          <a:prstGeom prst="ellipse">
            <a:avLst/>
          </a:prstGeom>
          <a:solidFill>
            <a:srgbClr val="122033"/>
          </a:solidFill>
          <a:ln w="7144">
            <a:solidFill>
              <a:srgbClr val="122033">
                <a:alpha val="16000"/>
              </a:srgbClr>
            </a:solidFill>
            <a:prstDash val="solid"/>
          </a:ln>
        </p:spPr>
        <p:txBody>
          <a:bodyPr wrap="none" lIns="0" tIns="0" rIns="0" bIns="0" rtlCol="0" anchor="ctr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500" dirty="0"/>
          </a:p>
        </p:txBody>
      </p:sp>
      <p:sp>
        <p:nvSpPr>
          <p:cNvPr id="31" name="Text 26"/>
          <p:cNvSpPr/>
          <p:nvPr/>
        </p:nvSpPr>
        <p:spPr>
          <a:xfrm>
            <a:off x="900113" y="2808163"/>
            <a:ext cx="1714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接线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708347" y="3008188"/>
            <a:ext cx="2336006" cy="221456"/>
          </a:xfrm>
          <a:prstGeom prst="roundRect">
            <a:avLst>
              <a:gd name="adj" fmla="val 39958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1</a:t>
            </a:r>
            <a:pPr algn="ctr" indent="0" marL="0">
              <a:spcBef>
                <a:spcPts val="506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ctr" indent="0" marL="0">
              <a:spcBef>
                <a:spcPts val="506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pPr algn="ctr" indent="0" marL="0">
              <a:spcBef>
                <a:spcPts val="506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ctr" indent="0" marL="0">
              <a:spcBef>
                <a:spcPts val="506"/>
              </a:spcBef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2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708347" y="3300524"/>
            <a:ext cx="2336006" cy="371475"/>
          </a:xfrm>
          <a:prstGeom prst="roundRect">
            <a:avLst>
              <a:gd name="adj" fmla="val 15385"/>
            </a:avLst>
          </a:prstGeom>
          <a:solidFill>
            <a:srgbClr val="122033">
              <a:alpha val="55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786929" y="3372520"/>
            <a:ext cx="217884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唯一验收判据</a:t>
            </a:r>
            <a:endParaRPr lang="en-US" sz="500" dirty="0"/>
          </a:p>
        </p:txBody>
      </p:sp>
      <p:sp>
        <p:nvSpPr>
          <p:cNvPr id="35" name="Text 30"/>
          <p:cNvSpPr/>
          <p:nvPr/>
        </p:nvSpPr>
        <p:spPr>
          <a:xfrm>
            <a:off x="786929" y="3493405"/>
            <a:ext cx="21788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第二个场景跑通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25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SOP 从“能用”到“可复制”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3275186" y="1478756"/>
            <a:ext cx="2593181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5186" y="1478756"/>
            <a:ext cx="2581123" cy="2857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402657" y="1627324"/>
            <a:ext cx="242888" cy="242888"/>
          </a:xfrm>
          <a:prstGeom prst="roundRect">
            <a:avLst>
              <a:gd name="adj" fmla="val 33218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28588" dist="57150" dir="5400000">
              <a:srgbClr val="0F172A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3709839" y="1606786"/>
            <a:ext cx="7858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3709839" y="1791072"/>
            <a:ext cx="78581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6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第三方独立集成与验收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3400871" y="2000920"/>
            <a:ext cx="928688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嵌入式集成 · 八项能力</a:t>
            </a:r>
            <a:endParaRPr lang="en-US" sz="500" dirty="0"/>
          </a:p>
        </p:txBody>
      </p:sp>
      <p:sp>
        <p:nvSpPr>
          <p:cNvPr id="42" name="Shape 36"/>
          <p:cNvSpPr/>
          <p:nvPr/>
        </p:nvSpPr>
        <p:spPr>
          <a:xfrm>
            <a:off x="3400871" y="2000920"/>
            <a:ext cx="100013" cy="14288"/>
          </a:xfrm>
          <a:prstGeom prst="rect">
            <a:avLst/>
          </a:prstGeom>
          <a:solidFill>
            <a:srgbClr val="C9974D">
              <a:alpha val="72000"/>
            </a:srgbClr>
          </a:solidFill>
          <a:ln/>
        </p:spPr>
        <p:txBody>
          <a:bodyPr/>
          <a:p/>
        </p:txBody>
      </p:sp>
      <p:sp>
        <p:nvSpPr>
          <p:cNvPr id="43" name="Text 37"/>
          <p:cNvSpPr/>
          <p:nvPr/>
        </p:nvSpPr>
        <p:spPr>
          <a:xfrm>
            <a:off x="3401374" y="2165226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 版本化</a:t>
            </a:r>
            <a:endParaRPr lang="en-US" sz="600" dirty="0"/>
          </a:p>
        </p:txBody>
      </p:sp>
      <p:sp>
        <p:nvSpPr>
          <p:cNvPr id="44" name="Shape 38"/>
          <p:cNvSpPr/>
          <p:nvPr/>
        </p:nvSpPr>
        <p:spPr>
          <a:xfrm>
            <a:off x="3401374" y="2165226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45" name="Text 39"/>
          <p:cNvSpPr/>
          <p:nvPr/>
        </p:nvSpPr>
        <p:spPr>
          <a:xfrm>
            <a:off x="4591924" y="2165226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契约文档</a:t>
            </a:r>
            <a:endParaRPr lang="en-US" sz="600" dirty="0"/>
          </a:p>
        </p:txBody>
      </p:sp>
      <p:sp>
        <p:nvSpPr>
          <p:cNvPr id="46" name="Shape 40"/>
          <p:cNvSpPr/>
          <p:nvPr/>
        </p:nvSpPr>
        <p:spPr>
          <a:xfrm>
            <a:off x="4591924" y="2165226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47" name="Text 41"/>
          <p:cNvSpPr/>
          <p:nvPr/>
        </p:nvSpPr>
        <p:spPr>
          <a:xfrm>
            <a:off x="3401374" y="2429545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告警分级</a:t>
            </a:r>
            <a:endParaRPr lang="en-US" sz="600" dirty="0"/>
          </a:p>
        </p:txBody>
      </p:sp>
      <p:sp>
        <p:nvSpPr>
          <p:cNvPr id="48" name="Shape 42"/>
          <p:cNvSpPr/>
          <p:nvPr/>
        </p:nvSpPr>
        <p:spPr>
          <a:xfrm>
            <a:off x="3401374" y="2429545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49" name="Text 43"/>
          <p:cNvSpPr/>
          <p:nvPr/>
        </p:nvSpPr>
        <p:spPr>
          <a:xfrm>
            <a:off x="4591924" y="2429545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背压参数化</a:t>
            </a:r>
            <a:endParaRPr lang="en-US" sz="600" dirty="0"/>
          </a:p>
        </p:txBody>
      </p:sp>
      <p:sp>
        <p:nvSpPr>
          <p:cNvPr id="50" name="Shape 44"/>
          <p:cNvSpPr/>
          <p:nvPr/>
        </p:nvSpPr>
        <p:spPr>
          <a:xfrm>
            <a:off x="4591924" y="2429545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51" name="Text 45"/>
          <p:cNvSpPr/>
          <p:nvPr/>
        </p:nvSpPr>
        <p:spPr>
          <a:xfrm>
            <a:off x="3401374" y="2693863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构建对齐</a:t>
            </a:r>
            <a:endParaRPr lang="en-US" sz="600" dirty="0"/>
          </a:p>
        </p:txBody>
      </p:sp>
      <p:sp>
        <p:nvSpPr>
          <p:cNvPr id="52" name="Shape 46"/>
          <p:cNvSpPr/>
          <p:nvPr/>
        </p:nvSpPr>
        <p:spPr>
          <a:xfrm>
            <a:off x="3401374" y="2693863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53" name="Text 47"/>
          <p:cNvSpPr/>
          <p:nvPr/>
        </p:nvSpPr>
        <p:spPr>
          <a:xfrm>
            <a:off x="4591924" y="2693863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兼容矩阵</a:t>
            </a:r>
            <a:endParaRPr lang="en-US" sz="600" dirty="0"/>
          </a:p>
        </p:txBody>
      </p:sp>
      <p:sp>
        <p:nvSpPr>
          <p:cNvPr id="54" name="Shape 48"/>
          <p:cNvSpPr/>
          <p:nvPr/>
        </p:nvSpPr>
        <p:spPr>
          <a:xfrm>
            <a:off x="4591924" y="2693863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55" name="Text 49"/>
          <p:cNvSpPr/>
          <p:nvPr/>
        </p:nvSpPr>
        <p:spPr>
          <a:xfrm>
            <a:off x="3401374" y="2958182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自检产品化</a:t>
            </a:r>
            <a:endParaRPr lang="en-US" sz="600" dirty="0"/>
          </a:p>
        </p:txBody>
      </p:sp>
      <p:sp>
        <p:nvSpPr>
          <p:cNvPr id="56" name="Shape 50"/>
          <p:cNvSpPr/>
          <p:nvPr/>
        </p:nvSpPr>
        <p:spPr>
          <a:xfrm>
            <a:off x="3401374" y="2958182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57" name="Text 51"/>
          <p:cNvSpPr/>
          <p:nvPr/>
        </p:nvSpPr>
        <p:spPr>
          <a:xfrm>
            <a:off x="4591924" y="2958182"/>
            <a:ext cx="1150144" cy="221456"/>
          </a:xfrm>
          <a:prstGeom prst="roundRect">
            <a:avLst>
              <a:gd name="adj" fmla="val 36629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第三方验收</a:t>
            </a:r>
            <a:endParaRPr lang="en-US" sz="600" dirty="0"/>
          </a:p>
        </p:txBody>
      </p:sp>
      <p:sp>
        <p:nvSpPr>
          <p:cNvPr id="58" name="Shape 52"/>
          <p:cNvSpPr/>
          <p:nvPr/>
        </p:nvSpPr>
        <p:spPr>
          <a:xfrm>
            <a:off x="4591924" y="2958182"/>
            <a:ext cx="42863" cy="42863"/>
          </a:xfrm>
          <a:prstGeom prst="rect">
            <a:avLst/>
          </a:prstGeom>
          <a:solidFill>
            <a:srgbClr val="C9974D">
              <a:alpha val="78000"/>
            </a:srgbClr>
          </a:solidFill>
          <a:ln/>
        </p:spPr>
        <p:txBody>
          <a:bodyPr/>
          <a:p/>
        </p:txBody>
      </p:sp>
      <p:sp>
        <p:nvSpPr>
          <p:cNvPr id="59" name="Text 53"/>
          <p:cNvSpPr/>
          <p:nvPr/>
        </p:nvSpPr>
        <p:spPr>
          <a:xfrm>
            <a:off x="4215705" y="3243932"/>
            <a:ext cx="350044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500" dirty="0"/>
          </a:p>
        </p:txBody>
      </p:sp>
      <p:sp>
        <p:nvSpPr>
          <p:cNvPr id="60" name="Text 54"/>
          <p:cNvSpPr/>
          <p:nvPr/>
        </p:nvSpPr>
        <p:spPr>
          <a:xfrm>
            <a:off x="4612798" y="3243932"/>
            <a:ext cx="314325" cy="164306"/>
          </a:xfrm>
          <a:prstGeom prst="roundRect">
            <a:avLst>
              <a:gd name="adj" fmla="val 69565"/>
            </a:avLst>
          </a:prstGeom>
          <a:solidFill>
            <a:srgbClr val="5A6879">
              <a:alpha val="7000"/>
            </a:srgbClr>
          </a:solidFill>
          <a:ln w="7144">
            <a:solidFill>
              <a:srgbClr val="5A6879">
                <a:alpha val="1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</a:t>
            </a:r>
            <a:endParaRPr lang="en-US" sz="500" dirty="0"/>
          </a:p>
        </p:txBody>
      </p:sp>
      <p:sp>
        <p:nvSpPr>
          <p:cNvPr id="61" name="Shape 55"/>
          <p:cNvSpPr/>
          <p:nvPr/>
        </p:nvSpPr>
        <p:spPr>
          <a:xfrm>
            <a:off x="3403774" y="3479118"/>
            <a:ext cx="2336006" cy="371475"/>
          </a:xfrm>
          <a:prstGeom prst="roundRect">
            <a:avLst>
              <a:gd name="adj" fmla="val 15385"/>
            </a:avLst>
          </a:prstGeom>
          <a:solidFill>
            <a:srgbClr val="122033">
              <a:alpha val="55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56"/>
          <p:cNvSpPr/>
          <p:nvPr/>
        </p:nvSpPr>
        <p:spPr>
          <a:xfrm>
            <a:off x="3482355" y="3551113"/>
            <a:ext cx="217884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</a:t>
            </a:r>
            <a:endParaRPr lang="en-US" sz="500" dirty="0"/>
          </a:p>
        </p:txBody>
      </p:sp>
      <p:sp>
        <p:nvSpPr>
          <p:cNvPr id="63" name="Text 57"/>
          <p:cNvSpPr/>
          <p:nvPr/>
        </p:nvSpPr>
        <p:spPr>
          <a:xfrm>
            <a:off x="3482355" y="3671999"/>
            <a:ext cx="21788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25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第三方在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干净环境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25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按文档即可输出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/ FAIL 清单</a:t>
            </a:r>
            <a:endParaRPr lang="en-US" sz="600" dirty="0"/>
          </a:p>
        </p:txBody>
      </p:sp>
      <p:sp>
        <p:nvSpPr>
          <p:cNvPr id="64" name="Shape 58"/>
          <p:cNvSpPr/>
          <p:nvPr/>
        </p:nvSpPr>
        <p:spPr>
          <a:xfrm>
            <a:off x="5970724" y="1478756"/>
            <a:ext cx="2593181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12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0724" y="1478756"/>
            <a:ext cx="2581351" cy="28575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6098084" y="1627324"/>
            <a:ext cx="242888" cy="242888"/>
          </a:xfrm>
          <a:prstGeom prst="roundRect">
            <a:avLst>
              <a:gd name="adj" fmla="val 33218"/>
            </a:avLst>
          </a:prstGeom>
          <a:solidFill>
            <a:srgbClr val="7D5A22"/>
          </a:solidFill>
          <a:ln/>
          <a:effectLst>
            <a:outerShdw sx="100000" sy="100000" kx="0" ky="0" algn="bl" rotWithShape="0" blurRad="128588" dist="57150" dir="5400000">
              <a:srgbClr val="0F172A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900" dirty="0"/>
          </a:p>
        </p:txBody>
      </p:sp>
      <p:sp>
        <p:nvSpPr>
          <p:cNvPr id="67" name="Text 60"/>
          <p:cNvSpPr/>
          <p:nvPr/>
        </p:nvSpPr>
        <p:spPr>
          <a:xfrm>
            <a:off x="6404874" y="1606786"/>
            <a:ext cx="7429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降带宽</a:t>
            </a:r>
            <a:endParaRPr lang="en-US" sz="1000" dirty="0"/>
          </a:p>
        </p:txBody>
      </p:sp>
      <p:sp>
        <p:nvSpPr>
          <p:cNvPr id="68" name="Text 61"/>
          <p:cNvSpPr/>
          <p:nvPr/>
        </p:nvSpPr>
        <p:spPr>
          <a:xfrm>
            <a:off x="6404874" y="1791072"/>
            <a:ext cx="74295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66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输入侧性能收益</a:t>
            </a:r>
            <a:endParaRPr lang="en-US" sz="600" dirty="0"/>
          </a:p>
        </p:txBody>
      </p:sp>
      <p:sp>
        <p:nvSpPr>
          <p:cNvPr id="69" name="Text 62"/>
          <p:cNvSpPr/>
          <p:nvPr/>
        </p:nvSpPr>
        <p:spPr>
          <a:xfrm>
            <a:off x="6097972" y="2000920"/>
            <a:ext cx="1042988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输入侧延迟 · f16 → INT8</a:t>
            </a:r>
            <a:endParaRPr lang="en-US" sz="500" dirty="0"/>
          </a:p>
        </p:txBody>
      </p:sp>
      <p:sp>
        <p:nvSpPr>
          <p:cNvPr id="70" name="Shape 63"/>
          <p:cNvSpPr/>
          <p:nvPr/>
        </p:nvSpPr>
        <p:spPr>
          <a:xfrm>
            <a:off x="6097972" y="2000920"/>
            <a:ext cx="100013" cy="14288"/>
          </a:xfrm>
          <a:prstGeom prst="rect">
            <a:avLst/>
          </a:prstGeom>
          <a:solidFill>
            <a:srgbClr val="C9974D">
              <a:alpha val="72000"/>
            </a:srgbClr>
          </a:solidFill>
          <a:ln/>
        </p:spPr>
        <p:txBody>
          <a:bodyPr/>
          <a:p/>
        </p:txBody>
      </p:sp>
      <p:sp>
        <p:nvSpPr>
          <p:cNvPr id="71" name="Text 64"/>
          <p:cNvSpPr/>
          <p:nvPr/>
        </p:nvSpPr>
        <p:spPr>
          <a:xfrm>
            <a:off x="6096912" y="2178955"/>
            <a:ext cx="914400" cy="535781"/>
          </a:xfrm>
          <a:prstGeom prst="roundRect">
            <a:avLst>
              <a:gd name="adj" fmla="val 8533"/>
            </a:avLst>
          </a:prstGeom>
          <a:solidFill>
            <a:srgbClr val="F4F6F9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116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45.41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500" dirty="0"/>
          </a:p>
        </p:txBody>
      </p:sp>
      <p:sp>
        <p:nvSpPr>
          <p:cNvPr id="72" name="Text 65"/>
          <p:cNvSpPr/>
          <p:nvPr/>
        </p:nvSpPr>
        <p:spPr>
          <a:xfrm>
            <a:off x="7060146" y="2178955"/>
            <a:ext cx="414338" cy="535781"/>
          </a:xfrm>
          <a:prstGeom prst="roundRect">
            <a:avLst>
              <a:gd name="adj" fmla="val 14269"/>
            </a:avLst>
          </a:prstGeom>
          <a:solidFill>
            <a:srgbClr val="C9974D">
              <a:alpha val="13000"/>
            </a:srgbClr>
          </a:solidFill>
          <a:ln w="7144">
            <a:solidFill>
              <a:srgbClr val="C9974D">
                <a:alpha val="2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133×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7523318" y="2178955"/>
            <a:ext cx="914400" cy="535781"/>
          </a:xfrm>
          <a:prstGeom prst="roundRect">
            <a:avLst>
              <a:gd name="adj" fmla="val 8533"/>
            </a:avLst>
          </a:prstGeom>
          <a:solidFill>
            <a:srgbClr val="122033"/>
          </a:solidFill>
          <a:ln w="7144">
            <a:solidFill>
              <a:srgbClr val="122033"/>
            </a:solidFill>
            <a:prstDash val="solid"/>
          </a:ln>
          <a:effectLst>
            <a:outerShdw sx="100000" sy="100000" kx="0" ky="0" algn="bl" rotWithShape="0" blurRad="157163" dist="71438" dir="5400000">
              <a:srgbClr val="0F172A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11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0.34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500" dirty="0"/>
          </a:p>
        </p:txBody>
      </p:sp>
      <p:sp>
        <p:nvSpPr>
          <p:cNvPr id="74" name="Text 67"/>
          <p:cNvSpPr/>
          <p:nvPr/>
        </p:nvSpPr>
        <p:spPr>
          <a:xfrm>
            <a:off x="6099311" y="2769543"/>
            <a:ext cx="2336006" cy="185738"/>
          </a:xfrm>
          <a:prstGeom prst="rect">
            <a:avLst/>
          </a:prstGeom>
          <a:solidFill>
            <a:srgbClr val="C9974D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9"/>
              </a:lnSpc>
              <a:spcBef>
                <a:spcPts val="450"/>
              </a:spcBef>
              <a:buNone/>
            </a:pPr>
            <a:r>
              <a:rPr lang="en-US" sz="500" dirty="0">
                <a:solidFill>
                  <a:srgbClr val="6574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QAT 不保证同时获得更准结果与 INT8 输入延迟收益。</a:t>
            </a:r>
            <a:endParaRPr lang="en-US" sz="500" dirty="0"/>
          </a:p>
        </p:txBody>
      </p:sp>
      <p:sp>
        <p:nvSpPr>
          <p:cNvPr id="75" name="Shape 68"/>
          <p:cNvSpPr/>
          <p:nvPr/>
        </p:nvSpPr>
        <p:spPr>
          <a:xfrm>
            <a:off x="6098698" y="2951708"/>
            <a:ext cx="1143000" cy="414338"/>
          </a:xfrm>
          <a:prstGeom prst="roundRect">
            <a:avLst>
              <a:gd name="adj" fmla="val 12366"/>
            </a:avLst>
          </a:prstGeom>
          <a:solidFill>
            <a:srgbClr val="122033">
              <a:alpha val="55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69"/>
          <p:cNvSpPr/>
          <p:nvPr/>
        </p:nvSpPr>
        <p:spPr>
          <a:xfrm>
            <a:off x="6162991" y="3017788"/>
            <a:ext cx="1014413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输入侧</a:t>
            </a:r>
            <a:endParaRPr lang="en-US" sz="500" dirty="0"/>
          </a:p>
        </p:txBody>
      </p:sp>
      <p:sp>
        <p:nvSpPr>
          <p:cNvPr id="77" name="Text 70"/>
          <p:cNvSpPr/>
          <p:nvPr/>
        </p:nvSpPr>
        <p:spPr>
          <a:xfrm>
            <a:off x="6162377" y="3182094"/>
            <a:ext cx="668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25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 dtype 必须是</a:t>
            </a:r>
            <a:endParaRPr lang="en-US" sz="600" dirty="0"/>
          </a:p>
        </p:txBody>
      </p:sp>
      <p:sp>
        <p:nvSpPr>
          <p:cNvPr id="78" name="Text 71"/>
          <p:cNvSpPr/>
          <p:nvPr/>
        </p:nvSpPr>
        <p:spPr>
          <a:xfrm>
            <a:off x="6830764" y="3158877"/>
            <a:ext cx="257175" cy="142875"/>
          </a:xfrm>
          <a:prstGeom prst="roundRect">
            <a:avLst>
              <a:gd name="adj" fmla="val 56000"/>
            </a:avLst>
          </a:prstGeom>
          <a:solidFill>
            <a:srgbClr val="122033">
              <a:alpha val="75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9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500" dirty="0"/>
          </a:p>
        </p:txBody>
      </p:sp>
      <p:sp>
        <p:nvSpPr>
          <p:cNvPr id="79" name="Shape 72"/>
          <p:cNvSpPr/>
          <p:nvPr/>
        </p:nvSpPr>
        <p:spPr>
          <a:xfrm>
            <a:off x="7292932" y="2951708"/>
            <a:ext cx="1143000" cy="414338"/>
          </a:xfrm>
          <a:prstGeom prst="roundRect">
            <a:avLst>
              <a:gd name="adj" fmla="val 12366"/>
            </a:avLst>
          </a:prstGeom>
          <a:solidFill>
            <a:srgbClr val="122033">
              <a:alpha val="55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Text 73"/>
          <p:cNvSpPr/>
          <p:nvPr/>
        </p:nvSpPr>
        <p:spPr>
          <a:xfrm>
            <a:off x="7357225" y="3017788"/>
            <a:ext cx="1014413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精度侧</a:t>
            </a:r>
            <a:endParaRPr lang="en-US" sz="500" dirty="0"/>
          </a:p>
        </p:txBody>
      </p:sp>
      <p:sp>
        <p:nvSpPr>
          <p:cNvPr id="81" name="Text 74"/>
          <p:cNvSpPr/>
          <p:nvPr/>
        </p:nvSpPr>
        <p:spPr>
          <a:xfrm>
            <a:off x="7357225" y="3138674"/>
            <a:ext cx="101441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25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三轨全量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不劣</a:t>
            </a:r>
            <a:endParaRPr lang="en-US" sz="600" dirty="0"/>
          </a:p>
        </p:txBody>
      </p:sp>
      <p:sp>
        <p:nvSpPr>
          <p:cNvPr id="82" name="Shape 75"/>
          <p:cNvSpPr/>
          <p:nvPr/>
        </p:nvSpPr>
        <p:spPr>
          <a:xfrm>
            <a:off x="578644" y="3650456"/>
            <a:ext cx="7986713" cy="300038"/>
          </a:xfrm>
          <a:prstGeom prst="roundRect">
            <a:avLst>
              <a:gd name="adj" fmla="val 29025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00025" dist="85725" dir="5400000">
              <a:srgbClr val="0F172A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656" y="3714750"/>
            <a:ext cx="171450" cy="171450"/>
          </a:xfrm>
          <a:prstGeom prst="rect">
            <a:avLst/>
          </a:prstGeom>
        </p:spPr>
      </p:pic>
      <p:sp>
        <p:nvSpPr>
          <p:cNvPr id="84" name="Text 76"/>
          <p:cNvSpPr/>
          <p:nvPr/>
        </p:nvSpPr>
        <p:spPr>
          <a:xfrm>
            <a:off x="914177" y="3761184"/>
            <a:ext cx="3429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01</a:t>
            </a:r>
            <a:endParaRPr lang="en-US" sz="500" dirty="0"/>
          </a:p>
        </p:txBody>
      </p:sp>
      <p:sp>
        <p:nvSpPr>
          <p:cNvPr id="85" name="Text 77"/>
          <p:cNvSpPr/>
          <p:nvPr/>
        </p:nvSpPr>
        <p:spPr>
          <a:xfrm>
            <a:off x="1386501" y="3746897"/>
            <a:ext cx="64722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</a:t>
            </a:r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E2C5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toolkit 完成全图 INT8 量化</a:t>
            </a:r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，输入才能真正</a:t>
            </a:r>
            <a:pPr algn="ctr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E2C5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 INT8</a:t>
            </a:r>
            <a:endParaRPr lang="en-US" sz="600" dirty="0"/>
          </a:p>
        </p:txBody>
      </p:sp>
      <p:sp>
        <p:nvSpPr>
          <p:cNvPr id="86" name="Text 78"/>
          <p:cNvSpPr/>
          <p:nvPr/>
        </p:nvSpPr>
        <p:spPr>
          <a:xfrm>
            <a:off x="7987550" y="3754041"/>
            <a:ext cx="4786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未满足则不放行</a:t>
            </a:r>
            <a:endParaRPr lang="en-US" sz="500" dirty="0"/>
          </a:p>
        </p:txBody>
      </p:sp>
      <p:sp>
        <p:nvSpPr>
          <p:cNvPr id="87" name="Text 79"/>
          <p:cNvSpPr/>
          <p:nvPr/>
        </p:nvSpPr>
        <p:spPr>
          <a:xfrm>
            <a:off x="578644" y="4079081"/>
            <a:ext cx="798671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600" dirty="0"/>
          </a:p>
        </p:txBody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8644" y="564356"/>
            <a:ext cx="7986713" cy="785813"/>
          </a:xfrm>
          <a:prstGeom prst="rect">
            <a:avLst/>
          </a:prstGeom>
        </p:spPr>
      </p:pic>
      <p:pic>
        <p:nvPicPr>
          <p:cNvPr id="8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9311" y="2769543"/>
            <a:ext cx="2336006" cy="185738"/>
          </a:xfrm>
          <a:prstGeom prst="rect">
            <a:avLst/>
          </a:prstGeom>
        </p:spPr>
      </p:pic>
      <p:pic>
        <p:nvPicPr>
          <p:cNvPr id="9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8644" y="4079081"/>
            <a:ext cx="798671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564356"/>
            <a:ext cx="8401050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77472" y="401501"/>
            <a:ext cx="1257300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PHASE · 投入决策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问题闭环状态表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先做高确定性、低投入、可并行的优化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19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8086" y="1478756"/>
            <a:ext cx="4757738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14375" y="1614488"/>
            <a:ext cx="150018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优先级主线｜先确定性，后规模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04891" y="1621631"/>
            <a:ext cx="8929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执行顺序 01 → 02 → 03</a:t>
            </a:r>
            <a:endParaRPr lang="en-US" sz="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17" y="1814513"/>
            <a:ext cx="4486275" cy="842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4388" y="2064544"/>
            <a:ext cx="342900" cy="342900"/>
          </a:xfrm>
          <a:prstGeom prst="roundRect">
            <a:avLst>
              <a:gd name="adj" fmla="val 20833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14300" dist="50006" dir="5400000">
              <a:srgbClr val="122033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00" dirty="0"/>
          </a:p>
        </p:txBody>
      </p:sp>
      <p:sp>
        <p:nvSpPr>
          <p:cNvPr id="15" name="Text 11"/>
          <p:cNvSpPr/>
          <p:nvPr/>
        </p:nvSpPr>
        <p:spPr>
          <a:xfrm>
            <a:off x="1284703" y="2010966"/>
            <a:ext cx="127873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A1｜恒等门控 GMC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619412" y="2003822"/>
            <a:ext cx="314325" cy="150019"/>
          </a:xfrm>
          <a:prstGeom prst="roundRect">
            <a:avLst>
              <a:gd name="adj" fmla="val 76190"/>
            </a:avLst>
          </a:prstGeom>
          <a:solidFill>
            <a:srgbClr val="B94E48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F4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1285317" y="2182416"/>
            <a:ext cx="26860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命中战线 A 的 </a:t>
            </a:r>
            <a:pPr algn="l" indent="0" marL="0">
              <a:lnSpc>
                <a:spcPts val="1013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+ L2</a:t>
            </a:r>
            <a:pPr algn="l" indent="0" marL="0">
              <a:lnSpc>
                <a:spcPts val="1013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，立即聚焦少算与重复消除。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1285931" y="2368153"/>
            <a:ext cx="707231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7D5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gmc_fit 60.8 ms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2042052" y="2368153"/>
            <a:ext cx="28575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2118345" y="2353866"/>
            <a:ext cx="84296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 40 ms 红线 +20.8 ms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4056534" y="1946672"/>
            <a:ext cx="1042988" cy="578644"/>
          </a:xfrm>
          <a:prstGeom prst="roundRect">
            <a:avLst>
              <a:gd name="adj" fmla="val 6340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4135115" y="2018109"/>
            <a:ext cx="885825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400" b="1" dirty="0">
                <a:solidFill>
                  <a:srgbClr val="9F4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</a:t>
            </a:r>
            <a:pPr algn="l" indent="0" marL="0">
              <a:spcAft>
                <a:spcPts val="506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135115" y="2260997"/>
            <a:ext cx="885825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35952" y="2260997"/>
            <a:ext cx="671513" cy="5000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8028" y="2232422"/>
            <a:ext cx="14288" cy="107156"/>
          </a:xfrm>
          <a:prstGeom prst="roundRect">
            <a:avLst>
              <a:gd name="adj" fmla="val 799972"/>
            </a:avLst>
          </a:prstGeom>
          <a:solidFill>
            <a:srgbClr val="9F403B"/>
          </a:solidFill>
          <a:ln/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4765439" y="2239566"/>
            <a:ext cx="85725" cy="121444"/>
          </a:xfrm>
          <a:prstGeom prst="ellipse">
            <a:avLst/>
          </a:prstGeom>
          <a:solidFill>
            <a:srgbClr val="B85B55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35719" dist="14288" dir="5400000">
              <a:srgbClr val="12203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4135115" y="2361009"/>
            <a:ext cx="88582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algn="l" indent="0" marL="0"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9F4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ms 红线</a:t>
            </a:r>
            <a:pPr algn="l" indent="0" marL="0"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500" dirty="0"/>
          </a:p>
        </p:txBody>
      </p:sp>
      <p:sp>
        <p:nvSpPr>
          <p:cNvPr id="28" name="Shape 23"/>
          <p:cNvSpPr/>
          <p:nvPr/>
        </p:nvSpPr>
        <p:spPr>
          <a:xfrm>
            <a:off x="713817" y="2714625"/>
            <a:ext cx="4486275" cy="428625"/>
          </a:xfrm>
          <a:prstGeom prst="roundRect">
            <a:avLst>
              <a:gd name="adj" fmla="val 14222"/>
            </a:avLst>
          </a:prstGeom>
          <a:solidFill>
            <a:srgbClr val="FFFFFF">
              <a:alpha val="6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807244" y="2793206"/>
            <a:ext cx="271463" cy="271463"/>
          </a:xfrm>
          <a:prstGeom prst="roundRect">
            <a:avLst>
              <a:gd name="adj" fmla="val 28809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pPr algn="ctr" indent="0" marL="0">
              <a:buNone/>
            </a:pPr>
            <a:r>
              <a:rPr lang="en-US" sz="9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" dirty="0"/>
          </a:p>
        </p:txBody>
      </p:sp>
      <p:sp>
        <p:nvSpPr>
          <p:cNvPr id="30" name="Text 25"/>
          <p:cNvSpPr/>
          <p:nvPr/>
        </p:nvSpPr>
        <p:spPr>
          <a:xfrm>
            <a:off x="1193006" y="2798955"/>
            <a:ext cx="900113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C｜嵌入式集成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2143125" y="2799011"/>
            <a:ext cx="278606" cy="121444"/>
          </a:xfrm>
          <a:prstGeom prst="roundRect">
            <a:avLst>
              <a:gd name="adj" fmla="val 94117"/>
            </a:avLst>
          </a:prstGeom>
          <a:solidFill>
            <a:srgbClr val="2F8564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7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1192448" y="2950369"/>
            <a:ext cx="271462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八项交付工作 · 不占算力 · 可与 A1/B 并行</a:t>
            </a:r>
            <a:endParaRPr lang="en-US" sz="600" dirty="0"/>
          </a:p>
        </p:txBody>
      </p:sp>
      <p:sp>
        <p:nvSpPr>
          <p:cNvPr id="33" name="Shape 28"/>
          <p:cNvSpPr/>
          <p:nvPr/>
        </p:nvSpPr>
        <p:spPr>
          <a:xfrm>
            <a:off x="3978846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4123506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4268167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6" name="Shape 31"/>
          <p:cNvSpPr/>
          <p:nvPr/>
        </p:nvSpPr>
        <p:spPr>
          <a:xfrm>
            <a:off x="4412828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4557489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8" name="Shape 33"/>
          <p:cNvSpPr/>
          <p:nvPr/>
        </p:nvSpPr>
        <p:spPr>
          <a:xfrm>
            <a:off x="4702150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39" name="Shape 34"/>
          <p:cNvSpPr/>
          <p:nvPr/>
        </p:nvSpPr>
        <p:spPr>
          <a:xfrm>
            <a:off x="4846811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40" name="Shape 35"/>
          <p:cNvSpPr/>
          <p:nvPr/>
        </p:nvSpPr>
        <p:spPr>
          <a:xfrm>
            <a:off x="4991472" y="2828925"/>
            <a:ext cx="114300" cy="42863"/>
          </a:xfrm>
          <a:prstGeom prst="roundRect">
            <a:avLst>
              <a:gd name="adj" fmla="val 266664"/>
            </a:avLst>
          </a:prstGeom>
          <a:solidFill>
            <a:srgbClr val="C99753"/>
          </a:solidFill>
          <a:ln/>
        </p:spPr>
        <p:txBody>
          <a:bodyPr/>
          <a:p/>
        </p:txBody>
      </p:sp>
      <p:sp>
        <p:nvSpPr>
          <p:cNvPr id="41" name="Shape 36"/>
          <p:cNvSpPr/>
          <p:nvPr/>
        </p:nvSpPr>
        <p:spPr>
          <a:xfrm>
            <a:off x="3993133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2" name="Shape 37"/>
          <p:cNvSpPr/>
          <p:nvPr/>
        </p:nvSpPr>
        <p:spPr>
          <a:xfrm>
            <a:off x="4137794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3" name="Shape 38"/>
          <p:cNvSpPr/>
          <p:nvPr/>
        </p:nvSpPr>
        <p:spPr>
          <a:xfrm>
            <a:off x="4282455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4" name="Shape 39"/>
          <p:cNvSpPr/>
          <p:nvPr/>
        </p:nvSpPr>
        <p:spPr>
          <a:xfrm>
            <a:off x="4427116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5" name="Shape 40"/>
          <p:cNvSpPr/>
          <p:nvPr/>
        </p:nvSpPr>
        <p:spPr>
          <a:xfrm>
            <a:off x="4571777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6" name="Shape 41"/>
          <p:cNvSpPr/>
          <p:nvPr/>
        </p:nvSpPr>
        <p:spPr>
          <a:xfrm>
            <a:off x="4716438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7" name="Shape 42"/>
          <p:cNvSpPr/>
          <p:nvPr/>
        </p:nvSpPr>
        <p:spPr>
          <a:xfrm>
            <a:off x="4861099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8" name="Shape 43"/>
          <p:cNvSpPr/>
          <p:nvPr/>
        </p:nvSpPr>
        <p:spPr>
          <a:xfrm>
            <a:off x="5005760" y="2943225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99753"/>
            </a:solidFill>
            <a:prstDash val="solid"/>
          </a:ln>
        </p:spPr>
        <p:txBody>
          <a:bodyPr/>
          <a:p/>
        </p:txBody>
      </p:sp>
      <p:sp>
        <p:nvSpPr>
          <p:cNvPr id="49" name="Shape 44"/>
          <p:cNvSpPr/>
          <p:nvPr/>
        </p:nvSpPr>
        <p:spPr>
          <a:xfrm>
            <a:off x="713817" y="3200400"/>
            <a:ext cx="4486275" cy="385763"/>
          </a:xfrm>
          <a:prstGeom prst="roundRect">
            <a:avLst>
              <a:gd name="adj" fmla="val 16461"/>
            </a:avLst>
          </a:prstGeom>
          <a:solidFill>
            <a:srgbClr val="F4F6F9">
              <a:alpha val="7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5"/>
          <p:cNvSpPr/>
          <p:nvPr/>
        </p:nvSpPr>
        <p:spPr>
          <a:xfrm>
            <a:off x="807244" y="326469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pPr algn="ctr" indent="0" marL="0">
              <a:buNone/>
            </a:pPr>
            <a:r>
              <a:rPr lang="en-US" sz="9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956"/>
              </a:lnSpc>
              <a:buNone/>
            </a:pPr>
            <a:r>
              <a:rPr lang="en-US" sz="9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" dirty="0"/>
          </a:p>
        </p:txBody>
      </p:sp>
      <p:sp>
        <p:nvSpPr>
          <p:cNvPr id="51" name="Text 46"/>
          <p:cNvSpPr/>
          <p:nvPr/>
        </p:nvSpPr>
        <p:spPr>
          <a:xfrm>
            <a:off x="1192448" y="3265308"/>
            <a:ext cx="24717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B｜第二个场景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1192448" y="3414043"/>
            <a:ext cx="24717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长周期验证，决定 SOP 是否真正可复制。</a:t>
            </a:r>
            <a:endParaRPr lang="en-US" sz="600" dirty="0"/>
          </a:p>
        </p:txBody>
      </p:sp>
      <p:sp>
        <p:nvSpPr>
          <p:cNvPr id="53" name="Text 48"/>
          <p:cNvSpPr/>
          <p:nvPr/>
        </p:nvSpPr>
        <p:spPr>
          <a:xfrm>
            <a:off x="3561048" y="3311128"/>
            <a:ext cx="357187" cy="164306"/>
          </a:xfrm>
          <a:prstGeom prst="roundRect">
            <a:avLst>
              <a:gd name="adj" fmla="val 42344"/>
            </a:avLst>
          </a:prstGeom>
          <a:solidFill>
            <a:srgbClr val="FFFFFF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现在启动</a:t>
            </a:r>
            <a:endParaRPr lang="en-US" sz="500" dirty="0"/>
          </a:p>
        </p:txBody>
      </p:sp>
      <p:sp>
        <p:nvSpPr>
          <p:cNvPr id="54" name="Text 49"/>
          <p:cNvSpPr/>
          <p:nvPr/>
        </p:nvSpPr>
        <p:spPr>
          <a:xfrm>
            <a:off x="3953954" y="3357562"/>
            <a:ext cx="64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C997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55" name="Text 50"/>
          <p:cNvSpPr/>
          <p:nvPr/>
        </p:nvSpPr>
        <p:spPr>
          <a:xfrm>
            <a:off x="4053967" y="3311128"/>
            <a:ext cx="421481" cy="164306"/>
          </a:xfrm>
          <a:prstGeom prst="roundRect">
            <a:avLst>
              <a:gd name="adj" fmla="val 42344"/>
            </a:avLst>
          </a:prstGeom>
          <a:solidFill>
            <a:srgbClr val="FFFFFF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长周期验证</a:t>
            </a:r>
            <a:endParaRPr lang="en-US" sz="500" dirty="0"/>
          </a:p>
        </p:txBody>
      </p:sp>
      <p:sp>
        <p:nvSpPr>
          <p:cNvPr id="56" name="Text 51"/>
          <p:cNvSpPr/>
          <p:nvPr/>
        </p:nvSpPr>
        <p:spPr>
          <a:xfrm>
            <a:off x="4511167" y="3357562"/>
            <a:ext cx="64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C997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57" name="Text 52"/>
          <p:cNvSpPr/>
          <p:nvPr/>
        </p:nvSpPr>
        <p:spPr>
          <a:xfrm>
            <a:off x="4612463" y="3318272"/>
            <a:ext cx="492919" cy="150019"/>
          </a:xfrm>
          <a:prstGeom prst="roundRect">
            <a:avLst>
              <a:gd name="adj" fmla="val 50794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复制判定</a:t>
            </a:r>
            <a:endParaRPr lang="en-US" sz="500" dirty="0"/>
          </a:p>
        </p:txBody>
      </p:sp>
      <p:sp>
        <p:nvSpPr>
          <p:cNvPr id="58" name="Shape 53"/>
          <p:cNvSpPr/>
          <p:nvPr/>
        </p:nvSpPr>
        <p:spPr>
          <a:xfrm>
            <a:off x="5464355" y="1478756"/>
            <a:ext cx="3514725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Text 54"/>
          <p:cNvSpPr/>
          <p:nvPr/>
        </p:nvSpPr>
        <p:spPr>
          <a:xfrm>
            <a:off x="5599584" y="1614488"/>
            <a:ext cx="107156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残留硬指标｜持续守门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8550957" y="1657350"/>
            <a:ext cx="42863" cy="42863"/>
          </a:xfrm>
          <a:prstGeom prst="ellipse">
            <a:avLst/>
          </a:prstGeom>
          <a:solidFill>
            <a:srgbClr val="B85B55"/>
          </a:solidFill>
          <a:ln/>
          <a:effectLst>
            <a:outerShdw sx="100000" sy="100000" kx="0" ky="0" algn="bl" rotWithShape="0" blurRad="101600" dist="50800" dir="16200000">
              <a:srgbClr val="B85B5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1" name="Text 56"/>
          <p:cNvSpPr/>
          <p:nvPr/>
        </p:nvSpPr>
        <p:spPr>
          <a:xfrm>
            <a:off x="8629538" y="1646634"/>
            <a:ext cx="214313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</a:t>
            </a:r>
            <a:endParaRPr lang="en-US" sz="500" dirty="0"/>
          </a:p>
        </p:txBody>
      </p:sp>
      <p:sp>
        <p:nvSpPr>
          <p:cNvPr id="62" name="Shape 57"/>
          <p:cNvSpPr/>
          <p:nvPr/>
        </p:nvSpPr>
        <p:spPr>
          <a:xfrm>
            <a:off x="5600086" y="1807369"/>
            <a:ext cx="3243262" cy="457200"/>
          </a:xfrm>
          <a:prstGeom prst="roundRect">
            <a:avLst>
              <a:gd name="adj" fmla="val 10938"/>
            </a:avLst>
          </a:prstGeom>
          <a:solidFill>
            <a:srgbClr val="B85B55">
              <a:alpha val="7500"/>
            </a:srgbClr>
          </a:solidFill>
          <a:ln w="7144">
            <a:solidFill>
              <a:srgbClr val="B85B55">
                <a:alpha val="1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58"/>
          <p:cNvSpPr/>
          <p:nvPr/>
        </p:nvSpPr>
        <p:spPr>
          <a:xfrm>
            <a:off x="5678165" y="1907381"/>
            <a:ext cx="28575" cy="257175"/>
          </a:xfrm>
          <a:prstGeom prst="roundRect">
            <a:avLst>
              <a:gd name="adj" fmla="val 400000"/>
            </a:avLst>
          </a:prstGeom>
          <a:solidFill>
            <a:srgbClr val="B85B55"/>
          </a:solidFill>
          <a:ln/>
        </p:spPr>
        <p:txBody>
          <a:bodyPr/>
          <a:p/>
        </p:txBody>
      </p:sp>
      <p:sp>
        <p:nvSpPr>
          <p:cNvPr id="64" name="Text 59"/>
          <p:cNvSpPr/>
          <p:nvPr/>
        </p:nvSpPr>
        <p:spPr>
          <a:xfrm>
            <a:off x="5800279" y="1914525"/>
            <a:ext cx="22288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吞吐</a:t>
            </a:r>
            <a:endParaRPr lang="en-US" sz="600" dirty="0"/>
          </a:p>
        </p:txBody>
      </p:sp>
      <p:sp>
        <p:nvSpPr>
          <p:cNvPr id="65" name="Text 60"/>
          <p:cNvSpPr/>
          <p:nvPr/>
        </p:nvSpPr>
        <p:spPr>
          <a:xfrm>
            <a:off x="5800279" y="2050256"/>
            <a:ext cx="22288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step2 独立口径：差 4 倍</a:t>
            </a:r>
            <a:endParaRPr lang="en-US" sz="500" dirty="0"/>
          </a:p>
        </p:txBody>
      </p:sp>
      <p:sp>
        <p:nvSpPr>
          <p:cNvPr id="66" name="Text 61"/>
          <p:cNvSpPr/>
          <p:nvPr/>
        </p:nvSpPr>
        <p:spPr>
          <a:xfrm>
            <a:off x="8101124" y="1893094"/>
            <a:ext cx="664369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1000" b="1" dirty="0">
                <a:solidFill>
                  <a:srgbClr val="9F4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60.8～61.2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8101124" y="2064544"/>
            <a:ext cx="6643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9F4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40 ms 红线</a:t>
            </a:r>
            <a:endParaRPr lang="en-US" sz="500" dirty="0"/>
          </a:p>
        </p:txBody>
      </p:sp>
      <p:sp>
        <p:nvSpPr>
          <p:cNvPr id="68" name="Shape 63"/>
          <p:cNvSpPr/>
          <p:nvPr/>
        </p:nvSpPr>
        <p:spPr>
          <a:xfrm>
            <a:off x="5600086" y="2307431"/>
            <a:ext cx="3243262" cy="378619"/>
          </a:xfrm>
          <a:prstGeom prst="roundRect">
            <a:avLst>
              <a:gd name="adj" fmla="val 15949"/>
            </a:avLst>
          </a:prstGeom>
          <a:solidFill>
            <a:srgbClr val="D28B36">
              <a:alpha val="7500"/>
            </a:srgbClr>
          </a:solidFill>
          <a:ln w="7144">
            <a:solidFill>
              <a:srgbClr val="D28B36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Shape 64"/>
          <p:cNvSpPr/>
          <p:nvPr/>
        </p:nvSpPr>
        <p:spPr>
          <a:xfrm>
            <a:off x="5678165" y="2382441"/>
            <a:ext cx="28575" cy="228600"/>
          </a:xfrm>
          <a:prstGeom prst="roundRect">
            <a:avLst>
              <a:gd name="adj" fmla="val 400000"/>
            </a:avLst>
          </a:prstGeom>
          <a:solidFill>
            <a:srgbClr val="D28B36"/>
          </a:solidFill>
          <a:ln/>
        </p:spPr>
        <p:txBody>
          <a:bodyPr/>
          <a:p/>
        </p:txBody>
      </p:sp>
      <p:sp>
        <p:nvSpPr>
          <p:cNvPr id="70" name="Text 65"/>
          <p:cNvSpPr/>
          <p:nvPr/>
        </p:nvSpPr>
        <p:spPr>
          <a:xfrm>
            <a:off x="5798883" y="2382441"/>
            <a:ext cx="22217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吞吐剩余空间</a:t>
            </a:r>
            <a:endParaRPr lang="en-US" sz="600" dirty="0"/>
          </a:p>
        </p:txBody>
      </p:sp>
      <p:sp>
        <p:nvSpPr>
          <p:cNvPr id="71" name="Text 66"/>
          <p:cNvSpPr/>
          <p:nvPr/>
        </p:nvSpPr>
        <p:spPr>
          <a:xfrm>
            <a:off x="5798883" y="2518172"/>
            <a:ext cx="222170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7C6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空间紧张，禁止无效堆叠</a:t>
            </a:r>
            <a:endParaRPr lang="en-US" sz="500" dirty="0"/>
          </a:p>
        </p:txBody>
      </p:sp>
      <p:sp>
        <p:nvSpPr>
          <p:cNvPr id="72" name="Text 67"/>
          <p:cNvSpPr/>
          <p:nvPr/>
        </p:nvSpPr>
        <p:spPr>
          <a:xfrm>
            <a:off x="8092585" y="2425303"/>
            <a:ext cx="6715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B56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3%～5%</a:t>
            </a:r>
            <a:endParaRPr lang="en-US" sz="1100" dirty="0"/>
          </a:p>
        </p:txBody>
      </p:sp>
      <p:sp>
        <p:nvSpPr>
          <p:cNvPr id="73" name="Shape 68"/>
          <p:cNvSpPr/>
          <p:nvPr/>
        </p:nvSpPr>
        <p:spPr>
          <a:xfrm>
            <a:off x="5600086" y="2728913"/>
            <a:ext cx="3243262" cy="378619"/>
          </a:xfrm>
          <a:prstGeom prst="roundRect">
            <a:avLst>
              <a:gd name="adj" fmla="val 15949"/>
            </a:avLst>
          </a:prstGeom>
          <a:solidFill>
            <a:srgbClr val="497EA9">
              <a:alpha val="7000"/>
            </a:srgbClr>
          </a:solidFill>
          <a:ln w="7144">
            <a:solidFill>
              <a:srgbClr val="497EA9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Shape 69"/>
          <p:cNvSpPr/>
          <p:nvPr/>
        </p:nvSpPr>
        <p:spPr>
          <a:xfrm>
            <a:off x="5678165" y="2803922"/>
            <a:ext cx="28575" cy="228600"/>
          </a:xfrm>
          <a:prstGeom prst="roundRect">
            <a:avLst>
              <a:gd name="adj" fmla="val 400000"/>
            </a:avLst>
          </a:prstGeom>
          <a:solidFill>
            <a:srgbClr val="497EA9"/>
          </a:solidFill>
          <a:ln/>
        </p:spPr>
        <p:txBody>
          <a:bodyPr/>
          <a:p/>
        </p:txBody>
      </p:sp>
      <p:sp>
        <p:nvSpPr>
          <p:cNvPr id="75" name="Text 70"/>
          <p:cNvSpPr/>
          <p:nvPr/>
        </p:nvSpPr>
        <p:spPr>
          <a:xfrm>
            <a:off x="5798158" y="2803922"/>
            <a:ext cx="24931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 移出 NPU 线程</a:t>
            </a:r>
            <a:endParaRPr lang="en-US" sz="600" dirty="0"/>
          </a:p>
        </p:txBody>
      </p:sp>
      <p:sp>
        <p:nvSpPr>
          <p:cNvPr id="76" name="Text 71"/>
          <p:cNvSpPr/>
          <p:nvPr/>
        </p:nvSpPr>
        <p:spPr>
          <a:xfrm>
            <a:off x="5798158" y="2939653"/>
            <a:ext cx="2493169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607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减少搬运，回收线程资源</a:t>
            </a:r>
            <a:endParaRPr lang="en-US" sz="500" dirty="0"/>
          </a:p>
        </p:txBody>
      </p:sp>
      <p:sp>
        <p:nvSpPr>
          <p:cNvPr id="77" name="Text 72"/>
          <p:cNvSpPr/>
          <p:nvPr/>
        </p:nvSpPr>
        <p:spPr>
          <a:xfrm>
            <a:off x="8359750" y="2778919"/>
            <a:ext cx="40719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00" b="1" dirty="0">
                <a:solidFill>
                  <a:srgbClr val="356F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10%</a:t>
            </a:r>
            <a:endParaRPr lang="en-US" sz="1100" dirty="0"/>
          </a:p>
        </p:txBody>
      </p:sp>
      <p:sp>
        <p:nvSpPr>
          <p:cNvPr id="78" name="Text 73"/>
          <p:cNvSpPr/>
          <p:nvPr/>
        </p:nvSpPr>
        <p:spPr>
          <a:xfrm>
            <a:off x="8359750" y="2957513"/>
            <a:ext cx="4071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497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可回收 →</a:t>
            </a:r>
            <a:endParaRPr lang="en-US" sz="500" dirty="0"/>
          </a:p>
        </p:txBody>
      </p:sp>
      <p:sp>
        <p:nvSpPr>
          <p:cNvPr id="79" name="Shape 74"/>
          <p:cNvSpPr/>
          <p:nvPr/>
        </p:nvSpPr>
        <p:spPr>
          <a:xfrm>
            <a:off x="5600086" y="3150394"/>
            <a:ext cx="3243262" cy="435769"/>
          </a:xfrm>
          <a:prstGeom prst="roundRect">
            <a:avLst>
              <a:gd name="adj" fmla="val 12040"/>
            </a:avLst>
          </a:prstGeom>
          <a:solidFill>
            <a:srgbClr val="122033">
              <a:alpha val="5500"/>
            </a:srgbClr>
          </a:solidFill>
          <a:ln w="7144">
            <a:solidFill>
              <a:srgbClr val="122033">
                <a:alpha val="23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Shape 75"/>
          <p:cNvSpPr/>
          <p:nvPr/>
        </p:nvSpPr>
        <p:spPr>
          <a:xfrm>
            <a:off x="5678165" y="3232547"/>
            <a:ext cx="28575" cy="271463"/>
          </a:xfrm>
          <a:prstGeom prst="roundRect">
            <a:avLst>
              <a:gd name="adj" fmla="val 400000"/>
            </a:avLst>
          </a:prstGeom>
          <a:solidFill>
            <a:srgbClr val="122033"/>
          </a:solidFill>
          <a:ln/>
        </p:spPr>
        <p:txBody>
          <a:bodyPr/>
          <a:p/>
        </p:txBody>
      </p:sp>
      <p:sp>
        <p:nvSpPr>
          <p:cNvPr id="81" name="Text 76"/>
          <p:cNvSpPr/>
          <p:nvPr/>
        </p:nvSpPr>
        <p:spPr>
          <a:xfrm>
            <a:off x="5797879" y="3253978"/>
            <a:ext cx="21145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守门条件｜前提</a:t>
            </a:r>
            <a:endParaRPr lang="en-US" sz="600" dirty="0"/>
          </a:p>
        </p:txBody>
      </p:sp>
      <p:sp>
        <p:nvSpPr>
          <p:cNvPr id="82" name="Text 77"/>
          <p:cNvSpPr/>
          <p:nvPr/>
        </p:nvSpPr>
        <p:spPr>
          <a:xfrm>
            <a:off x="5797879" y="3389709"/>
            <a:ext cx="21145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锚定等价成立的必要边界</a:t>
            </a:r>
            <a:endParaRPr lang="en-US" sz="500" dirty="0"/>
          </a:p>
        </p:txBody>
      </p:sp>
      <p:sp>
        <p:nvSpPr>
          <p:cNvPr id="83" name="Text 78"/>
          <p:cNvSpPr/>
          <p:nvPr/>
        </p:nvSpPr>
        <p:spPr>
          <a:xfrm>
            <a:off x="7980797" y="3271838"/>
            <a:ext cx="785813" cy="192881"/>
          </a:xfrm>
          <a:prstGeom prst="roundRect">
            <a:avLst>
              <a:gd name="adj" fmla="val 39506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 == 0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578644" y="3636169"/>
            <a:ext cx="8401050" cy="314325"/>
          </a:xfrm>
          <a:prstGeom prst="roundRect">
            <a:avLst>
              <a:gd name="adj" fmla="val 26446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1450" dist="71438" dir="5400000">
              <a:srgbClr val="1220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5" name="Text 80"/>
          <p:cNvSpPr/>
          <p:nvPr/>
        </p:nvSpPr>
        <p:spPr>
          <a:xfrm>
            <a:off x="707231" y="3700463"/>
            <a:ext cx="185738" cy="185738"/>
          </a:xfrm>
          <a:prstGeom prst="roundRect">
            <a:avLst>
              <a:gd name="adj" fmla="val 37870"/>
            </a:avLst>
          </a:prstGeom>
          <a:solidFill>
            <a:srgbClr val="C9974D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C7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∑</a:t>
            </a:r>
            <a:endParaRPr lang="en-US" sz="800" dirty="0"/>
          </a:p>
        </p:txBody>
      </p:sp>
      <p:sp>
        <p:nvSpPr>
          <p:cNvPr id="86" name="Text 81"/>
          <p:cNvSpPr/>
          <p:nvPr/>
        </p:nvSpPr>
        <p:spPr>
          <a:xfrm>
            <a:off x="979922" y="3714750"/>
            <a:ext cx="26717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下一阶段的核心是“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E4C7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少算</a:t>
            </a:r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”而不是“</a:t>
            </a:r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多算</a:t>
            </a:r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”——把重复与搬运打到极致</a:t>
            </a:r>
            <a:endParaRPr lang="en-US" sz="700" dirty="0"/>
          </a:p>
        </p:txBody>
      </p:sp>
      <p:sp>
        <p:nvSpPr>
          <p:cNvPr id="87" name="Text 82"/>
          <p:cNvSpPr/>
          <p:nvPr/>
        </p:nvSpPr>
        <p:spPr>
          <a:xfrm>
            <a:off x="7238237" y="3704034"/>
            <a:ext cx="528638" cy="178594"/>
          </a:xfrm>
          <a:prstGeom prst="roundRect">
            <a:avLst>
              <a:gd name="adj" fmla="val 64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FE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立即聚焦</a:t>
            </a:r>
            <a:endParaRPr lang="en-US" sz="500" dirty="0"/>
          </a:p>
        </p:txBody>
      </p:sp>
      <p:sp>
        <p:nvSpPr>
          <p:cNvPr id="88" name="Text 83"/>
          <p:cNvSpPr/>
          <p:nvPr/>
        </p:nvSpPr>
        <p:spPr>
          <a:xfrm>
            <a:off x="7822406" y="3704034"/>
            <a:ext cx="485775" cy="178594"/>
          </a:xfrm>
          <a:prstGeom prst="roundRect">
            <a:avLst>
              <a:gd name="adj" fmla="val 64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FE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并行交付</a:t>
            </a:r>
            <a:endParaRPr lang="en-US" sz="500" dirty="0"/>
          </a:p>
        </p:txBody>
      </p:sp>
      <p:sp>
        <p:nvSpPr>
          <p:cNvPr id="89" name="Text 84"/>
          <p:cNvSpPr/>
          <p:nvPr/>
        </p:nvSpPr>
        <p:spPr>
          <a:xfrm>
            <a:off x="8365331" y="3704034"/>
            <a:ext cx="485775" cy="178594"/>
          </a:xfrm>
          <a:prstGeom prst="roundRect">
            <a:avLst>
              <a:gd name="adj" fmla="val 64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FE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长期验证</a:t>
            </a:r>
            <a:endParaRPr lang="en-US" sz="500" dirty="0"/>
          </a:p>
        </p:txBody>
      </p:sp>
      <p:sp>
        <p:nvSpPr>
          <p:cNvPr id="90" name="Text 85"/>
          <p:cNvSpPr/>
          <p:nvPr/>
        </p:nvSpPr>
        <p:spPr>
          <a:xfrm>
            <a:off x="578644" y="4079081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600" dirty="0"/>
          </a:p>
        </p:txBody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644" y="564356"/>
            <a:ext cx="8401050" cy="785813"/>
          </a:xfrm>
          <a:prstGeom prst="rect">
            <a:avLst/>
          </a:prstGeom>
        </p:spPr>
      </p:pic>
      <p:pic>
        <p:nvPicPr>
          <p:cNvPr id="9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644" y="4079081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78644" y="693516"/>
            <a:ext cx="7986713" cy="785813"/>
          </a:xfrm>
          <a:prstGeom prst="rect">
            <a:avLst/>
          </a:prstGeom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32732" y="586265"/>
            <a:ext cx="1621631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REALTIME PIPELINE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832732" y="586265"/>
            <a:ext cx="42863" cy="42863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2651" y="871349"/>
            <a:ext cx="63865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2651" y="1205292"/>
            <a:ext cx="63865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性能优化 × NPU 算子适配 · 工程化阶段汇报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614951" y="715233"/>
            <a:ext cx="657225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19/19</a:t>
            </a:r>
            <a:endParaRPr lang="en-US" sz="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589" y="1467326"/>
            <a:ext cx="4521994" cy="24717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7045" y="1745360"/>
            <a:ext cx="4079081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8C1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CLOSING · 阶段成果收束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937045" y="1745360"/>
            <a:ext cx="171450" cy="7144"/>
          </a:xfrm>
          <a:prstGeom prst="rect">
            <a:avLst/>
          </a:prstGeom>
          <a:solidFill>
            <a:srgbClr val="C9974D">
              <a:alpha val="85000"/>
            </a:srgbClr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53262" y="1916349"/>
            <a:ext cx="3714750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spcBef>
                <a:spcPts val="563"/>
              </a:spcBef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谢谢聆听，敬请指正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38974" y="2267286"/>
            <a:ext cx="407193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8"/>
              </a:lnSpc>
              <a:spcBef>
                <a:spcPts val="844"/>
              </a:spcBef>
              <a:buNone/>
            </a:pPr>
            <a:r>
              <a:rPr lang="en-US" sz="900" dirty="0">
                <a:solidFill>
                  <a:srgbClr val="F8FAFC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 PC 上的算法图，变成 </a:t>
            </a:r>
            <a:pPr algn="l" indent="0" marL="0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E5C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</a:t>
            </a:r>
            <a:pPr algn="l" indent="0" marL="0">
              <a:lnSpc>
                <a:spcPts val="1458"/>
              </a:lnSpc>
              <a:spcBef>
                <a:spcPts val="844"/>
              </a:spcBef>
              <a:buNone/>
            </a:pPr>
            <a:r>
              <a:rPr lang="en-US" sz="900" dirty="0">
                <a:solidFill>
                  <a:srgbClr val="F8FAFC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上可并行、可量化、可验收的 </a:t>
            </a:r>
            <a:pPr algn="l" indent="0" marL="0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E5C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实时管线</a:t>
            </a:r>
            <a:pPr algn="l" indent="0" marL="0">
              <a:lnSpc>
                <a:spcPts val="1458"/>
              </a:lnSpc>
              <a:spcBef>
                <a:spcPts val="844"/>
              </a:spcBef>
              <a:buNone/>
            </a:pPr>
            <a:r>
              <a:rPr lang="en-US" sz="900" dirty="0">
                <a:solidFill>
                  <a:srgbClr val="F8FAFC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61489" y="2537817"/>
            <a:ext cx="1000125" cy="478631"/>
          </a:xfrm>
          <a:prstGeom prst="roundRect">
            <a:avLst>
              <a:gd name="adj" fmla="val 10693"/>
            </a:avLst>
          </a:prstGeom>
          <a:solidFill>
            <a:srgbClr val="FFFFFF">
              <a:alpha val="5500"/>
            </a:srgbClr>
          </a:solidFill>
          <a:ln w="7144">
            <a:solidFill>
              <a:srgbClr val="FFFFFF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算法图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75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F8FAFC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原始计算链路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050964" y="2537817"/>
            <a:ext cx="242888" cy="47863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265629" y="2537817"/>
            <a:ext cx="1421606" cy="478631"/>
          </a:xfrm>
          <a:prstGeom prst="roundRect">
            <a:avLst>
              <a:gd name="adj" fmla="val 10693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4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优化 × NPU 适配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75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F8FAFC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双核心工程化攻关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659013" y="2537817"/>
            <a:ext cx="242888" cy="47863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891251" y="2537817"/>
            <a:ext cx="1000125" cy="478631"/>
          </a:xfrm>
          <a:prstGeom prst="roundRect">
            <a:avLst>
              <a:gd name="adj" fmla="val 10693"/>
            </a:avLst>
          </a:prstGeom>
          <a:solidFill>
            <a:srgbClr val="FFFFFF">
              <a:alpha val="5500"/>
            </a:srgbClr>
          </a:solidFill>
          <a:ln w="7144">
            <a:solidFill>
              <a:srgbClr val="FFFFFF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实时管线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75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F8FAFC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板卡端稳定运行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1083279" y="3087314"/>
            <a:ext cx="464344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6D5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1083279" y="3087314"/>
            <a:ext cx="28575" cy="28575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563055" y="3087314"/>
            <a:ext cx="464344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6D5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1563055" y="3087314"/>
            <a:ext cx="28575" cy="28575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2042826" y="3087314"/>
            <a:ext cx="464344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6D5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可验收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2042826" y="3087314"/>
            <a:ext cx="28575" cy="28575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2522598" y="3087314"/>
            <a:ext cx="464344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6D5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2522598" y="3087314"/>
            <a:ext cx="28575" cy="28575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937045" y="3442715"/>
            <a:ext cx="4079081" cy="2428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个工作汇报点｜聚焦 GMC × NPU 两大核心难题</a:t>
            </a:r>
            <a:pPr algn="l"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F8FAFC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算法攻坚组 · 工程化阶段汇报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037987" y="1533869"/>
            <a:ext cx="3343275" cy="778669"/>
          </a:xfrm>
          <a:prstGeom prst="roundRect">
            <a:avLst>
              <a:gd name="adj" fmla="val 215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5037987" y="1633882"/>
            <a:ext cx="21431" cy="561789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5264801" y="1773677"/>
            <a:ext cx="342900" cy="342900"/>
          </a:xfrm>
          <a:prstGeom prst="roundRect">
            <a:avLst>
              <a:gd name="adj" fmla="val 20833"/>
            </a:avLst>
          </a:prstGeom>
          <a:solidFill>
            <a:srgbClr val="C9974D">
              <a:alpha val="11000"/>
            </a:srgbClr>
          </a:solidFill>
          <a:ln/>
        </p:spPr>
        <p:txBody>
          <a:bodyPr/>
          <a:p/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101" y="1862977"/>
            <a:ext cx="164306" cy="16430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70625" y="1653921"/>
            <a:ext cx="2678906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 · GMC</a:t>
            </a:r>
            <a:endParaRPr lang="en-US" sz="500" dirty="0"/>
          </a:p>
        </p:txBody>
      </p:sp>
      <p:sp>
        <p:nvSpPr>
          <p:cNvPr id="35" name="Shape 30"/>
          <p:cNvSpPr/>
          <p:nvPr/>
        </p:nvSpPr>
        <p:spPr>
          <a:xfrm>
            <a:off x="5570625" y="1653921"/>
            <a:ext cx="35719" cy="35719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5570625" y="1776826"/>
            <a:ext cx="26789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Bef>
                <a:spcPts val="225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三段成本，三招打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570625" y="1931157"/>
            <a:ext cx="2678906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 搬走 </a:t>
            </a:r>
            <a:pPr algn="l" indent="0" marL="0">
              <a:lnSpc>
                <a:spcPts val="1392"/>
              </a:lnSpc>
              <a:buNone/>
            </a:pPr>
            <a:r>
              <a:rPr lang="en-US" sz="900" b="1" dirty="0">
                <a:solidFill>
                  <a:srgbClr val="9A70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77.4%</a:t>
            </a:r>
            <a:pPr algn="l" indent="0" marL="0">
              <a:lnSpc>
                <a:spcPts val="980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计算成本</a:t>
            </a:r>
            <a:endParaRPr lang="en-US" sz="600" dirty="0"/>
          </a:p>
        </p:txBody>
      </p:sp>
      <p:sp>
        <p:nvSpPr>
          <p:cNvPr id="38" name="Shape 33"/>
          <p:cNvSpPr/>
          <p:nvPr/>
        </p:nvSpPr>
        <p:spPr>
          <a:xfrm>
            <a:off x="5037987" y="2313706"/>
            <a:ext cx="3343275" cy="778669"/>
          </a:xfrm>
          <a:prstGeom prst="roundRect">
            <a:avLst>
              <a:gd name="adj" fmla="val 215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Shape 34"/>
          <p:cNvSpPr/>
          <p:nvPr/>
        </p:nvSpPr>
        <p:spPr>
          <a:xfrm>
            <a:off x="5037987" y="2413719"/>
            <a:ext cx="21431" cy="562012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40" name="Shape 35"/>
          <p:cNvSpPr/>
          <p:nvPr/>
        </p:nvSpPr>
        <p:spPr>
          <a:xfrm>
            <a:off x="5264801" y="2531539"/>
            <a:ext cx="342900" cy="342900"/>
          </a:xfrm>
          <a:prstGeom prst="roundRect">
            <a:avLst>
              <a:gd name="adj" fmla="val 20833"/>
            </a:avLst>
          </a:prstGeom>
          <a:solidFill>
            <a:srgbClr val="C9974D">
              <a:alpha val="11000"/>
            </a:srgbClr>
          </a:solidFill>
          <a:ln/>
        </p:spPr>
        <p:txBody>
          <a:bodyPr/>
          <a:p/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101" y="2620835"/>
            <a:ext cx="164306" cy="16430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570625" y="2435813"/>
            <a:ext cx="2678906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 · NPU</a:t>
            </a:r>
            <a:endParaRPr lang="en-US" sz="500" dirty="0"/>
          </a:p>
        </p:txBody>
      </p:sp>
      <p:sp>
        <p:nvSpPr>
          <p:cNvPr id="43" name="Shape 37"/>
          <p:cNvSpPr/>
          <p:nvPr/>
        </p:nvSpPr>
        <p:spPr>
          <a:xfrm>
            <a:off x="5570625" y="2435813"/>
            <a:ext cx="35719" cy="35719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5570625" y="2558718"/>
            <a:ext cx="26789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Bef>
                <a:spcPts val="225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算子回退清零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5570625" y="2717593"/>
            <a:ext cx="26789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形状决定代价，不可用 FLOPs 外推</a:t>
            </a:r>
            <a:endParaRPr lang="en-US" sz="600" dirty="0"/>
          </a:p>
        </p:txBody>
      </p:sp>
      <p:sp>
        <p:nvSpPr>
          <p:cNvPr id="46" name="Shape 40"/>
          <p:cNvSpPr/>
          <p:nvPr/>
        </p:nvSpPr>
        <p:spPr>
          <a:xfrm>
            <a:off x="5037987" y="3093544"/>
            <a:ext cx="3343275" cy="778669"/>
          </a:xfrm>
          <a:prstGeom prst="roundRect">
            <a:avLst>
              <a:gd name="adj" fmla="val 215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5037987" y="3193556"/>
            <a:ext cx="21431" cy="561789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48" name="Shape 42"/>
          <p:cNvSpPr/>
          <p:nvPr/>
        </p:nvSpPr>
        <p:spPr>
          <a:xfrm>
            <a:off x="5264801" y="3311379"/>
            <a:ext cx="342900" cy="342900"/>
          </a:xfrm>
          <a:prstGeom prst="roundRect">
            <a:avLst>
              <a:gd name="adj" fmla="val 20833"/>
            </a:avLst>
          </a:prstGeom>
          <a:solidFill>
            <a:srgbClr val="C9974D">
              <a:alpha val="11000"/>
            </a:srgbClr>
          </a:solidFill>
          <a:ln/>
        </p:spPr>
        <p:txBody>
          <a:bodyPr/>
          <a:p/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101" y="3400676"/>
            <a:ext cx="164306" cy="16430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570625" y="3215654"/>
            <a:ext cx="2678906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 · 工程纪律</a:t>
            </a:r>
            <a:endParaRPr lang="en-US" sz="500" dirty="0"/>
          </a:p>
        </p:txBody>
      </p:sp>
      <p:sp>
        <p:nvSpPr>
          <p:cNvPr id="51" name="Shape 44"/>
          <p:cNvSpPr/>
          <p:nvPr/>
        </p:nvSpPr>
        <p:spPr>
          <a:xfrm>
            <a:off x="5570625" y="3215654"/>
            <a:ext cx="35719" cy="35719"/>
          </a:xfrm>
          <a:prstGeom prst="rect">
            <a:avLst/>
          </a:prstGeom>
          <a:solidFill>
            <a:srgbClr val="C9974D"/>
          </a:solidFill>
          <a:ln/>
        </p:spPr>
        <p:txBody>
          <a:bodyPr/>
          <a:p/>
        </p:txBody>
      </p:sp>
      <p:sp>
        <p:nvSpPr>
          <p:cNvPr id="52" name="Text 45"/>
          <p:cNvSpPr/>
          <p:nvPr/>
        </p:nvSpPr>
        <p:spPr>
          <a:xfrm>
            <a:off x="5570625" y="3338559"/>
            <a:ext cx="26789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spcBef>
                <a:spcPts val="225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板卡实测是地基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5570625" y="3497431"/>
            <a:ext cx="26789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静默失效优先于崩溃，位精确是入场券</a:t>
            </a:r>
            <a:endParaRPr lang="en-US" sz="600" dirty="0"/>
          </a:p>
        </p:txBody>
      </p:sp>
      <p:sp>
        <p:nvSpPr>
          <p:cNvPr id="54" name="Text 47"/>
          <p:cNvSpPr/>
          <p:nvPr/>
        </p:nvSpPr>
        <p:spPr>
          <a:xfrm>
            <a:off x="578644" y="3938491"/>
            <a:ext cx="798671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汇报团队：算法攻坚组　｜　复杂背景下红外弱小无人机检测 · 工程化阶段汇报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60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644" y="693516"/>
            <a:ext cx="7986713" cy="785813"/>
          </a:xfrm>
          <a:prstGeom prst="rect">
            <a:avLst/>
          </a:prstGeom>
        </p:spPr>
      </p:pic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7045" y="3442715"/>
            <a:ext cx="4079081" cy="2428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570625" y="2129793"/>
            <a:ext cx="26789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锚点级联砍拟合</a:t>
            </a:r>
            <a:endParaRPr lang="en-US" sz="6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纯函数缓存去重复</a:t>
            </a:r>
            <a:endParaRPr lang="en-US" sz="600" dirty="0"/>
          </a:p>
        </p:txBody>
      </p:sp>
      <p:sp>
        <p:nvSpPr>
          <p:cNvPr id="58" name="Text 49"/>
          <p:cNvSpPr/>
          <p:nvPr/>
        </p:nvSpPr>
        <p:spPr>
          <a:xfrm>
            <a:off x="5570625" y="2863625"/>
            <a:ext cx="26789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同图对照才算精度账</a:t>
            </a:r>
            <a:endParaRPr lang="en-US" sz="600" dirty="0"/>
          </a:p>
        </p:txBody>
      </p:sp>
      <p:sp>
        <p:nvSpPr>
          <p:cNvPr id="59" name="Text 50"/>
          <p:cNvSpPr/>
          <p:nvPr/>
        </p:nvSpPr>
        <p:spPr>
          <a:xfrm>
            <a:off x="5570625" y="3643466"/>
            <a:ext cx="26789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静默失效优先</a:t>
            </a:r>
            <a:endParaRPr lang="en-US" sz="6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位精确验收</a:t>
            </a:r>
            <a:endParaRPr lang="en-US" sz="6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板卡实测</a:t>
            </a:r>
            <a:endParaRPr lang="en-US" sz="600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8644" y="3938491"/>
            <a:ext cx="7986713" cy="500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2026-10-29T03:27:34Z</dcterms:created>
  <dcterms:modified xsi:type="dcterms:W3CDTF">2026-10-29T03:27:34Z</dcterms:modified>
</cp:coreProperties>
</file>