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ir_uav_engineer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ir_uav_engineer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kicker"/>
          <p:cNvGrpSpPr/>
          <p:nvPr/>
        </p:nvGrpSpPr>
        <p:grpSpPr>
          <a:xfrm>
            <a:off x="451104" y="495300"/>
            <a:ext cx="2914543" cy="425196"/>
            <a:chOff x="451104" y="495300"/>
            <a:chExt cx="2914543" cy="425196"/>
          </a:xfrm>
        </p:grpSpPr>
        <p:sp>
          <p:nvSpPr>
            <p:cNvPr id="2" name="Rectangle 2"/>
            <p:cNvSpPr/>
            <p:nvPr/>
          </p:nvSpPr>
          <p:spPr>
            <a:xfrm>
              <a:off x="457200" y="495300"/>
              <a:ext cx="685800" cy="3810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51104" y="685800"/>
              <a:ext cx="29145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105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RK3588 实时管线 · 工程化阶段汇报</a:t>
              </a:r>
            </a:p>
          </p:txBody>
        </p:sp>
      </p:grpSp>
      <p:grpSp>
        <p:nvGrpSpPr>
          <p:cNvPr id="6" name="title-block"/>
          <p:cNvGrpSpPr/>
          <p:nvPr/>
        </p:nvGrpSpPr>
        <p:grpSpPr>
          <a:xfrm>
            <a:off x="440436" y="1143000"/>
            <a:ext cx="5900928" cy="1197864"/>
            <a:chOff x="440436" y="1143000"/>
            <a:chExt cx="5900928" cy="1197864"/>
          </a:xfrm>
        </p:grpSpPr>
        <p:sp>
          <p:nvSpPr>
            <p:cNvPr id="5" name="TextBox 5"/>
            <p:cNvSpPr txBox="1"/>
            <p:nvPr/>
          </p:nvSpPr>
          <p:spPr>
            <a:xfrm>
              <a:off x="440436" y="1143000"/>
              <a:ext cx="5900928" cy="11978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350"/>
                </a:lnSpc>
              </a:pPr>
              <a:r>
                <a:rPr lang="zh-CN" sz="33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复杂背景下红外弱小无人机检测</a:t>
              </a:r>
              <a:br>
                <a:rPr lang="zh-CN" sz="33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3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从“能跑”到“可交付”</a:t>
              </a:r>
            </a:p>
          </p:txBody>
        </p:sp>
      </p:grpSp>
      <p:grpSp>
        <p:nvGrpSpPr>
          <p:cNvPr id="8" name="subtitle"/>
          <p:cNvGrpSpPr/>
          <p:nvPr/>
        </p:nvGrpSpPr>
        <p:grpSpPr>
          <a:xfrm>
            <a:off x="449961" y="2279650"/>
            <a:ext cx="6122774" cy="278702"/>
            <a:chOff x="449961" y="2279650"/>
            <a:chExt cx="612277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449961" y="2279650"/>
              <a:ext cx="61227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RK3588 实时管线的构建与验证 · 两个核心待攻克问题 · 9 个工作汇报点</a:t>
              </a:r>
            </a:p>
          </p:txBody>
        </p:sp>
      </p:grpSp>
      <p:grpSp>
        <p:nvGrpSpPr>
          <p:cNvPr id="25" name="metrics"/>
          <p:cNvGrpSpPr/>
          <p:nvPr/>
        </p:nvGrpSpPr>
        <p:grpSpPr>
          <a:xfrm>
            <a:off x="438150" y="4438650"/>
            <a:ext cx="11296650" cy="1276350"/>
            <a:chOff x="438150" y="4438650"/>
            <a:chExt cx="11296650" cy="1276350"/>
          </a:xfrm>
        </p:grpSpPr>
        <p:sp>
          <p:nvSpPr>
            <p:cNvPr id="9" name="Line 9"/>
            <p:cNvSpPr/>
            <p:nvPr/>
          </p:nvSpPr>
          <p:spPr>
            <a:xfrm>
              <a:off x="457200" y="4438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3048000" y="4629150"/>
              <a:ext cx="9525" cy="1085850"/>
            </a:xfrm>
            <a:custGeom>
              <a:avLst/>
              <a:gdLst/>
              <a:ahLst/>
              <a:cxnLst/>
              <a:rect l="l" t="t" r="r" b="b"/>
              <a:pathLst>
                <a:path w="9525" h="1085850">
                  <a:moveTo>
                    <a:pt x="0" y="0"/>
                  </a:moveTo>
                  <a:lnTo>
                    <a:pt x="0" y="10858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5867400" y="4629150"/>
              <a:ext cx="9525" cy="1085850"/>
            </a:xfrm>
            <a:custGeom>
              <a:avLst/>
              <a:gdLst/>
              <a:ahLst/>
              <a:cxnLst/>
              <a:rect l="l" t="t" r="r" b="b"/>
              <a:pathLst>
                <a:path w="9525" h="1085850">
                  <a:moveTo>
                    <a:pt x="0" y="0"/>
                  </a:moveTo>
                  <a:lnTo>
                    <a:pt x="0" y="10858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686800" y="4629150"/>
              <a:ext cx="9525" cy="1085850"/>
            </a:xfrm>
            <a:custGeom>
              <a:avLst/>
              <a:gdLst/>
              <a:ahLst/>
              <a:cxnLst/>
              <a:rect l="l" t="t" r="r" b="b"/>
              <a:pathLst>
                <a:path w="9525" h="1085850">
                  <a:moveTo>
                    <a:pt x="0" y="0"/>
                  </a:moveTo>
                  <a:lnTo>
                    <a:pt x="0" y="10858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8150" y="4610100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2.69×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1485" y="5251450"/>
              <a:ext cx="940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NPU 推理加速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2247" y="5505450"/>
              <a:ext cx="16458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rknn_run 151.2 → 55.5 ms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7550" y="4610100"/>
              <a:ext cx="192725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14.951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70885" y="5251450"/>
              <a:ext cx="10740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板端端到端 fps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71647" y="5505450"/>
              <a:ext cx="188987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天花板 15.60 fps，已占 97.2%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76950" y="4610100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2.45×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90285" y="5251450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三级流水线提速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91047" y="5505450"/>
              <a:ext cx="17315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5.74 → 14.07 fps，逐位等价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96350" y="4610100"/>
              <a:ext cx="1726891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99.6%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09685" y="5251450"/>
              <a:ext cx="974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GMC 精度保全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10447" y="5505450"/>
              <a:ext cx="201234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拟合 22 → 6.19 次，ΔF1 −0.0003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26" name="Line 26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2247" y="6477000"/>
              <a:ext cx="36774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算法攻坚组　·　全部数据出自 manu/memory 专题档，可溯源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807651" y="6477000"/>
              <a:ext cx="293210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复杂背景下红外弱小无人机检测 · 工程化阶段汇报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821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CONTENTS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汇报结构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508759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先立两个靶子 → 两条战线各自打靶 → 公共底座 → 收口遗留与下一步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32" name="toc-parts"/>
          <p:cNvGrpSpPr/>
          <p:nvPr/>
        </p:nvGrpSpPr>
        <p:grpSpPr>
          <a:xfrm>
            <a:off x="445770" y="1587500"/>
            <a:ext cx="11294745" cy="4017328"/>
            <a:chOff x="445770" y="1587500"/>
            <a:chExt cx="11294745" cy="4017328"/>
          </a:xfrm>
        </p:grpSpPr>
        <p:sp>
          <p:nvSpPr>
            <p:cNvPr id="7" name="Line 7"/>
            <p:cNvSpPr/>
            <p:nvPr/>
          </p:nvSpPr>
          <p:spPr>
            <a:xfrm>
              <a:off x="457200" y="2152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45770" y="158750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00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72718" y="1663700"/>
              <a:ext cx="272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开篇 · 两个核心待攻克问题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115746" y="1727200"/>
              <a:ext cx="624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P03–P05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5385" y="1955800"/>
              <a:ext cx="3941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两大问题总览　·　难题一 GMC 账本　·　难题二 NPU 账本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57200" y="30099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45770" y="244475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2718" y="2520950"/>
              <a:ext cx="19279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战线 A · GMC 之战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15746" y="2584450"/>
              <a:ext cx="624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P06–P10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75385" y="2813050"/>
              <a:ext cx="43741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A1 OpenCL 融合内核　·　A2 Tree 锚点级联　·　A3 纯函数缓存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457200" y="3867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5770" y="330200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2718" y="3378200"/>
              <a:ext cx="18786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战线 B · NPU 之战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115746" y="3441700"/>
              <a:ext cx="624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P11–P15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75385" y="3670300"/>
              <a:ext cx="54645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B1 算子回退清零　·　B2 FLOPs 外推失效　·　B3 RGA 拼图　·　B4 精度账 7 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457200" y="47244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45770" y="415925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72718" y="4235450"/>
              <a:ext cx="2284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公共底座 · 并行与交付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15746" y="4298950"/>
              <a:ext cx="624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P16–P17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75385" y="4527550"/>
              <a:ext cx="2657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并行结构三级流水线　·　端到端库交付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57200" y="5581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45770" y="501650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72718" y="5092700"/>
              <a:ext cx="40610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收口 · 遗留问题与下一阶段重点改进方向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15746" y="5156200"/>
              <a:ext cx="624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P18–P21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75385" y="5384800"/>
              <a:ext cx="44818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遗留问题六条　·　下一阶段四条线　·　问题闭环状态表　·　谢谢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33" name="Line 33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52247" y="6477000"/>
              <a:ext cx="29452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全部数据出自 manu/memory 专题档，逐条可溯源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02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8923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开篇 · 两大核心待攻克问题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51937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管线跑起来之后，被两个问题卡住了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38297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后面的 9 个工作汇报点，全部围绕这两个问题展开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20" name="problem-gmc"/>
          <p:cNvGrpSpPr/>
          <p:nvPr/>
        </p:nvGrpSpPr>
        <p:grpSpPr>
          <a:xfrm>
            <a:off x="457200" y="1524000"/>
            <a:ext cx="5334000" cy="4648200"/>
            <a:chOff x="457200" y="1524000"/>
            <a:chExt cx="5334000" cy="4648200"/>
          </a:xfrm>
        </p:grpSpPr>
        <p:sp>
          <p:nvSpPr>
            <p:cNvPr id="7" name="Rectangle 7"/>
            <p:cNvSpPr/>
            <p:nvPr/>
          </p:nvSpPr>
          <p:spPr>
            <a:xfrm>
              <a:off x="457200" y="1524000"/>
              <a:ext cx="5334000" cy="4648200"/>
            </a:xfrm>
            <a:prstGeom prst="roundRect">
              <a:avLst>
                <a:gd name="adj" fmla="val 2049"/>
              </a:avLst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790575" y="1812875"/>
              <a:ext cx="300466" cy="300958"/>
            </a:xfrm>
            <a:custGeom>
              <a:avLst/>
              <a:gdLst/>
              <a:ahLst/>
              <a:cxnLst/>
              <a:rect l="l" t="t" r="r" b="b"/>
              <a:pathLst>
                <a:path w="300466" h="300958">
                  <a:moveTo>
                    <a:pt x="214312" y="25545"/>
                  </a:moveTo>
                  <a:cubicBezTo>
                    <a:pt x="273854" y="59924"/>
                    <a:pt x="300466" y="131835"/>
                    <a:pt x="277649" y="196693"/>
                  </a:cubicBezTo>
                  <a:cubicBezTo>
                    <a:pt x="254832" y="261550"/>
                    <a:pt x="189056" y="300958"/>
                    <a:pt x="121104" y="290484"/>
                  </a:cubicBezTo>
                  <a:cubicBezTo>
                    <a:pt x="53153" y="280009"/>
                    <a:pt x="2298" y="222622"/>
                    <a:pt x="71" y="153904"/>
                  </a:cubicBezTo>
                  <a:lnTo>
                    <a:pt x="0" y="149275"/>
                  </a:lnTo>
                  <a:lnTo>
                    <a:pt x="71" y="144646"/>
                  </a:lnTo>
                  <a:cubicBezTo>
                    <a:pt x="1699" y="94454"/>
                    <a:pt x="29558" y="48801"/>
                    <a:pt x="73450" y="24400"/>
                  </a:cubicBezTo>
                  <a:cubicBezTo>
                    <a:pt x="117343" y="0"/>
                    <a:pt x="170823" y="435"/>
                    <a:pt x="214312" y="25545"/>
                  </a:cubicBezTo>
                  <a:close/>
                  <a:moveTo>
                    <a:pt x="210126" y="82024"/>
                  </a:moveTo>
                  <a:cubicBezTo>
                    <a:pt x="204547" y="76446"/>
                    <a:pt x="195503" y="76446"/>
                    <a:pt x="189924" y="82024"/>
                  </a:cubicBezTo>
                  <a:lnTo>
                    <a:pt x="152919" y="119028"/>
                  </a:lnTo>
                  <a:lnTo>
                    <a:pt x="151733" y="120371"/>
                  </a:lnTo>
                  <a:lnTo>
                    <a:pt x="150762" y="121800"/>
                  </a:lnTo>
                  <a:cubicBezTo>
                    <a:pt x="142494" y="119429"/>
                    <a:pt x="133599" y="120906"/>
                    <a:pt x="126541" y="125822"/>
                  </a:cubicBezTo>
                  <a:cubicBezTo>
                    <a:pt x="119483" y="130738"/>
                    <a:pt x="115014" y="138569"/>
                    <a:pt x="114371" y="147146"/>
                  </a:cubicBezTo>
                  <a:lnTo>
                    <a:pt x="114300" y="149275"/>
                  </a:lnTo>
                  <a:lnTo>
                    <a:pt x="114371" y="151418"/>
                  </a:lnTo>
                  <a:cubicBezTo>
                    <a:pt x="115190" y="162293"/>
                    <a:pt x="122128" y="171754"/>
                    <a:pt x="132254" y="175804"/>
                  </a:cubicBezTo>
                  <a:cubicBezTo>
                    <a:pt x="142380" y="179854"/>
                    <a:pt x="153928" y="177788"/>
                    <a:pt x="162021" y="170477"/>
                  </a:cubicBezTo>
                  <a:cubicBezTo>
                    <a:pt x="170114" y="163166"/>
                    <a:pt x="173339" y="151887"/>
                    <a:pt x="170336" y="141403"/>
                  </a:cubicBezTo>
                  <a:cubicBezTo>
                    <a:pt x="171353" y="140801"/>
                    <a:pt x="172290" y="140071"/>
                    <a:pt x="173122" y="139231"/>
                  </a:cubicBezTo>
                  <a:lnTo>
                    <a:pt x="210126" y="102226"/>
                  </a:lnTo>
                  <a:lnTo>
                    <a:pt x="211312" y="100883"/>
                  </a:lnTo>
                  <a:cubicBezTo>
                    <a:pt x="215724" y="95196"/>
                    <a:pt x="215216" y="87114"/>
                    <a:pt x="210126" y="82024"/>
                  </a:cubicBezTo>
                  <a:close/>
                  <a:moveTo>
                    <a:pt x="142875" y="63550"/>
                  </a:moveTo>
                  <a:cubicBezTo>
                    <a:pt x="120139" y="63550"/>
                    <a:pt x="98335" y="72582"/>
                    <a:pt x="82258" y="88658"/>
                  </a:cubicBezTo>
                  <a:cubicBezTo>
                    <a:pt x="66182" y="104735"/>
                    <a:pt x="57150" y="126539"/>
                    <a:pt x="57150" y="149275"/>
                  </a:cubicBezTo>
                  <a:cubicBezTo>
                    <a:pt x="57150" y="157166"/>
                    <a:pt x="63547" y="163562"/>
                    <a:pt x="71438" y="163562"/>
                  </a:cubicBezTo>
                  <a:cubicBezTo>
                    <a:pt x="79328" y="163562"/>
                    <a:pt x="85725" y="157166"/>
                    <a:pt x="85725" y="149275"/>
                  </a:cubicBezTo>
                  <a:cubicBezTo>
                    <a:pt x="85725" y="117712"/>
                    <a:pt x="111312" y="92125"/>
                    <a:pt x="142875" y="92125"/>
                  </a:cubicBezTo>
                  <a:cubicBezTo>
                    <a:pt x="150766" y="92125"/>
                    <a:pt x="157162" y="85728"/>
                    <a:pt x="157162" y="77837"/>
                  </a:cubicBezTo>
                  <a:cubicBezTo>
                    <a:pt x="157162" y="69947"/>
                    <a:pt x="150766" y="63550"/>
                    <a:pt x="142875" y="63550"/>
                  </a:cubicBezTo>
                  <a:close/>
                </a:path>
              </a:pathLst>
            </a:custGeom>
            <a:solidFill>
              <a:srgbClr val="B03A2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13485" y="1879600"/>
              <a:ext cx="1132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60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难题 01 · GMC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2950" y="2362200"/>
              <a:ext cx="1726891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78.5%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285" y="2984500"/>
              <a:ext cx="40629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GMC 占端到端时延 78.5%（板卡 62.8 ms / 墙钟 80.0 ms）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33337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0D2C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5523" y="3505200"/>
              <a:ext cx="210887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算力开销：CPU 侧三段成本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666" y="3740150"/>
              <a:ext cx="32193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拟合 21.6% + warp 43.7% + median 33.7% ≈ 99%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5523" y="4095750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延时：硬约束已顶到红线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666" y="4330700"/>
              <a:ext cx="31326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零丢帧 ⇒ GMC 吞吐 ≥ 相机率（25 fps ⇒ ≤40 ms）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5523" y="4686300"/>
              <a:ext cx="259765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稳定性：零丢帧是锚定等价的前提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666" y="4921250"/>
              <a:ext cx="28518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深缓冲已归零丢帧，但 dropped==0 不可替代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666" y="5257800"/>
              <a:ext cx="2847689" cy="700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0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→ A1 OpenCL 融合内核　warp+median 77.4%</a:t>
              </a:r>
              <a:br>
                <a:rPr lang="zh-CN" sz="10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→ A2 Tree 锚点级联　拟合 21.6%</a:t>
              </a:r>
              <a:br>
                <a:rPr lang="zh-CN" sz="10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→ A3 纯函数缓存　fit 内部 65.8%</a:t>
              </a:r>
            </a:p>
          </p:txBody>
        </p:sp>
      </p:grpSp>
      <p:grpSp>
        <p:nvGrpSpPr>
          <p:cNvPr id="34" name="problem-npu"/>
          <p:cNvGrpSpPr/>
          <p:nvPr/>
        </p:nvGrpSpPr>
        <p:grpSpPr>
          <a:xfrm>
            <a:off x="6400800" y="1524000"/>
            <a:ext cx="5334000" cy="4648200"/>
            <a:chOff x="6400800" y="1524000"/>
            <a:chExt cx="5334000" cy="4648200"/>
          </a:xfrm>
        </p:grpSpPr>
        <p:sp>
          <p:nvSpPr>
            <p:cNvPr id="21" name="Rectangle 21"/>
            <p:cNvSpPr/>
            <p:nvPr/>
          </p:nvSpPr>
          <p:spPr>
            <a:xfrm>
              <a:off x="6400800" y="1524000"/>
              <a:ext cx="5334000" cy="4648200"/>
            </a:xfrm>
            <a:prstGeom prst="roundRect">
              <a:avLst>
                <a:gd name="adj" fmla="val 2049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6762103" y="1819275"/>
              <a:ext cx="229894" cy="291051"/>
            </a:xfrm>
            <a:custGeom>
              <a:avLst/>
              <a:gdLst/>
              <a:ahLst/>
              <a:cxnLst/>
              <a:rect l="l" t="t" r="r" b="b"/>
              <a:pathLst>
                <a:path w="229894" h="291051">
                  <a:moveTo>
                    <a:pt x="129234" y="0"/>
                  </a:moveTo>
                  <a:lnTo>
                    <a:pt x="129492" y="14"/>
                  </a:lnTo>
                  <a:lnTo>
                    <a:pt x="129720" y="29"/>
                  </a:lnTo>
                  <a:lnTo>
                    <a:pt x="130906" y="100"/>
                  </a:lnTo>
                  <a:lnTo>
                    <a:pt x="131063" y="129"/>
                  </a:lnTo>
                  <a:lnTo>
                    <a:pt x="131220" y="129"/>
                  </a:lnTo>
                  <a:lnTo>
                    <a:pt x="131763" y="257"/>
                  </a:lnTo>
                  <a:lnTo>
                    <a:pt x="132506" y="371"/>
                  </a:lnTo>
                  <a:lnTo>
                    <a:pt x="132735" y="457"/>
                  </a:lnTo>
                  <a:lnTo>
                    <a:pt x="132892" y="471"/>
                  </a:lnTo>
                  <a:lnTo>
                    <a:pt x="133306" y="629"/>
                  </a:lnTo>
                  <a:lnTo>
                    <a:pt x="134049" y="829"/>
                  </a:lnTo>
                  <a:lnTo>
                    <a:pt x="134321" y="957"/>
                  </a:lnTo>
                  <a:lnTo>
                    <a:pt x="134535" y="1014"/>
                  </a:lnTo>
                  <a:lnTo>
                    <a:pt x="134935" y="1214"/>
                  </a:lnTo>
                  <a:lnTo>
                    <a:pt x="135507" y="1457"/>
                  </a:lnTo>
                  <a:lnTo>
                    <a:pt x="135807" y="1629"/>
                  </a:lnTo>
                  <a:lnTo>
                    <a:pt x="136121" y="1772"/>
                  </a:lnTo>
                  <a:lnTo>
                    <a:pt x="136450" y="1986"/>
                  </a:lnTo>
                  <a:lnTo>
                    <a:pt x="136892" y="2229"/>
                  </a:lnTo>
                  <a:lnTo>
                    <a:pt x="137378" y="2572"/>
                  </a:lnTo>
                  <a:lnTo>
                    <a:pt x="137635" y="2729"/>
                  </a:lnTo>
                  <a:lnTo>
                    <a:pt x="137821" y="2900"/>
                  </a:lnTo>
                  <a:lnTo>
                    <a:pt x="138164" y="3143"/>
                  </a:lnTo>
                  <a:lnTo>
                    <a:pt x="138707" y="3629"/>
                  </a:lnTo>
                  <a:lnTo>
                    <a:pt x="139021" y="3872"/>
                  </a:lnTo>
                  <a:lnTo>
                    <a:pt x="139136" y="4015"/>
                  </a:lnTo>
                  <a:lnTo>
                    <a:pt x="139336" y="4186"/>
                  </a:lnTo>
                  <a:lnTo>
                    <a:pt x="139850" y="4772"/>
                  </a:lnTo>
                  <a:lnTo>
                    <a:pt x="140221" y="5158"/>
                  </a:lnTo>
                  <a:lnTo>
                    <a:pt x="140307" y="5286"/>
                  </a:lnTo>
                  <a:cubicBezTo>
                    <a:pt x="142022" y="7387"/>
                    <a:pt x="143108" y="9887"/>
                    <a:pt x="143422" y="12616"/>
                  </a:cubicBezTo>
                  <a:lnTo>
                    <a:pt x="143436" y="12787"/>
                  </a:lnTo>
                  <a:lnTo>
                    <a:pt x="143465" y="13373"/>
                  </a:lnTo>
                  <a:lnTo>
                    <a:pt x="143522" y="14288"/>
                  </a:lnTo>
                  <a:lnTo>
                    <a:pt x="143522" y="100012"/>
                  </a:lnTo>
                  <a:lnTo>
                    <a:pt x="214959" y="100012"/>
                  </a:lnTo>
                  <a:cubicBezTo>
                    <a:pt x="220056" y="100011"/>
                    <a:pt x="224767" y="102725"/>
                    <a:pt x="227323" y="107133"/>
                  </a:cubicBezTo>
                  <a:cubicBezTo>
                    <a:pt x="229879" y="111542"/>
                    <a:pt x="229894" y="116979"/>
                    <a:pt x="227361" y="121401"/>
                  </a:cubicBezTo>
                  <a:lnTo>
                    <a:pt x="226504" y="122701"/>
                  </a:lnTo>
                  <a:lnTo>
                    <a:pt x="112204" y="279864"/>
                  </a:lnTo>
                  <a:cubicBezTo>
                    <a:pt x="104088" y="291051"/>
                    <a:pt x="86372" y="285293"/>
                    <a:pt x="86372" y="271462"/>
                  </a:cubicBezTo>
                  <a:lnTo>
                    <a:pt x="86372" y="185738"/>
                  </a:lnTo>
                  <a:lnTo>
                    <a:pt x="14934" y="185738"/>
                  </a:lnTo>
                  <a:cubicBezTo>
                    <a:pt x="9838" y="185739"/>
                    <a:pt x="5127" y="183025"/>
                    <a:pt x="2571" y="178617"/>
                  </a:cubicBezTo>
                  <a:cubicBezTo>
                    <a:pt x="14" y="174208"/>
                    <a:pt x="0" y="168771"/>
                    <a:pt x="2533" y="164349"/>
                  </a:cubicBezTo>
                  <a:lnTo>
                    <a:pt x="3390" y="163049"/>
                  </a:lnTo>
                  <a:lnTo>
                    <a:pt x="117690" y="5886"/>
                  </a:lnTo>
                  <a:lnTo>
                    <a:pt x="117833" y="5701"/>
                  </a:lnTo>
                  <a:lnTo>
                    <a:pt x="118090" y="5358"/>
                  </a:lnTo>
                  <a:lnTo>
                    <a:pt x="118562" y="4815"/>
                  </a:lnTo>
                  <a:lnTo>
                    <a:pt x="118819" y="4501"/>
                  </a:lnTo>
                  <a:lnTo>
                    <a:pt x="118947" y="4386"/>
                  </a:lnTo>
                  <a:lnTo>
                    <a:pt x="119133" y="4186"/>
                  </a:lnTo>
                  <a:lnTo>
                    <a:pt x="119705" y="3672"/>
                  </a:lnTo>
                  <a:lnTo>
                    <a:pt x="120105" y="3300"/>
                  </a:lnTo>
                  <a:lnTo>
                    <a:pt x="120219" y="3215"/>
                  </a:lnTo>
                  <a:cubicBezTo>
                    <a:pt x="121893" y="1844"/>
                    <a:pt x="123857" y="872"/>
                    <a:pt x="125963" y="371"/>
                  </a:cubicBezTo>
                  <a:lnTo>
                    <a:pt x="126120" y="357"/>
                  </a:lnTo>
                  <a:lnTo>
                    <a:pt x="126505" y="286"/>
                  </a:lnTo>
                  <a:lnTo>
                    <a:pt x="127563" y="100"/>
                  </a:lnTo>
                  <a:lnTo>
                    <a:pt x="127720" y="86"/>
                  </a:lnTo>
                  <a:lnTo>
                    <a:pt x="128306" y="57"/>
                  </a:ln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57085" y="1879600"/>
              <a:ext cx="1099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6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难题 02 · NPU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86550" y="2362200"/>
              <a:ext cx="1326161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3 → 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99885" y="2984500"/>
              <a:ext cx="3656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multi-scale 要 3 次前向；「编译通过」≠ 全在 NPU 上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705600" y="33337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CFDCE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99123" y="3505200"/>
              <a:ext cx="15637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算子匹配：静默回退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00266" y="3740150"/>
              <a:ext cx="31077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 个计算算子悄悄落到 CPU，不抛异常、不改指标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99123" y="4095750"/>
              <a:ext cx="217842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效率：FLOPs 外推彻底失效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00266" y="4330700"/>
              <a:ext cx="3151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MAC 只降 6.8%，时延却降 46.5%；卡在空间乘积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99123" y="4686300"/>
              <a:ext cx="216988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量化：输入 dtype 是硬闸门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00266" y="4921250"/>
              <a:ext cx="31562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INT8 0.34 ms vs FLOAT16 45.41 ms；QAT 判负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00266" y="5257800"/>
              <a:ext cx="2555986" cy="7006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→ B1 算子回退清零　0 个计算算子</a:t>
              </a:r>
              <a:br>
                <a:rPr lang="zh-CN" sz="1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→ B2 弃用 FLOPs 外推　改用 RKNN 算子表</a:t>
              </a:r>
              <a:br>
                <a:rPr lang="zh-CN" sz="1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→ B3 RGA 拼图 + B4 精度账　形状决定代价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35" name="Line 35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52247" y="6477000"/>
              <a:ext cx="83941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来源：manu/memory/gmc_net_pending.md §八·8.3、§九、§十七；heatmap_npu_trial0474.md §零；MOSAIC_RK3588_20261026.md §2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03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4754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难题 01 · GMC 账本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三段成本，各对应本阶段的一招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401436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GMC 占端到端时延 78.5% —— 攻的不是算力，是重复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28" name="gmc-cost"/>
          <p:cNvGrpSpPr/>
          <p:nvPr/>
        </p:nvGrpSpPr>
        <p:grpSpPr>
          <a:xfrm>
            <a:off x="451485" y="1727200"/>
            <a:ext cx="6678168" cy="2655443"/>
            <a:chOff x="451485" y="1727200"/>
            <a:chExt cx="6678168" cy="2655443"/>
          </a:xfrm>
        </p:grpSpPr>
        <p:sp>
          <p:nvSpPr>
            <p:cNvPr id="7" name="TextBox 7"/>
            <p:cNvSpPr txBox="1"/>
            <p:nvPr/>
          </p:nvSpPr>
          <p:spPr>
            <a:xfrm>
              <a:off x="451485" y="1727200"/>
              <a:ext cx="9994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PC 侧算力归因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672490" y="1752600"/>
              <a:ext cx="24571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板卡 gmc_total 62.8 ms · 墙钟 80.0 ms</a:t>
              </a:r>
            </a:p>
          </p:txBody>
        </p:sp>
        <p:grpSp>
          <p:nvGrpSpPr>
            <p:cNvPr id="26" name="gmc-cost-chartArea"/>
            <p:cNvGrpSpPr/>
            <p:nvPr/>
          </p:nvGrpSpPr>
          <p:grpSpPr>
            <a:xfrm>
              <a:off x="944975" y="2000250"/>
              <a:ext cx="6179725" cy="2047875"/>
              <a:chOff x="944975" y="2000250"/>
              <a:chExt cx="6179725" cy="2047875"/>
            </a:xfrm>
          </p:grpSpPr>
          <p:sp>
            <p:nvSpPr>
              <p:cNvPr id="9" name="Line 9"/>
              <p:cNvSpPr/>
              <p:nvPr/>
            </p:nvSpPr>
            <p:spPr>
              <a:xfrm>
                <a:off x="1524000" y="2000250"/>
                <a:ext cx="9525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38350">
                    <a:moveTo>
                      <a:pt x="0" y="0"/>
                    </a:moveTo>
                    <a:lnTo>
                      <a:pt x="0" y="2038350"/>
                    </a:lnTo>
                  </a:path>
                </a:pathLst>
              </a:custGeom>
              <a:noFill/>
              <a:ln w="9525">
                <a:solidFill>
                  <a:srgbClr val="DCDCD6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1524000" y="4038600"/>
                <a:ext cx="5600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600700" h="9525">
                    <a:moveTo>
                      <a:pt x="0" y="0"/>
                    </a:moveTo>
                    <a:lnTo>
                      <a:pt x="5600700" y="0"/>
                    </a:lnTo>
                  </a:path>
                </a:pathLst>
              </a:custGeom>
              <a:noFill/>
              <a:ln w="9525">
                <a:solidFill>
                  <a:srgbClr val="DCDCD6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065124" y="2235200"/>
                <a:ext cx="34991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333A45"/>
                    </a:solidFill>
                    <a:latin typeface="+mn-lt"/>
                    <a:ea typeface="+mn-ea"/>
                    <a:cs typeface="+mn-cs"/>
                  </a:rPr>
                  <a:t>warp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524000" y="2190750"/>
                <a:ext cx="2447925" cy="247650"/>
              </a:xfrm>
              <a:prstGeom prst="rect">
                <a:avLst/>
              </a:pr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061460" y="2222500"/>
                <a:ext cx="47845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0F4C75"/>
                    </a:solidFill>
                    <a:latin typeface="+mn-lt"/>
                    <a:ea typeface="+mn-ea"/>
                    <a:cs typeface="+mn-cs"/>
                  </a:rPr>
                  <a:t>43.7%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633912" y="2247900"/>
                <a:ext cx="100090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21 次 warpAffine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944975" y="2749550"/>
                <a:ext cx="47005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333A45"/>
                    </a:solidFill>
                    <a:latin typeface="+mn-lt"/>
                    <a:ea typeface="+mn-ea"/>
                    <a:cs typeface="+mn-cs"/>
                  </a:rPr>
                  <a:t>median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1524000" y="2705100"/>
                <a:ext cx="1885950" cy="247650"/>
              </a:xfrm>
              <a:prstGeom prst="rect">
                <a:avLst/>
              </a:prstGeom>
              <a:solidFill>
                <a:srgbClr val="5C7A99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499485" y="2736850"/>
                <a:ext cx="47845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5C7A99"/>
                    </a:solidFill>
                    <a:latin typeface="+mn-lt"/>
                    <a:ea typeface="+mn-ea"/>
                    <a:cs typeface="+mn-cs"/>
                  </a:rPr>
                  <a:t>33.7%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167188" y="2762250"/>
                <a:ext cx="78493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21 帧全图中值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21664" y="3263900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333A45"/>
                    </a:solidFill>
                    <a:latin typeface="+mn-lt"/>
                    <a:ea typeface="+mn-ea"/>
                    <a:cs typeface="+mn-cs"/>
                  </a:rPr>
                  <a:t>拟合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1524000" y="3219450"/>
                <a:ext cx="1209675" cy="247650"/>
              </a:xfrm>
              <a:prstGeom prst="rect">
                <a:avLst/>
              </a:pr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823210" y="3251200"/>
                <a:ext cx="47845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B03A2E"/>
                    </a:solidFill>
                    <a:latin typeface="+mn-lt"/>
                    <a:ea typeface="+mn-ea"/>
                    <a:cs typeface="+mn-cs"/>
                  </a:rPr>
                  <a:t>21.6%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395662" y="3276600"/>
                <a:ext cx="90609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22 次长基线拟合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21664" y="3778250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333A45"/>
                    </a:solidFill>
                    <a:latin typeface="+mn-lt"/>
                    <a:ea typeface="+mn-ea"/>
                    <a:cs typeface="+mn-cs"/>
                  </a:rPr>
                  <a:t>读帧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1524000" y="3733800"/>
                <a:ext cx="57150" cy="247650"/>
              </a:xfrm>
              <a:prstGeom prst="rect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1670685" y="3765550"/>
                <a:ext cx="39138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1.0%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452247" y="4191000"/>
              <a:ext cx="43569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缓存收益强依赖角点密度：15.7 角点 → 4.30×　|　291.9 角点 → 仅 1.37×</a:t>
              </a:r>
            </a:p>
          </p:txBody>
        </p:sp>
      </p:grpSp>
      <p:grpSp>
        <p:nvGrpSpPr>
          <p:cNvPr id="42" name="gun-list"/>
          <p:cNvGrpSpPr/>
          <p:nvPr/>
        </p:nvGrpSpPr>
        <p:grpSpPr>
          <a:xfrm>
            <a:off x="7519035" y="1727200"/>
            <a:ext cx="4215765" cy="2654300"/>
            <a:chOff x="7519035" y="1727200"/>
            <a:chExt cx="4215765" cy="2654300"/>
          </a:xfrm>
        </p:grpSpPr>
        <p:sp>
          <p:nvSpPr>
            <p:cNvPr id="29" name="TextBox 29"/>
            <p:cNvSpPr txBox="1"/>
            <p:nvPr/>
          </p:nvSpPr>
          <p:spPr>
            <a:xfrm>
              <a:off x="7519035" y="17272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本阶段的招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524750" y="2038350"/>
              <a:ext cx="4210050" cy="704850"/>
            </a:xfrm>
            <a:prstGeom prst="roundRect">
              <a:avLst>
                <a:gd name="adj" fmla="val 10811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0" y="2038350"/>
              <a:ext cx="38100" cy="7048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27823" y="2152650"/>
              <a:ext cx="167347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A1 OpenCL 融合内核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28966" y="2444750"/>
              <a:ext cx="24504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warp + median 搬上 GPU　→ 攻 77.4%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524750" y="2857500"/>
              <a:ext cx="4210050" cy="704850"/>
            </a:xfrm>
            <a:prstGeom prst="roundRect">
              <a:avLst>
                <a:gd name="adj" fmla="val 10811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524750" y="2857500"/>
              <a:ext cx="38100" cy="7048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27823" y="2971800"/>
              <a:ext cx="142380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A2 Tree 锚点级联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28966" y="3263900"/>
              <a:ext cx="22298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拟合 22 → 6.19 次/帧　→ 攻 21.6%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524750" y="3676650"/>
              <a:ext cx="4210050" cy="704850"/>
            </a:xfrm>
            <a:prstGeom prst="roundRect">
              <a:avLst>
                <a:gd name="adj" fmla="val 10811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524750" y="3676650"/>
              <a:ext cx="38100" cy="7048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727823" y="3790950"/>
              <a:ext cx="114216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A3 纯函数缓存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728966" y="4083050"/>
              <a:ext cx="24489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角点 / 金字塔按帧号缓存　→ 攻 65.8%</a:t>
              </a:r>
            </a:p>
          </p:txBody>
        </p:sp>
      </p:grpSp>
      <p:grpSp>
        <p:nvGrpSpPr>
          <p:cNvPr id="47" name="takeaway"/>
          <p:cNvGrpSpPr/>
          <p:nvPr/>
        </p:nvGrpSpPr>
        <p:grpSpPr>
          <a:xfrm>
            <a:off x="457200" y="4705350"/>
            <a:ext cx="11277600" cy="1104900"/>
            <a:chOff x="457200" y="4705350"/>
            <a:chExt cx="11277600" cy="1104900"/>
          </a:xfrm>
        </p:grpSpPr>
        <p:sp>
          <p:nvSpPr>
            <p:cNvPr id="43" name="Rectangle 43"/>
            <p:cNvSpPr/>
            <p:nvPr/>
          </p:nvSpPr>
          <p:spPr>
            <a:xfrm>
              <a:off x="457200" y="4705350"/>
              <a:ext cx="11277600" cy="1104900"/>
            </a:xfrm>
            <a:prstGeom prst="rect">
              <a:avLst/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57200" y="4705350"/>
              <a:ext cx="38100" cy="110490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5899" y="4876800"/>
              <a:ext cx="21429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两条尚未解开的硬约束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8185" y="5200650"/>
              <a:ext cx="4797806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① GMC 吞吐 ≥ 相机率（25 fps ⇒ ≤40 ms/帧）—— step10 实测 60.8 ms 仍超</a:t>
              </a:r>
              <a:b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② 零丢帧是锚定等价的前提 —— 深缓冲已归零丢帧，但 dropped==0 不可替代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48" name="Line 48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52247" y="6477000"/>
              <a:ext cx="821580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来源：gmc_net_pending.md §八·8.3、§九·9.1、§十七·17.8；gmc_fit_cache_rk3588.md §1.2/§4/§6；opencl_fused_rk3588.md §3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04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4440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难题 02 · NPU 账本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61630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不是算得慢，是算的东西与算的方式都不对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630262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战线 B 的四招：算子回退清零 → 弃用 FLOPs 外推 → RGA 拼图 → 同图对照算精度账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40" name="npu-chain"/>
          <p:cNvGrpSpPr/>
          <p:nvPr/>
        </p:nvGrpSpPr>
        <p:grpSpPr>
          <a:xfrm>
            <a:off x="451485" y="1765300"/>
            <a:ext cx="11283315" cy="2541143"/>
            <a:chOff x="451485" y="1765300"/>
            <a:chExt cx="11283315" cy="2541143"/>
          </a:xfrm>
        </p:grpSpPr>
        <p:sp>
          <p:nvSpPr>
            <p:cNvPr id="7" name="TextBox 7"/>
            <p:cNvSpPr txBox="1"/>
            <p:nvPr/>
          </p:nvSpPr>
          <p:spPr>
            <a:xfrm>
              <a:off x="451485" y="17653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一条链上的三个断点</a:t>
              </a:r>
            </a:p>
          </p:txBody>
        </p:sp>
        <p:grpSp>
          <p:nvGrpSpPr>
            <p:cNvPr id="12" name="chain-model"/>
            <p:cNvGrpSpPr/>
            <p:nvPr/>
          </p:nvGrpSpPr>
          <p:grpSpPr>
            <a:xfrm>
              <a:off x="457200" y="2095500"/>
              <a:ext cx="2171700" cy="1066800"/>
              <a:chOff x="457200" y="2095500"/>
              <a:chExt cx="2171700" cy="10668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457200" y="2095500"/>
                <a:ext cx="217170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E4E2DC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680085" y="2260600"/>
                <a:ext cx="74909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14171C"/>
                    </a:solidFill>
                    <a:latin typeface="+mn-lt"/>
                    <a:ea typeface="+mn-ea"/>
                    <a:cs typeface="+mn-cs"/>
                  </a:rPr>
                  <a:t>① 模型编译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75894" y="2444750"/>
                <a:ext cx="187204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B03A2E"/>
                    </a:solidFill>
                    <a:latin typeface="+mn-lt"/>
                    <a:ea typeface="+mn-ea"/>
                    <a:cs typeface="+mn-cs"/>
                  </a:rPr>
                  <a:t>1 个算子落 CPU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80847" y="2838450"/>
                <a:ext cx="11972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不抛异常、不改指标</a:t>
                </a:r>
              </a:p>
            </p:txBody>
          </p:sp>
        </p:grpSp>
        <p:grpSp>
          <p:nvGrpSpPr>
            <p:cNvPr id="15" name="chain-arrow1"/>
            <p:cNvGrpSpPr/>
            <p:nvPr/>
          </p:nvGrpSpPr>
          <p:grpSpPr>
            <a:xfrm>
              <a:off x="2628900" y="2571750"/>
              <a:ext cx="438150" cy="114300"/>
              <a:chOff x="2628900" y="2571750"/>
              <a:chExt cx="438150" cy="114300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2628900" y="2628900"/>
                <a:ext cx="419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9525">
                    <a:moveTo>
                      <a:pt x="0" y="0"/>
                    </a:moveTo>
                    <a:lnTo>
                      <a:pt x="419100" y="0"/>
                    </a:lnTo>
                  </a:path>
                </a:pathLst>
              </a:custGeom>
              <a:noFill/>
              <a:ln w="19050">
                <a:solidFill>
                  <a:srgbClr val="79818F"/>
                </a:solidFill>
              </a:ln>
            </p:spPr>
          </p:sp>
          <p:sp>
            <p:nvSpPr>
              <p:cNvPr id="14" name="Polygon 14"/>
              <p:cNvSpPr/>
              <p:nvPr/>
            </p:nvSpPr>
            <p:spPr>
              <a:xfrm>
                <a:off x="2971800" y="257175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95250" y="57150"/>
                    </a:moveTo>
                    <a:lnTo>
                      <a:pt x="0" y="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79818F"/>
              </a:solidFill>
              <a:ln>
                <a:noFill/>
              </a:ln>
            </p:spPr>
          </p:sp>
        </p:grpSp>
        <p:grpSp>
          <p:nvGrpSpPr>
            <p:cNvPr id="20" name="chain-op"/>
            <p:cNvGrpSpPr/>
            <p:nvPr/>
          </p:nvGrpSpPr>
          <p:grpSpPr>
            <a:xfrm>
              <a:off x="3067050" y="2095500"/>
              <a:ext cx="2238479" cy="1066800"/>
              <a:chOff x="3067050" y="2095500"/>
              <a:chExt cx="2238479" cy="10668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3067050" y="2095500"/>
                <a:ext cx="217170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E4E2DC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289935" y="2260600"/>
                <a:ext cx="74909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14171C"/>
                    </a:solidFill>
                    <a:latin typeface="+mn-lt"/>
                    <a:ea typeface="+mn-ea"/>
                    <a:cs typeface="+mn-cs"/>
                  </a:rPr>
                  <a:t>② 算子匹配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285744" y="2444750"/>
                <a:ext cx="150511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rgbClr val="B03A2E"/>
                    </a:solidFill>
                    <a:latin typeface="+mn-lt"/>
                    <a:ea typeface="+mn-ea"/>
                    <a:cs typeface="+mn-cs"/>
                  </a:rPr>
                  <a:t>MAC −6.8%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290697" y="2838450"/>
                <a:ext cx="201483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时延却 −46.5%，FLOPs 外推失效</a:t>
                </a:r>
              </a:p>
            </p:txBody>
          </p:sp>
        </p:grpSp>
        <p:grpSp>
          <p:nvGrpSpPr>
            <p:cNvPr id="23" name="chain-arrow2"/>
            <p:cNvGrpSpPr/>
            <p:nvPr/>
          </p:nvGrpSpPr>
          <p:grpSpPr>
            <a:xfrm>
              <a:off x="5238750" y="2571750"/>
              <a:ext cx="438150" cy="114300"/>
              <a:chOff x="5238750" y="2571750"/>
              <a:chExt cx="438150" cy="114300"/>
            </a:xfrm>
          </p:grpSpPr>
          <p:sp>
            <p:nvSpPr>
              <p:cNvPr id="21" name="Line 21"/>
              <p:cNvSpPr/>
              <p:nvPr/>
            </p:nvSpPr>
            <p:spPr>
              <a:xfrm>
                <a:off x="5238750" y="2628900"/>
                <a:ext cx="419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9525">
                    <a:moveTo>
                      <a:pt x="0" y="0"/>
                    </a:moveTo>
                    <a:lnTo>
                      <a:pt x="419100" y="0"/>
                    </a:lnTo>
                  </a:path>
                </a:pathLst>
              </a:custGeom>
              <a:noFill/>
              <a:ln w="19050">
                <a:solidFill>
                  <a:srgbClr val="79818F"/>
                </a:solidFill>
              </a:ln>
            </p:spPr>
          </p:sp>
          <p:sp>
            <p:nvSpPr>
              <p:cNvPr id="22" name="Polygon 22"/>
              <p:cNvSpPr/>
              <p:nvPr/>
            </p:nvSpPr>
            <p:spPr>
              <a:xfrm>
                <a:off x="5581650" y="257175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95250" y="57150"/>
                    </a:moveTo>
                    <a:lnTo>
                      <a:pt x="0" y="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79818F"/>
              </a:solidFill>
              <a:ln>
                <a:noFill/>
              </a:ln>
            </p:spPr>
          </p:sp>
        </p:grpSp>
        <p:grpSp>
          <p:nvGrpSpPr>
            <p:cNvPr id="28" name="chain-shape"/>
            <p:cNvGrpSpPr/>
            <p:nvPr/>
          </p:nvGrpSpPr>
          <p:grpSpPr>
            <a:xfrm>
              <a:off x="5676900" y="2095500"/>
              <a:ext cx="2171700" cy="1066800"/>
              <a:chOff x="5676900" y="2095500"/>
              <a:chExt cx="2171700" cy="10668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676900" y="2095500"/>
                <a:ext cx="217170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E4E2DC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899785" y="2260600"/>
                <a:ext cx="74909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14171C"/>
                    </a:solidFill>
                    <a:latin typeface="+mn-lt"/>
                    <a:ea typeface="+mn-ea"/>
                    <a:cs typeface="+mn-cs"/>
                  </a:rPr>
                  <a:t>③ 张量形状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895594" y="2444750"/>
                <a:ext cx="1510207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B03A2E"/>
                    </a:solidFill>
                    <a:latin typeface="+mn-lt"/>
                    <a:ea typeface="+mn-ea"/>
                    <a:cs typeface="+mn-cs"/>
                  </a:rPr>
                  <a:t>3 → 1 次前向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900547" y="2838450"/>
                <a:ext cx="1724965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代价由形状决定，与像素无关</a:t>
                </a:r>
              </a:p>
            </p:txBody>
          </p:sp>
        </p:grpSp>
        <p:grpSp>
          <p:nvGrpSpPr>
            <p:cNvPr id="31" name="chain-arrow3"/>
            <p:cNvGrpSpPr/>
            <p:nvPr/>
          </p:nvGrpSpPr>
          <p:grpSpPr>
            <a:xfrm>
              <a:off x="7848600" y="2571750"/>
              <a:ext cx="438150" cy="114300"/>
              <a:chOff x="7848600" y="2571750"/>
              <a:chExt cx="438150" cy="114300"/>
            </a:xfrm>
          </p:grpSpPr>
          <p:sp>
            <p:nvSpPr>
              <p:cNvPr id="29" name="Line 29"/>
              <p:cNvSpPr/>
              <p:nvPr/>
            </p:nvSpPr>
            <p:spPr>
              <a:xfrm>
                <a:off x="7848600" y="2628900"/>
                <a:ext cx="419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9525">
                    <a:moveTo>
                      <a:pt x="0" y="0"/>
                    </a:moveTo>
                    <a:lnTo>
                      <a:pt x="419100" y="0"/>
                    </a:lnTo>
                  </a:path>
                </a:pathLst>
              </a:custGeom>
              <a:noFill/>
              <a:ln w="19050">
                <a:solidFill>
                  <a:srgbClr val="79818F"/>
                </a:solidFill>
              </a:ln>
            </p:spPr>
          </p:sp>
          <p:sp>
            <p:nvSpPr>
              <p:cNvPr id="30" name="Polygon 30"/>
              <p:cNvSpPr/>
              <p:nvPr/>
            </p:nvSpPr>
            <p:spPr>
              <a:xfrm>
                <a:off x="8191500" y="257175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95250" y="57150"/>
                    </a:moveTo>
                    <a:lnTo>
                      <a:pt x="0" y="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rgbClr val="79818F"/>
              </a:solidFill>
              <a:ln>
                <a:noFill/>
              </a:ln>
            </p:spPr>
          </p:sp>
        </p:grpSp>
        <p:grpSp>
          <p:nvGrpSpPr>
            <p:cNvPr id="36" name="chain-quant"/>
            <p:cNvGrpSpPr/>
            <p:nvPr/>
          </p:nvGrpSpPr>
          <p:grpSpPr>
            <a:xfrm>
              <a:off x="8286750" y="2095500"/>
              <a:ext cx="3448050" cy="1066800"/>
              <a:chOff x="8286750" y="2095500"/>
              <a:chExt cx="3448050" cy="10668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8286750" y="2095500"/>
                <a:ext cx="3448050" cy="1066800"/>
              </a:xfrm>
              <a:prstGeom prst="roundRect">
                <a:avLst>
                  <a:gd name="adj" fmla="val 7143"/>
                </a:avLst>
              </a:prstGeom>
              <a:solidFill>
                <a:srgbClr val="FFFFFF"/>
              </a:solidFill>
              <a:ln w="9525">
                <a:solidFill>
                  <a:srgbClr val="E4E2DC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509635" y="2260600"/>
                <a:ext cx="74909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14171C"/>
                    </a:solidFill>
                    <a:latin typeface="+mn-lt"/>
                    <a:ea typeface="+mn-ea"/>
                    <a:cs typeface="+mn-cs"/>
                  </a:rPr>
                  <a:t>④ 量化输入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505444" y="2444750"/>
                <a:ext cx="174403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rgbClr val="B03A2E"/>
                    </a:solidFill>
                    <a:latin typeface="+mn-lt"/>
                    <a:ea typeface="+mn-ea"/>
                    <a:cs typeface="+mn-cs"/>
                  </a:rPr>
                  <a:t>INT8 0.34 ms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510397" y="2838450"/>
                <a:ext cx="221168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vs FLOAT16 45.41 ms；QAT 已判负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457200" y="34290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51866" y="3486150"/>
              <a:ext cx="5131308" cy="4530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① → B1 算子回退清零（0 个计算算子）　② → B2 弃用 FLOPs 外推（改用 RKNN 算子表）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③ → B3 RGA 拼图（3 次前向压成 1 次）　④ → B4 同图对照算精度账（f16 代价 ≈ 0）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52247" y="4114800"/>
              <a:ext cx="35734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公共底座：三级流水线（并行结构）与纯 C ABI 端到端库交付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457200" y="4705350"/>
            <a:ext cx="11277600" cy="1104900"/>
            <a:chOff x="457200" y="4705350"/>
            <a:chExt cx="11277600" cy="1104900"/>
          </a:xfrm>
        </p:grpSpPr>
        <p:sp>
          <p:nvSpPr>
            <p:cNvPr id="41" name="Rectangle 41"/>
            <p:cNvSpPr/>
            <p:nvPr/>
          </p:nvSpPr>
          <p:spPr>
            <a:xfrm>
              <a:off x="457200" y="4705350"/>
              <a:ext cx="11277600" cy="1104900"/>
            </a:xfrm>
            <a:prstGeom prst="rect">
              <a:avLst/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457200" y="4705350"/>
              <a:ext cx="38100" cy="110490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15899" y="4876800"/>
              <a:ext cx="363189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一条链上四个断点，四个断点四种打法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8185" y="5200650"/>
              <a:ext cx="4911598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静默回退 → 形状优先 → 一次前向 → 同图对照：每招都对应一类具体的失效机制</a:t>
              </a:r>
              <a:b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共 9 个工作汇报点，全部围绕 GMC 与 NPU 这两个核心待攻克问题展开</a:t>
              </a:r>
            </a:p>
          </p:txBody>
        </p:sp>
      </p:grpSp>
      <p:grpSp>
        <p:nvGrpSpPr>
          <p:cNvPr id="49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46" name="Line 46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52247" y="6477000"/>
              <a:ext cx="992975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来源：heatmap_npu_trial0474.md §零/§六之二；MOSAIC_RK3588_20261026.md §2/§7.1；RGA_RK3588_NOTES.md §6/§7；PTQ_RK3588_int8_报告.md §3/§21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05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ection-head"/>
          <p:cNvGrpSpPr/>
          <p:nvPr/>
        </p:nvGrpSpPr>
        <p:grpSpPr>
          <a:xfrm>
            <a:off x="438150" y="1485900"/>
            <a:ext cx="11296650" cy="2371725"/>
            <a:chOff x="438150" y="1485900"/>
            <a:chExt cx="11296650" cy="2371725"/>
          </a:xfrm>
        </p:grpSpPr>
        <p:sp>
          <p:nvSpPr>
            <p:cNvPr id="2" name="Rectangle 2"/>
            <p:cNvSpPr/>
            <p:nvPr/>
          </p:nvSpPr>
          <p:spPr>
            <a:xfrm>
              <a:off x="457200" y="1485900"/>
              <a:ext cx="685800" cy="3810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38150" y="1638300"/>
              <a:ext cx="1250892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0436" y="2736850"/>
              <a:ext cx="38558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战线 A · GMC 之战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49961" y="3422650"/>
              <a:ext cx="53074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三段成本，各一招——把 GMC 的算力开销与延时压到板卡可交付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57200" y="38481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2" name="preview-a1"/>
          <p:cNvGrpSpPr/>
          <p:nvPr/>
        </p:nvGrpSpPr>
        <p:grpSpPr>
          <a:xfrm>
            <a:off x="449961" y="4121150"/>
            <a:ext cx="1856615" cy="1540828"/>
            <a:chOff x="449961" y="4121150"/>
            <a:chExt cx="1856615" cy="1540828"/>
          </a:xfrm>
        </p:grpSpPr>
        <p:sp>
          <p:nvSpPr>
            <p:cNvPr id="8" name="Freeform 8"/>
            <p:cNvSpPr/>
            <p:nvPr/>
          </p:nvSpPr>
          <p:spPr>
            <a:xfrm>
              <a:off x="507425" y="4121150"/>
              <a:ext cx="204349" cy="258711"/>
            </a:xfrm>
            <a:custGeom>
              <a:avLst/>
              <a:gdLst/>
              <a:ahLst/>
              <a:cxnLst/>
              <a:rect l="l" t="t" r="r" b="b"/>
              <a:pathLst>
                <a:path w="204349" h="258711">
                  <a:moveTo>
                    <a:pt x="114875" y="0"/>
                  </a:moveTo>
                  <a:lnTo>
                    <a:pt x="115103" y="13"/>
                  </a:lnTo>
                  <a:lnTo>
                    <a:pt x="115307" y="25"/>
                  </a:lnTo>
                  <a:lnTo>
                    <a:pt x="116361" y="89"/>
                  </a:lnTo>
                  <a:lnTo>
                    <a:pt x="116500" y="114"/>
                  </a:lnTo>
                  <a:lnTo>
                    <a:pt x="116640" y="114"/>
                  </a:lnTo>
                  <a:lnTo>
                    <a:pt x="117123" y="229"/>
                  </a:lnTo>
                  <a:lnTo>
                    <a:pt x="117783" y="330"/>
                  </a:lnTo>
                  <a:lnTo>
                    <a:pt x="117986" y="406"/>
                  </a:lnTo>
                  <a:lnTo>
                    <a:pt x="118126" y="419"/>
                  </a:lnTo>
                  <a:lnTo>
                    <a:pt x="118494" y="559"/>
                  </a:lnTo>
                  <a:lnTo>
                    <a:pt x="119155" y="737"/>
                  </a:lnTo>
                  <a:lnTo>
                    <a:pt x="119396" y="851"/>
                  </a:lnTo>
                  <a:lnTo>
                    <a:pt x="119586" y="902"/>
                  </a:lnTo>
                  <a:lnTo>
                    <a:pt x="119942" y="1079"/>
                  </a:lnTo>
                  <a:lnTo>
                    <a:pt x="120450" y="1295"/>
                  </a:lnTo>
                  <a:lnTo>
                    <a:pt x="120717" y="1448"/>
                  </a:lnTo>
                  <a:lnTo>
                    <a:pt x="120996" y="1575"/>
                  </a:lnTo>
                  <a:lnTo>
                    <a:pt x="121288" y="1765"/>
                  </a:lnTo>
                  <a:lnTo>
                    <a:pt x="121682" y="1981"/>
                  </a:lnTo>
                  <a:lnTo>
                    <a:pt x="122114" y="2286"/>
                  </a:lnTo>
                  <a:lnTo>
                    <a:pt x="122342" y="2426"/>
                  </a:lnTo>
                  <a:lnTo>
                    <a:pt x="122507" y="2578"/>
                  </a:lnTo>
                  <a:lnTo>
                    <a:pt x="122812" y="2794"/>
                  </a:lnTo>
                  <a:lnTo>
                    <a:pt x="123295" y="3226"/>
                  </a:lnTo>
                  <a:lnTo>
                    <a:pt x="123574" y="3442"/>
                  </a:lnTo>
                  <a:lnTo>
                    <a:pt x="123676" y="3569"/>
                  </a:lnTo>
                  <a:lnTo>
                    <a:pt x="123854" y="3721"/>
                  </a:lnTo>
                  <a:lnTo>
                    <a:pt x="124311" y="4242"/>
                  </a:lnTo>
                  <a:lnTo>
                    <a:pt x="124641" y="4585"/>
                  </a:lnTo>
                  <a:lnTo>
                    <a:pt x="124717" y="4699"/>
                  </a:lnTo>
                  <a:cubicBezTo>
                    <a:pt x="126241" y="6566"/>
                    <a:pt x="127206" y="8788"/>
                    <a:pt x="127486" y="11214"/>
                  </a:cubicBezTo>
                  <a:lnTo>
                    <a:pt x="127498" y="11366"/>
                  </a:lnTo>
                  <a:lnTo>
                    <a:pt x="127524" y="11887"/>
                  </a:lnTo>
                  <a:lnTo>
                    <a:pt x="127575" y="12700"/>
                  </a:lnTo>
                  <a:lnTo>
                    <a:pt x="127575" y="88900"/>
                  </a:lnTo>
                  <a:lnTo>
                    <a:pt x="191075" y="88900"/>
                  </a:lnTo>
                  <a:cubicBezTo>
                    <a:pt x="195605" y="88899"/>
                    <a:pt x="199792" y="91311"/>
                    <a:pt x="202064" y="95229"/>
                  </a:cubicBezTo>
                  <a:cubicBezTo>
                    <a:pt x="204337" y="99148"/>
                    <a:pt x="204349" y="103981"/>
                    <a:pt x="202098" y="107912"/>
                  </a:cubicBezTo>
                  <a:lnTo>
                    <a:pt x="201336" y="109067"/>
                  </a:lnTo>
                  <a:lnTo>
                    <a:pt x="99736" y="248767"/>
                  </a:lnTo>
                  <a:cubicBezTo>
                    <a:pt x="92523" y="258711"/>
                    <a:pt x="76775" y="253593"/>
                    <a:pt x="76775" y="241299"/>
                  </a:cubicBezTo>
                  <a:lnTo>
                    <a:pt x="76775" y="165100"/>
                  </a:lnTo>
                  <a:lnTo>
                    <a:pt x="13275" y="165100"/>
                  </a:lnTo>
                  <a:cubicBezTo>
                    <a:pt x="8745" y="165101"/>
                    <a:pt x="4557" y="162689"/>
                    <a:pt x="2285" y="158770"/>
                  </a:cubicBezTo>
                  <a:cubicBezTo>
                    <a:pt x="13" y="154851"/>
                    <a:pt x="0" y="150019"/>
                    <a:pt x="2251" y="146088"/>
                  </a:cubicBezTo>
                  <a:lnTo>
                    <a:pt x="3013" y="144932"/>
                  </a:lnTo>
                  <a:lnTo>
                    <a:pt x="104613" y="5232"/>
                  </a:lnTo>
                  <a:lnTo>
                    <a:pt x="104740" y="5067"/>
                  </a:lnTo>
                  <a:lnTo>
                    <a:pt x="104969" y="4762"/>
                  </a:lnTo>
                  <a:lnTo>
                    <a:pt x="105388" y="4280"/>
                  </a:lnTo>
                  <a:lnTo>
                    <a:pt x="105616" y="4000"/>
                  </a:lnTo>
                  <a:lnTo>
                    <a:pt x="105731" y="3899"/>
                  </a:lnTo>
                  <a:lnTo>
                    <a:pt x="105896" y="3721"/>
                  </a:lnTo>
                  <a:lnTo>
                    <a:pt x="106404" y="3264"/>
                  </a:lnTo>
                  <a:lnTo>
                    <a:pt x="106759" y="2934"/>
                  </a:lnTo>
                  <a:lnTo>
                    <a:pt x="106861" y="2857"/>
                  </a:lnTo>
                  <a:cubicBezTo>
                    <a:pt x="108349" y="1639"/>
                    <a:pt x="110095" y="775"/>
                    <a:pt x="111966" y="330"/>
                  </a:cubicBezTo>
                  <a:lnTo>
                    <a:pt x="112106" y="317"/>
                  </a:lnTo>
                  <a:lnTo>
                    <a:pt x="112449" y="254"/>
                  </a:lnTo>
                  <a:lnTo>
                    <a:pt x="113389" y="89"/>
                  </a:lnTo>
                  <a:lnTo>
                    <a:pt x="113529" y="76"/>
                  </a:lnTo>
                  <a:lnTo>
                    <a:pt x="114049" y="51"/>
                  </a:ln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49961" y="4546600"/>
              <a:ext cx="18566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A1 OpenCL 融合内核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1866" y="4826000"/>
              <a:ext cx="1737551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warp + median + 三通道组装</a:t>
              </a:r>
              <a:b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整体搬到 GPU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1485" y="5441950"/>
              <a:ext cx="120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攻 CPU 侧 77.4%</a:t>
              </a:r>
            </a:p>
          </p:txBody>
        </p:sp>
      </p:grpSp>
      <p:grpSp>
        <p:nvGrpSpPr>
          <p:cNvPr id="21" name="preview-a2"/>
          <p:cNvGrpSpPr/>
          <p:nvPr/>
        </p:nvGrpSpPr>
        <p:grpSpPr>
          <a:xfrm>
            <a:off x="4336161" y="4121150"/>
            <a:ext cx="1579645" cy="1540828"/>
            <a:chOff x="4336161" y="4121150"/>
            <a:chExt cx="1579645" cy="1540828"/>
          </a:xfrm>
        </p:grpSpPr>
        <p:grpSp>
          <p:nvGrpSpPr>
            <p:cNvPr id="17" name="Group 17"/>
            <p:cNvGrpSpPr/>
            <p:nvPr/>
          </p:nvGrpSpPr>
          <p:grpSpPr>
            <a:xfrm>
              <a:off x="4368800" y="4121150"/>
              <a:ext cx="254000" cy="254000"/>
              <a:chOff x="4368800" y="4121150"/>
              <a:chExt cx="254000" cy="254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368800" y="42735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33871"/>
                    </a:moveTo>
                    <a:cubicBezTo>
                      <a:pt x="0" y="15164"/>
                      <a:pt x="15164" y="0"/>
                      <a:pt x="33871" y="0"/>
                    </a:cubicBezTo>
                    <a:lnTo>
                      <a:pt x="67729" y="0"/>
                    </a:lnTo>
                    <a:cubicBezTo>
                      <a:pt x="86435" y="0"/>
                      <a:pt x="101600" y="15164"/>
                      <a:pt x="101600" y="33871"/>
                    </a:cubicBezTo>
                    <a:lnTo>
                      <a:pt x="101600" y="67729"/>
                    </a:lnTo>
                    <a:cubicBezTo>
                      <a:pt x="101600" y="86435"/>
                      <a:pt x="86435" y="101600"/>
                      <a:pt x="67729" y="101600"/>
                    </a:cubicBezTo>
                    <a:lnTo>
                      <a:pt x="33871" y="101600"/>
                    </a:lnTo>
                    <a:cubicBezTo>
                      <a:pt x="24888" y="101600"/>
                      <a:pt x="16273" y="98031"/>
                      <a:pt x="9921" y="91679"/>
                    </a:cubicBezTo>
                    <a:cubicBezTo>
                      <a:pt x="3569" y="85327"/>
                      <a:pt x="0" y="76712"/>
                      <a:pt x="0" y="67729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521200" y="42735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33871"/>
                    </a:moveTo>
                    <a:cubicBezTo>
                      <a:pt x="0" y="24888"/>
                      <a:pt x="3569" y="16273"/>
                      <a:pt x="9921" y="9921"/>
                    </a:cubicBezTo>
                    <a:cubicBezTo>
                      <a:pt x="16273" y="3569"/>
                      <a:pt x="24888" y="0"/>
                      <a:pt x="33871" y="0"/>
                    </a:cubicBezTo>
                    <a:lnTo>
                      <a:pt x="67729" y="0"/>
                    </a:lnTo>
                    <a:cubicBezTo>
                      <a:pt x="86435" y="0"/>
                      <a:pt x="101600" y="15164"/>
                      <a:pt x="101600" y="33871"/>
                    </a:cubicBezTo>
                    <a:lnTo>
                      <a:pt x="101600" y="67729"/>
                    </a:lnTo>
                    <a:cubicBezTo>
                      <a:pt x="101600" y="86435"/>
                      <a:pt x="86435" y="101600"/>
                      <a:pt x="67729" y="101600"/>
                    </a:cubicBezTo>
                    <a:lnTo>
                      <a:pt x="33871" y="101600"/>
                    </a:lnTo>
                    <a:cubicBezTo>
                      <a:pt x="24888" y="101600"/>
                      <a:pt x="16273" y="98031"/>
                      <a:pt x="9921" y="91679"/>
                    </a:cubicBezTo>
                    <a:cubicBezTo>
                      <a:pt x="3569" y="85327"/>
                      <a:pt x="0" y="76712"/>
                      <a:pt x="0" y="67729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445000" y="4121150"/>
                <a:ext cx="101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101600">
                    <a:moveTo>
                      <a:pt x="0" y="33871"/>
                    </a:moveTo>
                    <a:cubicBezTo>
                      <a:pt x="0" y="15164"/>
                      <a:pt x="15164" y="0"/>
                      <a:pt x="33871" y="0"/>
                    </a:cubicBezTo>
                    <a:lnTo>
                      <a:pt x="67729" y="0"/>
                    </a:lnTo>
                    <a:cubicBezTo>
                      <a:pt x="86435" y="0"/>
                      <a:pt x="101600" y="15164"/>
                      <a:pt x="101600" y="33871"/>
                    </a:cubicBezTo>
                    <a:lnTo>
                      <a:pt x="101600" y="67729"/>
                    </a:lnTo>
                    <a:cubicBezTo>
                      <a:pt x="101600" y="86435"/>
                      <a:pt x="86435" y="101600"/>
                      <a:pt x="67729" y="101600"/>
                    </a:cubicBezTo>
                    <a:lnTo>
                      <a:pt x="33871" y="101600"/>
                    </a:lnTo>
                    <a:cubicBezTo>
                      <a:pt x="15164" y="101600"/>
                      <a:pt x="0" y="86435"/>
                      <a:pt x="0" y="67729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406900" y="4197350"/>
                <a:ext cx="1778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01600">
                    <a:moveTo>
                      <a:pt x="88900" y="0"/>
                    </a:moveTo>
                    <a:cubicBezTo>
                      <a:pt x="81886" y="0"/>
                      <a:pt x="76200" y="5686"/>
                      <a:pt x="76200" y="12700"/>
                    </a:cubicBezTo>
                    <a:lnTo>
                      <a:pt x="76200" y="38100"/>
                    </a:lnTo>
                    <a:lnTo>
                      <a:pt x="38100" y="38100"/>
                    </a:lnTo>
                    <a:cubicBezTo>
                      <a:pt x="17208" y="38100"/>
                      <a:pt x="0" y="55308"/>
                      <a:pt x="0" y="76200"/>
                    </a:cubicBezTo>
                    <a:lnTo>
                      <a:pt x="0" y="88900"/>
                    </a:lnTo>
                    <a:cubicBezTo>
                      <a:pt x="0" y="95914"/>
                      <a:pt x="5686" y="101600"/>
                      <a:pt x="12700" y="101600"/>
                    </a:cubicBezTo>
                    <a:cubicBezTo>
                      <a:pt x="19714" y="101600"/>
                      <a:pt x="25400" y="95914"/>
                      <a:pt x="25400" y="88900"/>
                    </a:cubicBezTo>
                    <a:lnTo>
                      <a:pt x="25400" y="76200"/>
                    </a:lnTo>
                    <a:cubicBezTo>
                      <a:pt x="25400" y="69037"/>
                      <a:pt x="30937" y="63500"/>
                      <a:pt x="38100" y="63500"/>
                    </a:cubicBezTo>
                    <a:lnTo>
                      <a:pt x="139700" y="63500"/>
                    </a:lnTo>
                    <a:cubicBezTo>
                      <a:pt x="146862" y="63500"/>
                      <a:pt x="152400" y="69037"/>
                      <a:pt x="152400" y="76200"/>
                    </a:cubicBezTo>
                    <a:lnTo>
                      <a:pt x="152400" y="88900"/>
                    </a:lnTo>
                    <a:cubicBezTo>
                      <a:pt x="152400" y="95914"/>
                      <a:pt x="158086" y="101600"/>
                      <a:pt x="165100" y="101600"/>
                    </a:cubicBezTo>
                    <a:cubicBezTo>
                      <a:pt x="172114" y="101600"/>
                      <a:pt x="177800" y="95914"/>
                      <a:pt x="177800" y="88900"/>
                    </a:cubicBezTo>
                    <a:lnTo>
                      <a:pt x="177800" y="76200"/>
                    </a:lnTo>
                    <a:cubicBezTo>
                      <a:pt x="177800" y="55308"/>
                      <a:pt x="160591" y="38100"/>
                      <a:pt x="139700" y="38100"/>
                    </a:cubicBezTo>
                    <a:lnTo>
                      <a:pt x="101600" y="38100"/>
                    </a:lnTo>
                    <a:lnTo>
                      <a:pt x="101600" y="12700"/>
                    </a:lnTo>
                    <a:cubicBezTo>
                      <a:pt x="101600" y="5686"/>
                      <a:pt x="95914" y="0"/>
                      <a:pt x="88900" y="0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4336161" y="4546600"/>
              <a:ext cx="157964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A2 Tree 锚点级联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38066" y="4826000"/>
              <a:ext cx="12108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只在锚点直接拟合，</a:t>
              </a:r>
              <a:b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其余 lag 连乘推导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37685" y="5441950"/>
              <a:ext cx="9782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攻拟合 21.6%</a:t>
              </a:r>
            </a:p>
          </p:txBody>
        </p:sp>
      </p:grpSp>
      <p:grpSp>
        <p:nvGrpSpPr>
          <p:cNvPr id="29" name="preview-a3"/>
          <p:cNvGrpSpPr/>
          <p:nvPr/>
        </p:nvGrpSpPr>
        <p:grpSpPr>
          <a:xfrm>
            <a:off x="8222361" y="4121150"/>
            <a:ext cx="1392746" cy="1540828"/>
            <a:chOff x="8222361" y="4121150"/>
            <a:chExt cx="1392746" cy="1540828"/>
          </a:xfrm>
        </p:grpSpPr>
        <p:grpSp>
          <p:nvGrpSpPr>
            <p:cNvPr id="25" name="Group 25"/>
            <p:cNvGrpSpPr/>
            <p:nvPr/>
          </p:nvGrpSpPr>
          <p:grpSpPr>
            <a:xfrm>
              <a:off x="8267699" y="4121150"/>
              <a:ext cx="228600" cy="253999"/>
              <a:chOff x="8267699" y="4121150"/>
              <a:chExt cx="228600" cy="253999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267700" y="4295533"/>
                <a:ext cx="228599" cy="79616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79616">
                    <a:moveTo>
                      <a:pt x="0" y="0"/>
                    </a:moveTo>
                    <a:cubicBezTo>
                      <a:pt x="24994" y="19139"/>
                      <a:pt x="66472" y="28816"/>
                      <a:pt x="114300" y="28816"/>
                    </a:cubicBezTo>
                    <a:cubicBezTo>
                      <a:pt x="162052" y="28816"/>
                      <a:pt x="203517" y="19164"/>
                      <a:pt x="228599" y="216"/>
                    </a:cubicBezTo>
                    <a:lnTo>
                      <a:pt x="228599" y="28816"/>
                    </a:lnTo>
                    <a:cubicBezTo>
                      <a:pt x="228599" y="59614"/>
                      <a:pt x="179133" y="78803"/>
                      <a:pt x="118199" y="79591"/>
                    </a:cubicBezTo>
                    <a:lnTo>
                      <a:pt x="114300" y="79616"/>
                    </a:lnTo>
                    <a:cubicBezTo>
                      <a:pt x="51587" y="79616"/>
                      <a:pt x="0" y="60274"/>
                      <a:pt x="0" y="28816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267700" y="4219333"/>
                <a:ext cx="228599" cy="79616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79616">
                    <a:moveTo>
                      <a:pt x="0" y="0"/>
                    </a:moveTo>
                    <a:cubicBezTo>
                      <a:pt x="24994" y="19139"/>
                      <a:pt x="66472" y="28816"/>
                      <a:pt x="114300" y="28816"/>
                    </a:cubicBezTo>
                    <a:cubicBezTo>
                      <a:pt x="162052" y="28816"/>
                      <a:pt x="203517" y="19164"/>
                      <a:pt x="228599" y="216"/>
                    </a:cubicBezTo>
                    <a:lnTo>
                      <a:pt x="228599" y="28816"/>
                    </a:lnTo>
                    <a:cubicBezTo>
                      <a:pt x="228599" y="60274"/>
                      <a:pt x="177012" y="79616"/>
                      <a:pt x="114300" y="79616"/>
                    </a:cubicBezTo>
                    <a:cubicBezTo>
                      <a:pt x="53365" y="79616"/>
                      <a:pt x="2921" y="61354"/>
                      <a:pt x="267" y="31420"/>
                    </a:cubicBezTo>
                    <a:lnTo>
                      <a:pt x="63" y="30137"/>
                    </a:lnTo>
                    <a:lnTo>
                      <a:pt x="0" y="28816"/>
                    </a:ln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67699" y="4121150"/>
                <a:ext cx="228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1600">
                    <a:moveTo>
                      <a:pt x="114301" y="0"/>
                    </a:moveTo>
                    <a:cubicBezTo>
                      <a:pt x="127521" y="0"/>
                      <a:pt x="140259" y="864"/>
                      <a:pt x="152109" y="2515"/>
                    </a:cubicBezTo>
                    <a:lnTo>
                      <a:pt x="158065" y="3416"/>
                    </a:lnTo>
                    <a:cubicBezTo>
                      <a:pt x="165177" y="4602"/>
                      <a:pt x="171891" y="6075"/>
                      <a:pt x="178207" y="7836"/>
                    </a:cubicBezTo>
                    <a:lnTo>
                      <a:pt x="183795" y="9500"/>
                    </a:lnTo>
                    <a:lnTo>
                      <a:pt x="184747" y="9804"/>
                    </a:lnTo>
                    <a:cubicBezTo>
                      <a:pt x="188204" y="10941"/>
                      <a:pt x="191614" y="12212"/>
                      <a:pt x="194971" y="13614"/>
                    </a:cubicBezTo>
                    <a:lnTo>
                      <a:pt x="197498" y="14707"/>
                    </a:lnTo>
                    <a:cubicBezTo>
                      <a:pt x="202028" y="16755"/>
                      <a:pt x="206121" y="18999"/>
                      <a:pt x="209779" y="21438"/>
                    </a:cubicBezTo>
                    <a:cubicBezTo>
                      <a:pt x="211176" y="22369"/>
                      <a:pt x="212501" y="23321"/>
                      <a:pt x="213754" y="24295"/>
                    </a:cubicBezTo>
                    <a:cubicBezTo>
                      <a:pt x="216928" y="26758"/>
                      <a:pt x="219783" y="29608"/>
                      <a:pt x="222250" y="32779"/>
                    </a:cubicBezTo>
                    <a:lnTo>
                      <a:pt x="223406" y="34404"/>
                    </a:lnTo>
                    <a:cubicBezTo>
                      <a:pt x="223999" y="35293"/>
                      <a:pt x="224545" y="36186"/>
                      <a:pt x="225044" y="37084"/>
                    </a:cubicBezTo>
                    <a:lnTo>
                      <a:pt x="225933" y="38849"/>
                    </a:lnTo>
                    <a:cubicBezTo>
                      <a:pt x="227313" y="41813"/>
                      <a:pt x="228160" y="44903"/>
                      <a:pt x="228473" y="48120"/>
                    </a:cubicBezTo>
                    <a:lnTo>
                      <a:pt x="228600" y="50800"/>
                    </a:lnTo>
                    <a:cubicBezTo>
                      <a:pt x="228600" y="82258"/>
                      <a:pt x="177013" y="101600"/>
                      <a:pt x="114301" y="101600"/>
                    </a:cubicBezTo>
                    <a:cubicBezTo>
                      <a:pt x="53366" y="101600"/>
                      <a:pt x="2922" y="83337"/>
                      <a:pt x="268" y="53403"/>
                    </a:cubicBezTo>
                    <a:cubicBezTo>
                      <a:pt x="89" y="52547"/>
                      <a:pt x="0" y="51675"/>
                      <a:pt x="1" y="50800"/>
                    </a:cubicBezTo>
                    <a:lnTo>
                      <a:pt x="64" y="49479"/>
                    </a:lnTo>
                    <a:lnTo>
                      <a:pt x="268" y="48209"/>
                    </a:lnTo>
                    <a:cubicBezTo>
                      <a:pt x="2871" y="18923"/>
                      <a:pt x="51195" y="800"/>
                      <a:pt x="110338" y="25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222361" y="4546600"/>
              <a:ext cx="12671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A3 纯函数缓存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24266" y="4826000"/>
              <a:ext cx="1390841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resize + 角点 + 金字塔</a:t>
              </a:r>
              <a:b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按绝对帧号缓存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23885" y="5441950"/>
              <a:ext cx="12948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攻 fit 内部 65.8%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30" name="Line 30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52247" y="6477000"/>
              <a:ext cx="36478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A1 与 A2 互补而非重复：step10 砍的是拟合，warp 一次没少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06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244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战果 A1 · 战线 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527727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把 step10 砍不动的那一块搬到 GPU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373170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warp + 21 帧 median + 三通道组装 → Mali-G610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26" name="split-diagram"/>
          <p:cNvGrpSpPr/>
          <p:nvPr/>
        </p:nvGrpSpPr>
        <p:grpSpPr>
          <a:xfrm>
            <a:off x="457200" y="1600200"/>
            <a:ext cx="6286500" cy="2857500"/>
            <a:chOff x="457200" y="1600200"/>
            <a:chExt cx="6286500" cy="2857500"/>
          </a:xfrm>
        </p:grpSpPr>
        <p:sp>
          <p:nvSpPr>
            <p:cNvPr id="7" name="Rectangle 7"/>
            <p:cNvSpPr/>
            <p:nvPr/>
          </p:nvSpPr>
          <p:spPr>
            <a:xfrm>
              <a:off x="457200" y="1600200"/>
              <a:ext cx="6286500" cy="285750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847" y="1771650"/>
              <a:ext cx="14568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45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CPU 保留 · 拟合与检测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5800" y="2000250"/>
              <a:ext cx="1714500" cy="495300"/>
            </a:xfrm>
            <a:prstGeom prst="roundRect">
              <a:avLst>
                <a:gd name="adj" fmla="val 15385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6716" y="2165350"/>
              <a:ext cx="1152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Shi-Tomasi 角点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514600" y="2000250"/>
              <a:ext cx="1714500" cy="495300"/>
            </a:xfrm>
            <a:prstGeom prst="roundRect">
              <a:avLst>
                <a:gd name="adj" fmla="val 15385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103844" y="2165350"/>
              <a:ext cx="5360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LK 光流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343400" y="2000250"/>
              <a:ext cx="2171700" cy="495300"/>
            </a:xfrm>
            <a:prstGeom prst="roundRect">
              <a:avLst>
                <a:gd name="adj" fmla="val 15385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835230" y="2165350"/>
              <a:ext cx="1188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RANSAC 仿射拟合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600450" y="259080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19050">
              <a:solidFill>
                <a:srgbClr val="0F4C75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3533775" y="28575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66675" y="13335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66947" y="2724150"/>
              <a:ext cx="64975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拟合结果 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0847" y="3200400"/>
              <a:ext cx="18894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45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GPU 承接 · 占 CPU 侧 77.4%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5800" y="3429000"/>
              <a:ext cx="1714500" cy="495300"/>
            </a:xfrm>
            <a:prstGeom prst="roundRect">
              <a:avLst>
                <a:gd name="adj" fmla="val 15385"/>
              </a:avLst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83015" y="3594100"/>
              <a:ext cx="720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warp 仿射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514600" y="3429000"/>
              <a:ext cx="1714500" cy="495300"/>
            </a:xfrm>
            <a:prstGeom prst="roundRect">
              <a:avLst>
                <a:gd name="adj" fmla="val 15385"/>
              </a:avLst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034431" y="3594100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21 帧中值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343400" y="3429000"/>
              <a:ext cx="2171700" cy="495300"/>
            </a:xfrm>
            <a:prstGeom prst="roundRect">
              <a:avLst>
                <a:gd name="adj" fmla="val 15385"/>
              </a:avLst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046599" y="35941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三通道组装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0847" y="4152900"/>
              <a:ext cx="284995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输出 = 原生三通道特征，与 CPU 参考逐字节一致</a:t>
              </a:r>
            </a:p>
          </p:txBody>
        </p:sp>
      </p:grpSp>
      <p:grpSp>
        <p:nvGrpSpPr>
          <p:cNvPr id="36" name="evidence"/>
          <p:cNvGrpSpPr/>
          <p:nvPr/>
        </p:nvGrpSpPr>
        <p:grpSpPr>
          <a:xfrm>
            <a:off x="7031736" y="1727200"/>
            <a:ext cx="2382660" cy="2618359"/>
            <a:chOff x="7031736" y="1727200"/>
            <a:chExt cx="2382660" cy="2618359"/>
          </a:xfrm>
        </p:grpSpPr>
        <p:sp>
          <p:nvSpPr>
            <p:cNvPr id="27" name="TextBox 27"/>
            <p:cNvSpPr txBox="1"/>
            <p:nvPr/>
          </p:nvSpPr>
          <p:spPr>
            <a:xfrm>
              <a:off x="7042785" y="17272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可验证设备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31736" y="1993900"/>
              <a:ext cx="16439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4345 万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43166" y="2559050"/>
              <a:ext cx="1982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像素级验证（8 序列 / 136 帧）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31736" y="279400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18654" y="3048000"/>
              <a:ext cx="10573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Ch0 Max|Diff|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43166" y="3359150"/>
              <a:ext cx="2371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承重门：一次挡住 6 类坐标/通道错误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31736" y="3575050"/>
              <a:ext cx="80318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109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99654" y="382905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比较器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43166" y="4140200"/>
              <a:ext cx="13535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2^21 全枚举，非抽样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457200" y="4705350"/>
            <a:ext cx="11277600" cy="1104900"/>
            <a:chOff x="457200" y="4705350"/>
            <a:chExt cx="11277600" cy="1104900"/>
          </a:xfrm>
        </p:grpSpPr>
        <p:sp>
          <p:nvSpPr>
            <p:cNvPr id="37" name="Rectangle 37"/>
            <p:cNvSpPr/>
            <p:nvPr/>
          </p:nvSpPr>
          <p:spPr>
            <a:xfrm>
              <a:off x="457200" y="4705350"/>
              <a:ext cx="11277600" cy="1104900"/>
            </a:xfrm>
            <a:prstGeom prst="rect">
              <a:avLst/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57200" y="4705350"/>
              <a:ext cx="38100" cy="110490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15899" y="4876800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完备证明，不是抽样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8185" y="5200650"/>
              <a:ext cx="5935726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排序网络 2^21 全枚举通过，并证伪公开的 Batchers 奇偶归并伪码 —— 奇数 n 时会静默越界写</a:t>
              </a:r>
              <a:b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Ch1 / Ch2 MAE 0.00073 / 0.00033；残余约 600 像素（1.4e-7）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42" name="Line 42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52247" y="6477000"/>
              <a:ext cx="67555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来源：opencl_fused_rk3588.md §1（排序网络完备证明）、§3（精度）、§4（Mali 适配 7 条）、§7（埋点缺陷）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07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244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战果 A2 · 战线 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405329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22 次长基线拟合，高度冗余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513066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相邻 lag 描述的是同一段相机运动 —— 只在锚点拟合，其余连乘推导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42" name="lag-timeline"/>
          <p:cNvGrpSpPr/>
          <p:nvPr/>
        </p:nvGrpSpPr>
        <p:grpSpPr>
          <a:xfrm>
            <a:off x="451485" y="1727200"/>
            <a:ext cx="6854190" cy="1855343"/>
            <a:chOff x="451485" y="1727200"/>
            <a:chExt cx="6854190" cy="1855343"/>
          </a:xfrm>
        </p:grpSpPr>
        <p:sp>
          <p:nvSpPr>
            <p:cNvPr id="7" name="TextBox 7"/>
            <p:cNvSpPr txBox="1"/>
            <p:nvPr/>
          </p:nvSpPr>
          <p:spPr>
            <a:xfrm>
              <a:off x="451485" y="1727200"/>
              <a:ext cx="2992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21 个 lag（2…42），只有 5 个锚点直接拟合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276225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19050">
              <a:solidFill>
                <a:srgbClr val="DCDCD6"/>
              </a:solidFill>
            </a:ln>
          </p:spPr>
        </p:sp>
        <p:grpSp>
          <p:nvGrpSpPr>
            <p:cNvPr id="29" name="lag-dots"/>
            <p:cNvGrpSpPr/>
            <p:nvPr/>
          </p:nvGrpSpPr>
          <p:grpSpPr>
            <a:xfrm>
              <a:off x="847725" y="2676525"/>
              <a:ext cx="6457950" cy="171450"/>
              <a:chOff x="847725" y="2676525"/>
              <a:chExt cx="6457950" cy="17145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847725" y="2676525"/>
                <a:ext cx="171450" cy="171450"/>
              </a:xfrm>
              <a:prstGeom prst="ellipse">
                <a:avLst/>
              </a:pr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228725" y="2724150"/>
                <a:ext cx="76200" cy="76200"/>
              </a:xfrm>
              <a:prstGeom prst="ellipse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562100" y="2724150"/>
                <a:ext cx="76200" cy="76200"/>
              </a:xfrm>
              <a:prstGeom prst="ellipse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1895475" y="2724150"/>
                <a:ext cx="76200" cy="76200"/>
              </a:xfrm>
              <a:prstGeom prst="ellipse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2228850" y="2724150"/>
                <a:ext cx="76200" cy="76200"/>
              </a:xfrm>
              <a:prstGeom prst="ellipse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2514600" y="2676525"/>
                <a:ext cx="171450" cy="171450"/>
              </a:xfrm>
              <a:prstGeom prst="ellipse">
                <a:avLst/>
              </a:pr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2895600" y="2724150"/>
                <a:ext cx="76200" cy="76200"/>
              </a:xfrm>
              <a:prstGeom prst="ellipse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3228975" y="2724150"/>
                <a:ext cx="76200" cy="76200"/>
              </a:xfrm>
              <a:prstGeom prst="ellipse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3562350" y="2724150"/>
                <a:ext cx="76200" cy="76200"/>
              </a:xfrm>
              <a:prstGeom prst="ellipse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3895725" y="2724150"/>
                <a:ext cx="76200" cy="76200"/>
              </a:xfrm>
              <a:prstGeom prst="ellipse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4181475" y="2676525"/>
                <a:ext cx="171450" cy="171450"/>
              </a:xfrm>
              <a:prstGeom prst="ellipse">
                <a:avLst/>
              </a:pr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4562475" y="2724150"/>
                <a:ext cx="76200" cy="76200"/>
              </a:xfrm>
              <a:prstGeom prst="ellipse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4895850" y="2724150"/>
                <a:ext cx="76200" cy="76200"/>
              </a:xfrm>
              <a:prstGeom prst="ellipse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5229225" y="2724150"/>
                <a:ext cx="76200" cy="76200"/>
              </a:xfrm>
              <a:prstGeom prst="ellipse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5562600" y="2724150"/>
                <a:ext cx="76200" cy="76200"/>
              </a:xfrm>
              <a:prstGeom prst="ellipse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5848350" y="2676525"/>
                <a:ext cx="171450" cy="171450"/>
              </a:xfrm>
              <a:prstGeom prst="ellipse">
                <a:avLst/>
              </a:pr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6229350" y="2724150"/>
                <a:ext cx="76200" cy="76200"/>
              </a:xfrm>
              <a:prstGeom prst="ellipse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6562725" y="2724150"/>
                <a:ext cx="76200" cy="76200"/>
              </a:xfrm>
              <a:prstGeom prst="ellipse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6896100" y="2724150"/>
                <a:ext cx="76200" cy="76200"/>
              </a:xfrm>
              <a:prstGeom prst="ellipse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7229475" y="2724150"/>
                <a:ext cx="76200" cy="76200"/>
              </a:xfrm>
              <a:prstGeom prst="ellipse">
                <a:avLst/>
              </a:prstGeom>
              <a:solidFill>
                <a:srgbClr val="C9CDD4"/>
              </a:solidFill>
              <a:ln>
                <a:noFill/>
              </a:ln>
            </p:spPr>
          </p:sp>
        </p:grpSp>
        <p:grpSp>
          <p:nvGrpSpPr>
            <p:cNvPr id="35" name="anchor-labels"/>
            <p:cNvGrpSpPr/>
            <p:nvPr/>
          </p:nvGrpSpPr>
          <p:grpSpPr>
            <a:xfrm>
              <a:off x="887301" y="3016250"/>
              <a:ext cx="6385608" cy="205359"/>
              <a:chOff x="887301" y="3016250"/>
              <a:chExt cx="6385608" cy="205359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887301" y="3016250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B03A2E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513361" y="3016250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B03A2E"/>
                    </a:solidFill>
                    <a:latin typeface="+mn-lt"/>
                    <a:ea typeface="+mn-ea"/>
                    <a:cs typeface="+mn-cs"/>
                  </a:rPr>
                  <a:t>12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180236" y="3016250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B03A2E"/>
                    </a:solidFill>
                    <a:latin typeface="+mn-lt"/>
                    <a:ea typeface="+mn-ea"/>
                    <a:cs typeface="+mn-cs"/>
                  </a:rPr>
                  <a:t>22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847111" y="3016250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B03A2E"/>
                    </a:solidFill>
                    <a:latin typeface="+mn-lt"/>
                    <a:ea typeface="+mn-ea"/>
                    <a:cs typeface="+mn-cs"/>
                  </a:rPr>
                  <a:t>32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098981" y="3016250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B03A2E"/>
                    </a:solidFill>
                    <a:latin typeface="+mn-lt"/>
                    <a:ea typeface="+mn-ea"/>
                    <a:cs typeface="+mn-cs"/>
                  </a:rPr>
                  <a:t>42</a:t>
                </a:r>
              </a:p>
            </p:txBody>
          </p:sp>
        </p:grpSp>
        <p:sp>
          <p:nvSpPr>
            <p:cNvPr id="36" name="Freeform 36"/>
            <p:cNvSpPr/>
            <p:nvPr/>
          </p:nvSpPr>
          <p:spPr>
            <a:xfrm>
              <a:off x="933450" y="2273300"/>
              <a:ext cx="1666875" cy="279400"/>
            </a:xfrm>
            <a:custGeom>
              <a:avLst/>
              <a:gdLst/>
              <a:ahLst/>
              <a:cxnLst/>
              <a:rect l="l" t="t" r="r" b="b"/>
              <a:pathLst>
                <a:path w="1666875" h="279400">
                  <a:moveTo>
                    <a:pt x="0" y="279400"/>
                  </a:moveTo>
                  <a:cubicBezTo>
                    <a:pt x="552450" y="0"/>
                    <a:pt x="1108075" y="0"/>
                    <a:pt x="1666875" y="279400"/>
                  </a:cubicBezTo>
                </a:path>
              </a:pathLst>
            </a:custGeom>
            <a:noFill/>
            <a:ln w="19050">
              <a:solidFill>
                <a:srgbClr val="0F4C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2600325" y="2273300"/>
              <a:ext cx="1666875" cy="279400"/>
            </a:xfrm>
            <a:custGeom>
              <a:avLst/>
              <a:gdLst/>
              <a:ahLst/>
              <a:cxnLst/>
              <a:rect l="l" t="t" r="r" b="b"/>
              <a:pathLst>
                <a:path w="1666875" h="279400">
                  <a:moveTo>
                    <a:pt x="0" y="279400"/>
                  </a:moveTo>
                  <a:cubicBezTo>
                    <a:pt x="552450" y="0"/>
                    <a:pt x="1108075" y="0"/>
                    <a:pt x="1666875" y="279400"/>
                  </a:cubicBezTo>
                </a:path>
              </a:pathLst>
            </a:custGeom>
            <a:noFill/>
            <a:ln w="19050">
              <a:solidFill>
                <a:srgbClr val="0F4C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4267200" y="2273300"/>
              <a:ext cx="1666875" cy="279400"/>
            </a:xfrm>
            <a:custGeom>
              <a:avLst/>
              <a:gdLst/>
              <a:ahLst/>
              <a:cxnLst/>
              <a:rect l="l" t="t" r="r" b="b"/>
              <a:pathLst>
                <a:path w="1666875" h="279400">
                  <a:moveTo>
                    <a:pt x="0" y="279400"/>
                  </a:moveTo>
                  <a:cubicBezTo>
                    <a:pt x="552450" y="0"/>
                    <a:pt x="1108075" y="0"/>
                    <a:pt x="1666875" y="279400"/>
                  </a:cubicBezTo>
                </a:path>
              </a:pathLst>
            </a:custGeom>
            <a:noFill/>
            <a:ln w="19050">
              <a:solidFill>
                <a:srgbClr val="0F4C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5934075" y="2324100"/>
              <a:ext cx="1333500" cy="228600"/>
            </a:xfrm>
            <a:custGeom>
              <a:avLst/>
              <a:gdLst/>
              <a:ahLst/>
              <a:cxnLst/>
              <a:rect l="l" t="t" r="r" b="b"/>
              <a:pathLst>
                <a:path w="1333500" h="228600">
                  <a:moveTo>
                    <a:pt x="0" y="228600"/>
                  </a:moveTo>
                  <a:cubicBezTo>
                    <a:pt x="444500" y="0"/>
                    <a:pt x="889000" y="0"/>
                    <a:pt x="1333500" y="228600"/>
                  </a:cubicBezTo>
                </a:path>
              </a:pathLst>
            </a:custGeom>
            <a:noFill/>
            <a:ln w="19050">
              <a:solidFill>
                <a:srgbClr val="0F4C7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375090" y="2000250"/>
              <a:ext cx="14413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连乘推导（最大深度 4）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2247" y="3390900"/>
              <a:ext cx="383605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05791" indent="-105791">
                <a:buClr>
                  <a:srgbClr val="79818F"/>
                </a:buClr>
                <a:buSzTx/>
                <a:buFontTx/>
                <a:buChar char="●"/>
              </a:pP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锚点：直接拟合　○ 其余 lag：由缓存的 stride 步变换连乘得出</a:t>
              </a:r>
            </a:p>
          </p:txBody>
        </p:sp>
      </p:grpSp>
      <p:grpSp>
        <p:nvGrpSpPr>
          <p:cNvPr id="53" name="compare-side"/>
          <p:cNvGrpSpPr/>
          <p:nvPr/>
        </p:nvGrpSpPr>
        <p:grpSpPr>
          <a:xfrm>
            <a:off x="7995285" y="1727200"/>
            <a:ext cx="3739515" cy="2506028"/>
            <a:chOff x="7995285" y="1727200"/>
            <a:chExt cx="3739515" cy="2506028"/>
          </a:xfrm>
        </p:grpSpPr>
        <p:sp>
          <p:nvSpPr>
            <p:cNvPr id="43" name="TextBox 43"/>
            <p:cNvSpPr txBox="1"/>
            <p:nvPr/>
          </p:nvSpPr>
          <p:spPr>
            <a:xfrm>
              <a:off x="7995285" y="17272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每帧拟合次数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8001000" y="2038350"/>
              <a:ext cx="3733800" cy="819150"/>
            </a:xfrm>
            <a:prstGeom prst="roundRect">
              <a:avLst>
                <a:gd name="adj" fmla="val 9302"/>
              </a:avLst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223885" y="2222500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native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144926" y="212090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2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24647" y="2533650"/>
              <a:ext cx="172496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每个 lag 各做一次长基线拟合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001000" y="2971800"/>
              <a:ext cx="3733800" cy="819150"/>
            </a:xfrm>
            <a:prstGeom prst="roundRect">
              <a:avLst>
                <a:gd name="adj" fmla="val 9302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23885" y="3155950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tree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319848" y="3054350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2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224647" y="3467100"/>
              <a:ext cx="184370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+ 1.19 缓存步拟合 + 40 次连乘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95285" y="4013200"/>
              <a:ext cx="1979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 xml:space="preserve">省 </a:t>
              </a:r>
              <a:r>
                <a:rPr lang="zh-CN" sz="112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71.9%</a:t>
              </a:r>
              <a:r>
                <a:rPr lang="zh-CN" sz="112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 xml:space="preserve">　·　ΔF1 </a:t>
              </a:r>
              <a:r>
                <a:rPr lang="zh-CN" sz="1120" b="1" dirty="0">
                  <a:solidFill>
                    <a:srgbClr val="1F6F4A"/>
                  </a:solidFill>
                  <a:latin typeface="+mn-lt"/>
                  <a:ea typeface="+mn-ea"/>
                  <a:cs typeface="+mn-cs"/>
                </a:rPr>
                <a:t>−0.0003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457200" y="4705350"/>
            <a:ext cx="11277600" cy="1104900"/>
            <a:chOff x="457200" y="4705350"/>
            <a:chExt cx="11277600" cy="1104900"/>
          </a:xfrm>
        </p:grpSpPr>
        <p:sp>
          <p:nvSpPr>
            <p:cNvPr id="54" name="Rectangle 54"/>
            <p:cNvSpPr/>
            <p:nvPr/>
          </p:nvSpPr>
          <p:spPr>
            <a:xfrm>
              <a:off x="457200" y="4705350"/>
              <a:ext cx="11277600" cy="1104900"/>
            </a:xfrm>
            <a:prstGeom prst="rect">
              <a:avLst/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57200" y="4705350"/>
              <a:ext cx="38100" cy="110490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15899" y="4876800"/>
              <a:ext cx="414077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空对照臂：anchor-step 2 即 native 本身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8185" y="5200650"/>
              <a:ext cx="552323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唯一差别是重写一遍 JPEG：dF1 = +0.0000，8 门限与 24 序列全为 0 ⇒ 零漂移</a:t>
              </a:r>
              <a:b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⇒ −0.0003 是树自身估算偏差，不含编码器伪影；板端三臂落在 0.9021~0.9025 窄带内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59" name="Line 59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52247" y="6477000"/>
              <a:ext cx="102474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来源：gmc_net_pending.md §九·9.1（计数）、§九·9.3（精度判决）、§九·9.4（空对照臂）、§九·9.6（禁止表述）；2026-10-15_arm_gmc_precision_eval_s10.md §2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08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244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战果 A3 · 战线 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3578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剖析推翻了一个既有假设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453618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金字塔构建只占 3.2%，真正的瓶颈是占 65.8% 的角点检测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24" name="stage-profile"/>
          <p:cNvGrpSpPr/>
          <p:nvPr/>
        </p:nvGrpSpPr>
        <p:grpSpPr>
          <a:xfrm>
            <a:off x="451485" y="1727200"/>
            <a:ext cx="5911215" cy="2541143"/>
            <a:chOff x="451485" y="1727200"/>
            <a:chExt cx="5911215" cy="2541143"/>
          </a:xfrm>
        </p:grpSpPr>
        <p:sp>
          <p:nvSpPr>
            <p:cNvPr id="7" name="TextBox 7"/>
            <p:cNvSpPr txBox="1"/>
            <p:nvPr/>
          </p:nvSpPr>
          <p:spPr>
            <a:xfrm>
              <a:off x="451485" y="1727200"/>
              <a:ext cx="11852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fit 内部阶段占比</a:t>
              </a:r>
            </a:p>
          </p:txBody>
        </p:sp>
        <p:grpSp>
          <p:nvGrpSpPr>
            <p:cNvPr id="22" name="stage-profile-chartArea"/>
            <p:cNvGrpSpPr/>
            <p:nvPr/>
          </p:nvGrpSpPr>
          <p:grpSpPr>
            <a:xfrm>
              <a:off x="838962" y="2000250"/>
              <a:ext cx="5523738" cy="1813878"/>
              <a:chOff x="838962" y="2000250"/>
              <a:chExt cx="5523738" cy="1813878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1524000" y="2000250"/>
                <a:ext cx="9525" cy="1790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90700">
                    <a:moveTo>
                      <a:pt x="0" y="0"/>
                    </a:moveTo>
                    <a:lnTo>
                      <a:pt x="0" y="1790700"/>
                    </a:lnTo>
                  </a:path>
                </a:pathLst>
              </a:custGeom>
              <a:noFill/>
              <a:ln w="9525">
                <a:solidFill>
                  <a:srgbClr val="DCDCD6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1524000" y="3790950"/>
                <a:ext cx="4838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838700" h="9525">
                    <a:moveTo>
                      <a:pt x="0" y="0"/>
                    </a:moveTo>
                    <a:lnTo>
                      <a:pt x="4838700" y="0"/>
                    </a:lnTo>
                  </a:path>
                </a:pathLst>
              </a:custGeom>
              <a:noFill/>
              <a:ln w="9525">
                <a:solidFill>
                  <a:srgbClr val="DCDCD6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838962" y="2178050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333A45"/>
                    </a:solidFill>
                    <a:latin typeface="+mn-lt"/>
                    <a:ea typeface="+mn-ea"/>
                    <a:cs typeface="+mn-cs"/>
                  </a:rPr>
                  <a:t>角点检测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1524000" y="2133600"/>
                <a:ext cx="3190875" cy="247650"/>
              </a:xfrm>
              <a:prstGeom prst="rect">
                <a:avLst/>
              </a:pr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804410" y="2165350"/>
                <a:ext cx="47845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0F4C75"/>
                    </a:solidFill>
                    <a:latin typeface="+mn-lt"/>
                    <a:ea typeface="+mn-ea"/>
                    <a:cs typeface="+mn-cs"/>
                  </a:rPr>
                  <a:t>65.8%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12571" y="2654300"/>
                <a:ext cx="50246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333A45"/>
                    </a:solidFill>
                    <a:latin typeface="+mn-lt"/>
                    <a:ea typeface="+mn-ea"/>
                    <a:cs typeface="+mn-cs"/>
                  </a:rPr>
                  <a:t>LK 光流</a:t>
                </a:r>
              </a:p>
            </p:txBody>
          </p:sp>
          <p:sp>
            <p:nvSpPr>
              <p:cNvPr id="14" name="Rectangle 14"/>
              <p:cNvSpPr/>
              <p:nvPr/>
            </p:nvSpPr>
            <p:spPr>
              <a:xfrm>
                <a:off x="1524000" y="2609850"/>
                <a:ext cx="1333500" cy="247650"/>
              </a:xfrm>
              <a:prstGeom prst="rect">
                <a:avLst/>
              </a:prstGeom>
              <a:solidFill>
                <a:srgbClr val="5C7A99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947035" y="2641600"/>
                <a:ext cx="47845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5C7A99"/>
                    </a:solidFill>
                    <a:latin typeface="+mn-lt"/>
                    <a:ea typeface="+mn-ea"/>
                    <a:cs typeface="+mn-cs"/>
                  </a:rPr>
                  <a:t>27.4%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73245" y="3130550"/>
                <a:ext cx="44178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333A45"/>
                    </a:solidFill>
                    <a:latin typeface="+mn-lt"/>
                    <a:ea typeface="+mn-ea"/>
                    <a:cs typeface="+mn-cs"/>
                  </a:rPr>
                  <a:t>resize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1524000" y="3086100"/>
                <a:ext cx="247650" cy="247650"/>
              </a:xfrm>
              <a:prstGeom prst="rect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861185" y="3117850"/>
                <a:ext cx="39138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5.1%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11504" y="3606800"/>
                <a:ext cx="50353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333A45"/>
                    </a:solidFill>
                    <a:latin typeface="+mn-lt"/>
                    <a:ea typeface="+mn-ea"/>
                    <a:cs typeface="+mn-cs"/>
                  </a:rPr>
                  <a:t>RANSAC</a:t>
                </a:r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1524000" y="3562350"/>
                <a:ext cx="85725" cy="247650"/>
              </a:xfrm>
              <a:prstGeom prst="rect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699260" y="3594100"/>
                <a:ext cx="39138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1.8%</a:t>
                </a: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452247" y="4076700"/>
              <a:ext cx="486484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三者都是「单张输入图的纯函数」，却在每次拟合里被重复计算（每帧约 3.25 次）</a:t>
              </a:r>
            </a:p>
          </p:txBody>
        </p:sp>
      </p:grpSp>
      <p:grpSp>
        <p:nvGrpSpPr>
          <p:cNvPr id="41" name="ablation-ladder"/>
          <p:cNvGrpSpPr/>
          <p:nvPr/>
        </p:nvGrpSpPr>
        <p:grpSpPr>
          <a:xfrm>
            <a:off x="6661785" y="1727200"/>
            <a:ext cx="5078349" cy="2541143"/>
            <a:chOff x="6661785" y="1727200"/>
            <a:chExt cx="5078349" cy="2541143"/>
          </a:xfrm>
        </p:grpSpPr>
        <p:sp>
          <p:nvSpPr>
            <p:cNvPr id="25" name="TextBox 25"/>
            <p:cNvSpPr txBox="1"/>
            <p:nvPr/>
          </p:nvSpPr>
          <p:spPr>
            <a:xfrm>
              <a:off x="6661785" y="1727200"/>
              <a:ext cx="14867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缓存消融（板卡 fit）</a:t>
              </a:r>
            </a:p>
          </p:txBody>
        </p:sp>
        <p:grpSp>
          <p:nvGrpSpPr>
            <p:cNvPr id="39" name="ablation-chartArea"/>
            <p:cNvGrpSpPr/>
            <p:nvPr/>
          </p:nvGrpSpPr>
          <p:grpSpPr>
            <a:xfrm>
              <a:off x="6667500" y="2019300"/>
              <a:ext cx="5072634" cy="1781175"/>
              <a:chOff x="6667500" y="2019300"/>
              <a:chExt cx="5072634" cy="1781175"/>
            </a:xfrm>
          </p:grpSpPr>
          <p:sp>
            <p:nvSpPr>
              <p:cNvPr id="26" name="Line 26"/>
              <p:cNvSpPr/>
              <p:nvPr/>
            </p:nvSpPr>
            <p:spPr>
              <a:xfrm>
                <a:off x="6667500" y="3790950"/>
                <a:ext cx="5067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67300" h="9525">
                    <a:moveTo>
                      <a:pt x="0" y="0"/>
                    </a:moveTo>
                    <a:lnTo>
                      <a:pt x="5067300" y="0"/>
                    </a:lnTo>
                  </a:path>
                </a:pathLst>
              </a:custGeom>
              <a:noFill/>
              <a:ln w="9525">
                <a:solidFill>
                  <a:srgbClr val="DCDCD6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667500" y="2019300"/>
                <a:ext cx="914400" cy="247650"/>
              </a:xfrm>
              <a:prstGeom prst="rect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90866" y="2063750"/>
                <a:ext cx="43472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无缓存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1321315" y="2063750"/>
                <a:ext cx="4188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1.00×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6667500" y="2381250"/>
                <a:ext cx="1190625" cy="247650"/>
              </a:xfrm>
              <a:prstGeom prst="rect">
                <a:avLst/>
              </a:prstGeom>
              <a:solidFill>
                <a:srgbClr val="9FB6C9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967091" y="2425700"/>
                <a:ext cx="5619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333A45"/>
                    </a:solidFill>
                    <a:latin typeface="+mn-lt"/>
                    <a:ea typeface="+mn-ea"/>
                    <a:cs typeface="+mn-cs"/>
                  </a:rPr>
                  <a:t>+ resize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321315" y="2425700"/>
                <a:ext cx="4188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333A45"/>
                    </a:solidFill>
                    <a:latin typeface="+mn-lt"/>
                    <a:ea typeface="+mn-ea"/>
                    <a:cs typeface="+mn-cs"/>
                  </a:rPr>
                  <a:t>1.30×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6667500" y="2743200"/>
                <a:ext cx="1962150" cy="247650"/>
              </a:xfrm>
              <a:prstGeom prst="rect">
                <a:avLst/>
              </a:prstGeom>
              <a:solidFill>
                <a:srgbClr val="5C7A99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738616" y="2787650"/>
                <a:ext cx="41351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+ 角点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1321315" y="2787650"/>
                <a:ext cx="4188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0F4C75"/>
                    </a:solidFill>
                    <a:latin typeface="+mn-lt"/>
                    <a:ea typeface="+mn-ea"/>
                    <a:cs typeface="+mn-cs"/>
                  </a:rPr>
                  <a:t>2.14×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6667500" y="3105150"/>
                <a:ext cx="4724400" cy="247650"/>
              </a:xfrm>
              <a:prstGeom prst="rect">
                <a:avLst/>
              </a:pr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9841859" y="3149600"/>
                <a:ext cx="140297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+ 金字塔（三项全开）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321315" y="3149600"/>
                <a:ext cx="4188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5.15×</a:t>
                </a:r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6662547" y="4076700"/>
              <a:ext cx="442788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生产：fit 18.46 → 3.94 ms（4.68×）· 端到端 117.6 fps · MD5 逐位相同</a:t>
              </a:r>
            </a:p>
          </p:txBody>
        </p:sp>
      </p:grpSp>
      <p:grpSp>
        <p:nvGrpSpPr>
          <p:cNvPr id="46" name="takeaway"/>
          <p:cNvGrpSpPr/>
          <p:nvPr/>
        </p:nvGrpSpPr>
        <p:grpSpPr>
          <a:xfrm>
            <a:off x="457200" y="4705350"/>
            <a:ext cx="11277600" cy="1104900"/>
            <a:chOff x="457200" y="4705350"/>
            <a:chExt cx="11277600" cy="1104900"/>
          </a:xfrm>
        </p:grpSpPr>
        <p:sp>
          <p:nvSpPr>
            <p:cNvPr id="42" name="Rectangle 42"/>
            <p:cNvSpPr/>
            <p:nvPr/>
          </p:nvSpPr>
          <p:spPr>
            <a:xfrm>
              <a:off x="457200" y="4705350"/>
              <a:ext cx="11277600" cy="1104900"/>
            </a:xfrm>
            <a:prstGeom prst="rect">
              <a:avLst/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57200" y="4705350"/>
              <a:ext cx="38100" cy="110490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5899" y="4876800"/>
              <a:ext cx="384459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任何加速比都必须附带该序列的纹理水平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8185" y="5200650"/>
              <a:ext cx="7287006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收益 = 占比 × 命中率：15.7 角点 → 4.30×　|　291.9 角点 → 仅 1.37×</a:t>
              </a:r>
              <a:b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缓存消除不了 LK 的逐点迭代 —— LK 代价正比于点数，引用 4.68× 而不报角点密度等于把一个场景的数字当通用结论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47" name="Line 47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52247" y="6477000"/>
              <a:ext cx="803110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来源：gmc_fit_cache_rk3588.md §1.2（阶段剖析）、§2.1（位精确原理）、§4（消融与生产数据）、§5（让步档）、§6（纹理依赖）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09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244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战果 A4 · 战线 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75425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多缓存深度是个帕累托旋钮：D=3 与 D=64 各司其职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453228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对外口径 = 双轨最优 —— 不得把 D=3 说成全局唯一标准答案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7" name="pareto-fps"/>
          <p:cNvGrpSpPr/>
          <p:nvPr/>
        </p:nvGrpSpPr>
        <p:grpSpPr>
          <a:xfrm>
            <a:off x="457200" y="1600200"/>
            <a:ext cx="5562600" cy="1295400"/>
            <a:chOff x="457200" y="1600200"/>
            <a:chExt cx="5562600" cy="1295400"/>
          </a:xfrm>
        </p:grpSpPr>
        <p:sp>
          <p:nvSpPr>
            <p:cNvPr id="7" name="Rectangle 7"/>
            <p:cNvSpPr/>
            <p:nvPr/>
          </p:nvSpPr>
          <p:spPr>
            <a:xfrm>
              <a:off x="457200" y="1600200"/>
              <a:ext cx="5562600" cy="129540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42366" y="1739900"/>
              <a:ext cx="255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fps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647700" y="1981200"/>
              <a:ext cx="3762375" cy="19050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00372" y="2009775"/>
              <a:ext cx="4670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12.880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47700" y="2266950"/>
              <a:ext cx="4095750" cy="190500"/>
            </a:xfrm>
            <a:prstGeom prst="rect">
              <a:avLst/>
            </a:prstGeom>
            <a:solidFill>
              <a:srgbClr val="8C97A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833747" y="2295525"/>
              <a:ext cx="4670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C6673"/>
                  </a:solidFill>
                  <a:latin typeface="+mn-lt"/>
                  <a:ea typeface="+mn-ea"/>
                  <a:cs typeface="+mn-cs"/>
                </a:rPr>
                <a:t>14.037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47700" y="2609850"/>
              <a:ext cx="95250" cy="952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95338" y="2590800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D=3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104900" y="2609850"/>
              <a:ext cx="95250" cy="95250"/>
            </a:xfrm>
            <a:prstGeom prst="rect">
              <a:avLst/>
            </a:prstGeom>
            <a:solidFill>
              <a:srgbClr val="8C97A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52538" y="2590800"/>
              <a:ext cx="2911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D=64</a:t>
              </a:r>
            </a:p>
          </p:txBody>
        </p:sp>
      </p:grpSp>
      <p:grpSp>
        <p:nvGrpSpPr>
          <p:cNvPr id="28" name="pareto-latency"/>
          <p:cNvGrpSpPr/>
          <p:nvPr/>
        </p:nvGrpSpPr>
        <p:grpSpPr>
          <a:xfrm>
            <a:off x="6172200" y="1600200"/>
            <a:ext cx="5562600" cy="1295400"/>
            <a:chOff x="6172200" y="1600200"/>
            <a:chExt cx="5562600" cy="1295400"/>
          </a:xfrm>
        </p:grpSpPr>
        <p:sp>
          <p:nvSpPr>
            <p:cNvPr id="18" name="Rectangle 18"/>
            <p:cNvSpPr/>
            <p:nvPr/>
          </p:nvSpPr>
          <p:spPr>
            <a:xfrm>
              <a:off x="6172200" y="1600200"/>
              <a:ext cx="5562600" cy="129540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57366" y="1739900"/>
              <a:ext cx="582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延时 p95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62700" y="1981200"/>
              <a:ext cx="247650" cy="19050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700647" y="2009775"/>
              <a:ext cx="46010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481 ms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362700" y="2266950"/>
              <a:ext cx="4095750" cy="190500"/>
            </a:xfrm>
            <a:prstGeom prst="rect">
              <a:avLst/>
            </a:prstGeom>
            <a:solidFill>
              <a:srgbClr val="8C97A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548747" y="2295525"/>
              <a:ext cx="53629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C6673"/>
                  </a:solidFill>
                  <a:latin typeface="+mn-lt"/>
                  <a:ea typeface="+mn-ea"/>
                  <a:cs typeface="+mn-cs"/>
                </a:rPr>
                <a:t>8059 ms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362700" y="2609850"/>
              <a:ext cx="95250" cy="952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10338" y="2590800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D=3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819900" y="2609850"/>
              <a:ext cx="95250" cy="95250"/>
            </a:xfrm>
            <a:prstGeom prst="rect">
              <a:avLst/>
            </a:prstGeom>
            <a:solidFill>
              <a:srgbClr val="8C97A3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967538" y="2590800"/>
              <a:ext cx="2911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D=64</a:t>
              </a:r>
            </a:p>
          </p:txBody>
        </p:sp>
      </p:grpSp>
      <p:grpSp>
        <p:nvGrpSpPr>
          <p:cNvPr id="39" name="pareto-drops"/>
          <p:cNvGrpSpPr/>
          <p:nvPr/>
        </p:nvGrpSpPr>
        <p:grpSpPr>
          <a:xfrm>
            <a:off x="457200" y="3048000"/>
            <a:ext cx="5562600" cy="1295400"/>
            <a:chOff x="457200" y="3048000"/>
            <a:chExt cx="5562600" cy="1295400"/>
          </a:xfrm>
        </p:grpSpPr>
        <p:sp>
          <p:nvSpPr>
            <p:cNvPr id="29" name="Rectangle 29"/>
            <p:cNvSpPr/>
            <p:nvPr/>
          </p:nvSpPr>
          <p:spPr>
            <a:xfrm>
              <a:off x="457200" y="3048000"/>
              <a:ext cx="5562600" cy="129540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42366" y="31877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丢帧率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" y="3429000"/>
              <a:ext cx="4095750" cy="19050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833747" y="3457575"/>
              <a:ext cx="4185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14.6%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7700" y="3714750"/>
              <a:ext cx="1238250" cy="190500"/>
            </a:xfrm>
            <a:prstGeom prst="rect">
              <a:avLst/>
            </a:prstGeom>
            <a:solidFill>
              <a:srgbClr val="8C97A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976247" y="3743325"/>
              <a:ext cx="34236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C6673"/>
                  </a:solidFill>
                  <a:latin typeface="+mn-lt"/>
                  <a:ea typeface="+mn-ea"/>
                  <a:cs typeface="+mn-cs"/>
                </a:rPr>
                <a:t>4.4%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47700" y="4019550"/>
              <a:ext cx="95250" cy="952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95338" y="4000500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D=3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104900" y="4019550"/>
              <a:ext cx="95250" cy="95250"/>
            </a:xfrm>
            <a:prstGeom prst="rect">
              <a:avLst/>
            </a:prstGeom>
            <a:solidFill>
              <a:srgbClr val="8C97A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52538" y="4000500"/>
              <a:ext cx="2911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D=64</a:t>
              </a:r>
            </a:p>
          </p:txBody>
        </p:sp>
      </p:grpSp>
      <p:grpSp>
        <p:nvGrpSpPr>
          <p:cNvPr id="50" name="pareto-memory"/>
          <p:cNvGrpSpPr/>
          <p:nvPr/>
        </p:nvGrpSpPr>
        <p:grpSpPr>
          <a:xfrm>
            <a:off x="6172200" y="3048000"/>
            <a:ext cx="5562600" cy="1295400"/>
            <a:chOff x="6172200" y="3048000"/>
            <a:chExt cx="5562600" cy="1295400"/>
          </a:xfrm>
        </p:grpSpPr>
        <p:sp>
          <p:nvSpPr>
            <p:cNvPr id="40" name="Rectangle 40"/>
            <p:cNvSpPr/>
            <p:nvPr/>
          </p:nvSpPr>
          <p:spPr>
            <a:xfrm>
              <a:off x="6172200" y="3048000"/>
              <a:ext cx="5562600" cy="129540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57366" y="3187700"/>
              <a:ext cx="10489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每 Worker 内存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362700" y="3429000"/>
              <a:ext cx="190500" cy="19050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43497" y="3457575"/>
              <a:ext cx="4855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7.3 MB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362700" y="3714750"/>
              <a:ext cx="4095750" cy="190500"/>
            </a:xfrm>
            <a:prstGeom prst="rect">
              <a:avLst/>
            </a:prstGeom>
            <a:solidFill>
              <a:srgbClr val="8C97A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548747" y="3743325"/>
              <a:ext cx="64659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C6673"/>
                  </a:solidFill>
                  <a:latin typeface="+mn-lt"/>
                  <a:ea typeface="+mn-ea"/>
                  <a:cs typeface="+mn-cs"/>
                </a:rPr>
                <a:t>157.3 MB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362700" y="4019550"/>
              <a:ext cx="95250" cy="952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10338" y="4000500"/>
              <a:ext cx="2207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D=3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819900" y="4019550"/>
              <a:ext cx="95250" cy="95250"/>
            </a:xfrm>
            <a:prstGeom prst="rect">
              <a:avLst/>
            </a:prstGeom>
            <a:solidFill>
              <a:srgbClr val="8C97A3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67538" y="4000500"/>
              <a:ext cx="2911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D=64</a:t>
              </a:r>
            </a:p>
          </p:txBody>
        </p:sp>
      </p:grpSp>
      <p:grpSp>
        <p:nvGrpSpPr>
          <p:cNvPr id="54" name="summary-lines"/>
          <p:cNvGrpSpPr/>
          <p:nvPr/>
        </p:nvGrpSpPr>
        <p:grpSpPr>
          <a:xfrm>
            <a:off x="451866" y="4514850"/>
            <a:ext cx="11282934" cy="757809"/>
            <a:chOff x="451866" y="4514850"/>
            <a:chExt cx="11282934" cy="757809"/>
          </a:xfrm>
        </p:grpSpPr>
        <p:sp>
          <p:nvSpPr>
            <p:cNvPr id="51" name="Line 51"/>
            <p:cNvSpPr/>
            <p:nvPr/>
          </p:nvSpPr>
          <p:spPr>
            <a:xfrm>
              <a:off x="457200" y="45148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51866" y="4635500"/>
              <a:ext cx="62967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 xml:space="preserve">差账：D=64 换来 </a:t>
              </a:r>
              <a:r>
                <a:rPr lang="zh-CN" sz="10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+1.16 fps / +650 交付帧 / −727 丢帧</a:t>
              </a: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 xml:space="preserve">，代价是 </a:t>
              </a:r>
              <a:r>
                <a:rPr lang="zh-CN" sz="10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p95 延时 ×16.75</a:t>
              </a: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 xml:space="preserve"> 与 </a:t>
              </a:r>
              <a:r>
                <a:rPr lang="zh-CN" sz="10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内存 ×21.4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51866" y="4819650"/>
              <a:ext cx="5324665" cy="4530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两档精度都无损：稳态逐位相同 7045/7045 与 7030/7030，F1 均 = ref；管线健康度全 0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机制已封装成库：Buffer A 多槽位 + 轮转游标 + 机会主义最新帧调度（ABI v10）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457200" y="5391150"/>
            <a:ext cx="11277600" cy="781050"/>
            <a:chOff x="457200" y="5391150"/>
            <a:chExt cx="11277600" cy="781050"/>
          </a:xfrm>
        </p:grpSpPr>
        <p:sp>
          <p:nvSpPr>
            <p:cNvPr id="55" name="Rectangle 55"/>
            <p:cNvSpPr/>
            <p:nvPr/>
          </p:nvSpPr>
          <p:spPr>
            <a:xfrm>
              <a:off x="457200" y="5391150"/>
              <a:ext cx="11277600" cy="781050"/>
            </a:xfrm>
            <a:prstGeom prst="rect">
              <a:avLst/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457200" y="5391150"/>
              <a:ext cx="38100" cy="7810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16280" y="5537200"/>
              <a:ext cx="55003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D=3 是低延时实战场景的帕累托最优解，但不是全局唯一答案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18566" y="5873750"/>
              <a:ext cx="74850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伺服转台闭环超过 1 秒延时会 PID 相位滞后直接脱靶 ⇒ D=64 的 p95 8.06 s 不可用；但硬考核 14+ fps 只有 D=64 过线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60" name="Line 60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52247" y="6477000"/>
              <a:ext cx="81325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来源：memory.md §25；MOSAIC_RK3588_20261026.md §22（双档全表与差账）、§19.2（ABI v10）；falsified_archive.md §五十八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section-head"/>
          <p:cNvGrpSpPr/>
          <p:nvPr/>
        </p:nvGrpSpPr>
        <p:grpSpPr>
          <a:xfrm>
            <a:off x="438150" y="1485900"/>
            <a:ext cx="11296650" cy="2371725"/>
            <a:chOff x="438150" y="1485900"/>
            <a:chExt cx="11296650" cy="2371725"/>
          </a:xfrm>
        </p:grpSpPr>
        <p:sp>
          <p:nvSpPr>
            <p:cNvPr id="2" name="Rectangle 2"/>
            <p:cNvSpPr/>
            <p:nvPr/>
          </p:nvSpPr>
          <p:spPr>
            <a:xfrm>
              <a:off x="457200" y="1485900"/>
              <a:ext cx="685800" cy="3810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38150" y="1638300"/>
              <a:ext cx="1250892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80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0436" y="2736850"/>
              <a:ext cx="375731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战线 B · NPU 之战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49961" y="3422650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四招打掉算子匹配、效率误判、重复前向与归因错误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457200" y="38481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2" name="preview-b1"/>
          <p:cNvGrpSpPr/>
          <p:nvPr/>
        </p:nvGrpSpPr>
        <p:grpSpPr>
          <a:xfrm>
            <a:off x="449961" y="4121150"/>
            <a:ext cx="1458352" cy="1540828"/>
            <a:chOff x="449961" y="4121150"/>
            <a:chExt cx="1458352" cy="1540828"/>
          </a:xfrm>
        </p:grpSpPr>
        <p:sp>
          <p:nvSpPr>
            <p:cNvPr id="8" name="Freeform 8"/>
            <p:cNvSpPr/>
            <p:nvPr/>
          </p:nvSpPr>
          <p:spPr>
            <a:xfrm>
              <a:off x="482600" y="4121150"/>
              <a:ext cx="253999" cy="254001"/>
            </a:xfrm>
            <a:custGeom>
              <a:avLst/>
              <a:gdLst/>
              <a:ahLst/>
              <a:cxnLst/>
              <a:rect l="l" t="t" r="r" b="b"/>
              <a:pathLst>
                <a:path w="253999" h="254001">
                  <a:moveTo>
                    <a:pt x="207429" y="0"/>
                  </a:moveTo>
                  <a:cubicBezTo>
                    <a:pt x="232321" y="0"/>
                    <a:pt x="252640" y="19520"/>
                    <a:pt x="253936" y="44094"/>
                  </a:cubicBezTo>
                  <a:lnTo>
                    <a:pt x="253999" y="46571"/>
                  </a:lnTo>
                  <a:lnTo>
                    <a:pt x="253999" y="207429"/>
                  </a:lnTo>
                  <a:cubicBezTo>
                    <a:pt x="253999" y="232321"/>
                    <a:pt x="234480" y="252640"/>
                    <a:pt x="209905" y="253936"/>
                  </a:cubicBezTo>
                  <a:lnTo>
                    <a:pt x="207429" y="253999"/>
                  </a:lnTo>
                  <a:lnTo>
                    <a:pt x="46571" y="253999"/>
                  </a:lnTo>
                  <a:cubicBezTo>
                    <a:pt x="21812" y="254001"/>
                    <a:pt x="1380" y="234629"/>
                    <a:pt x="63" y="209905"/>
                  </a:cubicBezTo>
                  <a:lnTo>
                    <a:pt x="0" y="207429"/>
                  </a:lnTo>
                  <a:lnTo>
                    <a:pt x="0" y="46571"/>
                  </a:lnTo>
                  <a:cubicBezTo>
                    <a:pt x="0" y="21679"/>
                    <a:pt x="19520" y="1359"/>
                    <a:pt x="44094" y="63"/>
                  </a:cubicBezTo>
                  <a:lnTo>
                    <a:pt x="46571" y="0"/>
                  </a:lnTo>
                  <a:lnTo>
                    <a:pt x="207429" y="0"/>
                  </a:lnTo>
                  <a:close/>
                  <a:moveTo>
                    <a:pt x="174078" y="92621"/>
                  </a:moveTo>
                  <a:cubicBezTo>
                    <a:pt x="169119" y="87663"/>
                    <a:pt x="161080" y="87663"/>
                    <a:pt x="156121" y="92621"/>
                  </a:cubicBezTo>
                  <a:lnTo>
                    <a:pt x="114300" y="134429"/>
                  </a:lnTo>
                  <a:lnTo>
                    <a:pt x="97879" y="118021"/>
                  </a:lnTo>
                  <a:lnTo>
                    <a:pt x="96685" y="116967"/>
                  </a:lnTo>
                  <a:cubicBezTo>
                    <a:pt x="91387" y="112871"/>
                    <a:pt x="83820" y="113591"/>
                    <a:pt x="79391" y="118614"/>
                  </a:cubicBezTo>
                  <a:cubicBezTo>
                    <a:pt x="74962" y="123637"/>
                    <a:pt x="75194" y="131235"/>
                    <a:pt x="79921" y="135979"/>
                  </a:cubicBezTo>
                  <a:lnTo>
                    <a:pt x="105321" y="161378"/>
                  </a:lnTo>
                  <a:lnTo>
                    <a:pt x="106515" y="162433"/>
                  </a:lnTo>
                  <a:cubicBezTo>
                    <a:pt x="111570" y="166354"/>
                    <a:pt x="118754" y="165903"/>
                    <a:pt x="123279" y="161378"/>
                  </a:cubicBezTo>
                  <a:lnTo>
                    <a:pt x="174078" y="110579"/>
                  </a:lnTo>
                  <a:lnTo>
                    <a:pt x="175133" y="109385"/>
                  </a:lnTo>
                  <a:cubicBezTo>
                    <a:pt x="179054" y="104329"/>
                    <a:pt x="178603" y="97145"/>
                    <a:pt x="174078" y="92621"/>
                  </a:cubicBezTo>
                  <a:close/>
                </a:path>
              </a:pathLst>
            </a:custGeom>
            <a:solidFill>
              <a:srgbClr val="B03A2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49961" y="4546600"/>
              <a:ext cx="14583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B1 算子回退清零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1866" y="48641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布局变换改写成算术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1485" y="54419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攻：静默回退</a:t>
              </a:r>
            </a:p>
          </p:txBody>
        </p:sp>
      </p:grpSp>
      <p:grpSp>
        <p:nvGrpSpPr>
          <p:cNvPr id="19" name="preview-b2"/>
          <p:cNvGrpSpPr/>
          <p:nvPr/>
        </p:nvGrpSpPr>
        <p:grpSpPr>
          <a:xfrm>
            <a:off x="3269361" y="4121150"/>
            <a:ext cx="1375585" cy="1540828"/>
            <a:chOff x="3269361" y="4121150"/>
            <a:chExt cx="1375585" cy="1540828"/>
          </a:xfrm>
        </p:grpSpPr>
        <p:grpSp>
          <p:nvGrpSpPr>
            <p:cNvPr id="15" name="Group 15"/>
            <p:cNvGrpSpPr/>
            <p:nvPr/>
          </p:nvGrpSpPr>
          <p:grpSpPr>
            <a:xfrm>
              <a:off x="3302000" y="4121150"/>
              <a:ext cx="256466" cy="253999"/>
              <a:chOff x="3302000" y="4121150"/>
              <a:chExt cx="256466" cy="25399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3302000" y="4121150"/>
                <a:ext cx="253999" cy="253999"/>
              </a:xfrm>
              <a:custGeom>
                <a:avLst/>
                <a:gdLst/>
                <a:ahLst/>
                <a:cxnLst/>
                <a:rect l="l" t="t" r="r" b="b"/>
                <a:pathLst>
                  <a:path w="253999" h="253999">
                    <a:moveTo>
                      <a:pt x="12700" y="0"/>
                    </a:moveTo>
                    <a:cubicBezTo>
                      <a:pt x="19714" y="0"/>
                      <a:pt x="25400" y="5686"/>
                      <a:pt x="25400" y="12700"/>
                    </a:cubicBezTo>
                    <a:lnTo>
                      <a:pt x="25400" y="228599"/>
                    </a:lnTo>
                    <a:lnTo>
                      <a:pt x="241299" y="228599"/>
                    </a:lnTo>
                    <a:cubicBezTo>
                      <a:pt x="247738" y="228600"/>
                      <a:pt x="253157" y="233419"/>
                      <a:pt x="253910" y="239814"/>
                    </a:cubicBezTo>
                    <a:lnTo>
                      <a:pt x="253999" y="241299"/>
                    </a:lnTo>
                    <a:cubicBezTo>
                      <a:pt x="253999" y="248313"/>
                      <a:pt x="248313" y="253999"/>
                      <a:pt x="241299" y="253999"/>
                    </a:cubicBezTo>
                    <a:lnTo>
                      <a:pt x="12700" y="253999"/>
                    </a:lnTo>
                    <a:cubicBezTo>
                      <a:pt x="5686" y="253999"/>
                      <a:pt x="0" y="248313"/>
                      <a:pt x="0" y="241299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348634" y="4146550"/>
                <a:ext cx="209832" cy="181640"/>
              </a:xfrm>
              <a:custGeom>
                <a:avLst/>
                <a:gdLst/>
                <a:ahLst/>
                <a:cxnLst/>
                <a:rect l="l" t="t" r="r" b="b"/>
                <a:pathLst>
                  <a:path w="209832" h="181640">
                    <a:moveTo>
                      <a:pt x="169265" y="0"/>
                    </a:moveTo>
                    <a:cubicBezTo>
                      <a:pt x="183853" y="33"/>
                      <a:pt x="197142" y="8393"/>
                      <a:pt x="203487" y="21529"/>
                    </a:cubicBezTo>
                    <a:cubicBezTo>
                      <a:pt x="209832" y="34666"/>
                      <a:pt x="208119" y="50272"/>
                      <a:pt x="199075" y="61719"/>
                    </a:cubicBezTo>
                    <a:cubicBezTo>
                      <a:pt x="190031" y="73166"/>
                      <a:pt x="175245" y="78444"/>
                      <a:pt x="160997" y="75311"/>
                    </a:cubicBezTo>
                    <a:lnTo>
                      <a:pt x="135572" y="115976"/>
                    </a:lnTo>
                    <a:cubicBezTo>
                      <a:pt x="147569" y="131049"/>
                      <a:pt x="146428" y="152705"/>
                      <a:pt x="132913" y="166433"/>
                    </a:cubicBezTo>
                    <a:cubicBezTo>
                      <a:pt x="119398" y="180160"/>
                      <a:pt x="97762" y="181640"/>
                      <a:pt x="82504" y="169880"/>
                    </a:cubicBezTo>
                    <a:cubicBezTo>
                      <a:pt x="67246" y="158121"/>
                      <a:pt x="63166" y="136822"/>
                      <a:pt x="72999" y="120256"/>
                    </a:cubicBezTo>
                    <a:lnTo>
                      <a:pt x="55499" y="99238"/>
                    </a:lnTo>
                    <a:cubicBezTo>
                      <a:pt x="38100" y="105680"/>
                      <a:pt x="18590" y="98653"/>
                      <a:pt x="9295" y="82596"/>
                    </a:cubicBezTo>
                    <a:cubicBezTo>
                      <a:pt x="0" y="66540"/>
                      <a:pt x="3622" y="46122"/>
                      <a:pt x="17874" y="34242"/>
                    </a:cubicBezTo>
                    <a:cubicBezTo>
                      <a:pt x="32125" y="22363"/>
                      <a:pt x="52862" y="22477"/>
                      <a:pt x="66982" y="34511"/>
                    </a:cubicBezTo>
                    <a:cubicBezTo>
                      <a:pt x="81103" y="46546"/>
                      <a:pt x="84502" y="67002"/>
                      <a:pt x="75031" y="82956"/>
                    </a:cubicBezTo>
                    <a:lnTo>
                      <a:pt x="92532" y="103962"/>
                    </a:lnTo>
                    <a:cubicBezTo>
                      <a:pt x="99408" y="101412"/>
                      <a:pt x="106875" y="100905"/>
                      <a:pt x="114033" y="102501"/>
                    </a:cubicBezTo>
                    <a:lnTo>
                      <a:pt x="139458" y="61823"/>
                    </a:lnTo>
                    <a:cubicBezTo>
                      <a:pt x="130350" y="50378"/>
                      <a:pt x="128599" y="34729"/>
                      <a:pt x="134951" y="21554"/>
                    </a:cubicBezTo>
                    <a:cubicBezTo>
                      <a:pt x="141304" y="8378"/>
                      <a:pt x="154638" y="2"/>
                      <a:pt x="169265" y="0"/>
                    </a:cubicBezTo>
                    <a:close/>
                  </a:path>
                </a:pathLst>
              </a:custGeom>
              <a:solidFill>
                <a:srgbClr val="B03A2E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3269361" y="4546600"/>
              <a:ext cx="13755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B2 弃用 FLOPs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71266" y="4864100"/>
              <a:ext cx="11356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改用 RKNN 算子表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70885" y="54419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攻：效率误判</a:t>
              </a:r>
            </a:p>
          </p:txBody>
        </p:sp>
      </p:grpSp>
      <p:grpSp>
        <p:nvGrpSpPr>
          <p:cNvPr id="24" name="preview-b3"/>
          <p:cNvGrpSpPr/>
          <p:nvPr/>
        </p:nvGrpSpPr>
        <p:grpSpPr>
          <a:xfrm>
            <a:off x="6088761" y="4121149"/>
            <a:ext cx="1143381" cy="1540829"/>
            <a:chOff x="6088761" y="4121149"/>
            <a:chExt cx="1143381" cy="1540829"/>
          </a:xfrm>
        </p:grpSpPr>
        <p:sp>
          <p:nvSpPr>
            <p:cNvPr id="20" name="Freeform 20"/>
            <p:cNvSpPr/>
            <p:nvPr/>
          </p:nvSpPr>
          <p:spPr>
            <a:xfrm>
              <a:off x="6121396" y="4121149"/>
              <a:ext cx="254629" cy="254005"/>
            </a:xfrm>
            <a:custGeom>
              <a:avLst/>
              <a:gdLst/>
              <a:ahLst/>
              <a:cxnLst/>
              <a:rect l="l" t="t" r="r" b="b"/>
              <a:pathLst>
                <a:path w="254629" h="254005">
                  <a:moveTo>
                    <a:pt x="101604" y="1"/>
                  </a:moveTo>
                  <a:cubicBezTo>
                    <a:pt x="121779" y="0"/>
                    <a:pt x="138457" y="15726"/>
                    <a:pt x="139640" y="35866"/>
                  </a:cubicBezTo>
                  <a:lnTo>
                    <a:pt x="139704" y="38101"/>
                  </a:lnTo>
                  <a:lnTo>
                    <a:pt x="139704" y="50801"/>
                  </a:lnTo>
                  <a:lnTo>
                    <a:pt x="177804" y="50801"/>
                  </a:lnTo>
                  <a:cubicBezTo>
                    <a:pt x="191096" y="50797"/>
                    <a:pt x="202143" y="61041"/>
                    <a:pt x="203140" y="74296"/>
                  </a:cubicBezTo>
                  <a:lnTo>
                    <a:pt x="203204" y="76201"/>
                  </a:lnTo>
                  <a:lnTo>
                    <a:pt x="203204" y="114301"/>
                  </a:lnTo>
                  <a:lnTo>
                    <a:pt x="215904" y="114301"/>
                  </a:lnTo>
                  <a:cubicBezTo>
                    <a:pt x="236525" y="114281"/>
                    <a:pt x="253419" y="130671"/>
                    <a:pt x="254024" y="151283"/>
                  </a:cubicBezTo>
                  <a:cubicBezTo>
                    <a:pt x="254629" y="171895"/>
                    <a:pt x="238725" y="189247"/>
                    <a:pt x="218139" y="190437"/>
                  </a:cubicBezTo>
                  <a:lnTo>
                    <a:pt x="215904" y="190501"/>
                  </a:lnTo>
                  <a:lnTo>
                    <a:pt x="203204" y="190501"/>
                  </a:lnTo>
                  <a:lnTo>
                    <a:pt x="203204" y="228601"/>
                  </a:lnTo>
                  <a:cubicBezTo>
                    <a:pt x="203208" y="241893"/>
                    <a:pt x="192963" y="252940"/>
                    <a:pt x="179709" y="253937"/>
                  </a:cubicBezTo>
                  <a:lnTo>
                    <a:pt x="177804" y="254000"/>
                  </a:lnTo>
                  <a:lnTo>
                    <a:pt x="139704" y="254000"/>
                  </a:lnTo>
                  <a:cubicBezTo>
                    <a:pt x="126412" y="254005"/>
                    <a:pt x="115364" y="243760"/>
                    <a:pt x="114367" y="230506"/>
                  </a:cubicBezTo>
                  <a:lnTo>
                    <a:pt x="114304" y="228601"/>
                  </a:lnTo>
                  <a:lnTo>
                    <a:pt x="114304" y="215901"/>
                  </a:lnTo>
                  <a:cubicBezTo>
                    <a:pt x="114296" y="209181"/>
                    <a:pt x="109056" y="203630"/>
                    <a:pt x="102348" y="203237"/>
                  </a:cubicBezTo>
                  <a:cubicBezTo>
                    <a:pt x="95640" y="202843"/>
                    <a:pt x="89787" y="207742"/>
                    <a:pt x="88993" y="214415"/>
                  </a:cubicBezTo>
                  <a:lnTo>
                    <a:pt x="88904" y="215901"/>
                  </a:lnTo>
                  <a:lnTo>
                    <a:pt x="88904" y="228601"/>
                  </a:lnTo>
                  <a:cubicBezTo>
                    <a:pt x="88908" y="241893"/>
                    <a:pt x="78664" y="252940"/>
                    <a:pt x="65409" y="253937"/>
                  </a:cubicBezTo>
                  <a:lnTo>
                    <a:pt x="63504" y="254000"/>
                  </a:lnTo>
                  <a:lnTo>
                    <a:pt x="25404" y="254000"/>
                  </a:lnTo>
                  <a:cubicBezTo>
                    <a:pt x="12112" y="254005"/>
                    <a:pt x="1065" y="243760"/>
                    <a:pt x="68" y="230506"/>
                  </a:cubicBezTo>
                  <a:lnTo>
                    <a:pt x="4" y="228601"/>
                  </a:lnTo>
                  <a:lnTo>
                    <a:pt x="4" y="190501"/>
                  </a:lnTo>
                  <a:cubicBezTo>
                    <a:pt x="0" y="177209"/>
                    <a:pt x="10244" y="166161"/>
                    <a:pt x="23499" y="165164"/>
                  </a:cubicBezTo>
                  <a:lnTo>
                    <a:pt x="25404" y="165101"/>
                  </a:lnTo>
                  <a:lnTo>
                    <a:pt x="38104" y="165101"/>
                  </a:lnTo>
                  <a:cubicBezTo>
                    <a:pt x="44824" y="165093"/>
                    <a:pt x="50374" y="159853"/>
                    <a:pt x="50768" y="153145"/>
                  </a:cubicBezTo>
                  <a:cubicBezTo>
                    <a:pt x="51162" y="146437"/>
                    <a:pt x="46262" y="140583"/>
                    <a:pt x="39590" y="139790"/>
                  </a:cubicBezTo>
                  <a:lnTo>
                    <a:pt x="38104" y="139701"/>
                  </a:lnTo>
                  <a:lnTo>
                    <a:pt x="25404" y="139701"/>
                  </a:lnTo>
                  <a:cubicBezTo>
                    <a:pt x="12112" y="139705"/>
                    <a:pt x="1065" y="129460"/>
                    <a:pt x="68" y="116206"/>
                  </a:cubicBezTo>
                  <a:lnTo>
                    <a:pt x="4" y="114301"/>
                  </a:lnTo>
                  <a:lnTo>
                    <a:pt x="4" y="76201"/>
                  </a:lnTo>
                  <a:cubicBezTo>
                    <a:pt x="0" y="62909"/>
                    <a:pt x="10244" y="51861"/>
                    <a:pt x="23499" y="50864"/>
                  </a:cubicBezTo>
                  <a:lnTo>
                    <a:pt x="25404" y="50801"/>
                  </a:lnTo>
                  <a:lnTo>
                    <a:pt x="63504" y="50801"/>
                  </a:lnTo>
                  <a:lnTo>
                    <a:pt x="63504" y="38101"/>
                  </a:lnTo>
                  <a:cubicBezTo>
                    <a:pt x="63504" y="17059"/>
                    <a:pt x="80562" y="1"/>
                    <a:pt x="101604" y="1"/>
                  </a:cubicBezTo>
                  <a:close/>
                </a:path>
              </a:pathLst>
            </a:custGeom>
            <a:solidFill>
              <a:srgbClr val="B03A2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88761" y="4546600"/>
              <a:ext cx="11072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B3 RGA 拼图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90666" y="48641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三张画布压进一张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90285" y="54419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攻：重复前向</a:t>
              </a:r>
            </a:p>
          </p:txBody>
        </p:sp>
      </p:grpSp>
      <p:grpSp>
        <p:nvGrpSpPr>
          <p:cNvPr id="33" name="preview-b4"/>
          <p:cNvGrpSpPr/>
          <p:nvPr/>
        </p:nvGrpSpPr>
        <p:grpSpPr>
          <a:xfrm>
            <a:off x="8908161" y="4133849"/>
            <a:ext cx="1306858" cy="1528129"/>
            <a:chOff x="8908161" y="4133849"/>
            <a:chExt cx="1306858" cy="1528129"/>
          </a:xfrm>
        </p:grpSpPr>
        <p:grpSp>
          <p:nvGrpSpPr>
            <p:cNvPr id="29" name="Group 29"/>
            <p:cNvGrpSpPr/>
            <p:nvPr/>
          </p:nvGrpSpPr>
          <p:grpSpPr>
            <a:xfrm>
              <a:off x="8953499" y="4133849"/>
              <a:ext cx="228602" cy="228602"/>
              <a:chOff x="8953499" y="4133849"/>
              <a:chExt cx="228602" cy="228602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953500" y="4235450"/>
                <a:ext cx="76200" cy="127001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27001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14300"/>
                    </a:lnTo>
                    <a:cubicBezTo>
                      <a:pt x="76200" y="121314"/>
                      <a:pt x="70514" y="127000"/>
                      <a:pt x="63500" y="127000"/>
                    </a:cubicBezTo>
                    <a:lnTo>
                      <a:pt x="38100" y="127000"/>
                    </a:lnTo>
                    <a:cubicBezTo>
                      <a:pt x="17925" y="127001"/>
                      <a:pt x="1247" y="111275"/>
                      <a:pt x="63" y="91135"/>
                    </a:cubicBezTo>
                    <a:lnTo>
                      <a:pt x="0" y="88900"/>
                    </a:ln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close/>
                  </a:path>
                </a:pathLst>
              </a:cu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055100" y="4235450"/>
                <a:ext cx="127001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1" h="127000">
                    <a:moveTo>
                      <a:pt x="127000" y="12700"/>
                    </a:moveTo>
                    <a:lnTo>
                      <a:pt x="127000" y="88900"/>
                    </a:lnTo>
                    <a:cubicBezTo>
                      <a:pt x="127001" y="109074"/>
                      <a:pt x="111275" y="125753"/>
                      <a:pt x="91135" y="126936"/>
                    </a:cubicBezTo>
                    <a:lnTo>
                      <a:pt x="88900" y="127000"/>
                    </a:lnTo>
                    <a:lnTo>
                      <a:pt x="12700" y="127000"/>
                    </a:lnTo>
                    <a:cubicBezTo>
                      <a:pt x="5686" y="127000"/>
                      <a:pt x="0" y="121314"/>
                      <a:pt x="0" y="1143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  <a:lnTo>
                      <a:pt x="114300" y="0"/>
                    </a:lnTo>
                    <a:cubicBezTo>
                      <a:pt x="121314" y="0"/>
                      <a:pt x="127000" y="5686"/>
                      <a:pt x="127000" y="12700"/>
                    </a:cubicBezTo>
                    <a:close/>
                  </a:path>
                </a:pathLst>
              </a:cu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055100" y="4133849"/>
                <a:ext cx="127000" cy="76201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76201">
                    <a:moveTo>
                      <a:pt x="88900" y="1"/>
                    </a:moveTo>
                    <a:cubicBezTo>
                      <a:pt x="109074" y="0"/>
                      <a:pt x="125753" y="15726"/>
                      <a:pt x="126936" y="35866"/>
                    </a:cubicBezTo>
                    <a:lnTo>
                      <a:pt x="127000" y="38101"/>
                    </a:lnTo>
                    <a:lnTo>
                      <a:pt x="127000" y="63501"/>
                    </a:lnTo>
                    <a:cubicBezTo>
                      <a:pt x="127000" y="70515"/>
                      <a:pt x="121314" y="76201"/>
                      <a:pt x="114300" y="76201"/>
                    </a:cubicBezTo>
                    <a:lnTo>
                      <a:pt x="12700" y="76201"/>
                    </a:lnTo>
                    <a:cubicBezTo>
                      <a:pt x="5686" y="76201"/>
                      <a:pt x="0" y="70515"/>
                      <a:pt x="0" y="63501"/>
                    </a:cubicBezTo>
                    <a:lnTo>
                      <a:pt x="0" y="12701"/>
                    </a:lnTo>
                    <a:cubicBezTo>
                      <a:pt x="0" y="5687"/>
                      <a:pt x="5686" y="1"/>
                      <a:pt x="12700" y="1"/>
                    </a:cubicBezTo>
                    <a:lnTo>
                      <a:pt x="88900" y="1"/>
                    </a:lnTo>
                    <a:close/>
                  </a:path>
                </a:pathLst>
              </a:cu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953499" y="4133850"/>
                <a:ext cx="76201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1" h="76200">
                    <a:moveTo>
                      <a:pt x="76201" y="12700"/>
                    </a:moveTo>
                    <a:lnTo>
                      <a:pt x="76201" y="63500"/>
                    </a:lnTo>
                    <a:cubicBezTo>
                      <a:pt x="76201" y="70514"/>
                      <a:pt x="70515" y="76200"/>
                      <a:pt x="63501" y="76200"/>
                    </a:cubicBezTo>
                    <a:lnTo>
                      <a:pt x="12701" y="76200"/>
                    </a:lnTo>
                    <a:cubicBezTo>
                      <a:pt x="5687" y="76200"/>
                      <a:pt x="1" y="70514"/>
                      <a:pt x="1" y="63500"/>
                    </a:cubicBezTo>
                    <a:lnTo>
                      <a:pt x="1" y="38100"/>
                    </a:lnTo>
                    <a:cubicBezTo>
                      <a:pt x="0" y="17925"/>
                      <a:pt x="15726" y="1247"/>
                      <a:pt x="35866" y="63"/>
                    </a:cubicBezTo>
                    <a:lnTo>
                      <a:pt x="38101" y="0"/>
                    </a:lnTo>
                    <a:lnTo>
                      <a:pt x="63501" y="0"/>
                    </a:lnTo>
                    <a:cubicBezTo>
                      <a:pt x="70515" y="0"/>
                      <a:pt x="76201" y="5686"/>
                      <a:pt x="76201" y="12700"/>
                    </a:cubicBezTo>
                    <a:close/>
                  </a:path>
                </a:pathLst>
              </a:custGeom>
              <a:solidFill>
                <a:srgbClr val="B03A2E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8908161" y="4546600"/>
              <a:ext cx="130685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B4 精度账 7 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10066" y="48641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同图对照拆开算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909685" y="544195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攻：归因错误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34" name="Line 34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52247" y="6477000"/>
              <a:ext cx="278835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NPU 不是算得慢，是算的东西与算的方式都不对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244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战果 B1 · 战线 B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51937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端侧第一敌人不是崩溃，是静默失效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494941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RKNN 链路上 1 个计算算子悄悄落到 CPU —— 不抛异常、不改指标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25" name="before-after"/>
          <p:cNvGrpSpPr/>
          <p:nvPr/>
        </p:nvGrpSpPr>
        <p:grpSpPr>
          <a:xfrm>
            <a:off x="451485" y="1765300"/>
            <a:ext cx="6673215" cy="2578100"/>
            <a:chOff x="451485" y="1765300"/>
            <a:chExt cx="6673215" cy="2578100"/>
          </a:xfrm>
        </p:grpSpPr>
        <p:sp>
          <p:nvSpPr>
            <p:cNvPr id="7" name="TextBox 7"/>
            <p:cNvSpPr txBox="1"/>
            <p:nvPr/>
          </p:nvSpPr>
          <p:spPr>
            <a:xfrm>
              <a:off x="451485" y="17653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改写布局变换为算术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57200" y="2095500"/>
              <a:ext cx="6667500" cy="952500"/>
            </a:xfrm>
            <a:prstGeom prst="roundRect">
              <a:avLst>
                <a:gd name="adj" fmla="val 8000"/>
              </a:avLst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80085" y="2241550"/>
              <a:ext cx="1701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v1　1 个计算算子落 CPU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85800" y="2533650"/>
              <a:ext cx="1238250" cy="323850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9525">
              <a:solidFill>
                <a:srgbClr val="E0D2C9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78993" y="26289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p0 pool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038350" y="2533650"/>
              <a:ext cx="1238250" cy="323850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9525">
              <a:solidFill>
                <a:srgbClr val="E0D2C9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03762" y="2628900"/>
              <a:ext cx="7074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p0 Reshape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390900" y="2533650"/>
              <a:ext cx="3505200" cy="323850"/>
            </a:xfrm>
            <a:prstGeom prst="roundRect">
              <a:avLst>
                <a:gd name="adj" fmla="val 17647"/>
              </a:avLst>
            </a:prstGeom>
            <a:solidFill>
              <a:srgbClr val="FFFFFF"/>
            </a:solidFill>
            <a:ln w="9525">
              <a:solidFill>
                <a:srgbClr val="E0D2C9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42764" y="2628900"/>
              <a:ext cx="80147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其余算子正常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0847" y="2438400"/>
              <a:ext cx="258249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rknn_run 151.2 ms　·　端到端仅 6.6 fps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790950" y="314325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19050">
              <a:solidFill>
                <a:srgbClr val="0F4C75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724275" y="327660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976497" y="3200400"/>
              <a:ext cx="240439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stride-2 depthwise conv 读窗口写小图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57200" y="3486150"/>
              <a:ext cx="6667500" cy="857250"/>
            </a:xfrm>
            <a:prstGeom prst="roundRect">
              <a:avLst>
                <a:gd name="adj" fmla="val 8889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0085" y="3632200"/>
              <a:ext cx="1701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v2　0 个计算算子落 CPU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85800" y="3905250"/>
              <a:ext cx="621030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CFDCE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233395" y="3981450"/>
              <a:ext cx="11151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全部算子在 NPU 上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0847" y="3790950"/>
              <a:ext cx="390475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rknn_run 103.7 ms（1.46×）　·　4 种形状 torch.equal EXACT</a:t>
              </a:r>
            </a:p>
          </p:txBody>
        </p:sp>
      </p:grpSp>
      <p:grpSp>
        <p:nvGrpSpPr>
          <p:cNvPr id="34" name="gate-side"/>
          <p:cNvGrpSpPr/>
          <p:nvPr/>
        </p:nvGrpSpPr>
        <p:grpSpPr>
          <a:xfrm>
            <a:off x="7423785" y="1765300"/>
            <a:ext cx="4311015" cy="2083943"/>
            <a:chOff x="7423785" y="1765300"/>
            <a:chExt cx="4311015" cy="2083943"/>
          </a:xfrm>
        </p:grpSpPr>
        <p:sp>
          <p:nvSpPr>
            <p:cNvPr id="26" name="TextBox 26"/>
            <p:cNvSpPr txBox="1"/>
            <p:nvPr/>
          </p:nvSpPr>
          <p:spPr>
            <a:xfrm>
              <a:off x="7423785" y="176530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固化为交付硬闸门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429500" y="2095500"/>
              <a:ext cx="4305300" cy="914400"/>
            </a:xfrm>
            <a:prstGeom prst="roundRect">
              <a:avLst>
                <a:gd name="adj" fmla="val 8333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429500" y="2095500"/>
              <a:ext cx="38100" cy="91440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52004" y="2228850"/>
              <a:ext cx="13309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NPU 上板模型必须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49718" y="2425700"/>
              <a:ext cx="13256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0 个计算算子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53147" y="2743200"/>
              <a:ext cx="263032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I/O 边界的 Input/OutputOperator 不计入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24166" y="32258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守卫必须</a:t>
              </a:r>
              <a:r>
                <a:rPr lang="zh-CN" sz="10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能被证伪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24547" y="3409950"/>
              <a:ext cx="2667127" cy="4392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部署自检的正向 PASS 与反向 FAIL 都要各验一次</a:t>
              </a:r>
              <a:b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一个永远 PASS 的检查等于没有检查</a:t>
              </a:r>
            </a:p>
          </p:txBody>
        </p:sp>
      </p:grpSp>
      <p:grpSp>
        <p:nvGrpSpPr>
          <p:cNvPr id="39" name="takeaway"/>
          <p:cNvGrpSpPr/>
          <p:nvPr/>
        </p:nvGrpSpPr>
        <p:grpSpPr>
          <a:xfrm>
            <a:off x="457200" y="4705350"/>
            <a:ext cx="11277600" cy="1104900"/>
            <a:chOff x="457200" y="4705350"/>
            <a:chExt cx="11277600" cy="1104900"/>
          </a:xfrm>
        </p:grpSpPr>
        <p:sp>
          <p:nvSpPr>
            <p:cNvPr id="35" name="Rectangle 35"/>
            <p:cNvSpPr/>
            <p:nvPr/>
          </p:nvSpPr>
          <p:spPr>
            <a:xfrm>
              <a:off x="457200" y="4705350"/>
              <a:ext cx="11277600" cy="1104900"/>
            </a:xfrm>
            <a:prstGeom prst="rect">
              <a:avLst/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57200" y="4705350"/>
              <a:ext cx="38100" cy="110490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15899" y="4876800"/>
              <a:ext cx="19302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静默失效优先于崩溃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8185" y="5200650"/>
              <a:ext cx="4228846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「编译通过」不等于「全在 NPU 上」—— 性能账从这一步就开始失真</a:t>
              </a:r>
              <a:b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改写布局变换为算术：加速零精度代价，31 帧输出逐字节相同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40" name="Line 40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52247" y="6477000"/>
              <a:ext cx="795194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来源：heatmap_npu_trial0474.md §零（判决摘要）、§六之二（算子回退与全量精度代价）；rules.md §四·9e（0 计算算子硬闸门）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12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244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战果 B2 · 战线 B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42438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NPU 时延不能靠 FLOPs 外推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419318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删掉 P0 Highway 支路，同时达成 CPU 算子 0 与警告 0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20" name="mac-vs-latency"/>
          <p:cNvGrpSpPr/>
          <p:nvPr/>
        </p:nvGrpSpPr>
        <p:grpSpPr>
          <a:xfrm>
            <a:off x="451485" y="1727200"/>
            <a:ext cx="5970920" cy="2579243"/>
            <a:chOff x="451485" y="1727200"/>
            <a:chExt cx="5970920" cy="2579243"/>
          </a:xfrm>
        </p:grpSpPr>
        <p:sp>
          <p:nvSpPr>
            <p:cNvPr id="7" name="TextBox 7"/>
            <p:cNvSpPr txBox="1"/>
            <p:nvPr/>
          </p:nvSpPr>
          <p:spPr>
            <a:xfrm>
              <a:off x="451485" y="1727200"/>
              <a:ext cx="27037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同样删掉 P0 Highway，收益却完全不同</a:t>
              </a:r>
            </a:p>
          </p:txBody>
        </p:sp>
        <p:grpSp>
          <p:nvGrpSpPr>
            <p:cNvPr id="18" name="mac-latency-chartArea"/>
            <p:cNvGrpSpPr/>
            <p:nvPr/>
          </p:nvGrpSpPr>
          <p:grpSpPr>
            <a:xfrm>
              <a:off x="960101" y="2000250"/>
              <a:ext cx="5462304" cy="1857375"/>
              <a:chOff x="960101" y="2000250"/>
              <a:chExt cx="5462304" cy="1857375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1714500" y="2000250"/>
                <a:ext cx="9525" cy="1847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47850">
                    <a:moveTo>
                      <a:pt x="0" y="0"/>
                    </a:moveTo>
                    <a:lnTo>
                      <a:pt x="0" y="1847850"/>
                    </a:lnTo>
                  </a:path>
                </a:pathLst>
              </a:custGeom>
              <a:noFill/>
              <a:ln w="9525">
                <a:solidFill>
                  <a:srgbClr val="DCDCD6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1714500" y="3848100"/>
                <a:ext cx="4648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648200" h="9525">
                    <a:moveTo>
                      <a:pt x="0" y="0"/>
                    </a:moveTo>
                    <a:lnTo>
                      <a:pt x="4648200" y="0"/>
                    </a:lnTo>
                  </a:path>
                </a:pathLst>
              </a:custGeom>
              <a:noFill/>
              <a:ln w="9525">
                <a:solidFill>
                  <a:srgbClr val="DCDCD6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60101" y="2330450"/>
                <a:ext cx="6454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333A45"/>
                    </a:solidFill>
                    <a:latin typeface="+mn-lt"/>
                    <a:ea typeface="+mn-ea"/>
                    <a:cs typeface="+mn-cs"/>
                  </a:rPr>
                  <a:t>Conv MAC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1714500" y="2286000"/>
                <a:ext cx="323850" cy="266700"/>
              </a:xfrm>
              <a:prstGeom prst="rect">
                <a:avLst/>
              </a:prstGeom>
              <a:solidFill>
                <a:srgbClr val="C9CDD4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2127504" y="2324100"/>
                <a:ext cx="5125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−6.8%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852547" y="2362200"/>
                <a:ext cx="80147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算力几乎没省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312164" y="3016250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333A45"/>
                    </a:solidFill>
                    <a:latin typeface="+mn-lt"/>
                    <a:ea typeface="+mn-ea"/>
                    <a:cs typeface="+mn-cs"/>
                  </a:rPr>
                  <a:t>时延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1714500" y="2971800"/>
                <a:ext cx="2247900" cy="266700"/>
              </a:xfrm>
              <a:prstGeom prst="rect">
                <a:avLst/>
              </a:pr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051554" y="3009900"/>
                <a:ext cx="6058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B03A2E"/>
                    </a:solidFill>
                    <a:latin typeface="+mn-lt"/>
                    <a:ea typeface="+mn-ea"/>
                    <a:cs typeface="+mn-cs"/>
                  </a:rPr>
                  <a:t>−46.5%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776597" y="3048000"/>
                <a:ext cx="1645808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rknn_run 103.7 → 55.5 ms</a:t>
                </a:r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52247" y="4114800"/>
              <a:ext cx="51645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机理：P0 那几层是 640×640 / C=16 的最劣形状，空间乘积逼近 RKNN 的 H*W ≤ 16384</a:t>
              </a:r>
            </a:p>
          </p:txBody>
        </p:sp>
      </p:grpSp>
      <p:grpSp>
        <p:nvGrpSpPr>
          <p:cNvPr id="31" name="side-facts"/>
          <p:cNvGrpSpPr/>
          <p:nvPr/>
        </p:nvGrpSpPr>
        <p:grpSpPr>
          <a:xfrm>
            <a:off x="6661785" y="1727200"/>
            <a:ext cx="5073015" cy="2448878"/>
            <a:chOff x="6661785" y="1727200"/>
            <a:chExt cx="5073015" cy="2448878"/>
          </a:xfrm>
        </p:grpSpPr>
        <p:sp>
          <p:nvSpPr>
            <p:cNvPr id="21" name="TextBox 21"/>
            <p:cNvSpPr txBox="1"/>
            <p:nvPr/>
          </p:nvSpPr>
          <p:spPr>
            <a:xfrm>
              <a:off x="6661785" y="1727200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留下的铁律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67500" y="2038350"/>
              <a:ext cx="5067300" cy="762000"/>
            </a:xfrm>
            <a:prstGeom prst="roundRect">
              <a:avLst>
                <a:gd name="adj" fmla="val 10000"/>
              </a:avLst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67500" y="2038350"/>
              <a:ext cx="38100" cy="76200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90385" y="2165350"/>
              <a:ext cx="25315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禁止用 MAC / FLOPs 外推 NPU 时延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90766" y="2425700"/>
              <a:ext cx="41110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禁止用 onnx.shape_inference 估计算量 —— 必须用 RKNN 算子表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667500" y="2914650"/>
              <a:ext cx="5067300" cy="762000"/>
            </a:xfrm>
            <a:prstGeom prst="roundRect">
              <a:avLst>
                <a:gd name="adj" fmla="val 10000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67500" y="2914650"/>
              <a:ext cx="38100" cy="76200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90385" y="3041650"/>
              <a:ext cx="293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决策模型：牺牲 0.0006 F1 换 1.87× 时延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90766" y="3302000"/>
              <a:ext cx="36847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F1 0.906361 → 0.905736，但精度代价必须全量实测钉死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1785" y="3956050"/>
              <a:ext cx="27159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 xml:space="preserve">累计 </a:t>
              </a:r>
              <a:r>
                <a:rPr lang="zh-CN" sz="112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2.69×</a:t>
              </a:r>
              <a:r>
                <a:rPr lang="zh-CN" sz="112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 xml:space="preserve">　（v1 6.6 → v3 17.7 fps）</a:t>
              </a:r>
            </a:p>
          </p:txBody>
        </p:sp>
      </p:grpSp>
      <p:grpSp>
        <p:nvGrpSpPr>
          <p:cNvPr id="36" name="takeaway"/>
          <p:cNvGrpSpPr/>
          <p:nvPr/>
        </p:nvGrpSpPr>
        <p:grpSpPr>
          <a:xfrm>
            <a:off x="457200" y="4705350"/>
            <a:ext cx="11277600" cy="1104900"/>
            <a:chOff x="457200" y="4705350"/>
            <a:chExt cx="11277600" cy="1104900"/>
          </a:xfrm>
        </p:grpSpPr>
        <p:sp>
          <p:nvSpPr>
            <p:cNvPr id="32" name="Rectangle 32"/>
            <p:cNvSpPr/>
            <p:nvPr/>
          </p:nvSpPr>
          <p:spPr>
            <a:xfrm>
              <a:off x="457200" y="4705350"/>
              <a:ext cx="11277600" cy="1104900"/>
            </a:xfrm>
            <a:prstGeom prst="rect">
              <a:avLst/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57200" y="4705350"/>
              <a:ext cx="38100" cy="110490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5899" y="4876800"/>
              <a:ext cx="363189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时延不由算力决定，而由张量形状决定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8185" y="5200650"/>
              <a:ext cx="434975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NPU 上「最慢的算子」不是 FLOPs 最多的那个，而是形状最劣的那个</a:t>
              </a:r>
              <a:b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优化方向搞错，后面所有提速都会落空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37" name="Line 37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52247" y="6477000"/>
              <a:ext cx="70708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来源：heatmap_npu_trial0474.md §零（判决摘要）、§六之二·0（全量精度代价）、§六之二·4（MAC 与时延的反差）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13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244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战果 B3 · 战线 B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45799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3 次前向压成 1 次，且逐位等价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520820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输入张量静态 [1,3,640,640] —— 卷积代价由形状决定、与像素无关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9" name="canvas-diagram"/>
          <p:cNvGrpSpPr/>
          <p:nvPr/>
        </p:nvGrpSpPr>
        <p:grpSpPr>
          <a:xfrm>
            <a:off x="451485" y="1727200"/>
            <a:ext cx="3949065" cy="2654300"/>
            <a:chOff x="451485" y="1727200"/>
            <a:chExt cx="3949065" cy="2654300"/>
          </a:xfrm>
        </p:grpSpPr>
        <p:sp>
          <p:nvSpPr>
            <p:cNvPr id="7" name="TextBox 7"/>
            <p:cNvSpPr txBox="1"/>
            <p:nvPr/>
          </p:nvSpPr>
          <p:spPr>
            <a:xfrm>
              <a:off x="451485" y="1727200"/>
              <a:ext cx="13665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640 × 640 单张画布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57200" y="2019300"/>
              <a:ext cx="3943350" cy="2362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CD6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2095500"/>
              <a:ext cx="3790950" cy="17335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8185" y="2260600"/>
              <a:ext cx="15632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native 640×512　1:1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552700"/>
              <a:ext cx="41228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C8D8E6"/>
                  </a:solidFill>
                  <a:latin typeface="+mn-lt"/>
                  <a:ea typeface="+mn-ea"/>
                  <a:cs typeface="+mn-cs"/>
                </a:rPr>
                <a:t>(0, 0)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905250"/>
              <a:ext cx="942975" cy="400050"/>
            </a:xfrm>
            <a:prstGeom prst="rect">
              <a:avLst/>
            </a:prstGeom>
            <a:solidFill>
              <a:srgbClr val="5C7A9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6699" y="3962400"/>
              <a:ext cx="5668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thumb160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2865" y="4137025"/>
              <a:ext cx="43452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C8D8E6"/>
                  </a:solidFill>
                  <a:latin typeface="+mn-lt"/>
                  <a:ea typeface="+mn-ea"/>
                  <a:cs typeface="+mn-cs"/>
                </a:rPr>
                <a:t>160×128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552575" y="3905250"/>
              <a:ext cx="476250" cy="40005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85982" y="3962400"/>
              <a:ext cx="2094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t80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34153" y="4137025"/>
              <a:ext cx="3130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F2D6D1"/>
                  </a:solidFill>
                  <a:latin typeface="+mn-lt"/>
                  <a:ea typeface="+mn-ea"/>
                  <a:cs typeface="+mn-cs"/>
                </a:rPr>
                <a:t>80×64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09788" y="4038600"/>
              <a:ext cx="131197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背景 114　·　行 512 起</a:t>
              </a:r>
            </a:p>
          </p:txBody>
        </p:sp>
      </p:grpSp>
      <p:grpSp>
        <p:nvGrpSpPr>
          <p:cNvPr id="28" name="metrics-side"/>
          <p:cNvGrpSpPr/>
          <p:nvPr/>
        </p:nvGrpSpPr>
        <p:grpSpPr>
          <a:xfrm>
            <a:off x="5126736" y="1727200"/>
            <a:ext cx="3317043" cy="2618359"/>
            <a:chOff x="5126736" y="1727200"/>
            <a:chExt cx="3317043" cy="2618359"/>
          </a:xfrm>
        </p:grpSpPr>
        <p:sp>
          <p:nvSpPr>
            <p:cNvPr id="20" name="TextBox 20"/>
            <p:cNvSpPr txBox="1"/>
            <p:nvPr/>
          </p:nvSpPr>
          <p:spPr>
            <a:xfrm>
              <a:off x="5137785" y="1727200"/>
              <a:ext cx="9407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RGA 硬件画布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26736" y="1993900"/>
              <a:ext cx="206262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0.943 ms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38166" y="2540000"/>
              <a:ext cx="28588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拼图装配/帧　（3 × improcess，一次到位）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26736" y="2794000"/>
              <a:ext cx="168945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max = 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38166" y="3340100"/>
              <a:ext cx="26577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native 区与 CPU 参考的差（逐字节一致）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26736" y="359410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499354" y="3848100"/>
              <a:ext cx="13655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逐帧 CPU 图像拷贝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38166" y="4140200"/>
              <a:ext cx="33056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解码缓冲直接 importbuffer_virtualaddr 交给 RGA</a:t>
              </a:r>
            </a:p>
          </p:txBody>
        </p:sp>
      </p:grpSp>
      <p:grpSp>
        <p:nvGrpSpPr>
          <p:cNvPr id="33" name="takeaway"/>
          <p:cNvGrpSpPr/>
          <p:nvPr/>
        </p:nvGrpSpPr>
        <p:grpSpPr>
          <a:xfrm>
            <a:off x="457200" y="4705350"/>
            <a:ext cx="11277600" cy="1104900"/>
            <a:chOff x="457200" y="4705350"/>
            <a:chExt cx="11277600" cy="1104900"/>
          </a:xfrm>
        </p:grpSpPr>
        <p:sp>
          <p:nvSpPr>
            <p:cNvPr id="29" name="Rectangle 29"/>
            <p:cNvSpPr/>
            <p:nvPr/>
          </p:nvSpPr>
          <p:spPr>
            <a:xfrm>
              <a:off x="457200" y="4705350"/>
              <a:ext cx="11277600" cy="1104900"/>
            </a:xfrm>
            <a:prstGeom prst="rect">
              <a:avLst/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7200" y="4705350"/>
              <a:ext cx="38100" cy="110490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15899" y="4876800"/>
              <a:ext cx="4482694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硬件加速的前提，是先摸清硬件的真实能力边界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18185" y="5200650"/>
              <a:ext cx="6774942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RGA 的三条坑全部是「返回成功但什么都没做」—— 缓冲区路径唯一、imcheck() 让紧随的真实操作静默失效</a:t>
              </a:r>
              <a:b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这类失效靠日志看不出来；服务化后 14.951 fps，天花板 15.60 fps，调度损耗仅 4.1%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34" name="Line 34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52247" y="6477000"/>
              <a:ext cx="800232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来源：MOSAIC_RK3588_20261026.md §1.1–§1.2、§2 结论 1–3；RGA_RK3588_NOTES.md §1–§4、§6–§7（能力表 12 条与三条坑）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14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2445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战果 B4 · 战线 B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58399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没有同图对照，报的是差值不是量化损失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402152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A 与 C 计算图不同，差值只是「打包 + 量化」的合计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23" name="arm-bars"/>
          <p:cNvGrpSpPr/>
          <p:nvPr/>
        </p:nvGrpSpPr>
        <p:grpSpPr>
          <a:xfrm>
            <a:off x="451485" y="1727200"/>
            <a:ext cx="6292215" cy="2316162"/>
            <a:chOff x="451485" y="1727200"/>
            <a:chExt cx="6292215" cy="2316162"/>
          </a:xfrm>
        </p:grpSpPr>
        <p:sp>
          <p:nvSpPr>
            <p:cNvPr id="7" name="TextBox 7"/>
            <p:cNvSpPr txBox="1"/>
            <p:nvPr/>
          </p:nvSpPr>
          <p:spPr>
            <a:xfrm>
              <a:off x="451485" y="1727200"/>
              <a:ext cx="21051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T3 盲测三臂 F1（11,810 帧）</a:t>
              </a:r>
            </a:p>
          </p:txBody>
        </p:sp>
        <p:grpSp>
          <p:nvGrpSpPr>
            <p:cNvPr id="22" name="arm-bars-chartArea"/>
            <p:cNvGrpSpPr/>
            <p:nvPr/>
          </p:nvGrpSpPr>
          <p:grpSpPr>
            <a:xfrm>
              <a:off x="1043864" y="2000250"/>
              <a:ext cx="5699836" cy="2043112"/>
              <a:chOff x="1043864" y="2000250"/>
              <a:chExt cx="5699836" cy="2043112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1714500" y="2000250"/>
                <a:ext cx="9525" cy="1847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47850">
                    <a:moveTo>
                      <a:pt x="0" y="0"/>
                    </a:moveTo>
                    <a:lnTo>
                      <a:pt x="0" y="1847850"/>
                    </a:lnTo>
                  </a:path>
                </a:pathLst>
              </a:custGeom>
              <a:noFill/>
              <a:ln w="9525">
                <a:solidFill>
                  <a:srgbClr val="DCDCD6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1714500" y="3848100"/>
                <a:ext cx="5029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29200" h="9525">
                    <a:moveTo>
                      <a:pt x="0" y="0"/>
                    </a:moveTo>
                    <a:lnTo>
                      <a:pt x="5029200" y="0"/>
                    </a:lnTo>
                  </a:path>
                </a:pathLst>
              </a:custGeom>
              <a:noFill/>
              <a:ln w="9525">
                <a:solidFill>
                  <a:srgbClr val="DCDCD6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043864" y="2273300"/>
                <a:ext cx="5616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333A45"/>
                    </a:solidFill>
                    <a:latin typeface="+mn-lt"/>
                    <a:ea typeface="+mn-ea"/>
                    <a:cs typeface="+mn-cs"/>
                  </a:rPr>
                  <a:t>A 逐尺度</a:t>
                </a: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1714500" y="2209800"/>
                <a:ext cx="5029200" cy="285750"/>
              </a:xfrm>
              <a:prstGeom prst="rect">
                <a:avLst/>
              </a:prstGeom>
              <a:solidFill>
                <a:srgbClr val="5C7A99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5971024" y="2282825"/>
                <a:ext cx="66371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0.897694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709738" y="2533650"/>
                <a:ext cx="1734884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PC f32 · 3 次前向（冻结基准）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85215" y="2940050"/>
                <a:ext cx="4203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333A45"/>
                    </a:solidFill>
                    <a:latin typeface="+mn-lt"/>
                    <a:ea typeface="+mn-ea"/>
                    <a:cs typeface="+mn-cs"/>
                  </a:rPr>
                  <a:t>B 拼图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1714500" y="2876550"/>
                <a:ext cx="5010150" cy="285750"/>
              </a:xfrm>
              <a:prstGeom prst="rect">
                <a:avLst/>
              </a:pr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951974" y="2949575"/>
                <a:ext cx="66371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0.895025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709738" y="3200400"/>
                <a:ext cx="1613726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PC f32 · 1 次前向（同画布）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85215" y="3606800"/>
                <a:ext cx="4203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dirty="0">
                    <a:solidFill>
                      <a:srgbClr val="333A45"/>
                    </a:solidFill>
                    <a:latin typeface="+mn-lt"/>
                    <a:ea typeface="+mn-ea"/>
                    <a:cs typeface="+mn-cs"/>
                  </a:rPr>
                  <a:t>C 板端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1714500" y="3543300"/>
                <a:ext cx="5010150" cy="285750"/>
              </a:xfrm>
              <a:prstGeom prst="rect">
                <a:avLst/>
              </a:pr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951974" y="3616325"/>
                <a:ext cx="66371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0.895555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09738" y="3867150"/>
                <a:ext cx="182083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板端 f16 · 1 次前向（交付产物）</a:t>
                </a:r>
              </a:p>
            </p:txBody>
          </p:sp>
        </p:grpSp>
      </p:grpSp>
      <p:grpSp>
        <p:nvGrpSpPr>
          <p:cNvPr id="35" name="decompose"/>
          <p:cNvGrpSpPr/>
          <p:nvPr/>
        </p:nvGrpSpPr>
        <p:grpSpPr>
          <a:xfrm>
            <a:off x="7042785" y="1727200"/>
            <a:ext cx="4692015" cy="2541143"/>
            <a:chOff x="7042785" y="1727200"/>
            <a:chExt cx="4692015" cy="2541143"/>
          </a:xfrm>
        </p:grpSpPr>
        <p:sp>
          <p:nvSpPr>
            <p:cNvPr id="24" name="TextBox 24"/>
            <p:cNvSpPr txBox="1"/>
            <p:nvPr/>
          </p:nvSpPr>
          <p:spPr>
            <a:xfrm>
              <a:off x="7042785" y="1727200"/>
              <a:ext cx="9074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B 臂把账拆开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048500" y="2057400"/>
              <a:ext cx="4686300" cy="704850"/>
            </a:xfrm>
            <a:prstGeom prst="roundRect">
              <a:avLst>
                <a:gd name="adj" fmla="val 10811"/>
              </a:avLst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048500" y="2057400"/>
              <a:ext cx="38100" cy="70485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271385" y="2184400"/>
              <a:ext cx="1247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打包　−0.002668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72147" y="2457450"/>
              <a:ext cx="2078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A → B：计算图从 3 次前向压成 1 次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048500" y="2876550"/>
              <a:ext cx="4686300" cy="704850"/>
            </a:xfrm>
            <a:prstGeom prst="roundRect">
              <a:avLst>
                <a:gd name="adj" fmla="val 10811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048500" y="2876550"/>
              <a:ext cx="38100" cy="7048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71385" y="3003550"/>
              <a:ext cx="1247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量化　+0.000529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72147" y="3276600"/>
              <a:ext cx="202541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B → C：f32 换 f16，代价几乎为零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43166" y="3816350"/>
              <a:ext cx="22048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 xml:space="preserve">T2 黄金池：A / B / C </a:t>
              </a:r>
              <a:r>
                <a:rPr lang="zh-CN" sz="1050" b="1" dirty="0">
                  <a:solidFill>
                    <a:srgbClr val="1F6F4A"/>
                  </a:solidFill>
                  <a:latin typeface="+mn-lt"/>
                  <a:ea typeface="+mn-ea"/>
                  <a:cs typeface="+mn-cs"/>
                </a:rPr>
                <a:t>F1 完全相同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43547" y="4076700"/>
              <a:ext cx="205478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0.998949 / 0.999790 / 0.999790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457200" y="4705350"/>
            <a:ext cx="11277600" cy="1104900"/>
            <a:chOff x="457200" y="4705350"/>
            <a:chExt cx="11277600" cy="1104900"/>
          </a:xfrm>
        </p:grpSpPr>
        <p:sp>
          <p:nvSpPr>
            <p:cNvPr id="36" name="Rectangle 36"/>
            <p:cNvSpPr/>
            <p:nvPr/>
          </p:nvSpPr>
          <p:spPr>
            <a:xfrm>
              <a:off x="457200" y="4705350"/>
              <a:ext cx="11277600" cy="1104900"/>
            </a:xfrm>
            <a:prstGeom prst="rect">
              <a:avLst/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57200" y="4705350"/>
              <a:ext cx="38100" cy="110490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5899" y="4876800"/>
              <a:ext cx="43470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「量化损失」必须能报出同口径的 f32 对照臂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8185" y="5200650"/>
              <a:ext cx="6497574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否则报的是差值，不是量化损失 —— 这条在 f16 → int8 的路线上同样成立</a:t>
              </a:r>
              <a:b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口径提醒：dedup_radius 768 &gt; 帧内任意两点距离 ⇒ 每帧基本只留最高分候选，不是常规多框平均精度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41" name="Line 41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52247" y="6477000"/>
              <a:ext cx="73255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来源：MOSAIC_RK3588_20261026.md §2（7 臂对照表）、§7.1（跨计算图差值必须先拆成同图对照）、§3.2（评测形态）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15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2753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底座 1 · 公共底座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487070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先分清「算法慢」还是「被抢慢」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620080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NPU 线程 94.45 ms 里只有 59.96 ms 是硬件，另 28.60 ms 是抢来的 letterbox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22" name="pipeline-timeline"/>
          <p:cNvGrpSpPr/>
          <p:nvPr/>
        </p:nvGrpSpPr>
        <p:grpSpPr>
          <a:xfrm>
            <a:off x="168516" y="1727200"/>
            <a:ext cx="7382622" cy="2655443"/>
            <a:chOff x="168516" y="1727200"/>
            <a:chExt cx="7382622" cy="2655443"/>
          </a:xfrm>
        </p:grpSpPr>
        <p:sp>
          <p:nvSpPr>
            <p:cNvPr id="7" name="TextBox 7"/>
            <p:cNvSpPr txBox="1"/>
            <p:nvPr/>
          </p:nvSpPr>
          <p:spPr>
            <a:xfrm>
              <a:off x="451485" y="1727200"/>
              <a:ext cx="23190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三级流水线重叠（每帧 71.1 ms）</a:t>
              </a:r>
            </a:p>
          </p:txBody>
        </p:sp>
        <p:grpSp>
          <p:nvGrpSpPr>
            <p:cNvPr id="20" name="pipeline-chartArea"/>
            <p:cNvGrpSpPr/>
            <p:nvPr/>
          </p:nvGrpSpPr>
          <p:grpSpPr>
            <a:xfrm>
              <a:off x="168516" y="2000250"/>
              <a:ext cx="7382622" cy="2153793"/>
              <a:chOff x="168516" y="2000250"/>
              <a:chExt cx="7382622" cy="2153793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952500" y="2000250"/>
                <a:ext cx="6286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86500" h="9525">
                    <a:moveTo>
                      <a:pt x="0" y="0"/>
                    </a:moveTo>
                    <a:lnTo>
                      <a:pt x="6286500" y="0"/>
                    </a:lnTo>
                  </a:path>
                </a:pathLst>
              </a:custGeom>
              <a:noFill/>
              <a:ln w="9525">
                <a:solidFill>
                  <a:srgbClr val="DCDCD6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556565" y="2273300"/>
                <a:ext cx="2869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333A45"/>
                    </a:solidFill>
                    <a:latin typeface="+mn-lt"/>
                    <a:ea typeface="+mn-ea"/>
                    <a:cs typeface="+mn-cs"/>
                  </a:rPr>
                  <a:t>GMC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952500" y="2228850"/>
                <a:ext cx="2933700" cy="247650"/>
              </a:xfrm>
              <a:prstGeom prst="rect">
                <a:avLst/>
              </a:pr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976497" y="2286000"/>
                <a:ext cx="58379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0F4C75"/>
                    </a:solidFill>
                    <a:latin typeface="+mn-lt"/>
                    <a:ea typeface="+mn-ea"/>
                    <a:cs typeface="+mn-cs"/>
                  </a:rPr>
                  <a:t>33.19 ms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68516" y="2844800"/>
                <a:ext cx="67501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333A45"/>
                    </a:solidFill>
                    <a:latin typeface="+mn-lt"/>
                    <a:ea typeface="+mn-ea"/>
                    <a:cs typeface="+mn-cs"/>
                  </a:rPr>
                  <a:t>letterbox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952500" y="2800350"/>
                <a:ext cx="1076325" cy="247650"/>
              </a:xfrm>
              <a:prstGeom prst="rect">
                <a:avLst/>
              </a:prstGeom>
              <a:solidFill>
                <a:srgbClr val="5C7A99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2119122" y="2857500"/>
                <a:ext cx="58379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5C7A99"/>
                    </a:solidFill>
                    <a:latin typeface="+mn-lt"/>
                    <a:ea typeface="+mn-ea"/>
                    <a:cs typeface="+mn-cs"/>
                  </a:rPr>
                  <a:t>12.23 ms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86435" y="3416300"/>
                <a:ext cx="25709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333A45"/>
                    </a:solidFill>
                    <a:latin typeface="+mn-lt"/>
                    <a:ea typeface="+mn-ea"/>
                    <a:cs typeface="+mn-cs"/>
                  </a:rPr>
                  <a:t>NPU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952500" y="3371850"/>
                <a:ext cx="5924550" cy="247650"/>
              </a:xfrm>
              <a:prstGeom prst="rect">
                <a:avLst/>
              </a:prstGeom>
              <a:solidFill>
                <a:srgbClr val="B03A2E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967347" y="3429000"/>
                <a:ext cx="58379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980" dirty="0">
                    <a:solidFill>
                      <a:srgbClr val="B03A2E"/>
                    </a:solidFill>
                    <a:latin typeface="+mn-lt"/>
                    <a:ea typeface="+mn-ea"/>
                    <a:cs typeface="+mn-cs"/>
                  </a:rPr>
                  <a:t>66.99 ms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6877050" y="2114550"/>
                <a:ext cx="9525" cy="1790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90700">
                    <a:moveTo>
                      <a:pt x="0" y="0"/>
                    </a:moveTo>
                    <a:lnTo>
                      <a:pt x="0" y="1790700"/>
                    </a:lnTo>
                  </a:path>
                </a:pathLst>
              </a:custGeom>
              <a:noFill/>
              <a:ln w="19050">
                <a:solidFill>
                  <a:srgbClr val="B03A2E"/>
                </a:solidFill>
                <a:custDash>
                  <a:ds d="300000" sp="200000"/>
                </a:custDash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5232896" y="3962400"/>
                <a:ext cx="1553857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rgbClr val="B03A2E"/>
                    </a:solidFill>
                    <a:latin typeface="+mn-lt"/>
                    <a:ea typeface="+mn-ea"/>
                    <a:cs typeface="+mn-cs"/>
                  </a:rPr>
                  <a:t>关键路径 = NPU 66.99 ms</a:t>
                </a:r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452247" y="4191000"/>
              <a:ext cx="555746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独占线程 vs 挤在同一线程：letterbox 12.23 ms vs 28.60 ms —— 差 2.3 倍是争抢，不是算法</a:t>
              </a:r>
            </a:p>
          </p:txBody>
        </p:sp>
      </p:grpSp>
      <p:grpSp>
        <p:nvGrpSpPr>
          <p:cNvPr id="29" name="numbers-side"/>
          <p:cNvGrpSpPr/>
          <p:nvPr/>
        </p:nvGrpSpPr>
        <p:grpSpPr>
          <a:xfrm>
            <a:off x="7984236" y="1727200"/>
            <a:ext cx="2342497" cy="2465959"/>
            <a:chOff x="7984236" y="1727200"/>
            <a:chExt cx="2342497" cy="2465959"/>
          </a:xfrm>
        </p:grpSpPr>
        <p:sp>
          <p:nvSpPr>
            <p:cNvPr id="23" name="TextBox 23"/>
            <p:cNvSpPr txBox="1"/>
            <p:nvPr/>
          </p:nvSpPr>
          <p:spPr>
            <a:xfrm>
              <a:off x="7995285" y="1727200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提速与等价性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84236" y="1993900"/>
              <a:ext cx="222588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14.07 fps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95666" y="2540000"/>
              <a:ext cx="17139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三级流水线（累计 2.45×）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84236" y="2794000"/>
              <a:ext cx="234249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1070/1070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995666" y="3340100"/>
              <a:ext cx="18765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heatmap+offset 逐字节一致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995666" y="3721100"/>
              <a:ext cx="1620203" cy="472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 xml:space="preserve">检出 TSV </a:t>
              </a:r>
              <a:r>
                <a:rPr lang="zh-CN" sz="1050" b="1" dirty="0">
                  <a:solidFill>
                    <a:srgbClr val="1F6F4A"/>
                  </a:solidFill>
                  <a:latin typeface="+mn-lt"/>
                  <a:ea typeface="+mn-ea"/>
                  <a:cs typeface="+mn-cs"/>
                </a:rPr>
                <a:t>0 行差异</a:t>
              </a:r>
              <a:br>
                <a:rPr lang="zh-CN" sz="1050" b="1" dirty="0">
                  <a:solidFill>
                    <a:srgbClr val="1F6F4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 xml:space="preserve">链式哈希 6 档全 </a:t>
              </a:r>
              <a:r>
                <a:rPr lang="en-US" sz="1050" b="1" dirty="0">
                  <a:solidFill>
                    <a:srgbClr val="1F6F4A"/>
                  </a:solidFill>
                  <a:latin typeface="+mn-lt"/>
                  <a:ea typeface="+mn-ea"/>
                  <a:cs typeface="+mn-cs"/>
                </a:rPr>
                <a:t>d5e81977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457200" y="4705350"/>
            <a:ext cx="11277600" cy="1104900"/>
            <a:chOff x="457200" y="4705350"/>
            <a:chExt cx="11277600" cy="1104900"/>
          </a:xfrm>
        </p:grpSpPr>
        <p:sp>
          <p:nvSpPr>
            <p:cNvPr id="30" name="Rectangle 30"/>
            <p:cNvSpPr/>
            <p:nvPr/>
          </p:nvSpPr>
          <p:spPr>
            <a:xfrm>
              <a:off x="457200" y="4705350"/>
              <a:ext cx="11277600" cy="1104900"/>
            </a:xfrm>
            <a:prstGeom prst="rect">
              <a:avLst/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57200" y="4705350"/>
              <a:ext cx="38100" cy="110490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15899" y="4876800"/>
              <a:ext cx="588172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纯搬运/纯计算的无状态阶段，挪到独立线程不需重新验证精度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8185" y="5200650"/>
              <a:ext cx="6227318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把「这段代码慢」直接当成算法问题去优化，最容易白干 —— 挪到独占线程再测一次，代价近乎为零</a:t>
              </a:r>
              <a:b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天花板：理论 14.93 fps；硬地板 rknn 60.77 + dequant 2.75 + peaks 0.35 = 63.87 ms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35" name="Line 35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52247" y="6477000"/>
              <a:ext cx="736487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来源：archive/02_流水线与量化主线 §二十二（归因与等价性三证）、§二十三（三级流水线）、§二十五（收口表与天花板）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16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2753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底座 2 · 公共底座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359208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demo 跑通 ≠ 库契约成立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489138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纯 C ABI 交付 + 契约测试 + 特征指纹部署自检，三件套缺一不可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51" name="service-diagram"/>
          <p:cNvGrpSpPr/>
          <p:nvPr/>
        </p:nvGrpSpPr>
        <p:grpSpPr>
          <a:xfrm>
            <a:off x="451485" y="1727200"/>
            <a:ext cx="7911465" cy="2261743"/>
            <a:chOff x="451485" y="1727200"/>
            <a:chExt cx="7911465" cy="2261743"/>
          </a:xfrm>
        </p:grpSpPr>
        <p:sp>
          <p:nvSpPr>
            <p:cNvPr id="7" name="TextBox 7"/>
            <p:cNvSpPr txBox="1"/>
            <p:nvPr/>
          </p:nvSpPr>
          <p:spPr>
            <a:xfrm>
              <a:off x="451485" y="1727200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服务化链路（每一级独立有界队列）</a:t>
              </a:r>
            </a:p>
          </p:txBody>
        </p:sp>
        <p:grpSp>
          <p:nvGrpSpPr>
            <p:cNvPr id="10" name="svc-camera"/>
            <p:cNvGrpSpPr/>
            <p:nvPr/>
          </p:nvGrpSpPr>
          <p:grpSpPr>
            <a:xfrm>
              <a:off x="457200" y="2057400"/>
              <a:ext cx="819150" cy="495300"/>
              <a:chOff x="457200" y="2057400"/>
              <a:chExt cx="819150" cy="4953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457200" y="2057400"/>
                <a:ext cx="81915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E9EFF5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20090" y="2235200"/>
                <a:ext cx="29337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4171C"/>
                    </a:solidFill>
                    <a:latin typeface="+mn-lt"/>
                    <a:ea typeface="+mn-ea"/>
                    <a:cs typeface="+mn-cs"/>
                  </a:rPr>
                  <a:t>相机</a:t>
                </a:r>
              </a:p>
            </p:txBody>
          </p:sp>
        </p:grpSp>
        <p:grpSp>
          <p:nvGrpSpPr>
            <p:cNvPr id="14" name="svc-queue1"/>
            <p:cNvGrpSpPr/>
            <p:nvPr/>
          </p:nvGrpSpPr>
          <p:grpSpPr>
            <a:xfrm>
              <a:off x="1447800" y="2057400"/>
              <a:ext cx="1066800" cy="495300"/>
              <a:chOff x="1447800" y="2057400"/>
              <a:chExt cx="1066800" cy="4953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1447800" y="2057400"/>
                <a:ext cx="10668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7EFE9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712392" y="2190750"/>
                <a:ext cx="53761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14171C"/>
                    </a:solidFill>
                    <a:latin typeface="+mn-lt"/>
                    <a:ea typeface="+mn-ea"/>
                    <a:cs typeface="+mn-cs"/>
                  </a:rPr>
                  <a:t>相机队列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36993" y="2374900"/>
                <a:ext cx="688414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B03A2E"/>
                    </a:solidFill>
                    <a:latin typeface="+mn-lt"/>
                    <a:ea typeface="+mn-ea"/>
                    <a:cs typeface="+mn-cs"/>
                  </a:rPr>
                  <a:t>丢 = 配准链断</a:t>
                </a:r>
              </a:p>
            </p:txBody>
          </p:sp>
        </p:grpSp>
        <p:grpSp>
          <p:nvGrpSpPr>
            <p:cNvPr id="18" name="svc-gmc"/>
            <p:cNvGrpSpPr/>
            <p:nvPr/>
          </p:nvGrpSpPr>
          <p:grpSpPr>
            <a:xfrm>
              <a:off x="2686050" y="2057400"/>
              <a:ext cx="1219200" cy="495300"/>
              <a:chOff x="2686050" y="2057400"/>
              <a:chExt cx="1219200" cy="4953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2686050" y="2057400"/>
                <a:ext cx="12192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E9EFF5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008920" y="2190750"/>
                <a:ext cx="573461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14171C"/>
                    </a:solidFill>
                    <a:latin typeface="+mn-lt"/>
                    <a:ea typeface="+mn-ea"/>
                    <a:cs typeface="+mn-cs"/>
                  </a:rPr>
                  <a:t>GMC 服务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133584" y="2374900"/>
                <a:ext cx="32413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2 引擎</a:t>
                </a:r>
              </a:p>
            </p:txBody>
          </p:sp>
        </p:grpSp>
        <p:grpSp>
          <p:nvGrpSpPr>
            <p:cNvPr id="22" name="svc-queue2"/>
            <p:cNvGrpSpPr/>
            <p:nvPr/>
          </p:nvGrpSpPr>
          <p:grpSpPr>
            <a:xfrm>
              <a:off x="4076700" y="2057400"/>
              <a:ext cx="1066800" cy="495300"/>
              <a:chOff x="4076700" y="2057400"/>
              <a:chExt cx="1066800" cy="4953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4076700" y="2057400"/>
                <a:ext cx="10668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7EFE9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341292" y="2190750"/>
                <a:ext cx="53761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14171C"/>
                    </a:solidFill>
                    <a:latin typeface="+mn-lt"/>
                    <a:ea typeface="+mn-ea"/>
                    <a:cs typeface="+mn-cs"/>
                  </a:rPr>
                  <a:t>特征缓冲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265893" y="2374900"/>
                <a:ext cx="688414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丢 = 只丢检测</a:t>
                </a:r>
              </a:p>
            </p:txBody>
          </p:sp>
        </p:grpSp>
        <p:grpSp>
          <p:nvGrpSpPr>
            <p:cNvPr id="26" name="svc-npu"/>
            <p:cNvGrpSpPr/>
            <p:nvPr/>
          </p:nvGrpSpPr>
          <p:grpSpPr>
            <a:xfrm>
              <a:off x="5314950" y="2057400"/>
              <a:ext cx="1066800" cy="495300"/>
              <a:chOff x="5314950" y="2057400"/>
              <a:chExt cx="1066800" cy="4953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314950" y="2057400"/>
                <a:ext cx="106680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E9EFF5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575559" y="2190750"/>
                <a:ext cx="545582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14171C"/>
                    </a:solidFill>
                    <a:latin typeface="+mn-lt"/>
                    <a:ea typeface="+mn-ea"/>
                    <a:cs typeface="+mn-cs"/>
                  </a:rPr>
                  <a:t>NPU 服务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631090" y="2374900"/>
                <a:ext cx="434520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79818F"/>
                    </a:solidFill>
                    <a:latin typeface="+mn-lt"/>
                    <a:ea typeface="+mn-ea"/>
                    <a:cs typeface="+mn-cs"/>
                  </a:rPr>
                  <a:t>2 上下文</a:t>
                </a:r>
              </a:p>
            </p:txBody>
          </p:sp>
        </p:grpSp>
        <p:grpSp>
          <p:nvGrpSpPr>
            <p:cNvPr id="29" name="svc-queue3"/>
            <p:cNvGrpSpPr/>
            <p:nvPr/>
          </p:nvGrpSpPr>
          <p:grpSpPr>
            <a:xfrm>
              <a:off x="6553200" y="2057400"/>
              <a:ext cx="971550" cy="495300"/>
              <a:chOff x="6553200" y="2057400"/>
              <a:chExt cx="971550" cy="4953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553200" y="2057400"/>
                <a:ext cx="97155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F7EFE9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770167" y="2247900"/>
                <a:ext cx="537616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14171C"/>
                    </a:solidFill>
                    <a:latin typeface="+mn-lt"/>
                    <a:ea typeface="+mn-ea"/>
                    <a:cs typeface="+mn-cs"/>
                  </a:rPr>
                  <a:t>热图缓冲</a:t>
                </a:r>
              </a:p>
            </p:txBody>
          </p:sp>
        </p:grpSp>
        <p:grpSp>
          <p:nvGrpSpPr>
            <p:cNvPr id="32" name="svc-post"/>
            <p:cNvGrpSpPr/>
            <p:nvPr/>
          </p:nvGrpSpPr>
          <p:grpSpPr>
            <a:xfrm>
              <a:off x="7696200" y="2057400"/>
              <a:ext cx="666750" cy="495300"/>
              <a:chOff x="7696200" y="2057400"/>
              <a:chExt cx="666750" cy="4953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696200" y="2057400"/>
                <a:ext cx="666750" cy="495300"/>
              </a:xfrm>
              <a:prstGeom prst="roundRect">
                <a:avLst>
                  <a:gd name="adj" fmla="val 15385"/>
                </a:avLst>
              </a:pr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857348" y="2247900"/>
                <a:ext cx="344454" cy="1916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POST</a:t>
                </a:r>
              </a:p>
            </p:txBody>
          </p:sp>
        </p:grpSp>
        <p:grpSp>
          <p:nvGrpSpPr>
            <p:cNvPr id="45" name="svc-arrows"/>
            <p:cNvGrpSpPr/>
            <p:nvPr/>
          </p:nvGrpSpPr>
          <p:grpSpPr>
            <a:xfrm>
              <a:off x="1276350" y="2257425"/>
              <a:ext cx="6419850" cy="95250"/>
              <a:chOff x="1276350" y="2257425"/>
              <a:chExt cx="6419850" cy="95250"/>
            </a:xfrm>
          </p:grpSpPr>
          <p:sp>
            <p:nvSpPr>
              <p:cNvPr id="33" name="Line 33"/>
              <p:cNvSpPr/>
              <p:nvPr/>
            </p:nvSpPr>
            <p:spPr>
              <a:xfrm>
                <a:off x="1276350" y="230505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79818F"/>
                </a:solidFill>
              </a:ln>
            </p:spPr>
          </p:sp>
          <p:sp>
            <p:nvSpPr>
              <p:cNvPr id="34" name="Polygon 34"/>
              <p:cNvSpPr/>
              <p:nvPr/>
            </p:nvSpPr>
            <p:spPr>
              <a:xfrm>
                <a:off x="1371600" y="225742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79818F"/>
              </a:solidFill>
              <a:ln>
                <a:noFill/>
              </a:ln>
            </p:spPr>
          </p:sp>
          <p:sp>
            <p:nvSpPr>
              <p:cNvPr id="35" name="Line 35"/>
              <p:cNvSpPr/>
              <p:nvPr/>
            </p:nvSpPr>
            <p:spPr>
              <a:xfrm>
                <a:off x="2514600" y="230505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79818F"/>
                </a:solidFill>
              </a:ln>
            </p:spPr>
          </p:sp>
          <p:sp>
            <p:nvSpPr>
              <p:cNvPr id="36" name="Polygon 36"/>
              <p:cNvSpPr/>
              <p:nvPr/>
            </p:nvSpPr>
            <p:spPr>
              <a:xfrm>
                <a:off x="2609850" y="225742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79818F"/>
              </a:solidFill>
              <a:ln>
                <a:noFill/>
              </a:ln>
            </p:spPr>
          </p:sp>
          <p:sp>
            <p:nvSpPr>
              <p:cNvPr id="37" name="Line 37"/>
              <p:cNvSpPr/>
              <p:nvPr/>
            </p:nvSpPr>
            <p:spPr>
              <a:xfrm>
                <a:off x="3905250" y="230505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79818F"/>
                </a:solidFill>
              </a:ln>
            </p:spPr>
          </p:sp>
          <p:sp>
            <p:nvSpPr>
              <p:cNvPr id="38" name="Polygon 38"/>
              <p:cNvSpPr/>
              <p:nvPr/>
            </p:nvSpPr>
            <p:spPr>
              <a:xfrm>
                <a:off x="4000500" y="225742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79818F"/>
              </a:solidFill>
              <a:ln>
                <a:noFill/>
              </a:ln>
            </p:spPr>
          </p:sp>
          <p:sp>
            <p:nvSpPr>
              <p:cNvPr id="39" name="Line 39"/>
              <p:cNvSpPr/>
              <p:nvPr/>
            </p:nvSpPr>
            <p:spPr>
              <a:xfrm>
                <a:off x="5143500" y="230505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79818F"/>
                </a:solidFill>
              </a:ln>
            </p:spPr>
          </p:sp>
          <p:sp>
            <p:nvSpPr>
              <p:cNvPr id="40" name="Polygon 40"/>
              <p:cNvSpPr/>
              <p:nvPr/>
            </p:nvSpPr>
            <p:spPr>
              <a:xfrm>
                <a:off x="5238750" y="225742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79818F"/>
              </a:solidFill>
              <a:ln>
                <a:noFill/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6381750" y="230505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79818F"/>
                </a:solidFill>
              </a:ln>
            </p:spPr>
          </p:sp>
          <p:sp>
            <p:nvSpPr>
              <p:cNvPr id="42" name="Polygon 42"/>
              <p:cNvSpPr/>
              <p:nvPr/>
            </p:nvSpPr>
            <p:spPr>
              <a:xfrm>
                <a:off x="6477000" y="225742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79818F"/>
              </a:solidFill>
              <a:ln>
                <a:noFill/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7524750" y="230505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79818F"/>
                </a:solidFill>
              </a:ln>
            </p:spPr>
          </p:sp>
          <p:sp>
            <p:nvSpPr>
              <p:cNvPr id="44" name="Polygon 44"/>
              <p:cNvSpPr/>
              <p:nvPr/>
            </p:nvSpPr>
            <p:spPr>
              <a:xfrm>
                <a:off x="7620000" y="2257425"/>
                <a:ext cx="762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0">
                    <a:moveTo>
                      <a:pt x="76200" y="47625"/>
                    </a:moveTo>
                    <a:lnTo>
                      <a:pt x="0" y="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79818F"/>
              </a:solidFill>
              <a:ln>
                <a:noFill/>
              </a:ln>
            </p:spPr>
          </p:sp>
        </p:grpSp>
        <p:sp>
          <p:nvSpPr>
            <p:cNvPr id="46" name="Rectangle 46"/>
            <p:cNvSpPr/>
            <p:nvPr/>
          </p:nvSpPr>
          <p:spPr>
            <a:xfrm>
              <a:off x="457200" y="2781300"/>
              <a:ext cx="7905750" cy="628650"/>
            </a:xfrm>
            <a:prstGeom prst="roundRect">
              <a:avLst>
                <a:gd name="adj" fmla="val 12121"/>
              </a:avLst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57200" y="2781300"/>
              <a:ext cx="38100" cy="62865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9704" y="2895600"/>
              <a:ext cx="1743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丢帧点必须在 GMC 之下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0466" y="3168650"/>
              <a:ext cx="56323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GMC 丢一帧 ⇒ 其后每帧都失配；NPU 跳过一帧只损失一个检测 —— 让推理跳、让 GMC 完整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2247" y="3530600"/>
              <a:ext cx="5162550" cy="4583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上游接口：push() 永不阻塞 / collect() 线程安全　·　NPU 两服务可乱序完成</a:t>
              </a:r>
              <a:b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交付：libmosaic_pipeline.a（主机 + aarch64 交叉均纯 C 编译通过，头里无任何 C++ 构造）</a:t>
              </a:r>
            </a:p>
          </p:txBody>
        </p:sp>
      </p:grpSp>
      <p:grpSp>
        <p:nvGrpSpPr>
          <p:cNvPr id="61" name="numbers-side"/>
          <p:cNvGrpSpPr/>
          <p:nvPr/>
        </p:nvGrpSpPr>
        <p:grpSpPr>
          <a:xfrm>
            <a:off x="8650986" y="1727200"/>
            <a:ext cx="1972742" cy="2542159"/>
            <a:chOff x="8650986" y="1727200"/>
            <a:chExt cx="1972742" cy="2542159"/>
          </a:xfrm>
        </p:grpSpPr>
        <p:sp>
          <p:nvSpPr>
            <p:cNvPr id="52" name="TextBox 52"/>
            <p:cNvSpPr txBox="1"/>
            <p:nvPr/>
          </p:nvSpPr>
          <p:spPr>
            <a:xfrm>
              <a:off x="8662035" y="1727200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验收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650986" y="1993900"/>
              <a:ext cx="157284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14.951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62416" y="2540000"/>
              <a:ext cx="1961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服务化 fps（e2e 79.952 ms）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50986" y="2794000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156954" y="30480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契约断言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662416" y="33401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专门踩错误路径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50986" y="351790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04554" y="377190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真缺陷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662416" y="4064000"/>
              <a:ext cx="1586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其中 2 个曾污染已报数字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457200" y="4705350"/>
            <a:ext cx="11277600" cy="1104900"/>
            <a:chOff x="457200" y="4705350"/>
            <a:chExt cx="11277600" cy="1104900"/>
          </a:xfrm>
        </p:grpSpPr>
        <p:sp>
          <p:nvSpPr>
            <p:cNvPr id="62" name="Rectangle 62"/>
            <p:cNvSpPr/>
            <p:nvPr/>
          </p:nvSpPr>
          <p:spPr>
            <a:xfrm>
              <a:off x="457200" y="4705350"/>
              <a:ext cx="11277600" cy="1104900"/>
            </a:xfrm>
            <a:prstGeom prst="rect">
              <a:avLst/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457200" y="4705350"/>
              <a:ext cx="38100" cy="110490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15899" y="4876800"/>
              <a:ext cx="2568397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契约测试要专门踩错误路径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18185" y="5200650"/>
              <a:ext cx="6369558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两个必须随库交接的认知：浅拷贝必须 clone（Mat::operator= 是浅拷贝 ⇒ 悬垂指针）</a:t>
              </a:r>
              <a:b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12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配置结构体默认值必须逐字段初始化，否则门限是栈垃圾 —— 不崩，只把变换退化成恒等，静默掉精度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67" name="Line 67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52247" y="6477000"/>
              <a:ext cx="868803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来源：MOSAIC_RK3588_20261026.md §8（库交付与根因）、§9（最终交付数字）；MOSAIC_RK3588_REPORT.md §2.5（服务拓扑与丢帧计数）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17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8295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汇报点 14 · 现状遗留问题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51937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两条战线各剩什么：主动摆出未解项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465794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每条都有板卡或实测证据；L7 / L8 是 2026-10-28 新发现的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2" name="l1"/>
          <p:cNvGrpSpPr/>
          <p:nvPr/>
        </p:nvGrpSpPr>
        <p:grpSpPr>
          <a:xfrm>
            <a:off x="457200" y="1524000"/>
            <a:ext cx="5486400" cy="1123950"/>
            <a:chOff x="457200" y="1524000"/>
            <a:chExt cx="5486400" cy="1123950"/>
          </a:xfrm>
        </p:grpSpPr>
        <p:sp>
          <p:nvSpPr>
            <p:cNvPr id="7" name="Rectangle 7"/>
            <p:cNvSpPr/>
            <p:nvPr/>
          </p:nvSpPr>
          <p:spPr>
            <a:xfrm>
              <a:off x="457200" y="1524000"/>
              <a:ext cx="5486400" cy="1123950"/>
            </a:xfrm>
            <a:prstGeom prst="roundRect">
              <a:avLst>
                <a:gd name="adj" fmla="val 6780"/>
              </a:avLst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524000"/>
              <a:ext cx="38100" cy="112395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80847" y="1695450"/>
              <a:ext cx="7274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L1 · 战线 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9323" y="1924050"/>
              <a:ext cx="1908404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零丢帧是锚定等价的前提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80847" y="2209800"/>
              <a:ext cx="296508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深缓冲已归零丢帧，但锚定等价仅当 dropped == 0</a:t>
              </a:r>
            </a:p>
          </p:txBody>
        </p:sp>
      </p:grpSp>
      <p:grpSp>
        <p:nvGrpSpPr>
          <p:cNvPr id="18" name="l2"/>
          <p:cNvGrpSpPr/>
          <p:nvPr/>
        </p:nvGrpSpPr>
        <p:grpSpPr>
          <a:xfrm>
            <a:off x="6248400" y="1524000"/>
            <a:ext cx="5486400" cy="1123950"/>
            <a:chOff x="6248400" y="1524000"/>
            <a:chExt cx="5486400" cy="1123950"/>
          </a:xfrm>
        </p:grpSpPr>
        <p:sp>
          <p:nvSpPr>
            <p:cNvPr id="13" name="Rectangle 13"/>
            <p:cNvSpPr/>
            <p:nvPr/>
          </p:nvSpPr>
          <p:spPr>
            <a:xfrm>
              <a:off x="6248400" y="1524000"/>
              <a:ext cx="5486400" cy="1123950"/>
            </a:xfrm>
            <a:prstGeom prst="roundRect">
              <a:avLst>
                <a:gd name="adj" fmla="val 6780"/>
              </a:avLst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48400" y="1524000"/>
              <a:ext cx="38100" cy="1123950"/>
            </a:xfrm>
            <a:prstGeom prst="rect">
              <a:avLst/>
            </a:prstGeom>
            <a:solidFill>
              <a:srgbClr val="B03A2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72047" y="1695450"/>
              <a:ext cx="7274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L2 · 战线 A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70523" y="1924050"/>
              <a:ext cx="1838235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GMC 吞吐必须 ≥ 相机率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72047" y="2209800"/>
              <a:ext cx="291231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25 fps ⇒ ≤40 ms/帧；step10 实测 60.8 ms 仍超</a:t>
              </a:r>
            </a:p>
          </p:txBody>
        </p:sp>
      </p:grpSp>
      <p:grpSp>
        <p:nvGrpSpPr>
          <p:cNvPr id="24" name="l3"/>
          <p:cNvGrpSpPr/>
          <p:nvPr/>
        </p:nvGrpSpPr>
        <p:grpSpPr>
          <a:xfrm>
            <a:off x="457200" y="2743200"/>
            <a:ext cx="5486400" cy="1123950"/>
            <a:chOff x="457200" y="2743200"/>
            <a:chExt cx="5486400" cy="1123950"/>
          </a:xfrm>
        </p:grpSpPr>
        <p:sp>
          <p:nvSpPr>
            <p:cNvPr id="19" name="Rectangle 19"/>
            <p:cNvSpPr/>
            <p:nvPr/>
          </p:nvSpPr>
          <p:spPr>
            <a:xfrm>
              <a:off x="457200" y="2743200"/>
              <a:ext cx="5486400" cy="1123950"/>
            </a:xfrm>
            <a:prstGeom prst="roundRect">
              <a:avLst>
                <a:gd name="adj" fmla="val 6780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7200" y="2743200"/>
              <a:ext cx="38100" cy="11239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80847" y="2914650"/>
              <a:ext cx="6030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L3 · 横切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9323" y="3143250"/>
              <a:ext cx="145785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没有领域迁移 SOP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0847" y="3429000"/>
              <a:ext cx="366544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4 个 Skill 只真实跑过 1 个场景；GT 分母 133,279 行 ≠ 文件数</a:t>
              </a:r>
            </a:p>
          </p:txBody>
        </p:sp>
      </p:grpSp>
      <p:grpSp>
        <p:nvGrpSpPr>
          <p:cNvPr id="30" name="l4"/>
          <p:cNvGrpSpPr/>
          <p:nvPr/>
        </p:nvGrpSpPr>
        <p:grpSpPr>
          <a:xfrm>
            <a:off x="6248400" y="2743200"/>
            <a:ext cx="5486400" cy="1123950"/>
            <a:chOff x="6248400" y="2743200"/>
            <a:chExt cx="5486400" cy="1123950"/>
          </a:xfrm>
        </p:grpSpPr>
        <p:sp>
          <p:nvSpPr>
            <p:cNvPr id="25" name="Rectangle 25"/>
            <p:cNvSpPr/>
            <p:nvPr/>
          </p:nvSpPr>
          <p:spPr>
            <a:xfrm>
              <a:off x="6248400" y="2743200"/>
              <a:ext cx="5486400" cy="1123950"/>
            </a:xfrm>
            <a:prstGeom prst="roundRect">
              <a:avLst>
                <a:gd name="adj" fmla="val 6780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48400" y="2743200"/>
              <a:ext cx="38100" cy="11239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72047" y="2914650"/>
              <a:ext cx="7274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L4 · 战线 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70523" y="314325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吞吐是硬件天花板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72047" y="3429000"/>
              <a:ext cx="32751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ctx 上限 2 ⇒ 天花板 ≈15.3~15.6 fps（17.51 已作废）</a:t>
              </a:r>
            </a:p>
          </p:txBody>
        </p:sp>
      </p:grpSp>
      <p:grpSp>
        <p:nvGrpSpPr>
          <p:cNvPr id="36" name="l5"/>
          <p:cNvGrpSpPr/>
          <p:nvPr/>
        </p:nvGrpSpPr>
        <p:grpSpPr>
          <a:xfrm>
            <a:off x="457200" y="3962400"/>
            <a:ext cx="5486400" cy="1123950"/>
            <a:chOff x="457200" y="3962400"/>
            <a:chExt cx="5486400" cy="1123950"/>
          </a:xfrm>
        </p:grpSpPr>
        <p:sp>
          <p:nvSpPr>
            <p:cNvPr id="31" name="Rectangle 31"/>
            <p:cNvSpPr/>
            <p:nvPr/>
          </p:nvSpPr>
          <p:spPr>
            <a:xfrm>
              <a:off x="457200" y="3962400"/>
              <a:ext cx="5486400" cy="1123950"/>
            </a:xfrm>
            <a:prstGeom prst="roundRect">
              <a:avLst>
                <a:gd name="adj" fmla="val 6780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57200" y="3962400"/>
              <a:ext cx="38100" cy="11239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0847" y="4133850"/>
              <a:ext cx="7274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L5 · 战线 B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9323" y="436245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时延账仍然不可信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0847" y="4648200"/>
              <a:ext cx="356261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PC 三套测量差 5 倍；离线测速低估 1.78×；前 300 帧是陷阱</a:t>
              </a:r>
            </a:p>
          </p:txBody>
        </p:sp>
      </p:grpSp>
      <p:grpSp>
        <p:nvGrpSpPr>
          <p:cNvPr id="42" name="l6"/>
          <p:cNvGrpSpPr/>
          <p:nvPr/>
        </p:nvGrpSpPr>
        <p:grpSpPr>
          <a:xfrm>
            <a:off x="6248400" y="3962400"/>
            <a:ext cx="5486400" cy="1123950"/>
            <a:chOff x="6248400" y="3962400"/>
            <a:chExt cx="5486400" cy="1123950"/>
          </a:xfrm>
        </p:grpSpPr>
        <p:sp>
          <p:nvSpPr>
            <p:cNvPr id="37" name="Rectangle 37"/>
            <p:cNvSpPr/>
            <p:nvPr/>
          </p:nvSpPr>
          <p:spPr>
            <a:xfrm>
              <a:off x="6248400" y="3962400"/>
              <a:ext cx="5486400" cy="1123950"/>
            </a:xfrm>
            <a:prstGeom prst="roundRect">
              <a:avLst>
                <a:gd name="adj" fmla="val 6780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48400" y="3962400"/>
              <a:ext cx="38100" cy="11239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72047" y="4133850"/>
              <a:ext cx="72749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L6 · 战线 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0523" y="4362450"/>
              <a:ext cx="139146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部署一致性是脆的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72047" y="4648200"/>
              <a:ext cx="37118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toolkit 非 bit-reproducible；NFS 不持久；位精确强制单线程</a:t>
              </a:r>
            </a:p>
          </p:txBody>
        </p:sp>
      </p:grpSp>
      <p:grpSp>
        <p:nvGrpSpPr>
          <p:cNvPr id="46" name="new-risks"/>
          <p:cNvGrpSpPr/>
          <p:nvPr/>
        </p:nvGrpSpPr>
        <p:grpSpPr>
          <a:xfrm>
            <a:off x="457200" y="5238750"/>
            <a:ext cx="11277600" cy="933450"/>
            <a:chOff x="457200" y="5238750"/>
            <a:chExt cx="11277600" cy="933450"/>
          </a:xfrm>
        </p:grpSpPr>
        <p:sp>
          <p:nvSpPr>
            <p:cNvPr id="43" name="Rectangle 43"/>
            <p:cNvSpPr/>
            <p:nvPr/>
          </p:nvSpPr>
          <p:spPr>
            <a:xfrm>
              <a:off x="457200" y="5238750"/>
              <a:ext cx="11277600" cy="933450"/>
            </a:xfrm>
            <a:prstGeom prst="rect">
              <a:avLst/>
            </a:prstGeom>
            <a:solidFill>
              <a:srgbClr val="14171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0085" y="5403850"/>
              <a:ext cx="1834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2026-10-28 新发现的两条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80466" y="5613400"/>
              <a:ext cx="7151560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C8CDD4"/>
                  </a:solidFill>
                  <a:latin typeface="+mn-lt"/>
                  <a:ea typeface="+mn-ea"/>
                  <a:cs typeface="+mn-cs"/>
                </a:rPr>
                <a:t>L7 GMC 历史锚定缺陷：消费计数 abs_counter 与物理帧号 next_id 发散 ⇒ 静默错位（无崩溃、无报错、特征照常产出）</a:t>
              </a:r>
              <a:br>
                <a:rPr lang="zh-CN" sz="1050" dirty="0">
                  <a:solidFill>
                    <a:srgbClr val="C8CDD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C8CDD4"/>
                  </a:solidFill>
                  <a:latin typeface="+mn-lt"/>
                  <a:ea typeface="+mn-ea"/>
                  <a:cs typeface="+mn-cs"/>
                </a:rPr>
                <a:t>L8 勿重试清单：--npu-core-mask 7 两次 exit=139（SIGSEGV）禁用；queue_depth 16、post_workers 2 两条负结果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47" name="Line 47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52247" y="6477000"/>
              <a:ext cx="77806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来源：memory.md §15.5 / §17.3 / §17.8 / §18.1–§18.5；MOSAIC_RK3588_20261026.md §9；gmc_net_pending.md §八·8.4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18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2443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汇报点 14 · 下一阶段重点改进方向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四条线，按收益确定性排序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591193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方向 A 与 C 命中当前主要风险且不占算力；方向 B 决定 SOP 是否真的可复制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8" name="priority"/>
          <p:cNvGrpSpPr/>
          <p:nvPr/>
        </p:nvGrpSpPr>
        <p:grpSpPr>
          <a:xfrm>
            <a:off x="439674" y="1619250"/>
            <a:ext cx="10115311" cy="991743"/>
            <a:chOff x="439674" y="1619250"/>
            <a:chExt cx="10115311" cy="991743"/>
          </a:xfrm>
        </p:grpSpPr>
        <p:sp>
          <p:nvSpPr>
            <p:cNvPr id="7" name="Line 7"/>
            <p:cNvSpPr/>
            <p:nvPr/>
          </p:nvSpPr>
          <p:spPr>
            <a:xfrm>
              <a:off x="41148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8001000" y="1619250"/>
              <a:ext cx="9525" cy="933450"/>
            </a:xfrm>
            <a:custGeom>
              <a:avLst/>
              <a:gdLst/>
              <a:ahLst/>
              <a:cxnLst/>
              <a:rect l="l" t="t" r="r" b="b"/>
              <a:pathLst>
                <a:path w="9525"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39674" y="1619250"/>
              <a:ext cx="184288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优先级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51485" y="2184400"/>
              <a:ext cx="14680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方向 A 恒等门控 GMC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2247" y="2419350"/>
              <a:ext cx="252598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命中战线 A 的 L1 + L2，收益确定、投入低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25874" y="1619250"/>
              <a:ext cx="184288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优先级 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37685" y="2184400"/>
              <a:ext cx="12592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方向 C 嵌入式集成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38447" y="2419350"/>
              <a:ext cx="19888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八项交付工作，不占算力、可并行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12074" y="1619250"/>
              <a:ext cx="184288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优先级 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23885" y="2184400"/>
              <a:ext cx="12592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方向 B 第二个场景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4647" y="2419350"/>
              <a:ext cx="233033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需长周期验证，但决定 SOP 是否可复制</a:t>
              </a:r>
            </a:p>
          </p:txBody>
        </p:sp>
      </p:grpSp>
      <p:grpSp>
        <p:nvGrpSpPr>
          <p:cNvPr id="23" name="dir-a"/>
          <p:cNvGrpSpPr/>
          <p:nvPr/>
        </p:nvGrpSpPr>
        <p:grpSpPr>
          <a:xfrm>
            <a:off x="457200" y="2781300"/>
            <a:ext cx="2590800" cy="2381250"/>
            <a:chOff x="457200" y="2781300"/>
            <a:chExt cx="2590800" cy="2381250"/>
          </a:xfrm>
        </p:grpSpPr>
        <p:sp>
          <p:nvSpPr>
            <p:cNvPr id="19" name="Rectangle 19"/>
            <p:cNvSpPr/>
            <p:nvPr/>
          </p:nvSpPr>
          <p:spPr>
            <a:xfrm>
              <a:off x="457200" y="2781300"/>
              <a:ext cx="25908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68337" y="2968765"/>
              <a:ext cx="217003" cy="217358"/>
            </a:xfrm>
            <a:custGeom>
              <a:avLst/>
              <a:gdLst/>
              <a:ahLst/>
              <a:cxnLst/>
              <a:rect l="l" t="t" r="r" b="b"/>
              <a:pathLst>
                <a:path w="217003" h="217358">
                  <a:moveTo>
                    <a:pt x="154781" y="18449"/>
                  </a:moveTo>
                  <a:cubicBezTo>
                    <a:pt x="197783" y="43278"/>
                    <a:pt x="217003" y="95214"/>
                    <a:pt x="200524" y="142055"/>
                  </a:cubicBezTo>
                  <a:cubicBezTo>
                    <a:pt x="184044" y="188897"/>
                    <a:pt x="136540" y="217358"/>
                    <a:pt x="87464" y="209793"/>
                  </a:cubicBezTo>
                  <a:cubicBezTo>
                    <a:pt x="38388" y="202228"/>
                    <a:pt x="1660" y="160782"/>
                    <a:pt x="52" y="111153"/>
                  </a:cubicBezTo>
                  <a:lnTo>
                    <a:pt x="0" y="107809"/>
                  </a:lnTo>
                  <a:lnTo>
                    <a:pt x="52" y="104466"/>
                  </a:lnTo>
                  <a:cubicBezTo>
                    <a:pt x="1227" y="68216"/>
                    <a:pt x="21348" y="35245"/>
                    <a:pt x="53047" y="17623"/>
                  </a:cubicBezTo>
                  <a:cubicBezTo>
                    <a:pt x="84747" y="0"/>
                    <a:pt x="123372" y="314"/>
                    <a:pt x="154781" y="18449"/>
                  </a:cubicBezTo>
                  <a:close/>
                  <a:moveTo>
                    <a:pt x="151757" y="59239"/>
                  </a:moveTo>
                  <a:cubicBezTo>
                    <a:pt x="147728" y="55211"/>
                    <a:pt x="141196" y="55211"/>
                    <a:pt x="137167" y="59239"/>
                  </a:cubicBezTo>
                  <a:lnTo>
                    <a:pt x="110441" y="85965"/>
                  </a:lnTo>
                  <a:lnTo>
                    <a:pt x="109585" y="86935"/>
                  </a:lnTo>
                  <a:lnTo>
                    <a:pt x="108883" y="87966"/>
                  </a:lnTo>
                  <a:cubicBezTo>
                    <a:pt x="102912" y="86254"/>
                    <a:pt x="96488" y="87321"/>
                    <a:pt x="91390" y="90871"/>
                  </a:cubicBezTo>
                  <a:cubicBezTo>
                    <a:pt x="86293" y="94421"/>
                    <a:pt x="83065" y="100078"/>
                    <a:pt x="82601" y="106272"/>
                  </a:cubicBezTo>
                  <a:lnTo>
                    <a:pt x="82550" y="107809"/>
                  </a:lnTo>
                  <a:lnTo>
                    <a:pt x="82601" y="109357"/>
                  </a:lnTo>
                  <a:cubicBezTo>
                    <a:pt x="83193" y="117211"/>
                    <a:pt x="88203" y="124044"/>
                    <a:pt x="95516" y="126969"/>
                  </a:cubicBezTo>
                  <a:cubicBezTo>
                    <a:pt x="102829" y="129894"/>
                    <a:pt x="111170" y="128402"/>
                    <a:pt x="117015" y="123122"/>
                  </a:cubicBezTo>
                  <a:cubicBezTo>
                    <a:pt x="122859" y="117842"/>
                    <a:pt x="125189" y="109696"/>
                    <a:pt x="123020" y="102124"/>
                  </a:cubicBezTo>
                  <a:cubicBezTo>
                    <a:pt x="123755" y="101689"/>
                    <a:pt x="124431" y="101162"/>
                    <a:pt x="125032" y="100555"/>
                  </a:cubicBezTo>
                  <a:lnTo>
                    <a:pt x="151757" y="73830"/>
                  </a:lnTo>
                  <a:lnTo>
                    <a:pt x="152614" y="72860"/>
                  </a:lnTo>
                  <a:cubicBezTo>
                    <a:pt x="155800" y="68752"/>
                    <a:pt x="155433" y="62915"/>
                    <a:pt x="151757" y="59239"/>
                  </a:cubicBezTo>
                  <a:close/>
                  <a:moveTo>
                    <a:pt x="103187" y="45897"/>
                  </a:moveTo>
                  <a:cubicBezTo>
                    <a:pt x="86767" y="45897"/>
                    <a:pt x="71019" y="52420"/>
                    <a:pt x="59409" y="64031"/>
                  </a:cubicBezTo>
                  <a:cubicBezTo>
                    <a:pt x="47798" y="75642"/>
                    <a:pt x="41275" y="91389"/>
                    <a:pt x="41275" y="107809"/>
                  </a:cubicBezTo>
                  <a:cubicBezTo>
                    <a:pt x="41275" y="113508"/>
                    <a:pt x="45895" y="118128"/>
                    <a:pt x="51594" y="118128"/>
                  </a:cubicBezTo>
                  <a:cubicBezTo>
                    <a:pt x="57292" y="118128"/>
                    <a:pt x="61912" y="113508"/>
                    <a:pt x="61912" y="107809"/>
                  </a:cubicBezTo>
                  <a:cubicBezTo>
                    <a:pt x="61912" y="85014"/>
                    <a:pt x="80392" y="66534"/>
                    <a:pt x="103187" y="66534"/>
                  </a:cubicBezTo>
                  <a:cubicBezTo>
                    <a:pt x="108886" y="66534"/>
                    <a:pt x="113506" y="61915"/>
                    <a:pt x="113506" y="56216"/>
                  </a:cubicBezTo>
                  <a:cubicBezTo>
                    <a:pt x="113506" y="50517"/>
                    <a:pt x="108886" y="45897"/>
                    <a:pt x="103187" y="45897"/>
                  </a:cubicBezTo>
                  <a:close/>
                </a:path>
              </a:pathLst>
            </a:custGeom>
            <a:solidFill>
              <a:srgbClr val="B03A2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448050"/>
              <a:ext cx="12757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A 恒等门控 GMC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2747" y="3721100"/>
              <a:ext cx="1746123" cy="8202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只拟合 1 个矩阵（~1.8 ms），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近恒等则跳过全部 21 拟合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+ 21 warp；PC 183→65 ms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门限待测，禁止拍脑袋定值</a:t>
              </a:r>
            </a:p>
          </p:txBody>
        </p:sp>
      </p:grpSp>
      <p:grpSp>
        <p:nvGrpSpPr>
          <p:cNvPr id="32" name="dir-b"/>
          <p:cNvGrpSpPr/>
          <p:nvPr/>
        </p:nvGrpSpPr>
        <p:grpSpPr>
          <a:xfrm>
            <a:off x="3276600" y="2781300"/>
            <a:ext cx="2590800" cy="2381250"/>
            <a:chOff x="3276600" y="2781300"/>
            <a:chExt cx="2590800" cy="2381250"/>
          </a:xfrm>
        </p:grpSpPr>
        <p:sp>
          <p:nvSpPr>
            <p:cNvPr id="24" name="Rectangle 24"/>
            <p:cNvSpPr/>
            <p:nvPr/>
          </p:nvSpPr>
          <p:spPr>
            <a:xfrm>
              <a:off x="3276600" y="2781300"/>
              <a:ext cx="25908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3487737" y="2973387"/>
              <a:ext cx="206375" cy="206375"/>
              <a:chOff x="3487737" y="2973387"/>
              <a:chExt cx="206375" cy="206375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3487737" y="3097212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27520"/>
                    </a:moveTo>
                    <a:cubicBezTo>
                      <a:pt x="0" y="12321"/>
                      <a:pt x="12321" y="0"/>
                      <a:pt x="27520" y="0"/>
                    </a:cubicBezTo>
                    <a:lnTo>
                      <a:pt x="55030" y="0"/>
                    </a:lnTo>
                    <a:cubicBezTo>
                      <a:pt x="70229" y="0"/>
                      <a:pt x="82550" y="12321"/>
                      <a:pt x="82550" y="27520"/>
                    </a:cubicBezTo>
                    <a:lnTo>
                      <a:pt x="82550" y="55030"/>
                    </a:lnTo>
                    <a:cubicBezTo>
                      <a:pt x="82550" y="70229"/>
                      <a:pt x="70229" y="82550"/>
                      <a:pt x="55030" y="82550"/>
                    </a:cubicBezTo>
                    <a:lnTo>
                      <a:pt x="27520" y="82550"/>
                    </a:lnTo>
                    <a:cubicBezTo>
                      <a:pt x="20221" y="82550"/>
                      <a:pt x="13221" y="79650"/>
                      <a:pt x="8060" y="74489"/>
                    </a:cubicBezTo>
                    <a:cubicBezTo>
                      <a:pt x="2899" y="69328"/>
                      <a:pt x="0" y="62328"/>
                      <a:pt x="0" y="55030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611562" y="3097212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27520"/>
                    </a:moveTo>
                    <a:cubicBezTo>
                      <a:pt x="0" y="20221"/>
                      <a:pt x="2899" y="13221"/>
                      <a:pt x="8060" y="8060"/>
                    </a:cubicBezTo>
                    <a:cubicBezTo>
                      <a:pt x="13221" y="2899"/>
                      <a:pt x="20221" y="0"/>
                      <a:pt x="27520" y="0"/>
                    </a:cubicBezTo>
                    <a:lnTo>
                      <a:pt x="55030" y="0"/>
                    </a:lnTo>
                    <a:cubicBezTo>
                      <a:pt x="70229" y="0"/>
                      <a:pt x="82550" y="12321"/>
                      <a:pt x="82550" y="27520"/>
                    </a:cubicBezTo>
                    <a:lnTo>
                      <a:pt x="82550" y="55030"/>
                    </a:lnTo>
                    <a:cubicBezTo>
                      <a:pt x="82550" y="70229"/>
                      <a:pt x="70229" y="82550"/>
                      <a:pt x="55030" y="82550"/>
                    </a:cubicBezTo>
                    <a:lnTo>
                      <a:pt x="27520" y="82550"/>
                    </a:lnTo>
                    <a:cubicBezTo>
                      <a:pt x="20221" y="82550"/>
                      <a:pt x="13221" y="79650"/>
                      <a:pt x="8060" y="74489"/>
                    </a:cubicBezTo>
                    <a:cubicBezTo>
                      <a:pt x="2899" y="69328"/>
                      <a:pt x="0" y="62328"/>
                      <a:pt x="0" y="55030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549650" y="2973387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27520"/>
                    </a:moveTo>
                    <a:cubicBezTo>
                      <a:pt x="0" y="12321"/>
                      <a:pt x="12321" y="0"/>
                      <a:pt x="27520" y="0"/>
                    </a:cubicBezTo>
                    <a:lnTo>
                      <a:pt x="55030" y="0"/>
                    </a:lnTo>
                    <a:cubicBezTo>
                      <a:pt x="70229" y="0"/>
                      <a:pt x="82550" y="12321"/>
                      <a:pt x="82550" y="27520"/>
                    </a:cubicBezTo>
                    <a:lnTo>
                      <a:pt x="82550" y="55030"/>
                    </a:lnTo>
                    <a:cubicBezTo>
                      <a:pt x="82550" y="70229"/>
                      <a:pt x="70229" y="82550"/>
                      <a:pt x="55030" y="82550"/>
                    </a:cubicBezTo>
                    <a:lnTo>
                      <a:pt x="27520" y="82550"/>
                    </a:lnTo>
                    <a:cubicBezTo>
                      <a:pt x="12321" y="82550"/>
                      <a:pt x="0" y="70229"/>
                      <a:pt x="0" y="55030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3518694" y="3035300"/>
                <a:ext cx="14446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82550">
                    <a:moveTo>
                      <a:pt x="72231" y="0"/>
                    </a:moveTo>
                    <a:cubicBezTo>
                      <a:pt x="66532" y="0"/>
                      <a:pt x="61912" y="4620"/>
                      <a:pt x="61912" y="10319"/>
                    </a:cubicBezTo>
                    <a:lnTo>
                      <a:pt x="61912" y="30956"/>
                    </a:lnTo>
                    <a:lnTo>
                      <a:pt x="30956" y="30956"/>
                    </a:lnTo>
                    <a:cubicBezTo>
                      <a:pt x="13982" y="30956"/>
                      <a:pt x="0" y="44938"/>
                      <a:pt x="0" y="61912"/>
                    </a:cubicBezTo>
                    <a:lnTo>
                      <a:pt x="0" y="72231"/>
                    </a:lnTo>
                    <a:cubicBezTo>
                      <a:pt x="0" y="77930"/>
                      <a:pt x="4620" y="82550"/>
                      <a:pt x="10319" y="82550"/>
                    </a:cubicBezTo>
                    <a:cubicBezTo>
                      <a:pt x="16018" y="82550"/>
                      <a:pt x="20637" y="77930"/>
                      <a:pt x="20637" y="72231"/>
                    </a:cubicBezTo>
                    <a:lnTo>
                      <a:pt x="20637" y="61912"/>
                    </a:lnTo>
                    <a:cubicBezTo>
                      <a:pt x="20637" y="56093"/>
                      <a:pt x="25136" y="51594"/>
                      <a:pt x="30956" y="51594"/>
                    </a:cubicBezTo>
                    <a:lnTo>
                      <a:pt x="113506" y="51594"/>
                    </a:lnTo>
                    <a:cubicBezTo>
                      <a:pt x="119326" y="51594"/>
                      <a:pt x="123825" y="56093"/>
                      <a:pt x="123825" y="61912"/>
                    </a:cubicBezTo>
                    <a:lnTo>
                      <a:pt x="123825" y="72231"/>
                    </a:lnTo>
                    <a:cubicBezTo>
                      <a:pt x="123825" y="77930"/>
                      <a:pt x="128444" y="82550"/>
                      <a:pt x="134143" y="82550"/>
                    </a:cubicBezTo>
                    <a:cubicBezTo>
                      <a:pt x="139842" y="82550"/>
                      <a:pt x="144462" y="77930"/>
                      <a:pt x="144462" y="72231"/>
                    </a:cubicBezTo>
                    <a:lnTo>
                      <a:pt x="144462" y="61912"/>
                    </a:lnTo>
                    <a:cubicBezTo>
                      <a:pt x="144462" y="44938"/>
                      <a:pt x="130480" y="30956"/>
                      <a:pt x="113506" y="30956"/>
                    </a:cubicBezTo>
                    <a:lnTo>
                      <a:pt x="82550" y="30956"/>
                    </a:lnTo>
                    <a:lnTo>
                      <a:pt x="82550" y="10319"/>
                    </a:lnTo>
                    <a:cubicBezTo>
                      <a:pt x="82550" y="4620"/>
                      <a:pt x="77930" y="0"/>
                      <a:pt x="72231" y="0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3460623" y="3448050"/>
              <a:ext cx="127572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B 领域迁移 SOP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462147" y="3721100"/>
              <a:ext cx="1752346" cy="6107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七步：定界 → 配置 → 官方特征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→ GT 对账 → 特征固化 → 防护网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→ 接线；验收 = 跑通第二个场景</a:t>
              </a:r>
            </a:p>
          </p:txBody>
        </p:sp>
      </p:grpSp>
      <p:grpSp>
        <p:nvGrpSpPr>
          <p:cNvPr id="39" name="dir-c"/>
          <p:cNvGrpSpPr/>
          <p:nvPr/>
        </p:nvGrpSpPr>
        <p:grpSpPr>
          <a:xfrm>
            <a:off x="6096000" y="2781300"/>
            <a:ext cx="2590800" cy="2381250"/>
            <a:chOff x="6096000" y="2781300"/>
            <a:chExt cx="2590800" cy="2381250"/>
          </a:xfrm>
        </p:grpSpPr>
        <p:sp>
          <p:nvSpPr>
            <p:cNvPr id="33" name="Rectangle 33"/>
            <p:cNvSpPr/>
            <p:nvPr/>
          </p:nvSpPr>
          <p:spPr>
            <a:xfrm>
              <a:off x="6096000" y="2781300"/>
              <a:ext cx="25908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307137" y="2973387"/>
              <a:ext cx="206374" cy="206375"/>
              <a:chOff x="6307137" y="2973387"/>
              <a:chExt cx="206374" cy="206375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348412" y="2973387"/>
                <a:ext cx="165099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165099">
                    <a:moveTo>
                      <a:pt x="0" y="37839"/>
                    </a:moveTo>
                    <a:cubicBezTo>
                      <a:pt x="0" y="16941"/>
                      <a:pt x="16941" y="0"/>
                      <a:pt x="37839" y="0"/>
                    </a:cubicBezTo>
                    <a:lnTo>
                      <a:pt x="127261" y="0"/>
                    </a:lnTo>
                    <a:cubicBezTo>
                      <a:pt x="137296" y="0"/>
                      <a:pt x="146921" y="3987"/>
                      <a:pt x="154017" y="11083"/>
                    </a:cubicBezTo>
                    <a:cubicBezTo>
                      <a:pt x="161113" y="18179"/>
                      <a:pt x="165099" y="27803"/>
                      <a:pt x="165099" y="37839"/>
                    </a:cubicBezTo>
                    <a:lnTo>
                      <a:pt x="165099" y="127261"/>
                    </a:lnTo>
                    <a:cubicBezTo>
                      <a:pt x="165099" y="137296"/>
                      <a:pt x="161113" y="146921"/>
                      <a:pt x="154017" y="154017"/>
                    </a:cubicBezTo>
                    <a:cubicBezTo>
                      <a:pt x="146921" y="161113"/>
                      <a:pt x="137296" y="165099"/>
                      <a:pt x="127261" y="165099"/>
                    </a:cubicBezTo>
                    <a:lnTo>
                      <a:pt x="37839" y="165099"/>
                    </a:lnTo>
                    <a:cubicBezTo>
                      <a:pt x="16941" y="165099"/>
                      <a:pt x="0" y="148159"/>
                      <a:pt x="0" y="127261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307137" y="3018352"/>
                <a:ext cx="162859" cy="161410"/>
              </a:xfrm>
              <a:custGeom>
                <a:avLst/>
                <a:gdLst/>
                <a:ahLst/>
                <a:cxnLst/>
                <a:rect l="l" t="t" r="r" b="b"/>
                <a:pathLst>
                  <a:path w="162859" h="161410">
                    <a:moveTo>
                      <a:pt x="0" y="27266"/>
                    </a:moveTo>
                    <a:cubicBezTo>
                      <a:pt x="0" y="15978"/>
                      <a:pt x="5500" y="8404"/>
                      <a:pt x="15623" y="2770"/>
                    </a:cubicBezTo>
                    <a:cubicBezTo>
                      <a:pt x="20603" y="0"/>
                      <a:pt x="26886" y="1793"/>
                      <a:pt x="29656" y="6773"/>
                    </a:cubicBezTo>
                    <a:cubicBezTo>
                      <a:pt x="32426" y="11754"/>
                      <a:pt x="30633" y="18037"/>
                      <a:pt x="25652" y="20807"/>
                    </a:cubicBezTo>
                    <a:cubicBezTo>
                      <a:pt x="21545" y="23087"/>
                      <a:pt x="20637" y="24336"/>
                      <a:pt x="20637" y="27266"/>
                    </a:cubicBezTo>
                    <a:lnTo>
                      <a:pt x="20637" y="130453"/>
                    </a:lnTo>
                    <a:cubicBezTo>
                      <a:pt x="20637" y="136108"/>
                      <a:pt x="25301" y="140772"/>
                      <a:pt x="30956" y="140772"/>
                    </a:cubicBezTo>
                    <a:lnTo>
                      <a:pt x="134123" y="140772"/>
                    </a:lnTo>
                    <a:cubicBezTo>
                      <a:pt x="137425" y="140772"/>
                      <a:pt x="140500" y="139183"/>
                      <a:pt x="142429" y="136572"/>
                    </a:cubicBezTo>
                    <a:lnTo>
                      <a:pt x="143100" y="135541"/>
                    </a:lnTo>
                    <a:cubicBezTo>
                      <a:pt x="144925" y="132337"/>
                      <a:pt x="148320" y="130350"/>
                      <a:pt x="152007" y="130329"/>
                    </a:cubicBezTo>
                    <a:cubicBezTo>
                      <a:pt x="155694" y="130307"/>
                      <a:pt x="159112" y="132254"/>
                      <a:pt x="160974" y="135437"/>
                    </a:cubicBezTo>
                    <a:cubicBezTo>
                      <a:pt x="162836" y="138619"/>
                      <a:pt x="162859" y="142553"/>
                      <a:pt x="161034" y="145756"/>
                    </a:cubicBezTo>
                    <a:cubicBezTo>
                      <a:pt x="155534" y="155427"/>
                      <a:pt x="145268" y="161403"/>
                      <a:pt x="134143" y="161410"/>
                    </a:cubicBezTo>
                    <a:lnTo>
                      <a:pt x="30956" y="161410"/>
                    </a:lnTo>
                    <a:cubicBezTo>
                      <a:pt x="13910" y="161410"/>
                      <a:pt x="0" y="147500"/>
                      <a:pt x="0" y="130453"/>
                    </a:cubicBezTo>
                    <a:close/>
                  </a:path>
                </a:pathLst>
              </a:custGeom>
              <a:solidFill>
                <a:srgbClr val="0F4C75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280023" y="3448050"/>
              <a:ext cx="1037017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C 嵌入式集成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81547" y="3721100"/>
              <a:ext cx="1914144" cy="8202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八项：ABI 版本化 / 契约文档 /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告警分级 / 背压参数化 / 构建对齐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/ 兼容矩阵 / 自检产品化 /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第三方验收脚本</a:t>
              </a:r>
            </a:p>
          </p:txBody>
        </p:sp>
      </p:grpSp>
      <p:grpSp>
        <p:nvGrpSpPr>
          <p:cNvPr id="44" name="dir-d"/>
          <p:cNvGrpSpPr/>
          <p:nvPr/>
        </p:nvGrpSpPr>
        <p:grpSpPr>
          <a:xfrm>
            <a:off x="8915400" y="2781300"/>
            <a:ext cx="2590800" cy="2381250"/>
            <a:chOff x="8915400" y="2781300"/>
            <a:chExt cx="2590800" cy="2381250"/>
          </a:xfrm>
        </p:grpSpPr>
        <p:sp>
          <p:nvSpPr>
            <p:cNvPr id="40" name="Rectangle 40"/>
            <p:cNvSpPr/>
            <p:nvPr/>
          </p:nvSpPr>
          <p:spPr>
            <a:xfrm>
              <a:off x="8915400" y="2781300"/>
              <a:ext cx="2590800" cy="238125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4E2DC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9126537" y="2973387"/>
              <a:ext cx="206364" cy="196056"/>
            </a:xfrm>
            <a:custGeom>
              <a:avLst/>
              <a:gdLst/>
              <a:ahLst/>
              <a:cxnLst/>
              <a:rect l="l" t="t" r="r" b="b"/>
              <a:pathLst>
                <a:path w="206364" h="196056">
                  <a:moveTo>
                    <a:pt x="103187" y="0"/>
                  </a:moveTo>
                  <a:cubicBezTo>
                    <a:pt x="108886" y="0"/>
                    <a:pt x="113506" y="4620"/>
                    <a:pt x="113506" y="10319"/>
                  </a:cubicBezTo>
                  <a:lnTo>
                    <a:pt x="113506" y="22206"/>
                  </a:lnTo>
                  <a:lnTo>
                    <a:pt x="166740" y="31080"/>
                  </a:lnTo>
                  <a:cubicBezTo>
                    <a:pt x="169357" y="31478"/>
                    <a:pt x="171713" y="32886"/>
                    <a:pt x="173303" y="35001"/>
                  </a:cubicBezTo>
                  <a:lnTo>
                    <a:pt x="173726" y="35610"/>
                  </a:lnTo>
                  <a:lnTo>
                    <a:pt x="174324" y="36662"/>
                  </a:lnTo>
                  <a:lnTo>
                    <a:pt x="205528" y="99091"/>
                  </a:lnTo>
                  <a:lnTo>
                    <a:pt x="205889" y="100061"/>
                  </a:lnTo>
                  <a:lnTo>
                    <a:pt x="206147" y="101051"/>
                  </a:lnTo>
                  <a:lnTo>
                    <a:pt x="206312" y="102083"/>
                  </a:lnTo>
                  <a:lnTo>
                    <a:pt x="206364" y="103321"/>
                  </a:lnTo>
                  <a:lnTo>
                    <a:pt x="206333" y="103951"/>
                  </a:lnTo>
                  <a:cubicBezTo>
                    <a:pt x="205939" y="126441"/>
                    <a:pt x="187593" y="144466"/>
                    <a:pt x="165099" y="144462"/>
                  </a:cubicBezTo>
                  <a:cubicBezTo>
                    <a:pt x="142304" y="144462"/>
                    <a:pt x="123825" y="125983"/>
                    <a:pt x="123825" y="103187"/>
                  </a:cubicBezTo>
                  <a:cubicBezTo>
                    <a:pt x="123826" y="101586"/>
                    <a:pt x="124201" y="100006"/>
                    <a:pt x="124918" y="98575"/>
                  </a:cubicBezTo>
                  <a:lnTo>
                    <a:pt x="149611" y="49148"/>
                  </a:lnTo>
                  <a:lnTo>
                    <a:pt x="113506" y="43132"/>
                  </a:lnTo>
                  <a:lnTo>
                    <a:pt x="113506" y="175418"/>
                  </a:lnTo>
                  <a:lnTo>
                    <a:pt x="154781" y="175418"/>
                  </a:lnTo>
                  <a:cubicBezTo>
                    <a:pt x="160480" y="175418"/>
                    <a:pt x="165099" y="180038"/>
                    <a:pt x="165099" y="185737"/>
                  </a:cubicBezTo>
                  <a:cubicBezTo>
                    <a:pt x="165099" y="191436"/>
                    <a:pt x="160480" y="196056"/>
                    <a:pt x="154781" y="196056"/>
                  </a:cubicBezTo>
                  <a:lnTo>
                    <a:pt x="51594" y="196056"/>
                  </a:lnTo>
                  <a:cubicBezTo>
                    <a:pt x="45895" y="196056"/>
                    <a:pt x="41275" y="191436"/>
                    <a:pt x="41275" y="185737"/>
                  </a:cubicBezTo>
                  <a:cubicBezTo>
                    <a:pt x="41275" y="180038"/>
                    <a:pt x="45895" y="175418"/>
                    <a:pt x="51594" y="175418"/>
                  </a:cubicBezTo>
                  <a:lnTo>
                    <a:pt x="92868" y="175418"/>
                  </a:lnTo>
                  <a:lnTo>
                    <a:pt x="92868" y="43132"/>
                  </a:lnTo>
                  <a:lnTo>
                    <a:pt x="56753" y="49148"/>
                  </a:lnTo>
                  <a:lnTo>
                    <a:pt x="81704" y="99091"/>
                  </a:lnTo>
                  <a:lnTo>
                    <a:pt x="82065" y="100061"/>
                  </a:lnTo>
                  <a:lnTo>
                    <a:pt x="82323" y="101051"/>
                  </a:lnTo>
                  <a:lnTo>
                    <a:pt x="82488" y="102083"/>
                  </a:lnTo>
                  <a:lnTo>
                    <a:pt x="82539" y="103321"/>
                  </a:lnTo>
                  <a:lnTo>
                    <a:pt x="82508" y="103951"/>
                  </a:lnTo>
                  <a:cubicBezTo>
                    <a:pt x="82114" y="126441"/>
                    <a:pt x="63768" y="144466"/>
                    <a:pt x="41275" y="144462"/>
                  </a:cubicBezTo>
                  <a:cubicBezTo>
                    <a:pt x="18479" y="144462"/>
                    <a:pt x="0" y="125983"/>
                    <a:pt x="0" y="103187"/>
                  </a:cubicBezTo>
                  <a:cubicBezTo>
                    <a:pt x="2" y="101586"/>
                    <a:pt x="376" y="100006"/>
                    <a:pt x="1094" y="98575"/>
                  </a:cubicBezTo>
                  <a:lnTo>
                    <a:pt x="32401" y="35992"/>
                  </a:lnTo>
                  <a:lnTo>
                    <a:pt x="32803" y="35362"/>
                  </a:lnTo>
                  <a:lnTo>
                    <a:pt x="33061" y="35011"/>
                  </a:lnTo>
                  <a:cubicBezTo>
                    <a:pt x="34651" y="32896"/>
                    <a:pt x="37007" y="31488"/>
                    <a:pt x="39624" y="31090"/>
                  </a:cubicBezTo>
                  <a:lnTo>
                    <a:pt x="92868" y="22196"/>
                  </a:lnTo>
                  <a:lnTo>
                    <a:pt x="92868" y="10319"/>
                  </a:lnTo>
                  <a:cubicBezTo>
                    <a:pt x="92868" y="4620"/>
                    <a:pt x="97488" y="0"/>
                    <a:pt x="103187" y="0"/>
                  </a:cubicBezTo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99423" y="3448050"/>
              <a:ext cx="103762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D f16 → int8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100947" y="3721100"/>
              <a:ext cx="1553210" cy="8202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输入侧 45.41 → 0.34 ms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（133 倍）；但 QAT 已判负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不能兼得「更准」与「INT8</a:t>
              </a:r>
              <a:b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输入延时」⇒ 维持原生 int8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457200" y="5314950"/>
            <a:ext cx="11277600" cy="857250"/>
            <a:chOff x="457200" y="5314950"/>
            <a:chExt cx="11277600" cy="857250"/>
          </a:xfrm>
        </p:grpSpPr>
        <p:sp>
          <p:nvSpPr>
            <p:cNvPr id="45" name="Rectangle 45"/>
            <p:cNvSpPr/>
            <p:nvPr/>
          </p:nvSpPr>
          <p:spPr>
            <a:xfrm>
              <a:off x="457200" y="5314950"/>
              <a:ext cx="11277600" cy="857250"/>
            </a:xfrm>
            <a:prstGeom prst="rect">
              <a:avLst/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57200" y="5314950"/>
              <a:ext cx="38100" cy="85725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6280" y="5454650"/>
              <a:ext cx="6437947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下一阶段的核心是「少算」而不是「多算」</a:t>
              </a:r>
              <a:br>
                <a:rPr lang="zh-CN" sz="15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吞吐天花板由 RKNN ctx 数与同线程串行链决定，调度侧已榨到 97.2% 占用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8566" y="5797550"/>
              <a:ext cx="85118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462"/>
                  </a:solidFill>
                  <a:latin typeface="+mn-lt"/>
                  <a:ea typeface="+mn-ea"/>
                  <a:cs typeface="+mn-cs"/>
                </a:rPr>
                <a:t>吞吐天花板由 RKNN ctx 数与同线程串行链决定，调度侧已榨到 97.2% 占用——剩下的空间只能靠减少重复计算与更好的 GMC 语义换语义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50" name="Line 50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52247" y="6477000"/>
              <a:ext cx="10766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来源：gmc_net_pending.md §八·8.4（恒等门控提案与门限待定）；§十七·17.7（Lite GMC 代价已量化）；skills/REGISTRY.md（SOP 七步）；PTQ_RK3588_int8_报告.md §21.4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19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445008" y="349250"/>
            <a:ext cx="11289792" cy="1012825"/>
            <a:chOff x="445008" y="349250"/>
            <a:chExt cx="11289792" cy="1012825"/>
          </a:xfrm>
        </p:grpSpPr>
        <p:sp>
          <p:nvSpPr>
            <p:cNvPr id="2" name="TextBox 2"/>
            <p:cNvSpPr txBox="1"/>
            <p:nvPr/>
          </p:nvSpPr>
          <p:spPr>
            <a:xfrm>
              <a:off x="451866" y="349250"/>
              <a:ext cx="19830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90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汇报点 14 · 问题闭环状态表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5008" y="565150"/>
              <a:ext cx="616305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每条问题解决到哪、还剩什么、下一步是谁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50723" y="1009650"/>
              <a:ext cx="5199593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「已做」不等于「已解」——残留项与下一步一并列出，避免过度宣称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13525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2" name="table-head"/>
          <p:cNvGrpSpPr/>
          <p:nvPr/>
        </p:nvGrpSpPr>
        <p:grpSpPr>
          <a:xfrm>
            <a:off x="452247" y="1619250"/>
            <a:ext cx="11282553" cy="219075"/>
            <a:chOff x="452247" y="1619250"/>
            <a:chExt cx="11282553" cy="219075"/>
          </a:xfrm>
        </p:grpSpPr>
        <p:sp>
          <p:nvSpPr>
            <p:cNvPr id="7" name="TextBox 7"/>
            <p:cNvSpPr txBox="1"/>
            <p:nvPr/>
          </p:nvSpPr>
          <p:spPr>
            <a:xfrm>
              <a:off x="452247" y="1619250"/>
              <a:ext cx="55579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45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遗留问题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395347" y="1619250"/>
              <a:ext cx="8317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45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本阶段做到哪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14797" y="1619250"/>
              <a:ext cx="2798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45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残留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310497" y="1619250"/>
              <a:ext cx="4178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45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下一步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457200" y="18288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9" name="row-l1"/>
          <p:cNvGrpSpPr/>
          <p:nvPr/>
        </p:nvGrpSpPr>
        <p:grpSpPr>
          <a:xfrm>
            <a:off x="451866" y="1866900"/>
            <a:ext cx="11282934" cy="676275"/>
            <a:chOff x="451866" y="1866900"/>
            <a:chExt cx="11282934" cy="676275"/>
          </a:xfrm>
        </p:grpSpPr>
        <p:sp>
          <p:nvSpPr>
            <p:cNvPr id="13" name="Line 13"/>
            <p:cNvSpPr/>
            <p:nvPr/>
          </p:nvSpPr>
          <p:spPr>
            <a:xfrm>
              <a:off x="457200" y="18669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1866" y="1987550"/>
              <a:ext cx="1078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L1 零丢帧是前提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395347" y="200025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深原始缓冲把丢帧归零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14797" y="2000250"/>
              <a:ext cx="164580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锚定等价仅当 dropped == 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10497" y="2000250"/>
              <a:ext cx="11605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方向 A1 · 优先级 1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57200" y="253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26" name="row-l2"/>
          <p:cNvGrpSpPr/>
          <p:nvPr/>
        </p:nvGrpSpPr>
        <p:grpSpPr>
          <a:xfrm>
            <a:off x="451866" y="2571750"/>
            <a:ext cx="11282934" cy="676275"/>
            <a:chOff x="451866" y="2571750"/>
            <a:chExt cx="11282934" cy="676275"/>
          </a:xfrm>
        </p:grpSpPr>
        <p:sp>
          <p:nvSpPr>
            <p:cNvPr id="20" name="Line 20"/>
            <p:cNvSpPr/>
            <p:nvPr/>
          </p:nvSpPr>
          <p:spPr>
            <a:xfrm>
              <a:off x="457200" y="25717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1866" y="2692400"/>
              <a:ext cx="11076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L2 吞吐 ≥ 相机率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395347" y="2705100"/>
              <a:ext cx="15402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step10 + 缓存 + 两级缓存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14797" y="2705100"/>
              <a:ext cx="198882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step10 60.8 ms 仍超 40 ms 红线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310497" y="2705100"/>
              <a:ext cx="14898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方向 A1 + A3 · 优先级 1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457200" y="3238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33" name="row-l3"/>
          <p:cNvGrpSpPr/>
          <p:nvPr/>
        </p:nvGrpSpPr>
        <p:grpSpPr>
          <a:xfrm>
            <a:off x="451866" y="3276600"/>
            <a:ext cx="11282934" cy="676275"/>
            <a:chOff x="451866" y="3276600"/>
            <a:chExt cx="11282934" cy="676275"/>
          </a:xfrm>
        </p:grpSpPr>
        <p:sp>
          <p:nvSpPr>
            <p:cNvPr id="27" name="Line 27"/>
            <p:cNvSpPr/>
            <p:nvPr/>
          </p:nvSpPr>
          <p:spPr>
            <a:xfrm>
              <a:off x="457200" y="32766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51866" y="3397250"/>
              <a:ext cx="1078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L3 场景不可复制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95347" y="3409950"/>
              <a:ext cx="127783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4 个 Skill + 七步 SOP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14797" y="3409950"/>
              <a:ext cx="12170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只真实跑过 1 个场景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310497" y="3409950"/>
              <a:ext cx="10800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方向 B · 优先级 3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57200" y="39433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40" name="row-l4"/>
          <p:cNvGrpSpPr/>
          <p:nvPr/>
        </p:nvGrpSpPr>
        <p:grpSpPr>
          <a:xfrm>
            <a:off x="451866" y="3981450"/>
            <a:ext cx="11282934" cy="676275"/>
            <a:chOff x="451866" y="3981450"/>
            <a:chExt cx="11282934" cy="676275"/>
          </a:xfrm>
        </p:grpSpPr>
        <p:sp>
          <p:nvSpPr>
            <p:cNvPr id="34" name="Line 34"/>
            <p:cNvSpPr/>
            <p:nvPr/>
          </p:nvSpPr>
          <p:spPr>
            <a:xfrm>
              <a:off x="457200" y="39814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51866" y="4102100"/>
              <a:ext cx="7956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L4 吞吐硬顶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95347" y="4114800"/>
              <a:ext cx="157984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服务化 + 2×worker + 背压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14797" y="4114800"/>
              <a:ext cx="177773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ctx 上限 2 ⇒ ≈15.3~15.6 fps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10497" y="4114800"/>
              <a:ext cx="16862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只能「少算」→ 回到 L1 / L2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457200" y="46482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47" name="row-l5"/>
          <p:cNvGrpSpPr/>
          <p:nvPr/>
        </p:nvGrpSpPr>
        <p:grpSpPr>
          <a:xfrm>
            <a:off x="451866" y="4686300"/>
            <a:ext cx="11282934" cy="676275"/>
            <a:chOff x="451866" y="4686300"/>
            <a:chExt cx="11282934" cy="676275"/>
          </a:xfrm>
        </p:grpSpPr>
        <p:sp>
          <p:nvSpPr>
            <p:cNvPr id="41" name="Line 41"/>
            <p:cNvSpPr/>
            <p:nvPr/>
          </p:nvSpPr>
          <p:spPr>
            <a:xfrm>
              <a:off x="457200" y="46863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51866" y="4806950"/>
              <a:ext cx="1078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L5 时延账不可信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395347" y="48196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板卡噪声底噪 + 7 臂对照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614797" y="4819650"/>
              <a:ext cx="168264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PC 三套差 5 倍；低估 1.78×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310497" y="4819650"/>
              <a:ext cx="173815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串行成本对账裁决 · 优先级 2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457200" y="53530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54" name="row-l6"/>
          <p:cNvGrpSpPr/>
          <p:nvPr/>
        </p:nvGrpSpPr>
        <p:grpSpPr>
          <a:xfrm>
            <a:off x="451866" y="5391150"/>
            <a:ext cx="11282934" cy="676275"/>
            <a:chOff x="451866" y="5391150"/>
            <a:chExt cx="11282934" cy="676275"/>
          </a:xfrm>
        </p:grpSpPr>
        <p:sp>
          <p:nvSpPr>
            <p:cNvPr id="48" name="Line 48"/>
            <p:cNvSpPr/>
            <p:nvPr/>
          </p:nvSpPr>
          <p:spPr>
            <a:xfrm>
              <a:off x="457200" y="53911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51866" y="5511800"/>
              <a:ext cx="1078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L6 部署一致性脆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395347" y="5524500"/>
              <a:ext cx="17051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部署自检 + 契约测试 42 断言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614797" y="5524500"/>
              <a:ext cx="136390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无 ABI 版本 / 契约文档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10497" y="5524500"/>
              <a:ext cx="108001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0F4C75"/>
                  </a:solidFill>
                  <a:latin typeface="+mn-lt"/>
                  <a:ea typeface="+mn-ea"/>
                  <a:cs typeface="+mn-cs"/>
                </a:rPr>
                <a:t>方向 C · 优先级 2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457200" y="60579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58" name="footer"/>
          <p:cNvGrpSpPr/>
          <p:nvPr/>
        </p:nvGrpSpPr>
        <p:grpSpPr>
          <a:xfrm>
            <a:off x="452247" y="6248400"/>
            <a:ext cx="11287506" cy="420243"/>
            <a:chOff x="452247" y="6248400"/>
            <a:chExt cx="11287506" cy="420243"/>
          </a:xfrm>
        </p:grpSpPr>
        <p:sp>
          <p:nvSpPr>
            <p:cNvPr id="55" name="TextBox 55"/>
            <p:cNvSpPr txBox="1"/>
            <p:nvPr/>
          </p:nvSpPr>
          <p:spPr>
            <a:xfrm>
              <a:off x="452247" y="6248400"/>
              <a:ext cx="419101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03A2E"/>
                  </a:solidFill>
                  <a:latin typeface="+mn-lt"/>
                  <a:ea typeface="+mn-ea"/>
                  <a:cs typeface="+mn-cs"/>
                </a:rPr>
                <a:t>另有 2026-10-28 新发现的 L7 锚定缺陷与 L8 勿重试清单，详见上一页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2247" y="6477000"/>
              <a:ext cx="778069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来源：memory.md §15.5 / §17.3 / §17.8 / §18.1–§18.5；MOSAIC_RK3588_20261026.md §9；gmc_net_pending.md §八·8.4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20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closing-head"/>
          <p:cNvGrpSpPr/>
          <p:nvPr/>
        </p:nvGrpSpPr>
        <p:grpSpPr>
          <a:xfrm>
            <a:off x="438150" y="1219200"/>
            <a:ext cx="11296650" cy="1571625"/>
            <a:chOff x="438150" y="1219200"/>
            <a:chExt cx="11296650" cy="1571625"/>
          </a:xfrm>
        </p:grpSpPr>
        <p:sp>
          <p:nvSpPr>
            <p:cNvPr id="2" name="Rectangle 2"/>
            <p:cNvSpPr/>
            <p:nvPr/>
          </p:nvSpPr>
          <p:spPr>
            <a:xfrm>
              <a:off x="457200" y="1219200"/>
              <a:ext cx="685800" cy="38100"/>
            </a:xfrm>
            <a:prstGeom prst="rect">
              <a:avLst/>
            </a:prstGeom>
            <a:solidFill>
              <a:srgbClr val="0F4C75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438150" y="1276350"/>
              <a:ext cx="5308473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谢谢聆听，敬请指正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9580" y="2000250"/>
              <a:ext cx="64160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把一条 PC 上的算法图，变成 RK3588 上可并行、可量化、可验收的实时管线</a:t>
              </a:r>
              <a:br>
                <a:rPr lang="zh-CN" sz="150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本阶段 9 个工作汇报点，全部围绕 GMC 与 NPU 这两个核心待攻克问题展开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57200" y="27813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</p:grpSp>
      <p:grpSp>
        <p:nvGrpSpPr>
          <p:cNvPr id="11" name="takeaway-1"/>
          <p:cNvGrpSpPr/>
          <p:nvPr/>
        </p:nvGrpSpPr>
        <p:grpSpPr>
          <a:xfrm>
            <a:off x="457200" y="3028950"/>
            <a:ext cx="3505200" cy="2000250"/>
            <a:chOff x="457200" y="3028950"/>
            <a:chExt cx="3505200" cy="2000250"/>
          </a:xfrm>
        </p:grpSpPr>
        <p:sp>
          <p:nvSpPr>
            <p:cNvPr id="7" name="Rectangle 7"/>
            <p:cNvSpPr/>
            <p:nvPr/>
          </p:nvSpPr>
          <p:spPr>
            <a:xfrm>
              <a:off x="457200" y="3028950"/>
              <a:ext cx="3505200" cy="2000250"/>
            </a:xfrm>
            <a:prstGeom prst="roundRect">
              <a:avLst>
                <a:gd name="adj" fmla="val 3810"/>
              </a:avLst>
            </a:prstGeom>
            <a:solidFill>
              <a:srgbClr val="F7EFE9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708025" y="3236697"/>
              <a:ext cx="233697" cy="234079"/>
            </a:xfrm>
            <a:custGeom>
              <a:avLst/>
              <a:gdLst/>
              <a:ahLst/>
              <a:cxnLst/>
              <a:rect l="l" t="t" r="r" b="b"/>
              <a:pathLst>
                <a:path w="233697" h="234079">
                  <a:moveTo>
                    <a:pt x="166688" y="19869"/>
                  </a:moveTo>
                  <a:cubicBezTo>
                    <a:pt x="212998" y="46608"/>
                    <a:pt x="233697" y="102539"/>
                    <a:pt x="215950" y="152984"/>
                  </a:cubicBezTo>
                  <a:cubicBezTo>
                    <a:pt x="198203" y="203428"/>
                    <a:pt x="147044" y="234079"/>
                    <a:pt x="94193" y="225932"/>
                  </a:cubicBezTo>
                  <a:cubicBezTo>
                    <a:pt x="41341" y="217785"/>
                    <a:pt x="1788" y="173151"/>
                    <a:pt x="56" y="119704"/>
                  </a:cubicBezTo>
                  <a:lnTo>
                    <a:pt x="0" y="116103"/>
                  </a:lnTo>
                  <a:lnTo>
                    <a:pt x="56" y="112503"/>
                  </a:lnTo>
                  <a:cubicBezTo>
                    <a:pt x="1321" y="73464"/>
                    <a:pt x="22990" y="37956"/>
                    <a:pt x="57128" y="18978"/>
                  </a:cubicBezTo>
                  <a:cubicBezTo>
                    <a:pt x="91267" y="0"/>
                    <a:pt x="132862" y="338"/>
                    <a:pt x="166688" y="19869"/>
                  </a:cubicBezTo>
                  <a:close/>
                  <a:moveTo>
                    <a:pt x="163432" y="63796"/>
                  </a:moveTo>
                  <a:cubicBezTo>
                    <a:pt x="159093" y="59458"/>
                    <a:pt x="152058" y="59458"/>
                    <a:pt x="147719" y="63796"/>
                  </a:cubicBezTo>
                  <a:lnTo>
                    <a:pt x="118937" y="92578"/>
                  </a:lnTo>
                  <a:lnTo>
                    <a:pt x="118015" y="93622"/>
                  </a:lnTo>
                  <a:lnTo>
                    <a:pt x="117259" y="94734"/>
                  </a:lnTo>
                  <a:cubicBezTo>
                    <a:pt x="110829" y="92890"/>
                    <a:pt x="103910" y="94039"/>
                    <a:pt x="98421" y="97862"/>
                  </a:cubicBezTo>
                  <a:cubicBezTo>
                    <a:pt x="92932" y="101685"/>
                    <a:pt x="89456" y="107776"/>
                    <a:pt x="88956" y="114447"/>
                  </a:cubicBezTo>
                  <a:lnTo>
                    <a:pt x="88900" y="116103"/>
                  </a:lnTo>
                  <a:lnTo>
                    <a:pt x="88956" y="117770"/>
                  </a:lnTo>
                  <a:cubicBezTo>
                    <a:pt x="89593" y="126228"/>
                    <a:pt x="94989" y="133587"/>
                    <a:pt x="102864" y="136737"/>
                  </a:cubicBezTo>
                  <a:cubicBezTo>
                    <a:pt x="110740" y="139887"/>
                    <a:pt x="119722" y="138280"/>
                    <a:pt x="126017" y="132594"/>
                  </a:cubicBezTo>
                  <a:cubicBezTo>
                    <a:pt x="132311" y="126907"/>
                    <a:pt x="134820" y="118134"/>
                    <a:pt x="132484" y="109980"/>
                  </a:cubicBezTo>
                  <a:cubicBezTo>
                    <a:pt x="133275" y="109512"/>
                    <a:pt x="134003" y="108944"/>
                    <a:pt x="134651" y="108291"/>
                  </a:cubicBezTo>
                  <a:lnTo>
                    <a:pt x="163432" y="79509"/>
                  </a:lnTo>
                  <a:lnTo>
                    <a:pt x="164354" y="78465"/>
                  </a:lnTo>
                  <a:cubicBezTo>
                    <a:pt x="167786" y="74041"/>
                    <a:pt x="167391" y="67755"/>
                    <a:pt x="163432" y="63796"/>
                  </a:cubicBezTo>
                  <a:close/>
                  <a:moveTo>
                    <a:pt x="111125" y="49428"/>
                  </a:moveTo>
                  <a:cubicBezTo>
                    <a:pt x="93442" y="49428"/>
                    <a:pt x="76483" y="56453"/>
                    <a:pt x="63979" y="68957"/>
                  </a:cubicBezTo>
                  <a:cubicBezTo>
                    <a:pt x="51475" y="81461"/>
                    <a:pt x="44450" y="98420"/>
                    <a:pt x="44450" y="116103"/>
                  </a:cubicBezTo>
                  <a:cubicBezTo>
                    <a:pt x="44450" y="122240"/>
                    <a:pt x="49425" y="127216"/>
                    <a:pt x="55563" y="127216"/>
                  </a:cubicBezTo>
                  <a:cubicBezTo>
                    <a:pt x="61700" y="127216"/>
                    <a:pt x="66675" y="122240"/>
                    <a:pt x="66675" y="116103"/>
                  </a:cubicBezTo>
                  <a:cubicBezTo>
                    <a:pt x="66675" y="91554"/>
                    <a:pt x="86576" y="71653"/>
                    <a:pt x="111125" y="71653"/>
                  </a:cubicBezTo>
                  <a:cubicBezTo>
                    <a:pt x="117263" y="71653"/>
                    <a:pt x="122238" y="66678"/>
                    <a:pt x="122238" y="60540"/>
                  </a:cubicBezTo>
                  <a:cubicBezTo>
                    <a:pt x="122238" y="54403"/>
                    <a:pt x="117263" y="49428"/>
                    <a:pt x="111125" y="49428"/>
                  </a:cubicBezTo>
                  <a:close/>
                </a:path>
              </a:pathLst>
            </a:custGeom>
            <a:solidFill>
              <a:srgbClr val="B03A2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8561" y="3670300"/>
              <a:ext cx="104393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难题一 GMC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80466" y="3949700"/>
              <a:ext cx="2190940" cy="8340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三段成本各一招：OpenCL 搬走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warp + median 的 77.4%，锚点级联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砍掉拟合的 21.6%，纯函数缓存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去掉 fit 内部的重复计算</a:t>
              </a:r>
            </a:p>
          </p:txBody>
        </p:sp>
      </p:grpSp>
      <p:grpSp>
        <p:nvGrpSpPr>
          <p:cNvPr id="16" name="takeaway-2"/>
          <p:cNvGrpSpPr/>
          <p:nvPr/>
        </p:nvGrpSpPr>
        <p:grpSpPr>
          <a:xfrm>
            <a:off x="4343400" y="3028950"/>
            <a:ext cx="3505200" cy="2000250"/>
            <a:chOff x="4343400" y="3028950"/>
            <a:chExt cx="3505200" cy="2000250"/>
          </a:xfrm>
        </p:grpSpPr>
        <p:sp>
          <p:nvSpPr>
            <p:cNvPr id="12" name="Rectangle 12"/>
            <p:cNvSpPr/>
            <p:nvPr/>
          </p:nvSpPr>
          <p:spPr>
            <a:xfrm>
              <a:off x="4343400" y="3028950"/>
              <a:ext cx="3505200" cy="2000250"/>
            </a:xfrm>
            <a:prstGeom prst="roundRect">
              <a:avLst>
                <a:gd name="adj" fmla="val 3810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4615947" y="3241675"/>
              <a:ext cx="178807" cy="226373"/>
            </a:xfrm>
            <a:custGeom>
              <a:avLst/>
              <a:gdLst/>
              <a:ahLst/>
              <a:cxnLst/>
              <a:rect l="l" t="t" r="r" b="b"/>
              <a:pathLst>
                <a:path w="178807" h="226373">
                  <a:moveTo>
                    <a:pt x="100516" y="0"/>
                  </a:moveTo>
                  <a:lnTo>
                    <a:pt x="100716" y="11"/>
                  </a:lnTo>
                  <a:lnTo>
                    <a:pt x="100894" y="22"/>
                  </a:lnTo>
                  <a:lnTo>
                    <a:pt x="101816" y="78"/>
                  </a:lnTo>
                  <a:lnTo>
                    <a:pt x="101938" y="100"/>
                  </a:lnTo>
                  <a:lnTo>
                    <a:pt x="102061" y="100"/>
                  </a:lnTo>
                  <a:lnTo>
                    <a:pt x="102483" y="200"/>
                  </a:lnTo>
                  <a:lnTo>
                    <a:pt x="103061" y="289"/>
                  </a:lnTo>
                  <a:lnTo>
                    <a:pt x="103238" y="356"/>
                  </a:lnTo>
                  <a:lnTo>
                    <a:pt x="103361" y="367"/>
                  </a:lnTo>
                  <a:lnTo>
                    <a:pt x="103683" y="489"/>
                  </a:lnTo>
                  <a:lnTo>
                    <a:pt x="104261" y="645"/>
                  </a:lnTo>
                  <a:lnTo>
                    <a:pt x="104472" y="745"/>
                  </a:lnTo>
                  <a:lnTo>
                    <a:pt x="104639" y="789"/>
                  </a:lnTo>
                  <a:lnTo>
                    <a:pt x="104950" y="945"/>
                  </a:lnTo>
                  <a:lnTo>
                    <a:pt x="105394" y="1133"/>
                  </a:lnTo>
                  <a:lnTo>
                    <a:pt x="105628" y="1267"/>
                  </a:lnTo>
                  <a:lnTo>
                    <a:pt x="105872" y="1378"/>
                  </a:lnTo>
                  <a:lnTo>
                    <a:pt x="106128" y="1545"/>
                  </a:lnTo>
                  <a:lnTo>
                    <a:pt x="106472" y="1734"/>
                  </a:lnTo>
                  <a:lnTo>
                    <a:pt x="106850" y="2000"/>
                  </a:lnTo>
                  <a:lnTo>
                    <a:pt x="107050" y="2122"/>
                  </a:lnTo>
                  <a:lnTo>
                    <a:pt x="107195" y="2256"/>
                  </a:lnTo>
                  <a:lnTo>
                    <a:pt x="107461" y="2445"/>
                  </a:lnTo>
                  <a:lnTo>
                    <a:pt x="107884" y="2823"/>
                  </a:lnTo>
                  <a:lnTo>
                    <a:pt x="108128" y="3011"/>
                  </a:lnTo>
                  <a:lnTo>
                    <a:pt x="108217" y="3123"/>
                  </a:lnTo>
                  <a:lnTo>
                    <a:pt x="108372" y="3256"/>
                  </a:lnTo>
                  <a:lnTo>
                    <a:pt x="108773" y="3712"/>
                  </a:lnTo>
                  <a:lnTo>
                    <a:pt x="109061" y="4012"/>
                  </a:lnTo>
                  <a:lnTo>
                    <a:pt x="109128" y="4112"/>
                  </a:lnTo>
                  <a:cubicBezTo>
                    <a:pt x="110462" y="5745"/>
                    <a:pt x="111306" y="7690"/>
                    <a:pt x="111551" y="9812"/>
                  </a:cubicBezTo>
                  <a:lnTo>
                    <a:pt x="111562" y="9946"/>
                  </a:lnTo>
                  <a:lnTo>
                    <a:pt x="111584" y="10401"/>
                  </a:lnTo>
                  <a:lnTo>
                    <a:pt x="111628" y="11113"/>
                  </a:lnTo>
                  <a:lnTo>
                    <a:pt x="111628" y="77788"/>
                  </a:lnTo>
                  <a:lnTo>
                    <a:pt x="167191" y="77788"/>
                  </a:lnTo>
                  <a:cubicBezTo>
                    <a:pt x="171155" y="77787"/>
                    <a:pt x="174819" y="79897"/>
                    <a:pt x="176807" y="83326"/>
                  </a:cubicBezTo>
                  <a:cubicBezTo>
                    <a:pt x="178796" y="86755"/>
                    <a:pt x="178807" y="90984"/>
                    <a:pt x="176837" y="94423"/>
                  </a:cubicBezTo>
                  <a:lnTo>
                    <a:pt x="176170" y="95434"/>
                  </a:lnTo>
                  <a:lnTo>
                    <a:pt x="87270" y="217672"/>
                  </a:lnTo>
                  <a:cubicBezTo>
                    <a:pt x="80958" y="226373"/>
                    <a:pt x="67178" y="221895"/>
                    <a:pt x="67178" y="211138"/>
                  </a:cubicBezTo>
                  <a:lnTo>
                    <a:pt x="67178" y="144463"/>
                  </a:lnTo>
                  <a:lnTo>
                    <a:pt x="11616" y="144463"/>
                  </a:lnTo>
                  <a:cubicBezTo>
                    <a:pt x="7652" y="144464"/>
                    <a:pt x="3988" y="142354"/>
                    <a:pt x="1999" y="138924"/>
                  </a:cubicBezTo>
                  <a:cubicBezTo>
                    <a:pt x="11" y="135495"/>
                    <a:pt x="0" y="131267"/>
                    <a:pt x="1970" y="127827"/>
                  </a:cubicBezTo>
                  <a:lnTo>
                    <a:pt x="2637" y="126816"/>
                  </a:lnTo>
                  <a:lnTo>
                    <a:pt x="91537" y="4578"/>
                  </a:lnTo>
                  <a:lnTo>
                    <a:pt x="91648" y="4434"/>
                  </a:lnTo>
                  <a:lnTo>
                    <a:pt x="91848" y="4167"/>
                  </a:lnTo>
                  <a:lnTo>
                    <a:pt x="92215" y="3745"/>
                  </a:lnTo>
                  <a:lnTo>
                    <a:pt x="92415" y="3500"/>
                  </a:lnTo>
                  <a:lnTo>
                    <a:pt x="92515" y="3412"/>
                  </a:lnTo>
                  <a:lnTo>
                    <a:pt x="92659" y="3256"/>
                  </a:lnTo>
                  <a:lnTo>
                    <a:pt x="93104" y="2856"/>
                  </a:lnTo>
                  <a:lnTo>
                    <a:pt x="93415" y="2567"/>
                  </a:lnTo>
                  <a:lnTo>
                    <a:pt x="93504" y="2500"/>
                  </a:lnTo>
                  <a:cubicBezTo>
                    <a:pt x="94806" y="1434"/>
                    <a:pt x="96334" y="678"/>
                    <a:pt x="97971" y="289"/>
                  </a:cubicBezTo>
                  <a:lnTo>
                    <a:pt x="98093" y="278"/>
                  </a:lnTo>
                  <a:lnTo>
                    <a:pt x="98393" y="222"/>
                  </a:lnTo>
                  <a:lnTo>
                    <a:pt x="99216" y="78"/>
                  </a:lnTo>
                  <a:lnTo>
                    <a:pt x="99338" y="67"/>
                  </a:lnTo>
                  <a:lnTo>
                    <a:pt x="99794" y="44"/>
                  </a:ln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64761" y="3670300"/>
              <a:ext cx="100151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难题二 NPU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66666" y="3949700"/>
              <a:ext cx="2164271" cy="8340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算子回退清零、弃用 FLOPs 外推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（形状决定代价）、RGA 拼图把 3 次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前向压成 1 次、同图对照把「打包」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与「量化」拆开算</a:t>
              </a:r>
            </a:p>
          </p:txBody>
        </p:sp>
      </p:grpSp>
      <p:grpSp>
        <p:nvGrpSpPr>
          <p:cNvPr id="21" name="takeaway-3"/>
          <p:cNvGrpSpPr/>
          <p:nvPr/>
        </p:nvGrpSpPr>
        <p:grpSpPr>
          <a:xfrm>
            <a:off x="8229600" y="3028950"/>
            <a:ext cx="3505200" cy="2000250"/>
            <a:chOff x="8229600" y="3028950"/>
            <a:chExt cx="3505200" cy="2000250"/>
          </a:xfrm>
        </p:grpSpPr>
        <p:sp>
          <p:nvSpPr>
            <p:cNvPr id="17" name="Rectangle 17"/>
            <p:cNvSpPr/>
            <p:nvPr/>
          </p:nvSpPr>
          <p:spPr>
            <a:xfrm>
              <a:off x="8229600" y="3028950"/>
              <a:ext cx="3505200" cy="2000250"/>
            </a:xfrm>
            <a:prstGeom prst="roundRect">
              <a:avLst>
                <a:gd name="adj" fmla="val 3810"/>
              </a:avLst>
            </a:prstGeom>
            <a:solidFill>
              <a:srgbClr val="E9EFF5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8480425" y="3241675"/>
              <a:ext cx="222251" cy="222252"/>
            </a:xfrm>
            <a:custGeom>
              <a:avLst/>
              <a:gdLst/>
              <a:ahLst/>
              <a:cxnLst/>
              <a:rect l="l" t="t" r="r" b="b"/>
              <a:pathLst>
                <a:path w="222251" h="222252">
                  <a:moveTo>
                    <a:pt x="181501" y="0"/>
                  </a:moveTo>
                  <a:cubicBezTo>
                    <a:pt x="203282" y="0"/>
                    <a:pt x="221062" y="17080"/>
                    <a:pt x="222195" y="38583"/>
                  </a:cubicBezTo>
                  <a:lnTo>
                    <a:pt x="222251" y="40750"/>
                  </a:lnTo>
                  <a:lnTo>
                    <a:pt x="222251" y="181501"/>
                  </a:lnTo>
                  <a:cubicBezTo>
                    <a:pt x="222251" y="203282"/>
                    <a:pt x="205171" y="221062"/>
                    <a:pt x="183668" y="222195"/>
                  </a:cubicBezTo>
                  <a:lnTo>
                    <a:pt x="181501" y="222251"/>
                  </a:lnTo>
                  <a:lnTo>
                    <a:pt x="40750" y="222251"/>
                  </a:lnTo>
                  <a:cubicBezTo>
                    <a:pt x="19085" y="222252"/>
                    <a:pt x="1208" y="205301"/>
                    <a:pt x="56" y="183668"/>
                  </a:cubicBezTo>
                  <a:lnTo>
                    <a:pt x="0" y="181501"/>
                  </a:lnTo>
                  <a:lnTo>
                    <a:pt x="0" y="40750"/>
                  </a:lnTo>
                  <a:cubicBezTo>
                    <a:pt x="0" y="18969"/>
                    <a:pt x="17080" y="1189"/>
                    <a:pt x="38583" y="56"/>
                  </a:cubicBezTo>
                  <a:lnTo>
                    <a:pt x="40750" y="0"/>
                  </a:lnTo>
                  <a:lnTo>
                    <a:pt x="181501" y="0"/>
                  </a:lnTo>
                  <a:close/>
                  <a:moveTo>
                    <a:pt x="152319" y="81044"/>
                  </a:moveTo>
                  <a:cubicBezTo>
                    <a:pt x="147980" y="76706"/>
                    <a:pt x="140946" y="76706"/>
                    <a:pt x="136606" y="81044"/>
                  </a:cubicBezTo>
                  <a:lnTo>
                    <a:pt x="100013" y="117626"/>
                  </a:lnTo>
                  <a:lnTo>
                    <a:pt x="85644" y="103269"/>
                  </a:lnTo>
                  <a:lnTo>
                    <a:pt x="84600" y="102346"/>
                  </a:lnTo>
                  <a:cubicBezTo>
                    <a:pt x="79964" y="98762"/>
                    <a:pt x="73342" y="99393"/>
                    <a:pt x="69467" y="103788"/>
                  </a:cubicBezTo>
                  <a:cubicBezTo>
                    <a:pt x="65592" y="108183"/>
                    <a:pt x="65795" y="114832"/>
                    <a:pt x="69931" y="118982"/>
                  </a:cubicBezTo>
                  <a:lnTo>
                    <a:pt x="92156" y="141207"/>
                  </a:lnTo>
                  <a:lnTo>
                    <a:pt x="93201" y="142129"/>
                  </a:lnTo>
                  <a:cubicBezTo>
                    <a:pt x="97625" y="145561"/>
                    <a:pt x="103910" y="145166"/>
                    <a:pt x="107869" y="141207"/>
                  </a:cubicBezTo>
                  <a:lnTo>
                    <a:pt x="152319" y="96757"/>
                  </a:lnTo>
                  <a:lnTo>
                    <a:pt x="153242" y="95712"/>
                  </a:lnTo>
                  <a:cubicBezTo>
                    <a:pt x="156673" y="91289"/>
                    <a:pt x="156278" y="85003"/>
                    <a:pt x="152319" y="81044"/>
                  </a:cubicBezTo>
                  <a:close/>
                </a:path>
              </a:pathLst>
            </a:custGeom>
            <a:solidFill>
              <a:srgbClr val="0F4C7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50961" y="3670300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171C"/>
                  </a:solidFill>
                  <a:latin typeface="+mn-lt"/>
                  <a:ea typeface="+mn-ea"/>
                  <a:cs typeface="+mn-cs"/>
                </a:rPr>
                <a:t>方法论沉淀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52866" y="3949700"/>
              <a:ext cx="1877568" cy="8340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静默失效优先于崩溃；位精确是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入场券；板卡实测纪律是地基；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空对照臂与同图对照臂是所有</a:t>
              </a:r>
              <a:b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333A45"/>
                  </a:solidFill>
                  <a:latin typeface="+mn-lt"/>
                  <a:ea typeface="+mn-ea"/>
                  <a:cs typeface="+mn-cs"/>
                </a:rPr>
                <a:t>精度结论的前提</a:t>
              </a:r>
            </a:p>
          </p:txBody>
        </p:sp>
      </p:grpSp>
      <p:grpSp>
        <p:nvGrpSpPr>
          <p:cNvPr id="25" name="next-band"/>
          <p:cNvGrpSpPr/>
          <p:nvPr/>
        </p:nvGrpSpPr>
        <p:grpSpPr>
          <a:xfrm>
            <a:off x="457200" y="5200650"/>
            <a:ext cx="11277600" cy="876300"/>
            <a:chOff x="457200" y="5200650"/>
            <a:chExt cx="11277600" cy="876300"/>
          </a:xfrm>
        </p:grpSpPr>
        <p:sp>
          <p:nvSpPr>
            <p:cNvPr id="22" name="Rectangle 22"/>
            <p:cNvSpPr/>
            <p:nvPr/>
          </p:nvSpPr>
          <p:spPr>
            <a:xfrm>
              <a:off x="457200" y="5200650"/>
              <a:ext cx="11277600" cy="876300"/>
            </a:xfrm>
            <a:prstGeom prst="rect">
              <a:avLst/>
            </a:prstGeom>
            <a:solidFill>
              <a:srgbClr val="14171C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0085" y="5384800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下一阶段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0466" y="5626100"/>
              <a:ext cx="5764720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rgbClr val="C8CDD4"/>
                  </a:solidFill>
                  <a:latin typeface="+mn-lt"/>
                  <a:ea typeface="+mn-ea"/>
                  <a:cs typeface="+mn-cs"/>
                </a:rPr>
                <a:t>方向 A 恒等门控 GMC（解硬保证与可对账的互斥）　·　方向 B 领域迁移 SOP（跑通第二个场景）</a:t>
              </a:r>
              <a:br>
                <a:rPr lang="zh-CN" sz="1050" dirty="0">
                  <a:solidFill>
                    <a:srgbClr val="C8CDD4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rgbClr val="C8CDD4"/>
                  </a:solidFill>
                  <a:latin typeface="+mn-lt"/>
                  <a:ea typeface="+mn-ea"/>
                  <a:cs typeface="+mn-cs"/>
                </a:rPr>
                <a:t>方向 C 算法库与嵌入式组集成　·　方向 D f16 → int8　——　未解项已如实列出，见 P18 / P20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452247" y="6343650"/>
            <a:ext cx="11287506" cy="324993"/>
            <a:chOff x="452247" y="6343650"/>
            <a:chExt cx="11287506" cy="324993"/>
          </a:xfrm>
        </p:grpSpPr>
        <p:sp>
          <p:nvSpPr>
            <p:cNvPr id="26" name="Line 26"/>
            <p:cNvSpPr/>
            <p:nvPr/>
          </p:nvSpPr>
          <p:spPr>
            <a:xfrm>
              <a:off x="457200" y="634365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rgbClr val="DCDCD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2247" y="6477000"/>
              <a:ext cx="500336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算法攻坚组　·　2026-10-29　·　全部数据出自 manu/memory 专题档，逐条可溯源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87890" y="6477000"/>
              <a:ext cx="45186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79818F"/>
                  </a:solidFill>
                  <a:latin typeface="+mn-lt"/>
                  <a:ea typeface="+mn-ea"/>
                  <a:cs typeface="+mn-cs"/>
                </a:rPr>
                <a:t>21 / 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ir_uav_engineering">
  <a:themeElements>
    <a:clrScheme name="ir_uav_engineering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ir_uav_engineering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r_uav_engineer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2026-10-29T09:52:12Z</dcterms:created>
  <dcterms:modified xsi:type="dcterms:W3CDTF">2026-10-29T09:52:12Z</dcterms:modified>
  <cp:category/>
  <cp:contentStatus/>
</cp:coreProperties>
</file>