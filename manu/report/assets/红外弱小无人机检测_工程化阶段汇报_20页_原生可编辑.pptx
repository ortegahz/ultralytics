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r_uav_engineer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r_uav_engineer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kicker"/>
          <p:cNvGrpSpPr/>
          <p:nvPr/>
        </p:nvGrpSpPr>
        <p:grpSpPr>
          <a:xfrm>
            <a:off x="451104" y="495300"/>
            <a:ext cx="2914543" cy="425196"/>
            <a:chOff x="451104" y="495300"/>
            <a:chExt cx="2914543" cy="425196"/>
          </a:xfrm>
        </p:grpSpPr>
        <p:sp>
          <p:nvSpPr>
            <p:cNvPr id="2" name="Rectangle 2"/>
            <p:cNvSpPr/>
            <p:nvPr/>
          </p:nvSpPr>
          <p:spPr>
            <a:xfrm>
              <a:off x="457200" y="495300"/>
              <a:ext cx="685800" cy="381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1104" y="685800"/>
              <a:ext cx="29145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05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RK3588 实时管线 · 工程化阶段汇报</a:t>
              </a:r>
            </a:p>
          </p:txBody>
        </p:sp>
      </p:grpSp>
      <p:grpSp>
        <p:nvGrpSpPr>
          <p:cNvPr id="6" name="title-block"/>
          <p:cNvGrpSpPr/>
          <p:nvPr/>
        </p:nvGrpSpPr>
        <p:grpSpPr>
          <a:xfrm>
            <a:off x="440436" y="1143000"/>
            <a:ext cx="5900928" cy="1197864"/>
            <a:chOff x="440436" y="1143000"/>
            <a:chExt cx="5900928" cy="1197864"/>
          </a:xfrm>
        </p:grpSpPr>
        <p:sp>
          <p:nvSpPr>
            <p:cNvPr id="5" name="TextBox 5"/>
            <p:cNvSpPr txBox="1"/>
            <p:nvPr/>
          </p:nvSpPr>
          <p:spPr>
            <a:xfrm>
              <a:off x="440436" y="1143000"/>
              <a:ext cx="5900928" cy="11978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33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复杂背景下红外弱小无人机检测</a:t>
              </a:r>
              <a:br>
                <a:rPr lang="zh-CN" sz="33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3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从“能跑”到“可交付”</a:t>
              </a:r>
            </a:p>
          </p:txBody>
        </p:sp>
      </p:grpSp>
      <p:grpSp>
        <p:nvGrpSpPr>
          <p:cNvPr id="8" name="subtitle"/>
          <p:cNvGrpSpPr/>
          <p:nvPr/>
        </p:nvGrpSpPr>
        <p:grpSpPr>
          <a:xfrm>
            <a:off x="449961" y="2279650"/>
            <a:ext cx="6122774" cy="278702"/>
            <a:chOff x="449961" y="2279650"/>
            <a:chExt cx="612277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449961" y="2279650"/>
              <a:ext cx="61227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RK3588 实时管线的构建与验证 · 两个核心待攻克问题 · 9 个工作汇报点</a:t>
              </a:r>
            </a:p>
          </p:txBody>
        </p:sp>
      </p:grpSp>
      <p:grpSp>
        <p:nvGrpSpPr>
          <p:cNvPr id="25" name="metrics"/>
          <p:cNvGrpSpPr/>
          <p:nvPr/>
        </p:nvGrpSpPr>
        <p:grpSpPr>
          <a:xfrm>
            <a:off x="438150" y="4438650"/>
            <a:ext cx="11296650" cy="1276350"/>
            <a:chOff x="438150" y="4438650"/>
            <a:chExt cx="11296650" cy="1276350"/>
          </a:xfrm>
        </p:grpSpPr>
        <p:sp>
          <p:nvSpPr>
            <p:cNvPr id="9" name="Line 9"/>
            <p:cNvSpPr/>
            <p:nvPr/>
          </p:nvSpPr>
          <p:spPr>
            <a:xfrm>
              <a:off x="457200" y="4438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048000" y="46291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867400" y="46291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686800" y="46291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8150" y="4610100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2.69×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1485" y="5251450"/>
              <a:ext cx="940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NPU 推理加速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2247" y="5505450"/>
              <a:ext cx="16458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rknn_run 151.2 → 55.5 ms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7550" y="4610100"/>
              <a:ext cx="192725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14.951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70885" y="5251450"/>
              <a:ext cx="1074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板端端到端 fps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71647" y="5505450"/>
              <a:ext cx="18898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天花板 15.60 fps，已占 97.2%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76950" y="4610100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2.45×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90285" y="52514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三级流水线提速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91047" y="5505450"/>
              <a:ext cx="17315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5.74 → 14.07 fps，逐位等价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96350" y="4610100"/>
              <a:ext cx="1726891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99.6%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09685" y="5251450"/>
              <a:ext cx="974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GMC 精度保全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10447" y="5505450"/>
              <a:ext cx="20123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拟合 22 → 6.19 次，ΔF1 −0.0003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26" name="Line 2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2247" y="6477000"/>
              <a:ext cx="36774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算法攻坚组　·　全部数据出自 manu/memory 专题档，可溯源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07651" y="6477000"/>
              <a:ext cx="29321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复杂背景下红外弱小无人机检测 · 工程化阶段汇报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821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CONTENTS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汇报结构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50875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先立两个靶子 → 两条战线各自打靶 → 公共底座 → 收口遗留与下一步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32" name="toc-parts"/>
          <p:cNvGrpSpPr/>
          <p:nvPr/>
        </p:nvGrpSpPr>
        <p:grpSpPr>
          <a:xfrm>
            <a:off x="445770" y="1587500"/>
            <a:ext cx="11294745" cy="4017328"/>
            <a:chOff x="445770" y="1587500"/>
            <a:chExt cx="11294745" cy="4017328"/>
          </a:xfrm>
        </p:grpSpPr>
        <p:sp>
          <p:nvSpPr>
            <p:cNvPr id="7" name="Line 7"/>
            <p:cNvSpPr/>
            <p:nvPr/>
          </p:nvSpPr>
          <p:spPr>
            <a:xfrm>
              <a:off x="457200" y="2152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45770" y="15875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2718" y="1663700"/>
              <a:ext cx="272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开篇 · 两个核心待攻克问题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115746" y="1727200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P03–P05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5385" y="1955800"/>
              <a:ext cx="3941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两大问题总览　·　难题一 GMC 账本　·　难题二 NPU 账本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57200" y="30099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5770" y="244475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2718" y="2520950"/>
              <a:ext cx="19279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战线 A · GMC 之战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15746" y="2584450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P06–P09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75385" y="2813050"/>
              <a:ext cx="43741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A1 OpenCL 融合内核　·　A2 Tree 锚点级联　·　A3 纯函数缓存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57200" y="3867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5770" y="33020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2718" y="3378200"/>
              <a:ext cx="18786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战线 B · NPU 之战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15746" y="3441700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P10–P14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75385" y="3670300"/>
              <a:ext cx="5464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B1 算子回退清零　·　B2 FLOPs 外推失效　·　B3 RGA 拼图　·　B4 精度账 7 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57200" y="47244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5770" y="415925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72718" y="4235450"/>
              <a:ext cx="228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公共底座 · 并行与交付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15746" y="4298950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P15–P16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75385" y="4527550"/>
              <a:ext cx="2657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并行结构三级流水线　·　端到端库交付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57200" y="5581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5770" y="50165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72718" y="5092700"/>
              <a:ext cx="4061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收口 · 遗留问题与下一阶段重点改进方向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15746" y="5156200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P17–P20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75385" y="5384800"/>
              <a:ext cx="4481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遗留问题六条　·　下一阶段四条线　·　问题闭环状态表　·　谢谢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33" name="Line 33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2247" y="6477000"/>
              <a:ext cx="29452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全部数据出自 manu/memory 专题档，逐条可溯源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8923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开篇 · 两大核心待攻克问题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管线跑起来之后，被两个问题卡住了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38297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后面的 9 个工作汇报点，全部围绕这两个问题展开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20" name="problem-gmc"/>
          <p:cNvGrpSpPr/>
          <p:nvPr/>
        </p:nvGrpSpPr>
        <p:grpSpPr>
          <a:xfrm>
            <a:off x="457200" y="1524000"/>
            <a:ext cx="5334000" cy="4648200"/>
            <a:chOff x="457200" y="1524000"/>
            <a:chExt cx="5334000" cy="4648200"/>
          </a:xfrm>
        </p:grpSpPr>
        <p:sp>
          <p:nvSpPr>
            <p:cNvPr id="7" name="Rectangle 7"/>
            <p:cNvSpPr/>
            <p:nvPr/>
          </p:nvSpPr>
          <p:spPr>
            <a:xfrm>
              <a:off x="457200" y="1524000"/>
              <a:ext cx="5334000" cy="4648200"/>
            </a:xfrm>
            <a:prstGeom prst="roundRect">
              <a:avLst>
                <a:gd name="adj" fmla="val 2049"/>
              </a:avLst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790575" y="1812875"/>
              <a:ext cx="300466" cy="300958"/>
            </a:xfrm>
            <a:custGeom>
              <a:avLst/>
              <a:gdLst/>
              <a:ahLst/>
              <a:cxnLst/>
              <a:rect l="l" t="t" r="r" b="b"/>
              <a:pathLst>
                <a:path w="300466" h="300958">
                  <a:moveTo>
                    <a:pt x="214312" y="25545"/>
                  </a:moveTo>
                  <a:cubicBezTo>
                    <a:pt x="273854" y="59924"/>
                    <a:pt x="300466" y="131835"/>
                    <a:pt x="277649" y="196693"/>
                  </a:cubicBezTo>
                  <a:cubicBezTo>
                    <a:pt x="254832" y="261550"/>
                    <a:pt x="189056" y="300958"/>
                    <a:pt x="121104" y="290484"/>
                  </a:cubicBezTo>
                  <a:cubicBezTo>
                    <a:pt x="53153" y="280009"/>
                    <a:pt x="2298" y="222622"/>
                    <a:pt x="71" y="153904"/>
                  </a:cubicBezTo>
                  <a:lnTo>
                    <a:pt x="0" y="149275"/>
                  </a:lnTo>
                  <a:lnTo>
                    <a:pt x="71" y="144646"/>
                  </a:lnTo>
                  <a:cubicBezTo>
                    <a:pt x="1699" y="94454"/>
                    <a:pt x="29558" y="48801"/>
                    <a:pt x="73450" y="24400"/>
                  </a:cubicBezTo>
                  <a:cubicBezTo>
                    <a:pt x="117343" y="0"/>
                    <a:pt x="170823" y="435"/>
                    <a:pt x="214312" y="25545"/>
                  </a:cubicBezTo>
                  <a:close/>
                  <a:moveTo>
                    <a:pt x="210126" y="82024"/>
                  </a:moveTo>
                  <a:cubicBezTo>
                    <a:pt x="204547" y="76446"/>
                    <a:pt x="195503" y="76446"/>
                    <a:pt x="189924" y="82024"/>
                  </a:cubicBezTo>
                  <a:lnTo>
                    <a:pt x="152919" y="119028"/>
                  </a:lnTo>
                  <a:lnTo>
                    <a:pt x="151733" y="120371"/>
                  </a:lnTo>
                  <a:lnTo>
                    <a:pt x="150762" y="121800"/>
                  </a:lnTo>
                  <a:cubicBezTo>
                    <a:pt x="142494" y="119429"/>
                    <a:pt x="133599" y="120906"/>
                    <a:pt x="126541" y="125822"/>
                  </a:cubicBezTo>
                  <a:cubicBezTo>
                    <a:pt x="119483" y="130738"/>
                    <a:pt x="115014" y="138569"/>
                    <a:pt x="114371" y="147146"/>
                  </a:cubicBezTo>
                  <a:lnTo>
                    <a:pt x="114300" y="149275"/>
                  </a:lnTo>
                  <a:lnTo>
                    <a:pt x="114371" y="151418"/>
                  </a:lnTo>
                  <a:cubicBezTo>
                    <a:pt x="115190" y="162293"/>
                    <a:pt x="122128" y="171754"/>
                    <a:pt x="132254" y="175804"/>
                  </a:cubicBezTo>
                  <a:cubicBezTo>
                    <a:pt x="142380" y="179854"/>
                    <a:pt x="153928" y="177788"/>
                    <a:pt x="162021" y="170477"/>
                  </a:cubicBezTo>
                  <a:cubicBezTo>
                    <a:pt x="170114" y="163166"/>
                    <a:pt x="173339" y="151887"/>
                    <a:pt x="170336" y="141403"/>
                  </a:cubicBezTo>
                  <a:cubicBezTo>
                    <a:pt x="171353" y="140801"/>
                    <a:pt x="172290" y="140071"/>
                    <a:pt x="173122" y="139231"/>
                  </a:cubicBezTo>
                  <a:lnTo>
                    <a:pt x="210126" y="102226"/>
                  </a:lnTo>
                  <a:lnTo>
                    <a:pt x="211312" y="100883"/>
                  </a:lnTo>
                  <a:cubicBezTo>
                    <a:pt x="215724" y="95196"/>
                    <a:pt x="215216" y="87114"/>
                    <a:pt x="210126" y="82024"/>
                  </a:cubicBezTo>
                  <a:close/>
                  <a:moveTo>
                    <a:pt x="142875" y="63550"/>
                  </a:moveTo>
                  <a:cubicBezTo>
                    <a:pt x="120139" y="63550"/>
                    <a:pt x="98335" y="72582"/>
                    <a:pt x="82258" y="88658"/>
                  </a:cubicBezTo>
                  <a:cubicBezTo>
                    <a:pt x="66182" y="104735"/>
                    <a:pt x="57150" y="126539"/>
                    <a:pt x="57150" y="149275"/>
                  </a:cubicBezTo>
                  <a:cubicBezTo>
                    <a:pt x="57150" y="157166"/>
                    <a:pt x="63547" y="163562"/>
                    <a:pt x="71438" y="163562"/>
                  </a:cubicBezTo>
                  <a:cubicBezTo>
                    <a:pt x="79328" y="163562"/>
                    <a:pt x="85725" y="157166"/>
                    <a:pt x="85725" y="149275"/>
                  </a:cubicBezTo>
                  <a:cubicBezTo>
                    <a:pt x="85725" y="117712"/>
                    <a:pt x="111312" y="92125"/>
                    <a:pt x="142875" y="92125"/>
                  </a:cubicBezTo>
                  <a:cubicBezTo>
                    <a:pt x="150766" y="92125"/>
                    <a:pt x="157162" y="85728"/>
                    <a:pt x="157162" y="77837"/>
                  </a:cubicBezTo>
                  <a:cubicBezTo>
                    <a:pt x="157162" y="69947"/>
                    <a:pt x="150766" y="63550"/>
                    <a:pt x="142875" y="63550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13485" y="1879600"/>
              <a:ext cx="1132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6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难题 01 · GMC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2950" y="2362200"/>
              <a:ext cx="1726891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78.5%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285" y="2984500"/>
              <a:ext cx="35729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GMC 占端到端时延（板卡 62.8 ms / 墙钟 80.0 ms）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33337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0D2C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5523" y="3505200"/>
              <a:ext cx="21088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算力开销：CPU 侧三段成本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666" y="3740150"/>
              <a:ext cx="32193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拟合 21.6% + warp 43.7% + median 33.7% ≈ 99%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523" y="4095750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延时：硬约束已顶到红线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666" y="4330700"/>
              <a:ext cx="3351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零丢帧 ⇒ GMC 吞吐 ≥ 相机率（25 fps ⇒ ≤40 ms/帧）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523" y="4686300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稳定性：零丢帧是锚定等价的前提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666" y="4921250"/>
              <a:ext cx="29931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深缓冲已把丢帧归零，但 dropped==0 不可替代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666" y="5257800"/>
              <a:ext cx="2847689" cy="700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→ A1 OpenCL 融合内核　warp+median 77.4%</a:t>
              </a:r>
              <a:b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→ A2 Tree 锚点级联　拟合 21.6%</a:t>
              </a:r>
              <a:b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→ A3 纯函数缓存　fit 内部 65.8%</a:t>
              </a:r>
            </a:p>
          </p:txBody>
        </p:sp>
      </p:grpSp>
      <p:grpSp>
        <p:nvGrpSpPr>
          <p:cNvPr id="34" name="problem-npu"/>
          <p:cNvGrpSpPr/>
          <p:nvPr/>
        </p:nvGrpSpPr>
        <p:grpSpPr>
          <a:xfrm>
            <a:off x="6400800" y="1524000"/>
            <a:ext cx="5334000" cy="4648200"/>
            <a:chOff x="6400800" y="1524000"/>
            <a:chExt cx="5334000" cy="4648200"/>
          </a:xfrm>
        </p:grpSpPr>
        <p:sp>
          <p:nvSpPr>
            <p:cNvPr id="21" name="Rectangle 21"/>
            <p:cNvSpPr/>
            <p:nvPr/>
          </p:nvSpPr>
          <p:spPr>
            <a:xfrm>
              <a:off x="6400800" y="1524000"/>
              <a:ext cx="5334000" cy="4648200"/>
            </a:xfrm>
            <a:prstGeom prst="roundRect">
              <a:avLst>
                <a:gd name="adj" fmla="val 2049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762103" y="1819275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57085" y="1879600"/>
              <a:ext cx="1099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6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难题 02 · NPU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86550" y="2362200"/>
              <a:ext cx="1326161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3 →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99885" y="2984500"/>
              <a:ext cx="3807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multi-scale 要跑 3 次前向；「编译通过」≠ 全在 NPU 上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705600" y="33337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CFDCE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99123" y="3505200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算子匹配：静默回退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00266" y="3740150"/>
              <a:ext cx="31077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 个计算算子悄悄落到 CPU，不抛异常、不改指标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99123" y="4095750"/>
              <a:ext cx="217842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效率：FLOPs 外推彻底失效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00266" y="4330700"/>
              <a:ext cx="3434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MAC 只降 6.8%，时延却降 46.5%；上限卡在空间乘积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9123" y="4686300"/>
              <a:ext cx="216988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量化：输入 dtype 是硬闸门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0266" y="4921250"/>
              <a:ext cx="36182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INT8 输入 0.34 ms vs FLOAT16 45.41 ms；QAT 已判负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0266" y="5257800"/>
              <a:ext cx="2555986" cy="700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→ B1 算子回退清零　0 个计算算子</a:t>
              </a:r>
              <a:b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→ B2 弃用 FLOPs 外推　改用 RKNN 算子表</a:t>
              </a:r>
              <a:b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→ B3 RGA 拼图 + B4 精度账　形状决定代价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35" name="Line 35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2247" y="6477000"/>
              <a:ext cx="83941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来源：manu/memory/gmc_net_pending.md §八·8.3、§九、§十七；heatmap_npu_trial0474.md §零；MOSAIC_RK3588_20261026.md §2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475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难题 01 · GMC 账本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三段成本，各对应本阶段的一招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478181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A1 与 A2 互补而非重复——step10 砍的是拟合，warp 一次没少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24" name="cost-breakdown"/>
          <p:cNvGrpSpPr/>
          <p:nvPr/>
        </p:nvGrpSpPr>
        <p:grpSpPr>
          <a:xfrm>
            <a:off x="451485" y="1612900"/>
            <a:ext cx="6673215" cy="1569593"/>
            <a:chOff x="451485" y="1612900"/>
            <a:chExt cx="6673215" cy="1569593"/>
          </a:xfrm>
        </p:grpSpPr>
        <p:sp>
          <p:nvSpPr>
            <p:cNvPr id="7" name="TextBox 7"/>
            <p:cNvSpPr txBox="1"/>
            <p:nvPr/>
          </p:nvSpPr>
          <p:spPr>
            <a:xfrm>
              <a:off x="451485" y="1612900"/>
              <a:ext cx="4207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PC 侧算力归因 · 板卡 gmc_total 62.8 ms（墙钟 80.0 ms）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57200" y="1943100"/>
              <a:ext cx="2914650" cy="2857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371850" y="1943100"/>
              <a:ext cx="2247900" cy="285750"/>
            </a:xfrm>
            <a:prstGeom prst="rect">
              <a:avLst/>
            </a:prstGeom>
            <a:solidFill>
              <a:srgbClr val="5C7A99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619750" y="1943100"/>
              <a:ext cx="1438275" cy="28575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058025" y="1943100"/>
              <a:ext cx="66675" cy="285750"/>
            </a:xfrm>
            <a:prstGeom prst="rect">
              <a:avLst/>
            </a:prstGeom>
            <a:solidFill>
              <a:srgbClr val="C9CDD4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6547" y="2019300"/>
              <a:ext cx="7925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warp 43.7%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81197" y="2019300"/>
              <a:ext cx="9103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median 33.7%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29097" y="2019300"/>
              <a:ext cx="72396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拟合 21.6%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57200" y="2457450"/>
              <a:ext cx="114300" cy="1143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2366" y="2425700"/>
              <a:ext cx="21072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warp 43.7%　21 次 warpAffine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714750" y="2457450"/>
              <a:ext cx="114300" cy="114300"/>
            </a:xfrm>
            <a:prstGeom prst="rect">
              <a:avLst/>
            </a:prstGeom>
            <a:solidFill>
              <a:srgbClr val="5C7A9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899916" y="2425700"/>
              <a:ext cx="1975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median 33.7%　21 帧全图中值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7200" y="2743200"/>
              <a:ext cx="114300" cy="11430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2366" y="2711450"/>
              <a:ext cx="1940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拟合 21.6%　22 次长基线拟合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714750" y="2743200"/>
              <a:ext cx="114300" cy="114300"/>
            </a:xfrm>
            <a:prstGeom prst="rect">
              <a:avLst/>
            </a:prstGeom>
            <a:solidFill>
              <a:srgbClr val="C9CDD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99916" y="2711450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读帧 1%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247" y="2990850"/>
              <a:ext cx="41854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缓存收益强依赖角点密度：15.7 角点 → 4.30×；291.9 角点 → 仅 1.37×</a:t>
              </a:r>
            </a:p>
          </p:txBody>
        </p:sp>
      </p:grpSp>
      <p:grpSp>
        <p:nvGrpSpPr>
          <p:cNvPr id="32" name="hard-constraints"/>
          <p:cNvGrpSpPr/>
          <p:nvPr/>
        </p:nvGrpSpPr>
        <p:grpSpPr>
          <a:xfrm>
            <a:off x="7391400" y="1524000"/>
            <a:ext cx="4343400" cy="1728343"/>
            <a:chOff x="7391400" y="1524000"/>
            <a:chExt cx="4343400" cy="1728343"/>
          </a:xfrm>
        </p:grpSpPr>
        <p:sp>
          <p:nvSpPr>
            <p:cNvPr id="25" name="Rectangle 25"/>
            <p:cNvSpPr/>
            <p:nvPr/>
          </p:nvSpPr>
          <p:spPr>
            <a:xfrm>
              <a:off x="7391400" y="1524000"/>
              <a:ext cx="4343400" cy="1714500"/>
            </a:xfrm>
            <a:prstGeom prst="roundRect">
              <a:avLst>
                <a:gd name="adj" fmla="val 4444"/>
              </a:avLst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91400" y="1524000"/>
              <a:ext cx="38100" cy="171450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13904" y="16764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两条尚未解开的硬约束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14285" y="1974850"/>
              <a:ext cx="14491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① GMC 吞吐 ≥ 相机率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15047" y="2184400"/>
              <a:ext cx="1932813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25 fps ⇒ ≤40 ms/帧</a:t>
              </a:r>
              <a:b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step10 实测 60.8~61.2 ms，仍超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14285" y="2660650"/>
              <a:ext cx="18045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② 零丢帧是锚定等价的前提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15047" y="2870200"/>
              <a:ext cx="2100834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深缓冲已把丢帧归零，但 dropped==0</a:t>
              </a:r>
              <a:b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不可被深缓冲替代</a:t>
              </a:r>
            </a:p>
          </p:txBody>
        </p:sp>
      </p:grpSp>
      <p:grpSp>
        <p:nvGrpSpPr>
          <p:cNvPr id="37" name="ammo-head"/>
          <p:cNvGrpSpPr/>
          <p:nvPr/>
        </p:nvGrpSpPr>
        <p:grpSpPr>
          <a:xfrm>
            <a:off x="452247" y="3486150"/>
            <a:ext cx="11282553" cy="191643"/>
            <a:chOff x="452247" y="3486150"/>
            <a:chExt cx="11282553" cy="191643"/>
          </a:xfrm>
        </p:grpSpPr>
        <p:sp>
          <p:nvSpPr>
            <p:cNvPr id="33" name="TextBox 33"/>
            <p:cNvSpPr txBox="1"/>
            <p:nvPr/>
          </p:nvSpPr>
          <p:spPr>
            <a:xfrm>
              <a:off x="452247" y="3486150"/>
              <a:ext cx="7574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GMC 成本段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57297" y="3486150"/>
              <a:ext cx="6937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本阶段的招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91047" y="3486150"/>
              <a:ext cx="6937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可验证设备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57200" y="36671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46" name="ammo-a1"/>
          <p:cNvGrpSpPr/>
          <p:nvPr/>
        </p:nvGrpSpPr>
        <p:grpSpPr>
          <a:xfrm>
            <a:off x="447294" y="3695700"/>
            <a:ext cx="11287506" cy="770509"/>
            <a:chOff x="447294" y="3695700"/>
            <a:chExt cx="11287506" cy="770509"/>
          </a:xfrm>
        </p:grpSpPr>
        <p:sp>
          <p:nvSpPr>
            <p:cNvPr id="38" name="Line 38"/>
            <p:cNvSpPr/>
            <p:nvPr/>
          </p:nvSpPr>
          <p:spPr>
            <a:xfrm>
              <a:off x="457200" y="36957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49961" y="3803650"/>
              <a:ext cx="13793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warp + median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7294" y="4064000"/>
              <a:ext cx="8329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77.4%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755011" y="3803650"/>
              <a:ext cx="18566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A1 OpenCL 融合内核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56916" y="4070350"/>
              <a:ext cx="1737551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warp + median + 三通道组装</a:t>
              </a:r>
              <a:b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整体搬到 GPU（Mali-G610）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91047" y="38100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可验证设备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89904" y="4019550"/>
              <a:ext cx="13371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Ch0 Max|Diff| = 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91047" y="4267200"/>
              <a:ext cx="180412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8 序列 / 136 帧 / 4345 万像素</a:t>
              </a:r>
            </a:p>
          </p:txBody>
        </p:sp>
      </p:grpSp>
      <p:grpSp>
        <p:nvGrpSpPr>
          <p:cNvPr id="55" name="ammo-a2"/>
          <p:cNvGrpSpPr/>
          <p:nvPr/>
        </p:nvGrpSpPr>
        <p:grpSpPr>
          <a:xfrm>
            <a:off x="447294" y="4514850"/>
            <a:ext cx="11287506" cy="770509"/>
            <a:chOff x="447294" y="4514850"/>
            <a:chExt cx="11287506" cy="770509"/>
          </a:xfrm>
        </p:grpSpPr>
        <p:sp>
          <p:nvSpPr>
            <p:cNvPr id="47" name="Line 47"/>
            <p:cNvSpPr/>
            <p:nvPr/>
          </p:nvSpPr>
          <p:spPr>
            <a:xfrm>
              <a:off x="457200" y="45148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49961" y="4622800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拟合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7294" y="4883150"/>
              <a:ext cx="8329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21.6%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755011" y="4622800"/>
              <a:ext cx="15796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A2 Tree 锚点级联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756916" y="4889500"/>
              <a:ext cx="2257615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只在锚点 {2,12,22,32,42} 直接拟合</a:t>
              </a:r>
              <a:b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其余 16 个 lag 由连乘推导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91047" y="46291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可验证设备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89904" y="4838700"/>
              <a:ext cx="11472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ΔF1 = −0.0003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91047" y="5086350"/>
              <a:ext cx="19599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官方 val 31,613 帧 / 25,111 GT</a:t>
              </a:r>
            </a:p>
          </p:txBody>
        </p:sp>
      </p:grpSp>
      <p:grpSp>
        <p:nvGrpSpPr>
          <p:cNvPr id="64" name="ammo-a3"/>
          <p:cNvGrpSpPr/>
          <p:nvPr/>
        </p:nvGrpSpPr>
        <p:grpSpPr>
          <a:xfrm>
            <a:off x="447294" y="5334000"/>
            <a:ext cx="11287506" cy="770509"/>
            <a:chOff x="447294" y="5334000"/>
            <a:chExt cx="11287506" cy="770509"/>
          </a:xfrm>
        </p:grpSpPr>
        <p:sp>
          <p:nvSpPr>
            <p:cNvPr id="56" name="Line 56"/>
            <p:cNvSpPr/>
            <p:nvPr/>
          </p:nvSpPr>
          <p:spPr>
            <a:xfrm>
              <a:off x="457200" y="5334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49961" y="5441950"/>
              <a:ext cx="7380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fit 内部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47294" y="5702300"/>
              <a:ext cx="8329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65.8%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755011" y="5441950"/>
              <a:ext cx="12671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A3 纯函数缓存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756916" y="5708650"/>
              <a:ext cx="2324291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resize + 角点 + 金字塔按绝对帧号缓存</a:t>
              </a:r>
              <a:b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不是只缓存金字塔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91047" y="54483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可验证设备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89904" y="5657850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fit 18.46 → 3.94 ms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091047" y="5905500"/>
              <a:ext cx="12330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MD5 与基线逐位相同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65" name="Line 65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52247" y="6477000"/>
              <a:ext cx="85060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来源：gmc_net_pending.md §八·8.3、§九·9.1/9.3、§十七·17.8；gmc_fit_cache_rk3588.md §1.2/§4/§6；opencl_fused_rk3588.md §3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4440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难题 02 · NPU 账本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61630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不是算得慢，是算的东西与算的方式都不对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630262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战线 B 的四招：算子回退清零 → 弃用 FLOPs 外推 → RGA 拼图 → 同图对照算精度账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2" name="account-matching"/>
          <p:cNvGrpSpPr/>
          <p:nvPr/>
        </p:nvGrpSpPr>
        <p:grpSpPr>
          <a:xfrm>
            <a:off x="457200" y="1524000"/>
            <a:ext cx="3505200" cy="1809750"/>
            <a:chOff x="457200" y="1524000"/>
            <a:chExt cx="3505200" cy="1809750"/>
          </a:xfrm>
        </p:grpSpPr>
        <p:sp>
          <p:nvSpPr>
            <p:cNvPr id="7" name="Rectangle 7"/>
            <p:cNvSpPr/>
            <p:nvPr/>
          </p:nvSpPr>
          <p:spPr>
            <a:xfrm>
              <a:off x="457200" y="1524000"/>
              <a:ext cx="3505200" cy="1809750"/>
            </a:xfrm>
            <a:prstGeom prst="roundRect">
              <a:avLst>
                <a:gd name="adj" fmla="val 4211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711196" y="1758949"/>
              <a:ext cx="254629" cy="254005"/>
            </a:xfrm>
            <a:custGeom>
              <a:avLst/>
              <a:gdLst/>
              <a:ahLst/>
              <a:cxnLst/>
              <a:rect l="l" t="t" r="r" b="b"/>
              <a:pathLst>
                <a:path w="254629" h="254005">
                  <a:moveTo>
                    <a:pt x="101604" y="1"/>
                  </a:moveTo>
                  <a:cubicBezTo>
                    <a:pt x="121779" y="0"/>
                    <a:pt x="138457" y="15726"/>
                    <a:pt x="139640" y="35866"/>
                  </a:cubicBezTo>
                  <a:lnTo>
                    <a:pt x="139704" y="38101"/>
                  </a:lnTo>
                  <a:lnTo>
                    <a:pt x="139704" y="50801"/>
                  </a:lnTo>
                  <a:lnTo>
                    <a:pt x="177804" y="50801"/>
                  </a:lnTo>
                  <a:cubicBezTo>
                    <a:pt x="191096" y="50797"/>
                    <a:pt x="202143" y="61041"/>
                    <a:pt x="203140" y="74296"/>
                  </a:cubicBezTo>
                  <a:lnTo>
                    <a:pt x="203204" y="76201"/>
                  </a:lnTo>
                  <a:lnTo>
                    <a:pt x="203204" y="114301"/>
                  </a:lnTo>
                  <a:lnTo>
                    <a:pt x="215904" y="114301"/>
                  </a:lnTo>
                  <a:cubicBezTo>
                    <a:pt x="236525" y="114281"/>
                    <a:pt x="253419" y="130671"/>
                    <a:pt x="254024" y="151283"/>
                  </a:cubicBezTo>
                  <a:cubicBezTo>
                    <a:pt x="254629" y="171895"/>
                    <a:pt x="238725" y="189247"/>
                    <a:pt x="218139" y="190437"/>
                  </a:cubicBezTo>
                  <a:lnTo>
                    <a:pt x="215904" y="190501"/>
                  </a:lnTo>
                  <a:lnTo>
                    <a:pt x="203204" y="190501"/>
                  </a:lnTo>
                  <a:lnTo>
                    <a:pt x="203204" y="228601"/>
                  </a:lnTo>
                  <a:cubicBezTo>
                    <a:pt x="203208" y="241893"/>
                    <a:pt x="192963" y="252940"/>
                    <a:pt x="179709" y="253937"/>
                  </a:cubicBezTo>
                  <a:lnTo>
                    <a:pt x="177804" y="254000"/>
                  </a:lnTo>
                  <a:lnTo>
                    <a:pt x="139704" y="254000"/>
                  </a:lnTo>
                  <a:cubicBezTo>
                    <a:pt x="126412" y="254005"/>
                    <a:pt x="115364" y="243760"/>
                    <a:pt x="114367" y="230506"/>
                  </a:cubicBezTo>
                  <a:lnTo>
                    <a:pt x="114304" y="228601"/>
                  </a:lnTo>
                  <a:lnTo>
                    <a:pt x="114304" y="215901"/>
                  </a:lnTo>
                  <a:cubicBezTo>
                    <a:pt x="114296" y="209181"/>
                    <a:pt x="109056" y="203630"/>
                    <a:pt x="102348" y="203237"/>
                  </a:cubicBezTo>
                  <a:cubicBezTo>
                    <a:pt x="95640" y="202843"/>
                    <a:pt x="89787" y="207742"/>
                    <a:pt x="88993" y="214415"/>
                  </a:cubicBezTo>
                  <a:lnTo>
                    <a:pt x="88904" y="215901"/>
                  </a:lnTo>
                  <a:lnTo>
                    <a:pt x="88904" y="228601"/>
                  </a:lnTo>
                  <a:cubicBezTo>
                    <a:pt x="88908" y="241893"/>
                    <a:pt x="78664" y="252940"/>
                    <a:pt x="65409" y="253937"/>
                  </a:cubicBezTo>
                  <a:lnTo>
                    <a:pt x="63504" y="254000"/>
                  </a:lnTo>
                  <a:lnTo>
                    <a:pt x="25404" y="254000"/>
                  </a:lnTo>
                  <a:cubicBezTo>
                    <a:pt x="12112" y="254005"/>
                    <a:pt x="1065" y="243760"/>
                    <a:pt x="68" y="230506"/>
                  </a:cubicBezTo>
                  <a:lnTo>
                    <a:pt x="4" y="228601"/>
                  </a:lnTo>
                  <a:lnTo>
                    <a:pt x="4" y="190501"/>
                  </a:lnTo>
                  <a:cubicBezTo>
                    <a:pt x="0" y="177209"/>
                    <a:pt x="10244" y="166161"/>
                    <a:pt x="23499" y="165164"/>
                  </a:cubicBezTo>
                  <a:lnTo>
                    <a:pt x="25404" y="165101"/>
                  </a:lnTo>
                  <a:lnTo>
                    <a:pt x="38104" y="165101"/>
                  </a:lnTo>
                  <a:cubicBezTo>
                    <a:pt x="44824" y="165093"/>
                    <a:pt x="50374" y="159853"/>
                    <a:pt x="50768" y="153145"/>
                  </a:cubicBezTo>
                  <a:cubicBezTo>
                    <a:pt x="51162" y="146437"/>
                    <a:pt x="46262" y="140583"/>
                    <a:pt x="39590" y="139790"/>
                  </a:cubicBezTo>
                  <a:lnTo>
                    <a:pt x="38104" y="139701"/>
                  </a:lnTo>
                  <a:lnTo>
                    <a:pt x="25404" y="139701"/>
                  </a:lnTo>
                  <a:cubicBezTo>
                    <a:pt x="12112" y="139705"/>
                    <a:pt x="1065" y="129460"/>
                    <a:pt x="68" y="116206"/>
                  </a:cubicBezTo>
                  <a:lnTo>
                    <a:pt x="4" y="114301"/>
                  </a:lnTo>
                  <a:lnTo>
                    <a:pt x="4" y="76201"/>
                  </a:lnTo>
                  <a:cubicBezTo>
                    <a:pt x="0" y="62909"/>
                    <a:pt x="10244" y="51861"/>
                    <a:pt x="23499" y="50864"/>
                  </a:cubicBezTo>
                  <a:lnTo>
                    <a:pt x="25404" y="50801"/>
                  </a:lnTo>
                  <a:lnTo>
                    <a:pt x="63504" y="50801"/>
                  </a:lnTo>
                  <a:lnTo>
                    <a:pt x="63504" y="38101"/>
                  </a:lnTo>
                  <a:cubicBezTo>
                    <a:pt x="63504" y="17059"/>
                    <a:pt x="80562" y="1"/>
                    <a:pt x="101604" y="1"/>
                  </a:cubicBez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942" y="21780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算子匹配：静默回退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5513" y="2540000"/>
              <a:ext cx="19393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1 个算子落 CPU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847" y="2889250"/>
              <a:ext cx="1982597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不抛异常、不改指标 ⇒「编译通过」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不等于全在 NPU 上</a:t>
              </a:r>
            </a:p>
          </p:txBody>
        </p:sp>
      </p:grpSp>
      <p:grpSp>
        <p:nvGrpSpPr>
          <p:cNvPr id="20" name="account-efficiency"/>
          <p:cNvGrpSpPr/>
          <p:nvPr/>
        </p:nvGrpSpPr>
        <p:grpSpPr>
          <a:xfrm>
            <a:off x="4343400" y="1524000"/>
            <a:ext cx="3505200" cy="1809750"/>
            <a:chOff x="4343400" y="1524000"/>
            <a:chExt cx="3505200" cy="1809750"/>
          </a:xfrm>
        </p:grpSpPr>
        <p:sp>
          <p:nvSpPr>
            <p:cNvPr id="13" name="Rectangle 13"/>
            <p:cNvSpPr/>
            <p:nvPr/>
          </p:nvSpPr>
          <p:spPr>
            <a:xfrm>
              <a:off x="4343400" y="1524000"/>
              <a:ext cx="3505200" cy="1809750"/>
            </a:xfrm>
            <a:prstGeom prst="roundRect">
              <a:avLst>
                <a:gd name="adj" fmla="val 4211"/>
              </a:avLst>
            </a:prstGeom>
            <a:solidFill>
              <a:srgbClr val="E9EFF5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597400" y="1758950"/>
              <a:ext cx="256466" cy="253999"/>
              <a:chOff x="4597400" y="1758950"/>
              <a:chExt cx="256466" cy="25399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597400" y="1758950"/>
                <a:ext cx="253999" cy="253999"/>
              </a:xfrm>
              <a:custGeom>
                <a:avLst/>
                <a:gdLst/>
                <a:ahLst/>
                <a:cxnLst/>
                <a:rect l="l" t="t" r="r" b="b"/>
                <a:pathLst>
                  <a:path w="253999" h="253999">
                    <a:moveTo>
                      <a:pt x="12700" y="0"/>
                    </a:moveTo>
                    <a:cubicBezTo>
                      <a:pt x="19714" y="0"/>
                      <a:pt x="25400" y="5686"/>
                      <a:pt x="25400" y="12700"/>
                    </a:cubicBezTo>
                    <a:lnTo>
                      <a:pt x="25400" y="228599"/>
                    </a:lnTo>
                    <a:lnTo>
                      <a:pt x="241299" y="228599"/>
                    </a:lnTo>
                    <a:cubicBezTo>
                      <a:pt x="247738" y="228600"/>
                      <a:pt x="253157" y="233419"/>
                      <a:pt x="253910" y="239814"/>
                    </a:cubicBezTo>
                    <a:lnTo>
                      <a:pt x="253999" y="241299"/>
                    </a:lnTo>
                    <a:cubicBezTo>
                      <a:pt x="253999" y="248313"/>
                      <a:pt x="248313" y="253999"/>
                      <a:pt x="241299" y="253999"/>
                    </a:cubicBezTo>
                    <a:lnTo>
                      <a:pt x="12700" y="253999"/>
                    </a:lnTo>
                    <a:cubicBezTo>
                      <a:pt x="5686" y="253999"/>
                      <a:pt x="0" y="248313"/>
                      <a:pt x="0" y="241299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644034" y="1784350"/>
                <a:ext cx="209832" cy="181640"/>
              </a:xfrm>
              <a:custGeom>
                <a:avLst/>
                <a:gdLst/>
                <a:ahLst/>
                <a:cxnLst/>
                <a:rect l="l" t="t" r="r" b="b"/>
                <a:pathLst>
                  <a:path w="209832" h="181640">
                    <a:moveTo>
                      <a:pt x="169265" y="0"/>
                    </a:moveTo>
                    <a:cubicBezTo>
                      <a:pt x="183853" y="33"/>
                      <a:pt x="197142" y="8393"/>
                      <a:pt x="203487" y="21529"/>
                    </a:cubicBezTo>
                    <a:cubicBezTo>
                      <a:pt x="209832" y="34666"/>
                      <a:pt x="208119" y="50272"/>
                      <a:pt x="199075" y="61719"/>
                    </a:cubicBezTo>
                    <a:cubicBezTo>
                      <a:pt x="190031" y="73166"/>
                      <a:pt x="175245" y="78444"/>
                      <a:pt x="160997" y="75311"/>
                    </a:cubicBezTo>
                    <a:lnTo>
                      <a:pt x="135572" y="115976"/>
                    </a:lnTo>
                    <a:cubicBezTo>
                      <a:pt x="147569" y="131049"/>
                      <a:pt x="146428" y="152705"/>
                      <a:pt x="132913" y="166433"/>
                    </a:cubicBezTo>
                    <a:cubicBezTo>
                      <a:pt x="119398" y="180160"/>
                      <a:pt x="97762" y="181640"/>
                      <a:pt x="82504" y="169880"/>
                    </a:cubicBezTo>
                    <a:cubicBezTo>
                      <a:pt x="67246" y="158121"/>
                      <a:pt x="63166" y="136822"/>
                      <a:pt x="72999" y="120256"/>
                    </a:cubicBezTo>
                    <a:lnTo>
                      <a:pt x="55499" y="99238"/>
                    </a:lnTo>
                    <a:cubicBezTo>
                      <a:pt x="38100" y="105680"/>
                      <a:pt x="18590" y="98653"/>
                      <a:pt x="9295" y="82596"/>
                    </a:cubicBezTo>
                    <a:cubicBezTo>
                      <a:pt x="0" y="66540"/>
                      <a:pt x="3622" y="46122"/>
                      <a:pt x="17874" y="34242"/>
                    </a:cubicBezTo>
                    <a:cubicBezTo>
                      <a:pt x="32125" y="22363"/>
                      <a:pt x="52862" y="22477"/>
                      <a:pt x="66982" y="34511"/>
                    </a:cubicBezTo>
                    <a:cubicBezTo>
                      <a:pt x="81103" y="46546"/>
                      <a:pt x="84502" y="67002"/>
                      <a:pt x="75031" y="82956"/>
                    </a:cubicBezTo>
                    <a:lnTo>
                      <a:pt x="92532" y="103962"/>
                    </a:lnTo>
                    <a:cubicBezTo>
                      <a:pt x="99408" y="101412"/>
                      <a:pt x="106875" y="100905"/>
                      <a:pt x="114033" y="102501"/>
                    </a:cubicBezTo>
                    <a:lnTo>
                      <a:pt x="139458" y="61823"/>
                    </a:lnTo>
                    <a:cubicBezTo>
                      <a:pt x="130350" y="50378"/>
                      <a:pt x="128599" y="34729"/>
                      <a:pt x="134951" y="21554"/>
                    </a:cubicBezTo>
                    <a:cubicBezTo>
                      <a:pt x="141304" y="8378"/>
                      <a:pt x="154638" y="2"/>
                      <a:pt x="169265" y="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565142" y="2178050"/>
              <a:ext cx="1934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效率：FLOPs 外推失效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1713" y="2540000"/>
              <a:ext cx="155919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MAC −6.8%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7047" y="2889250"/>
              <a:ext cx="1783461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时延却降 46.5%；上限卡在空间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乘积 H*W ≤ 16384</a:t>
              </a:r>
            </a:p>
          </p:txBody>
        </p:sp>
      </p:grpSp>
      <p:grpSp>
        <p:nvGrpSpPr>
          <p:cNvPr id="26" name="account-quant"/>
          <p:cNvGrpSpPr/>
          <p:nvPr/>
        </p:nvGrpSpPr>
        <p:grpSpPr>
          <a:xfrm>
            <a:off x="8229600" y="1524000"/>
            <a:ext cx="3505200" cy="1809750"/>
            <a:chOff x="8229600" y="1524000"/>
            <a:chExt cx="3505200" cy="1809750"/>
          </a:xfrm>
        </p:grpSpPr>
        <p:sp>
          <p:nvSpPr>
            <p:cNvPr id="21" name="Rectangle 21"/>
            <p:cNvSpPr/>
            <p:nvPr/>
          </p:nvSpPr>
          <p:spPr>
            <a:xfrm>
              <a:off x="8229600" y="1524000"/>
              <a:ext cx="3505200" cy="1809750"/>
            </a:xfrm>
            <a:prstGeom prst="roundRect">
              <a:avLst>
                <a:gd name="adj" fmla="val 4211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483600" y="1758950"/>
              <a:ext cx="253987" cy="241299"/>
            </a:xfrm>
            <a:custGeom>
              <a:avLst/>
              <a:gdLst/>
              <a:ahLst/>
              <a:cxnLst/>
              <a:rect l="l" t="t" r="r" b="b"/>
              <a:pathLst>
                <a:path w="253987" h="241299">
                  <a:moveTo>
                    <a:pt x="127000" y="0"/>
                  </a:moveTo>
                  <a:cubicBezTo>
                    <a:pt x="134014" y="0"/>
                    <a:pt x="139700" y="5686"/>
                    <a:pt x="139700" y="12700"/>
                  </a:cubicBezTo>
                  <a:lnTo>
                    <a:pt x="139700" y="27330"/>
                  </a:lnTo>
                  <a:lnTo>
                    <a:pt x="205219" y="38252"/>
                  </a:lnTo>
                  <a:cubicBezTo>
                    <a:pt x="208439" y="38742"/>
                    <a:pt x="211339" y="40475"/>
                    <a:pt x="213296" y="43078"/>
                  </a:cubicBezTo>
                  <a:lnTo>
                    <a:pt x="213817" y="43828"/>
                  </a:lnTo>
                  <a:lnTo>
                    <a:pt x="214553" y="45123"/>
                  </a:lnTo>
                  <a:lnTo>
                    <a:pt x="252958" y="121958"/>
                  </a:lnTo>
                  <a:lnTo>
                    <a:pt x="253402" y="123152"/>
                  </a:lnTo>
                  <a:lnTo>
                    <a:pt x="253720" y="124371"/>
                  </a:lnTo>
                  <a:lnTo>
                    <a:pt x="253923" y="125641"/>
                  </a:lnTo>
                  <a:lnTo>
                    <a:pt x="253987" y="127165"/>
                  </a:lnTo>
                  <a:lnTo>
                    <a:pt x="253949" y="127939"/>
                  </a:lnTo>
                  <a:cubicBezTo>
                    <a:pt x="253464" y="155620"/>
                    <a:pt x="230884" y="177804"/>
                    <a:pt x="203199" y="177800"/>
                  </a:cubicBezTo>
                  <a:cubicBezTo>
                    <a:pt x="175143" y="177800"/>
                    <a:pt x="152400" y="155056"/>
                    <a:pt x="152400" y="127000"/>
                  </a:cubicBezTo>
                  <a:cubicBezTo>
                    <a:pt x="152402" y="125029"/>
                    <a:pt x="152863" y="123085"/>
                    <a:pt x="153746" y="121323"/>
                  </a:cubicBezTo>
                  <a:lnTo>
                    <a:pt x="184137" y="60490"/>
                  </a:lnTo>
                  <a:lnTo>
                    <a:pt x="139700" y="53086"/>
                  </a:lnTo>
                  <a:lnTo>
                    <a:pt x="139700" y="215899"/>
                  </a:lnTo>
                  <a:lnTo>
                    <a:pt x="190500" y="215899"/>
                  </a:lnTo>
                  <a:cubicBezTo>
                    <a:pt x="197514" y="215899"/>
                    <a:pt x="203199" y="221585"/>
                    <a:pt x="203199" y="228599"/>
                  </a:cubicBezTo>
                  <a:cubicBezTo>
                    <a:pt x="203199" y="235613"/>
                    <a:pt x="197514" y="241299"/>
                    <a:pt x="190500" y="241299"/>
                  </a:cubicBezTo>
                  <a:lnTo>
                    <a:pt x="63500" y="241299"/>
                  </a:lnTo>
                  <a:cubicBezTo>
                    <a:pt x="56486" y="241299"/>
                    <a:pt x="50800" y="235613"/>
                    <a:pt x="50800" y="228599"/>
                  </a:cubicBezTo>
                  <a:cubicBezTo>
                    <a:pt x="50800" y="221585"/>
                    <a:pt x="56486" y="215899"/>
                    <a:pt x="63500" y="215899"/>
                  </a:cubicBezTo>
                  <a:lnTo>
                    <a:pt x="114300" y="215899"/>
                  </a:lnTo>
                  <a:lnTo>
                    <a:pt x="114300" y="53086"/>
                  </a:lnTo>
                  <a:lnTo>
                    <a:pt x="69850" y="60490"/>
                  </a:lnTo>
                  <a:lnTo>
                    <a:pt x="100558" y="121958"/>
                  </a:lnTo>
                  <a:lnTo>
                    <a:pt x="101003" y="123152"/>
                  </a:lnTo>
                  <a:lnTo>
                    <a:pt x="101320" y="124371"/>
                  </a:lnTo>
                  <a:lnTo>
                    <a:pt x="101524" y="125641"/>
                  </a:lnTo>
                  <a:lnTo>
                    <a:pt x="101587" y="127165"/>
                  </a:lnTo>
                  <a:lnTo>
                    <a:pt x="101549" y="127939"/>
                  </a:lnTo>
                  <a:cubicBezTo>
                    <a:pt x="101064" y="155620"/>
                    <a:pt x="78484" y="177804"/>
                    <a:pt x="50800" y="177800"/>
                  </a:cubicBezTo>
                  <a:cubicBezTo>
                    <a:pt x="22744" y="177800"/>
                    <a:pt x="0" y="155056"/>
                    <a:pt x="0" y="127000"/>
                  </a:cubicBezTo>
                  <a:cubicBezTo>
                    <a:pt x="2" y="125029"/>
                    <a:pt x="463" y="123085"/>
                    <a:pt x="1346" y="121323"/>
                  </a:cubicBezTo>
                  <a:lnTo>
                    <a:pt x="39878" y="44297"/>
                  </a:lnTo>
                  <a:lnTo>
                    <a:pt x="40373" y="43523"/>
                  </a:lnTo>
                  <a:lnTo>
                    <a:pt x="40691" y="43091"/>
                  </a:lnTo>
                  <a:cubicBezTo>
                    <a:pt x="42648" y="40487"/>
                    <a:pt x="45548" y="38755"/>
                    <a:pt x="48768" y="38265"/>
                  </a:cubicBezTo>
                  <a:lnTo>
                    <a:pt x="114300" y="27318"/>
                  </a:lnTo>
                  <a:lnTo>
                    <a:pt x="114300" y="12700"/>
                  </a:lnTo>
                  <a:cubicBezTo>
                    <a:pt x="114300" y="5686"/>
                    <a:pt x="119986" y="0"/>
                    <a:pt x="127000" y="0"/>
                  </a:cubicBezTo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51342" y="2178050"/>
              <a:ext cx="2106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量化：输入 dtype 硬闸门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47913" y="2540000"/>
              <a:ext cx="180669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INT8 0.34 ms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53247" y="2889250"/>
              <a:ext cx="1907921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vs FLOAT16 45.41 ms；QAT 不能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兼得「更准」与「INT8 输入延时」</a:t>
              </a:r>
            </a:p>
          </p:txBody>
        </p:sp>
      </p:grpSp>
      <p:grpSp>
        <p:nvGrpSpPr>
          <p:cNvPr id="31" name="ammo-head"/>
          <p:cNvGrpSpPr/>
          <p:nvPr/>
        </p:nvGrpSpPr>
        <p:grpSpPr>
          <a:xfrm>
            <a:off x="452247" y="3581400"/>
            <a:ext cx="11282553" cy="191643"/>
            <a:chOff x="452247" y="3581400"/>
            <a:chExt cx="11282553" cy="191643"/>
          </a:xfrm>
        </p:grpSpPr>
        <p:sp>
          <p:nvSpPr>
            <p:cNvPr id="27" name="TextBox 27"/>
            <p:cNvSpPr txBox="1"/>
            <p:nvPr/>
          </p:nvSpPr>
          <p:spPr>
            <a:xfrm>
              <a:off x="452247" y="3581400"/>
              <a:ext cx="8802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战线 B 的四招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57297" y="3581400"/>
              <a:ext cx="2798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43547" y="3581400"/>
              <a:ext cx="6937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可验证设备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457200" y="3743325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37" name="ammo-b1"/>
          <p:cNvGrpSpPr/>
          <p:nvPr/>
        </p:nvGrpSpPr>
        <p:grpSpPr>
          <a:xfrm>
            <a:off x="450723" y="3771900"/>
            <a:ext cx="11284077" cy="554609"/>
            <a:chOff x="450723" y="3771900"/>
            <a:chExt cx="11284077" cy="554609"/>
          </a:xfrm>
        </p:grpSpPr>
        <p:sp>
          <p:nvSpPr>
            <p:cNvPr id="32" name="Line 32"/>
            <p:cNvSpPr/>
            <p:nvPr/>
          </p:nvSpPr>
          <p:spPr>
            <a:xfrm>
              <a:off x="457200" y="37719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0723" y="3886200"/>
              <a:ext cx="131447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B1 算子回退清零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1866" y="4121150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 个计算算子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56916" y="3911600"/>
              <a:ext cx="2774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布局变换改写成算术，绕开 transpose 算子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42785" y="3898900"/>
              <a:ext cx="30193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rknn_run 151.2 → 103.7 ms（逐字节相同）</a:t>
              </a:r>
            </a:p>
          </p:txBody>
        </p:sp>
      </p:grpSp>
      <p:grpSp>
        <p:nvGrpSpPr>
          <p:cNvPr id="43" name="ammo-b2"/>
          <p:cNvGrpSpPr/>
          <p:nvPr/>
        </p:nvGrpSpPr>
        <p:grpSpPr>
          <a:xfrm>
            <a:off x="450723" y="4362450"/>
            <a:ext cx="11284077" cy="554609"/>
            <a:chOff x="450723" y="4362450"/>
            <a:chExt cx="11284077" cy="554609"/>
          </a:xfrm>
        </p:grpSpPr>
        <p:sp>
          <p:nvSpPr>
            <p:cNvPr id="38" name="Line 38"/>
            <p:cNvSpPr/>
            <p:nvPr/>
          </p:nvSpPr>
          <p:spPr>
            <a:xfrm>
              <a:off x="457200" y="43624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50723" y="4476750"/>
              <a:ext cx="16412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B2 弃用 FLOPs 外推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1866" y="4711700"/>
              <a:ext cx="1733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MAC −6.8%，时延 −46.5%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756916" y="4502150"/>
              <a:ext cx="22664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改用 RKNN 算子表定位真正的代价项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42785" y="4489450"/>
              <a:ext cx="3046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去 P0：103.7 → 55.5 ms（fps 9.5 → 17.7）</a:t>
              </a:r>
            </a:p>
          </p:txBody>
        </p:sp>
      </p:grpSp>
      <p:grpSp>
        <p:nvGrpSpPr>
          <p:cNvPr id="49" name="ammo-b3"/>
          <p:cNvGrpSpPr/>
          <p:nvPr/>
        </p:nvGrpSpPr>
        <p:grpSpPr>
          <a:xfrm>
            <a:off x="450723" y="4953000"/>
            <a:ext cx="11284077" cy="554609"/>
            <a:chOff x="450723" y="4953000"/>
            <a:chExt cx="11284077" cy="554609"/>
          </a:xfrm>
        </p:grpSpPr>
        <p:sp>
          <p:nvSpPr>
            <p:cNvPr id="44" name="Line 44"/>
            <p:cNvSpPr/>
            <p:nvPr/>
          </p:nvSpPr>
          <p:spPr>
            <a:xfrm>
              <a:off x="457200" y="4953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50723" y="5067300"/>
              <a:ext cx="17913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B3 640×640 RGA 拼图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1866" y="5302250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3 次前向 → 1 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756916" y="5092700"/>
              <a:ext cx="27260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三张画布压进一张 640×640，RGA 一次装配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42785" y="5080000"/>
              <a:ext cx="2634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装配 0.943 ms/帧，native 区 max = 0</a:t>
              </a:r>
            </a:p>
          </p:txBody>
        </p:sp>
      </p:grpSp>
      <p:grpSp>
        <p:nvGrpSpPr>
          <p:cNvPr id="55" name="ammo-b4"/>
          <p:cNvGrpSpPr/>
          <p:nvPr/>
        </p:nvGrpSpPr>
        <p:grpSpPr>
          <a:xfrm>
            <a:off x="450723" y="5543550"/>
            <a:ext cx="11284077" cy="554609"/>
            <a:chOff x="450723" y="5543550"/>
            <a:chExt cx="11284077" cy="554609"/>
          </a:xfrm>
        </p:grpSpPr>
        <p:sp>
          <p:nvSpPr>
            <p:cNvPr id="50" name="Line 50"/>
            <p:cNvSpPr/>
            <p:nvPr/>
          </p:nvSpPr>
          <p:spPr>
            <a:xfrm>
              <a:off x="457200" y="5543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50723" y="5657850"/>
              <a:ext cx="117791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B4 精度账 7 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51866" y="5892800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f16 代价 ≈ 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756916" y="568325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同图对照臂把「打包」与「量化」拆开算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42785" y="5670550"/>
              <a:ext cx="3290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打包 −0.002668 + 量化 +0.000529 = −0.002139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56" name="Line 5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52247" y="6477000"/>
              <a:ext cx="99297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来源：heatmap_npu_trial0474.md §零/§六之二；MOSAIC_RK3588_20261026.md §2/§7.1；RGA_RK3588_NOTES.md §6/§7；PTQ_RK3588_int8_报告.md §3/§21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ection-head"/>
          <p:cNvGrpSpPr/>
          <p:nvPr/>
        </p:nvGrpSpPr>
        <p:grpSpPr>
          <a:xfrm>
            <a:off x="438150" y="1485900"/>
            <a:ext cx="11296650" cy="2371725"/>
            <a:chOff x="438150" y="1485900"/>
            <a:chExt cx="11296650" cy="2371725"/>
          </a:xfrm>
        </p:grpSpPr>
        <p:sp>
          <p:nvSpPr>
            <p:cNvPr id="2" name="Rectangle 2"/>
            <p:cNvSpPr/>
            <p:nvPr/>
          </p:nvSpPr>
          <p:spPr>
            <a:xfrm>
              <a:off x="457200" y="1485900"/>
              <a:ext cx="685800" cy="381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38150" y="1638300"/>
              <a:ext cx="1250892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0436" y="2736850"/>
              <a:ext cx="38558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战线 A · GMC 之战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9961" y="3422650"/>
              <a:ext cx="53074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三段成本，各一招——把 GMC 的算力开销与延时压到板卡可交付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57200" y="3848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2" name="preview-a1"/>
          <p:cNvGrpSpPr/>
          <p:nvPr/>
        </p:nvGrpSpPr>
        <p:grpSpPr>
          <a:xfrm>
            <a:off x="449961" y="4121150"/>
            <a:ext cx="1856615" cy="1540828"/>
            <a:chOff x="449961" y="4121150"/>
            <a:chExt cx="1856615" cy="1540828"/>
          </a:xfrm>
        </p:grpSpPr>
        <p:sp>
          <p:nvSpPr>
            <p:cNvPr id="8" name="Freeform 8"/>
            <p:cNvSpPr/>
            <p:nvPr/>
          </p:nvSpPr>
          <p:spPr>
            <a:xfrm>
              <a:off x="507425" y="4121150"/>
              <a:ext cx="204349" cy="258711"/>
            </a:xfrm>
            <a:custGeom>
              <a:avLst/>
              <a:gdLst/>
              <a:ahLst/>
              <a:cxnLst/>
              <a:rect l="l" t="t" r="r" b="b"/>
              <a:pathLst>
                <a:path w="204349" h="258711">
                  <a:moveTo>
                    <a:pt x="114875" y="0"/>
                  </a:moveTo>
                  <a:lnTo>
                    <a:pt x="115103" y="13"/>
                  </a:lnTo>
                  <a:lnTo>
                    <a:pt x="115307" y="25"/>
                  </a:lnTo>
                  <a:lnTo>
                    <a:pt x="116361" y="89"/>
                  </a:lnTo>
                  <a:lnTo>
                    <a:pt x="116500" y="114"/>
                  </a:lnTo>
                  <a:lnTo>
                    <a:pt x="116640" y="114"/>
                  </a:lnTo>
                  <a:lnTo>
                    <a:pt x="117123" y="229"/>
                  </a:lnTo>
                  <a:lnTo>
                    <a:pt x="117783" y="330"/>
                  </a:lnTo>
                  <a:lnTo>
                    <a:pt x="117986" y="406"/>
                  </a:lnTo>
                  <a:lnTo>
                    <a:pt x="118126" y="419"/>
                  </a:lnTo>
                  <a:lnTo>
                    <a:pt x="118494" y="559"/>
                  </a:lnTo>
                  <a:lnTo>
                    <a:pt x="119155" y="737"/>
                  </a:lnTo>
                  <a:lnTo>
                    <a:pt x="119396" y="851"/>
                  </a:lnTo>
                  <a:lnTo>
                    <a:pt x="119586" y="902"/>
                  </a:lnTo>
                  <a:lnTo>
                    <a:pt x="119942" y="1079"/>
                  </a:lnTo>
                  <a:lnTo>
                    <a:pt x="120450" y="1295"/>
                  </a:lnTo>
                  <a:lnTo>
                    <a:pt x="120717" y="1448"/>
                  </a:lnTo>
                  <a:lnTo>
                    <a:pt x="120996" y="1575"/>
                  </a:lnTo>
                  <a:lnTo>
                    <a:pt x="121288" y="1765"/>
                  </a:lnTo>
                  <a:lnTo>
                    <a:pt x="121682" y="1981"/>
                  </a:lnTo>
                  <a:lnTo>
                    <a:pt x="122114" y="2286"/>
                  </a:lnTo>
                  <a:lnTo>
                    <a:pt x="122342" y="2426"/>
                  </a:lnTo>
                  <a:lnTo>
                    <a:pt x="122507" y="2578"/>
                  </a:lnTo>
                  <a:lnTo>
                    <a:pt x="122812" y="2794"/>
                  </a:lnTo>
                  <a:lnTo>
                    <a:pt x="123295" y="3226"/>
                  </a:lnTo>
                  <a:lnTo>
                    <a:pt x="123574" y="3442"/>
                  </a:lnTo>
                  <a:lnTo>
                    <a:pt x="123676" y="3569"/>
                  </a:lnTo>
                  <a:lnTo>
                    <a:pt x="123854" y="3721"/>
                  </a:lnTo>
                  <a:lnTo>
                    <a:pt x="124311" y="4242"/>
                  </a:lnTo>
                  <a:lnTo>
                    <a:pt x="124641" y="4585"/>
                  </a:lnTo>
                  <a:lnTo>
                    <a:pt x="124717" y="4699"/>
                  </a:lnTo>
                  <a:cubicBezTo>
                    <a:pt x="126241" y="6566"/>
                    <a:pt x="127206" y="8788"/>
                    <a:pt x="127486" y="11214"/>
                  </a:cubicBezTo>
                  <a:lnTo>
                    <a:pt x="127498" y="11366"/>
                  </a:lnTo>
                  <a:lnTo>
                    <a:pt x="127524" y="11887"/>
                  </a:lnTo>
                  <a:lnTo>
                    <a:pt x="127575" y="12700"/>
                  </a:lnTo>
                  <a:lnTo>
                    <a:pt x="127575" y="88900"/>
                  </a:lnTo>
                  <a:lnTo>
                    <a:pt x="191075" y="88900"/>
                  </a:lnTo>
                  <a:cubicBezTo>
                    <a:pt x="195605" y="88899"/>
                    <a:pt x="199792" y="91311"/>
                    <a:pt x="202064" y="95229"/>
                  </a:cubicBezTo>
                  <a:cubicBezTo>
                    <a:pt x="204337" y="99148"/>
                    <a:pt x="204349" y="103981"/>
                    <a:pt x="202098" y="107912"/>
                  </a:cubicBezTo>
                  <a:lnTo>
                    <a:pt x="201336" y="109067"/>
                  </a:lnTo>
                  <a:lnTo>
                    <a:pt x="99736" y="248767"/>
                  </a:lnTo>
                  <a:cubicBezTo>
                    <a:pt x="92523" y="258711"/>
                    <a:pt x="76775" y="253593"/>
                    <a:pt x="76775" y="241299"/>
                  </a:cubicBezTo>
                  <a:lnTo>
                    <a:pt x="76775" y="165100"/>
                  </a:lnTo>
                  <a:lnTo>
                    <a:pt x="13275" y="165100"/>
                  </a:lnTo>
                  <a:cubicBezTo>
                    <a:pt x="8745" y="165101"/>
                    <a:pt x="4557" y="162689"/>
                    <a:pt x="2285" y="158770"/>
                  </a:cubicBezTo>
                  <a:cubicBezTo>
                    <a:pt x="13" y="154851"/>
                    <a:pt x="0" y="150019"/>
                    <a:pt x="2251" y="146088"/>
                  </a:cubicBezTo>
                  <a:lnTo>
                    <a:pt x="3013" y="144932"/>
                  </a:lnTo>
                  <a:lnTo>
                    <a:pt x="104613" y="5232"/>
                  </a:lnTo>
                  <a:lnTo>
                    <a:pt x="104740" y="5067"/>
                  </a:lnTo>
                  <a:lnTo>
                    <a:pt x="104969" y="4762"/>
                  </a:lnTo>
                  <a:lnTo>
                    <a:pt x="105388" y="4280"/>
                  </a:lnTo>
                  <a:lnTo>
                    <a:pt x="105616" y="4000"/>
                  </a:lnTo>
                  <a:lnTo>
                    <a:pt x="105731" y="3899"/>
                  </a:lnTo>
                  <a:lnTo>
                    <a:pt x="105896" y="3721"/>
                  </a:lnTo>
                  <a:lnTo>
                    <a:pt x="106404" y="3264"/>
                  </a:lnTo>
                  <a:lnTo>
                    <a:pt x="106759" y="2934"/>
                  </a:lnTo>
                  <a:lnTo>
                    <a:pt x="106861" y="2857"/>
                  </a:lnTo>
                  <a:cubicBezTo>
                    <a:pt x="108349" y="1639"/>
                    <a:pt x="110095" y="775"/>
                    <a:pt x="111966" y="330"/>
                  </a:cubicBezTo>
                  <a:lnTo>
                    <a:pt x="112106" y="317"/>
                  </a:lnTo>
                  <a:lnTo>
                    <a:pt x="112449" y="254"/>
                  </a:lnTo>
                  <a:lnTo>
                    <a:pt x="113389" y="89"/>
                  </a:lnTo>
                  <a:lnTo>
                    <a:pt x="113529" y="76"/>
                  </a:lnTo>
                  <a:lnTo>
                    <a:pt x="114049" y="51"/>
                  </a:ln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49961" y="4546600"/>
              <a:ext cx="18566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A1 OpenCL 融合内核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866" y="4826000"/>
              <a:ext cx="1737551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warp + median + 三通道组装</a:t>
              </a:r>
              <a:b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整体搬到 GPU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1485" y="5441950"/>
              <a:ext cx="120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攻 CPU 侧 77.4%</a:t>
              </a:r>
            </a:p>
          </p:txBody>
        </p:sp>
      </p:grpSp>
      <p:grpSp>
        <p:nvGrpSpPr>
          <p:cNvPr id="21" name="preview-a2"/>
          <p:cNvGrpSpPr/>
          <p:nvPr/>
        </p:nvGrpSpPr>
        <p:grpSpPr>
          <a:xfrm>
            <a:off x="4336161" y="4121150"/>
            <a:ext cx="1579645" cy="1540828"/>
            <a:chOff x="4336161" y="4121150"/>
            <a:chExt cx="1579645" cy="1540828"/>
          </a:xfrm>
        </p:grpSpPr>
        <p:grpSp>
          <p:nvGrpSpPr>
            <p:cNvPr id="17" name="Group 17"/>
            <p:cNvGrpSpPr/>
            <p:nvPr/>
          </p:nvGrpSpPr>
          <p:grpSpPr>
            <a:xfrm>
              <a:off x="4368800" y="4121150"/>
              <a:ext cx="254000" cy="254000"/>
              <a:chOff x="4368800" y="4121150"/>
              <a:chExt cx="254000" cy="254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368800" y="42735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33871"/>
                    </a:moveTo>
                    <a:cubicBezTo>
                      <a:pt x="0" y="15164"/>
                      <a:pt x="15164" y="0"/>
                      <a:pt x="33871" y="0"/>
                    </a:cubicBezTo>
                    <a:lnTo>
                      <a:pt x="67729" y="0"/>
                    </a:lnTo>
                    <a:cubicBezTo>
                      <a:pt x="86435" y="0"/>
                      <a:pt x="101600" y="15164"/>
                      <a:pt x="101600" y="33871"/>
                    </a:cubicBezTo>
                    <a:lnTo>
                      <a:pt x="101600" y="67729"/>
                    </a:lnTo>
                    <a:cubicBezTo>
                      <a:pt x="101600" y="86435"/>
                      <a:pt x="86435" y="101600"/>
                      <a:pt x="67729" y="101600"/>
                    </a:cubicBezTo>
                    <a:lnTo>
                      <a:pt x="33871" y="101600"/>
                    </a:lnTo>
                    <a:cubicBezTo>
                      <a:pt x="24888" y="101600"/>
                      <a:pt x="16273" y="98031"/>
                      <a:pt x="9921" y="91679"/>
                    </a:cubicBezTo>
                    <a:cubicBezTo>
                      <a:pt x="3569" y="85327"/>
                      <a:pt x="0" y="76712"/>
                      <a:pt x="0" y="67729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521200" y="42735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33871"/>
                    </a:moveTo>
                    <a:cubicBezTo>
                      <a:pt x="0" y="24888"/>
                      <a:pt x="3569" y="16273"/>
                      <a:pt x="9921" y="9921"/>
                    </a:cubicBezTo>
                    <a:cubicBezTo>
                      <a:pt x="16273" y="3569"/>
                      <a:pt x="24888" y="0"/>
                      <a:pt x="33871" y="0"/>
                    </a:cubicBezTo>
                    <a:lnTo>
                      <a:pt x="67729" y="0"/>
                    </a:lnTo>
                    <a:cubicBezTo>
                      <a:pt x="86435" y="0"/>
                      <a:pt x="101600" y="15164"/>
                      <a:pt x="101600" y="33871"/>
                    </a:cubicBezTo>
                    <a:lnTo>
                      <a:pt x="101600" y="67729"/>
                    </a:lnTo>
                    <a:cubicBezTo>
                      <a:pt x="101600" y="86435"/>
                      <a:pt x="86435" y="101600"/>
                      <a:pt x="67729" y="101600"/>
                    </a:cubicBezTo>
                    <a:lnTo>
                      <a:pt x="33871" y="101600"/>
                    </a:lnTo>
                    <a:cubicBezTo>
                      <a:pt x="24888" y="101600"/>
                      <a:pt x="16273" y="98031"/>
                      <a:pt x="9921" y="91679"/>
                    </a:cubicBezTo>
                    <a:cubicBezTo>
                      <a:pt x="3569" y="85327"/>
                      <a:pt x="0" y="76712"/>
                      <a:pt x="0" y="67729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445000" y="41211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33871"/>
                    </a:moveTo>
                    <a:cubicBezTo>
                      <a:pt x="0" y="15164"/>
                      <a:pt x="15164" y="0"/>
                      <a:pt x="33871" y="0"/>
                    </a:cubicBezTo>
                    <a:lnTo>
                      <a:pt x="67729" y="0"/>
                    </a:lnTo>
                    <a:cubicBezTo>
                      <a:pt x="86435" y="0"/>
                      <a:pt x="101600" y="15164"/>
                      <a:pt x="101600" y="33871"/>
                    </a:cubicBezTo>
                    <a:lnTo>
                      <a:pt x="101600" y="67729"/>
                    </a:lnTo>
                    <a:cubicBezTo>
                      <a:pt x="101600" y="86435"/>
                      <a:pt x="86435" y="101600"/>
                      <a:pt x="67729" y="101600"/>
                    </a:cubicBezTo>
                    <a:lnTo>
                      <a:pt x="33871" y="101600"/>
                    </a:lnTo>
                    <a:cubicBezTo>
                      <a:pt x="15164" y="101600"/>
                      <a:pt x="0" y="86435"/>
                      <a:pt x="0" y="67729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406900" y="4197350"/>
                <a:ext cx="177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1600">
                    <a:moveTo>
                      <a:pt x="88900" y="0"/>
                    </a:moveTo>
                    <a:cubicBezTo>
                      <a:pt x="81886" y="0"/>
                      <a:pt x="76200" y="5686"/>
                      <a:pt x="76200" y="12700"/>
                    </a:cubicBezTo>
                    <a:lnTo>
                      <a:pt x="76200" y="38100"/>
                    </a:lnTo>
                    <a:lnTo>
                      <a:pt x="38100" y="38100"/>
                    </a:lnTo>
                    <a:cubicBezTo>
                      <a:pt x="17208" y="38100"/>
                      <a:pt x="0" y="55308"/>
                      <a:pt x="0" y="76200"/>
                    </a:cubicBezTo>
                    <a:lnTo>
                      <a:pt x="0" y="88900"/>
                    </a:lnTo>
                    <a:cubicBezTo>
                      <a:pt x="0" y="95914"/>
                      <a:pt x="5686" y="101600"/>
                      <a:pt x="12700" y="101600"/>
                    </a:cubicBezTo>
                    <a:cubicBezTo>
                      <a:pt x="19714" y="101600"/>
                      <a:pt x="25400" y="95914"/>
                      <a:pt x="25400" y="88900"/>
                    </a:cubicBezTo>
                    <a:lnTo>
                      <a:pt x="25400" y="76200"/>
                    </a:lnTo>
                    <a:cubicBezTo>
                      <a:pt x="25400" y="69037"/>
                      <a:pt x="30937" y="63500"/>
                      <a:pt x="38100" y="63500"/>
                    </a:cubicBezTo>
                    <a:lnTo>
                      <a:pt x="139700" y="63500"/>
                    </a:lnTo>
                    <a:cubicBezTo>
                      <a:pt x="146862" y="63500"/>
                      <a:pt x="152400" y="69037"/>
                      <a:pt x="152400" y="76200"/>
                    </a:cubicBezTo>
                    <a:lnTo>
                      <a:pt x="152400" y="88900"/>
                    </a:lnTo>
                    <a:cubicBezTo>
                      <a:pt x="152400" y="95914"/>
                      <a:pt x="158086" y="101600"/>
                      <a:pt x="165100" y="101600"/>
                    </a:cubicBezTo>
                    <a:cubicBezTo>
                      <a:pt x="172114" y="101600"/>
                      <a:pt x="177800" y="95914"/>
                      <a:pt x="177800" y="88900"/>
                    </a:cubicBezTo>
                    <a:lnTo>
                      <a:pt x="177800" y="76200"/>
                    </a:lnTo>
                    <a:cubicBezTo>
                      <a:pt x="177800" y="55308"/>
                      <a:pt x="160591" y="38100"/>
                      <a:pt x="139700" y="38100"/>
                    </a:cubicBezTo>
                    <a:lnTo>
                      <a:pt x="101600" y="38100"/>
                    </a:lnTo>
                    <a:lnTo>
                      <a:pt x="101600" y="12700"/>
                    </a:lnTo>
                    <a:cubicBezTo>
                      <a:pt x="101600" y="5686"/>
                      <a:pt x="95914" y="0"/>
                      <a:pt x="88900" y="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4336161" y="4546600"/>
              <a:ext cx="15796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A2 Tree 锚点级联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38066" y="4826000"/>
              <a:ext cx="12108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只在锚点直接拟合，</a:t>
              </a:r>
              <a:b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其余 lag 连乘推导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37685" y="5441950"/>
              <a:ext cx="9782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攻拟合 21.6%</a:t>
              </a:r>
            </a:p>
          </p:txBody>
        </p:sp>
      </p:grpSp>
      <p:grpSp>
        <p:nvGrpSpPr>
          <p:cNvPr id="29" name="preview-a3"/>
          <p:cNvGrpSpPr/>
          <p:nvPr/>
        </p:nvGrpSpPr>
        <p:grpSpPr>
          <a:xfrm>
            <a:off x="8222361" y="4121150"/>
            <a:ext cx="1392746" cy="1540828"/>
            <a:chOff x="8222361" y="4121150"/>
            <a:chExt cx="1392746" cy="1540828"/>
          </a:xfrm>
        </p:grpSpPr>
        <p:grpSp>
          <p:nvGrpSpPr>
            <p:cNvPr id="25" name="Group 25"/>
            <p:cNvGrpSpPr/>
            <p:nvPr/>
          </p:nvGrpSpPr>
          <p:grpSpPr>
            <a:xfrm>
              <a:off x="8267699" y="4121150"/>
              <a:ext cx="228600" cy="253999"/>
              <a:chOff x="8267699" y="4121150"/>
              <a:chExt cx="228600" cy="253999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267700" y="4295533"/>
                <a:ext cx="228599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7" y="19164"/>
                      <a:pt x="228599" y="216"/>
                    </a:cubicBezTo>
                    <a:lnTo>
                      <a:pt x="228599" y="28816"/>
                    </a:lnTo>
                    <a:cubicBezTo>
                      <a:pt x="228599" y="59614"/>
                      <a:pt x="179133" y="78803"/>
                      <a:pt x="118199" y="79591"/>
                    </a:cubicBezTo>
                    <a:lnTo>
                      <a:pt x="114300" y="79616"/>
                    </a:lnTo>
                    <a:cubicBezTo>
                      <a:pt x="51587" y="79616"/>
                      <a:pt x="0" y="60274"/>
                      <a:pt x="0" y="28816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67700" y="4219333"/>
                <a:ext cx="228599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7" y="19164"/>
                      <a:pt x="228599" y="216"/>
                    </a:cubicBezTo>
                    <a:lnTo>
                      <a:pt x="228599" y="28816"/>
                    </a:lnTo>
                    <a:cubicBezTo>
                      <a:pt x="228599" y="60274"/>
                      <a:pt x="177012" y="79616"/>
                      <a:pt x="114300" y="79616"/>
                    </a:cubicBezTo>
                    <a:cubicBezTo>
                      <a:pt x="53365" y="79616"/>
                      <a:pt x="2921" y="61354"/>
                      <a:pt x="267" y="31420"/>
                    </a:cubicBezTo>
                    <a:lnTo>
                      <a:pt x="63" y="30137"/>
                    </a:lnTo>
                    <a:lnTo>
                      <a:pt x="0" y="28816"/>
                    </a:ln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67699" y="4121150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114301" y="0"/>
                    </a:moveTo>
                    <a:cubicBezTo>
                      <a:pt x="127521" y="0"/>
                      <a:pt x="140259" y="864"/>
                      <a:pt x="152109" y="2515"/>
                    </a:cubicBezTo>
                    <a:lnTo>
                      <a:pt x="158065" y="3416"/>
                    </a:lnTo>
                    <a:cubicBezTo>
                      <a:pt x="165177" y="4602"/>
                      <a:pt x="171891" y="6075"/>
                      <a:pt x="178207" y="7836"/>
                    </a:cubicBezTo>
                    <a:lnTo>
                      <a:pt x="183795" y="9500"/>
                    </a:lnTo>
                    <a:lnTo>
                      <a:pt x="184747" y="9804"/>
                    </a:lnTo>
                    <a:cubicBezTo>
                      <a:pt x="188204" y="10941"/>
                      <a:pt x="191614" y="12212"/>
                      <a:pt x="194971" y="13614"/>
                    </a:cubicBezTo>
                    <a:lnTo>
                      <a:pt x="197498" y="14707"/>
                    </a:lnTo>
                    <a:cubicBezTo>
                      <a:pt x="202028" y="16755"/>
                      <a:pt x="206121" y="18999"/>
                      <a:pt x="209779" y="21438"/>
                    </a:cubicBezTo>
                    <a:cubicBezTo>
                      <a:pt x="211176" y="22369"/>
                      <a:pt x="212501" y="23321"/>
                      <a:pt x="213754" y="24295"/>
                    </a:cubicBezTo>
                    <a:cubicBezTo>
                      <a:pt x="216928" y="26758"/>
                      <a:pt x="219783" y="29608"/>
                      <a:pt x="222250" y="32779"/>
                    </a:cubicBezTo>
                    <a:lnTo>
                      <a:pt x="223406" y="34404"/>
                    </a:lnTo>
                    <a:cubicBezTo>
                      <a:pt x="223999" y="35293"/>
                      <a:pt x="224545" y="36186"/>
                      <a:pt x="225044" y="37084"/>
                    </a:cubicBezTo>
                    <a:lnTo>
                      <a:pt x="225933" y="38849"/>
                    </a:lnTo>
                    <a:cubicBezTo>
                      <a:pt x="227313" y="41813"/>
                      <a:pt x="228160" y="44903"/>
                      <a:pt x="228473" y="48120"/>
                    </a:cubicBezTo>
                    <a:lnTo>
                      <a:pt x="228600" y="50800"/>
                    </a:lnTo>
                    <a:cubicBezTo>
                      <a:pt x="228600" y="82258"/>
                      <a:pt x="177013" y="101600"/>
                      <a:pt x="114301" y="101600"/>
                    </a:cubicBezTo>
                    <a:cubicBezTo>
                      <a:pt x="53366" y="101600"/>
                      <a:pt x="2922" y="83337"/>
                      <a:pt x="268" y="53403"/>
                    </a:cubicBezTo>
                    <a:cubicBezTo>
                      <a:pt x="89" y="52547"/>
                      <a:pt x="0" y="51675"/>
                      <a:pt x="1" y="50800"/>
                    </a:cubicBezTo>
                    <a:lnTo>
                      <a:pt x="64" y="49479"/>
                    </a:lnTo>
                    <a:lnTo>
                      <a:pt x="268" y="48209"/>
                    </a:lnTo>
                    <a:cubicBezTo>
                      <a:pt x="2871" y="18923"/>
                      <a:pt x="51195" y="800"/>
                      <a:pt x="110338" y="25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222361" y="4546600"/>
              <a:ext cx="12671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A3 纯函数缓存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24266" y="4826000"/>
              <a:ext cx="1390841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resize + 角点 + 金字塔</a:t>
              </a:r>
              <a:b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按绝对帧号缓存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23885" y="5441950"/>
              <a:ext cx="12948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攻 fit 内部 65.8%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30" name="Line 30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52247" y="6477000"/>
              <a:ext cx="36478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A1 与 A2 互补而非重复：step10 砍的是拟合，warp 一次没少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战果 A1 · 战线 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527727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把 step10 砍不动的那一块搬到 GPU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69482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warp + 21 帧 median + 三通道组装 → Mali-G610；CPU 只保留 Shi-Tomasi / LK / RANSAC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8" name="strip"/>
          <p:cNvGrpSpPr/>
          <p:nvPr/>
        </p:nvGrpSpPr>
        <p:grpSpPr>
          <a:xfrm>
            <a:off x="439674" y="1619250"/>
            <a:ext cx="9648462" cy="991743"/>
            <a:chOff x="439674" y="1619250"/>
            <a:chExt cx="9648462" cy="991743"/>
          </a:xfrm>
        </p:grpSpPr>
        <p:sp>
          <p:nvSpPr>
            <p:cNvPr id="7" name="Line 7"/>
            <p:cNvSpPr/>
            <p:nvPr/>
          </p:nvSpPr>
          <p:spPr>
            <a:xfrm>
              <a:off x="41148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010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9674" y="1619250"/>
              <a:ext cx="147365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77.4%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485" y="2184400"/>
              <a:ext cx="1393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CPU 侧被搬走的成本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247" y="2419350"/>
              <a:ext cx="17645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warp 43.7% + median 33.7%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5874" y="1619250"/>
              <a:ext cx="171864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4345 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7685" y="21844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像素级精度验证规模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8447" y="2419350"/>
              <a:ext cx="9268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8 序列 / 136 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2074" y="1619250"/>
              <a:ext cx="83969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109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3885" y="21844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排序网络比较器（非抽样）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4647" y="2419350"/>
              <a:ext cx="18634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2^21 全枚举 2097152/2097152</a:t>
              </a:r>
            </a:p>
          </p:txBody>
        </p:sp>
      </p:grpSp>
      <p:grpSp>
        <p:nvGrpSpPr>
          <p:cNvPr id="26" name="card-what"/>
          <p:cNvGrpSpPr/>
          <p:nvPr/>
        </p:nvGrpSpPr>
        <p:grpSpPr>
          <a:xfrm>
            <a:off x="457200" y="2781300"/>
            <a:ext cx="3505200" cy="2381250"/>
            <a:chOff x="457200" y="2781300"/>
            <a:chExt cx="35052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4572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29747" y="2994025"/>
              <a:ext cx="178807" cy="226373"/>
            </a:xfrm>
            <a:custGeom>
              <a:avLst/>
              <a:gdLst/>
              <a:ahLst/>
              <a:cxnLst/>
              <a:rect l="l" t="t" r="r" b="b"/>
              <a:pathLst>
                <a:path w="178807" h="226373">
                  <a:moveTo>
                    <a:pt x="100516" y="0"/>
                  </a:moveTo>
                  <a:lnTo>
                    <a:pt x="100716" y="11"/>
                  </a:lnTo>
                  <a:lnTo>
                    <a:pt x="100894" y="22"/>
                  </a:lnTo>
                  <a:lnTo>
                    <a:pt x="101816" y="78"/>
                  </a:lnTo>
                  <a:lnTo>
                    <a:pt x="101938" y="100"/>
                  </a:lnTo>
                  <a:lnTo>
                    <a:pt x="102061" y="100"/>
                  </a:lnTo>
                  <a:lnTo>
                    <a:pt x="102483" y="200"/>
                  </a:lnTo>
                  <a:lnTo>
                    <a:pt x="103061" y="289"/>
                  </a:lnTo>
                  <a:lnTo>
                    <a:pt x="103238" y="356"/>
                  </a:lnTo>
                  <a:lnTo>
                    <a:pt x="103361" y="367"/>
                  </a:lnTo>
                  <a:lnTo>
                    <a:pt x="103683" y="489"/>
                  </a:lnTo>
                  <a:lnTo>
                    <a:pt x="104261" y="645"/>
                  </a:lnTo>
                  <a:lnTo>
                    <a:pt x="104472" y="745"/>
                  </a:lnTo>
                  <a:lnTo>
                    <a:pt x="104639" y="789"/>
                  </a:lnTo>
                  <a:lnTo>
                    <a:pt x="104950" y="945"/>
                  </a:lnTo>
                  <a:lnTo>
                    <a:pt x="105394" y="1133"/>
                  </a:lnTo>
                  <a:lnTo>
                    <a:pt x="105628" y="1267"/>
                  </a:lnTo>
                  <a:lnTo>
                    <a:pt x="105872" y="1378"/>
                  </a:lnTo>
                  <a:lnTo>
                    <a:pt x="106128" y="1545"/>
                  </a:lnTo>
                  <a:lnTo>
                    <a:pt x="106472" y="1734"/>
                  </a:lnTo>
                  <a:lnTo>
                    <a:pt x="106850" y="2000"/>
                  </a:lnTo>
                  <a:lnTo>
                    <a:pt x="107050" y="2122"/>
                  </a:lnTo>
                  <a:lnTo>
                    <a:pt x="107195" y="2256"/>
                  </a:lnTo>
                  <a:lnTo>
                    <a:pt x="107461" y="2445"/>
                  </a:lnTo>
                  <a:lnTo>
                    <a:pt x="107884" y="2823"/>
                  </a:lnTo>
                  <a:lnTo>
                    <a:pt x="108128" y="3011"/>
                  </a:lnTo>
                  <a:lnTo>
                    <a:pt x="108217" y="3123"/>
                  </a:lnTo>
                  <a:lnTo>
                    <a:pt x="108372" y="3256"/>
                  </a:lnTo>
                  <a:lnTo>
                    <a:pt x="108773" y="3712"/>
                  </a:lnTo>
                  <a:lnTo>
                    <a:pt x="109061" y="4012"/>
                  </a:lnTo>
                  <a:lnTo>
                    <a:pt x="109128" y="4112"/>
                  </a:lnTo>
                  <a:cubicBezTo>
                    <a:pt x="110462" y="5745"/>
                    <a:pt x="111306" y="7690"/>
                    <a:pt x="111551" y="9812"/>
                  </a:cubicBezTo>
                  <a:lnTo>
                    <a:pt x="111562" y="9946"/>
                  </a:lnTo>
                  <a:lnTo>
                    <a:pt x="111584" y="10401"/>
                  </a:lnTo>
                  <a:lnTo>
                    <a:pt x="111628" y="11113"/>
                  </a:lnTo>
                  <a:lnTo>
                    <a:pt x="111628" y="77788"/>
                  </a:lnTo>
                  <a:lnTo>
                    <a:pt x="167191" y="77788"/>
                  </a:lnTo>
                  <a:cubicBezTo>
                    <a:pt x="171155" y="77787"/>
                    <a:pt x="174819" y="79897"/>
                    <a:pt x="176807" y="83326"/>
                  </a:cubicBezTo>
                  <a:cubicBezTo>
                    <a:pt x="178796" y="86755"/>
                    <a:pt x="178807" y="90984"/>
                    <a:pt x="176837" y="94423"/>
                  </a:cubicBezTo>
                  <a:lnTo>
                    <a:pt x="176170" y="95434"/>
                  </a:lnTo>
                  <a:lnTo>
                    <a:pt x="87270" y="217672"/>
                  </a:lnTo>
                  <a:cubicBezTo>
                    <a:pt x="80958" y="226373"/>
                    <a:pt x="67178" y="221895"/>
                    <a:pt x="67178" y="211138"/>
                  </a:cubicBezTo>
                  <a:lnTo>
                    <a:pt x="67178" y="144463"/>
                  </a:lnTo>
                  <a:lnTo>
                    <a:pt x="11616" y="144463"/>
                  </a:lnTo>
                  <a:cubicBezTo>
                    <a:pt x="7652" y="144464"/>
                    <a:pt x="3988" y="142354"/>
                    <a:pt x="1999" y="138924"/>
                  </a:cubicBezTo>
                  <a:cubicBezTo>
                    <a:pt x="11" y="135495"/>
                    <a:pt x="0" y="131267"/>
                    <a:pt x="1970" y="127827"/>
                  </a:cubicBezTo>
                  <a:lnTo>
                    <a:pt x="2637" y="126816"/>
                  </a:lnTo>
                  <a:lnTo>
                    <a:pt x="91537" y="4578"/>
                  </a:lnTo>
                  <a:lnTo>
                    <a:pt x="91648" y="4434"/>
                  </a:lnTo>
                  <a:lnTo>
                    <a:pt x="91848" y="4167"/>
                  </a:lnTo>
                  <a:lnTo>
                    <a:pt x="92215" y="3745"/>
                  </a:lnTo>
                  <a:lnTo>
                    <a:pt x="92415" y="3500"/>
                  </a:lnTo>
                  <a:lnTo>
                    <a:pt x="92515" y="3412"/>
                  </a:lnTo>
                  <a:lnTo>
                    <a:pt x="92659" y="3256"/>
                  </a:lnTo>
                  <a:lnTo>
                    <a:pt x="93104" y="2856"/>
                  </a:lnTo>
                  <a:lnTo>
                    <a:pt x="93415" y="2567"/>
                  </a:lnTo>
                  <a:lnTo>
                    <a:pt x="93504" y="2500"/>
                  </a:lnTo>
                  <a:cubicBezTo>
                    <a:pt x="94806" y="1434"/>
                    <a:pt x="96334" y="678"/>
                    <a:pt x="97971" y="289"/>
                  </a:cubicBezTo>
                  <a:lnTo>
                    <a:pt x="98093" y="278"/>
                  </a:lnTo>
                  <a:lnTo>
                    <a:pt x="98393" y="222"/>
                  </a:lnTo>
                  <a:lnTo>
                    <a:pt x="99216" y="78"/>
                  </a:lnTo>
                  <a:lnTo>
                    <a:pt x="99338" y="67"/>
                  </a:lnTo>
                  <a:lnTo>
                    <a:pt x="99794" y="44"/>
                  </a:ln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8561" y="3441700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466" y="3721100"/>
              <a:ext cx="1850898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GPU 承担 warp + 21 帧 median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+ 三通道组装；CPU 只保留角点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检测、LK 光流与 RANSAC 拟合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6672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可验证设备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085" y="4870450"/>
              <a:ext cx="1248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Ch0 Max|Diff| = 0</a:t>
              </a:r>
            </a:p>
          </p:txBody>
        </p:sp>
      </p:grpSp>
      <p:grpSp>
        <p:nvGrpSpPr>
          <p:cNvPr id="34" name="card-proof"/>
          <p:cNvGrpSpPr/>
          <p:nvPr/>
        </p:nvGrpSpPr>
        <p:grpSpPr>
          <a:xfrm>
            <a:off x="4343400" y="2781300"/>
            <a:ext cx="3505200" cy="2381250"/>
            <a:chOff x="4343400" y="2781300"/>
            <a:chExt cx="3505200" cy="2381250"/>
          </a:xfrm>
        </p:grpSpPr>
        <p:sp>
          <p:nvSpPr>
            <p:cNvPr id="27" name="Rectangle 27"/>
            <p:cNvSpPr/>
            <p:nvPr/>
          </p:nvSpPr>
          <p:spPr>
            <a:xfrm>
              <a:off x="43434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594225" y="2994025"/>
              <a:ext cx="222251" cy="222252"/>
            </a:xfrm>
            <a:custGeom>
              <a:avLst/>
              <a:gdLst/>
              <a:ahLst/>
              <a:cxnLst/>
              <a:rect l="l" t="t" r="r" b="b"/>
              <a:pathLst>
                <a:path w="222251" h="222252">
                  <a:moveTo>
                    <a:pt x="181501" y="0"/>
                  </a:moveTo>
                  <a:cubicBezTo>
                    <a:pt x="203282" y="0"/>
                    <a:pt x="221062" y="17080"/>
                    <a:pt x="222195" y="38583"/>
                  </a:cubicBezTo>
                  <a:lnTo>
                    <a:pt x="222251" y="40750"/>
                  </a:lnTo>
                  <a:lnTo>
                    <a:pt x="222251" y="181501"/>
                  </a:lnTo>
                  <a:cubicBezTo>
                    <a:pt x="222251" y="203282"/>
                    <a:pt x="205171" y="221062"/>
                    <a:pt x="183668" y="222195"/>
                  </a:cubicBezTo>
                  <a:lnTo>
                    <a:pt x="181501" y="222251"/>
                  </a:lnTo>
                  <a:lnTo>
                    <a:pt x="40750" y="222251"/>
                  </a:lnTo>
                  <a:cubicBezTo>
                    <a:pt x="19085" y="222252"/>
                    <a:pt x="1208" y="205301"/>
                    <a:pt x="56" y="183668"/>
                  </a:cubicBezTo>
                  <a:lnTo>
                    <a:pt x="0" y="181501"/>
                  </a:lnTo>
                  <a:lnTo>
                    <a:pt x="0" y="40750"/>
                  </a:lnTo>
                  <a:cubicBezTo>
                    <a:pt x="0" y="18969"/>
                    <a:pt x="17080" y="1189"/>
                    <a:pt x="38583" y="56"/>
                  </a:cubicBezTo>
                  <a:lnTo>
                    <a:pt x="40750" y="0"/>
                  </a:lnTo>
                  <a:lnTo>
                    <a:pt x="181501" y="0"/>
                  </a:lnTo>
                  <a:close/>
                  <a:moveTo>
                    <a:pt x="152319" y="81044"/>
                  </a:moveTo>
                  <a:cubicBezTo>
                    <a:pt x="147980" y="76706"/>
                    <a:pt x="140946" y="76706"/>
                    <a:pt x="136606" y="81044"/>
                  </a:cubicBezTo>
                  <a:lnTo>
                    <a:pt x="100013" y="117626"/>
                  </a:lnTo>
                  <a:lnTo>
                    <a:pt x="85644" y="103269"/>
                  </a:lnTo>
                  <a:lnTo>
                    <a:pt x="84600" y="102346"/>
                  </a:lnTo>
                  <a:cubicBezTo>
                    <a:pt x="79964" y="98762"/>
                    <a:pt x="73342" y="99393"/>
                    <a:pt x="69467" y="103788"/>
                  </a:cubicBezTo>
                  <a:cubicBezTo>
                    <a:pt x="65592" y="108183"/>
                    <a:pt x="65795" y="114832"/>
                    <a:pt x="69931" y="118982"/>
                  </a:cubicBezTo>
                  <a:lnTo>
                    <a:pt x="92156" y="141207"/>
                  </a:lnTo>
                  <a:lnTo>
                    <a:pt x="93201" y="142129"/>
                  </a:lnTo>
                  <a:cubicBezTo>
                    <a:pt x="97625" y="145561"/>
                    <a:pt x="103910" y="145166"/>
                    <a:pt x="107869" y="141207"/>
                  </a:cubicBezTo>
                  <a:lnTo>
                    <a:pt x="152319" y="96757"/>
                  </a:lnTo>
                  <a:lnTo>
                    <a:pt x="153242" y="95712"/>
                  </a:lnTo>
                  <a:cubicBezTo>
                    <a:pt x="156673" y="91289"/>
                    <a:pt x="156278" y="85003"/>
                    <a:pt x="152319" y="81044"/>
                  </a:cubicBez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64761" y="3441700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完备证明，不是抽样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66666" y="3721100"/>
              <a:ext cx="2144268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排序网络 2^21 全枚举通过；并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证伪公开的 Batchers 奇偶归并伪码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——奇数 n 时会静默越界写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5720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67047" y="46672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可验证设备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66285" y="4870450"/>
              <a:ext cx="2482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Ch1 / Ch2 MAE 0.00073 / 0.00033</a:t>
              </a:r>
            </a:p>
          </p:txBody>
        </p:sp>
      </p:grpSp>
      <p:grpSp>
        <p:nvGrpSpPr>
          <p:cNvPr id="42" name="card-pitfall"/>
          <p:cNvGrpSpPr/>
          <p:nvPr/>
        </p:nvGrpSpPr>
        <p:grpSpPr>
          <a:xfrm>
            <a:off x="8229600" y="2781300"/>
            <a:ext cx="3505200" cy="2381250"/>
            <a:chOff x="8229600" y="2781300"/>
            <a:chExt cx="3505200" cy="2381250"/>
          </a:xfrm>
        </p:grpSpPr>
        <p:sp>
          <p:nvSpPr>
            <p:cNvPr id="35" name="Rectangle 35"/>
            <p:cNvSpPr/>
            <p:nvPr/>
          </p:nvSpPr>
          <p:spPr>
            <a:xfrm>
              <a:off x="82296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467738" y="2990358"/>
              <a:ext cx="247496" cy="214761"/>
            </a:xfrm>
            <a:custGeom>
              <a:avLst/>
              <a:gdLst/>
              <a:ahLst/>
              <a:cxnLst/>
              <a:rect l="l" t="t" r="r" b="b"/>
              <a:pathLst>
                <a:path w="247496" h="214761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8"/>
                  </a:lnTo>
                  <a:cubicBezTo>
                    <a:pt x="247275" y="175835"/>
                    <a:pt x="247496" y="187668"/>
                    <a:pt x="242289" y="197516"/>
                  </a:cubicBezTo>
                  <a:cubicBezTo>
                    <a:pt x="237081" y="207364"/>
                    <a:pt x="227178" y="213844"/>
                    <a:pt x="216069" y="214672"/>
                  </a:cubicBezTo>
                  <a:lnTo>
                    <a:pt x="213902" y="214761"/>
                  </a:lnTo>
                  <a:lnTo>
                    <a:pt x="33601" y="214761"/>
                  </a:lnTo>
                  <a:cubicBezTo>
                    <a:pt x="22481" y="214636"/>
                    <a:pt x="12203" y="208813"/>
                    <a:pt x="6379" y="199340"/>
                  </a:cubicBezTo>
                  <a:cubicBezTo>
                    <a:pt x="555" y="189866"/>
                    <a:pt x="0" y="178067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2000" y="5914"/>
                    <a:pt x="112495" y="2"/>
                    <a:pt x="123812" y="0"/>
                  </a:cubicBezTo>
                  <a:close/>
                  <a:moveTo>
                    <a:pt x="123924" y="148130"/>
                  </a:moveTo>
                  <a:lnTo>
                    <a:pt x="122512" y="148208"/>
                  </a:lnTo>
                  <a:cubicBezTo>
                    <a:pt x="116922" y="148873"/>
                    <a:pt x="112712" y="153613"/>
                    <a:pt x="112712" y="159243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4" y="170277"/>
                  </a:lnTo>
                  <a:cubicBezTo>
                    <a:pt x="130814" y="169612"/>
                    <a:pt x="135024" y="164872"/>
                    <a:pt x="135024" y="159243"/>
                  </a:cubicBezTo>
                  <a:cubicBezTo>
                    <a:pt x="135024" y="153613"/>
                    <a:pt x="130814" y="148873"/>
                    <a:pt x="125224" y="148208"/>
                  </a:cubicBezTo>
                  <a:lnTo>
                    <a:pt x="123924" y="148130"/>
                  </a:lnTo>
                  <a:close/>
                  <a:moveTo>
                    <a:pt x="123812" y="70342"/>
                  </a:moveTo>
                  <a:cubicBezTo>
                    <a:pt x="118179" y="70343"/>
                    <a:pt x="113437" y="74560"/>
                    <a:pt x="112778" y="80155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8" y="127205"/>
                  </a:lnTo>
                  <a:cubicBezTo>
                    <a:pt x="113443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5"/>
                  </a:lnTo>
                  <a:cubicBezTo>
                    <a:pt x="134188" y="74560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50961" y="344170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完备验证抓到的坑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52866" y="3721100"/>
              <a:ext cx="1924240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共享数组 / 1-200 次假 FAIL /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剪枝恢复并非真 undo；取模环 ≠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内容环 ⇒ Ch0 31% 像素错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4582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53247" y="46672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可验证设备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52485" y="4870450"/>
              <a:ext cx="1903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残余约 600 像素（1.4e-7）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457200" y="5314950"/>
            <a:ext cx="11277600" cy="857250"/>
            <a:chOff x="457200" y="5314950"/>
            <a:chExt cx="11277600" cy="857250"/>
          </a:xfrm>
        </p:grpSpPr>
        <p:sp>
          <p:nvSpPr>
            <p:cNvPr id="43" name="Rectangle 43"/>
            <p:cNvSpPr/>
            <p:nvPr/>
          </p:nvSpPr>
          <p:spPr>
            <a:xfrm>
              <a:off x="457200" y="5314950"/>
              <a:ext cx="11277600" cy="857250"/>
            </a:xfrm>
            <a:prstGeom prst="rect">
              <a:avLst/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57200" y="5314950"/>
              <a:ext cx="38100" cy="8572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6280" y="5480050"/>
              <a:ext cx="80041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Ch0 逐位精确是承重门：它一次性挡住 padding、通道序、ring 索引、坐标约定四类错误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8566" y="5797550"/>
              <a:ext cx="8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Ch0 是当前帧纯拷贝，任何坐标反转或通道错位都会立刻打崩它；残余 1.4e-7 像素在 1/32 格 tie 上翻格，复刻需照搬 OpenCV 建表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48" name="Line 48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52247" y="6477000"/>
              <a:ext cx="83396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来源：opencl_fused_rk3588.md §1（排序网络完备证明）、§2（OpenCV 语义实测）、§3（精度）、§4（Mali 适配 7 条）、§7（埋点缺陷）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战果 A2 · 战线 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40532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22 次长基线拟合，高度冗余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640578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相邻 lag 描述的是同一段相机运动——只在锚点直接拟合，其余用缓存步变换连乘推导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8" name="strip"/>
          <p:cNvGrpSpPr/>
          <p:nvPr/>
        </p:nvGrpSpPr>
        <p:grpSpPr>
          <a:xfrm>
            <a:off x="439674" y="1619250"/>
            <a:ext cx="10140427" cy="991743"/>
            <a:chOff x="439674" y="1619250"/>
            <a:chExt cx="10140427" cy="991743"/>
          </a:xfrm>
        </p:grpSpPr>
        <p:sp>
          <p:nvSpPr>
            <p:cNvPr id="7" name="Line 7"/>
            <p:cNvSpPr/>
            <p:nvPr/>
          </p:nvSpPr>
          <p:spPr>
            <a:xfrm>
              <a:off x="41148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010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9674" y="1619250"/>
              <a:ext cx="110790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6.19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485" y="2184400"/>
              <a:ext cx="17246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拟合次数/帧（原 22 次）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247" y="2419350"/>
              <a:ext cx="19756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省 71.9%　+ 缓存步拟合 1.19 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5874" y="1619250"/>
              <a:ext cx="191254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−0.0003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7685" y="2184400"/>
              <a:ext cx="1049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端到端 F1 变化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8447" y="2419350"/>
              <a:ext cx="19599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官方 val 31,613 帧 / 25,111 GT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2074" y="1619250"/>
              <a:ext cx="147365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99.6%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3885" y="2184400"/>
              <a:ext cx="1124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GMC 精度保全率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4647" y="2419350"/>
              <a:ext cx="23554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no-GMC 掉 0.0054 → tree 只掉 0.0003</a:t>
              </a:r>
            </a:p>
          </p:txBody>
        </p:sp>
      </p:grpSp>
      <p:grpSp>
        <p:nvGrpSpPr>
          <p:cNvPr id="30" name="card-how"/>
          <p:cNvGrpSpPr/>
          <p:nvPr/>
        </p:nvGrpSpPr>
        <p:grpSpPr>
          <a:xfrm>
            <a:off x="457200" y="2781300"/>
            <a:ext cx="3505200" cy="2381250"/>
            <a:chOff x="457200" y="2781300"/>
            <a:chExt cx="35052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4572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08025" y="2994025"/>
              <a:ext cx="222250" cy="222250"/>
              <a:chOff x="708025" y="2994025"/>
              <a:chExt cx="222250" cy="2222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08025" y="312737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29637"/>
                    </a:moveTo>
                    <a:cubicBezTo>
                      <a:pt x="0" y="13269"/>
                      <a:pt x="13269" y="0"/>
                      <a:pt x="29637" y="0"/>
                    </a:cubicBezTo>
                    <a:lnTo>
                      <a:pt x="59263" y="0"/>
                    </a:lnTo>
                    <a:cubicBezTo>
                      <a:pt x="75631" y="0"/>
                      <a:pt x="88900" y="13269"/>
                      <a:pt x="88900" y="29637"/>
                    </a:cubicBezTo>
                    <a:lnTo>
                      <a:pt x="88900" y="59263"/>
                    </a:lnTo>
                    <a:cubicBezTo>
                      <a:pt x="88900" y="75631"/>
                      <a:pt x="75631" y="88900"/>
                      <a:pt x="59263" y="88900"/>
                    </a:cubicBezTo>
                    <a:lnTo>
                      <a:pt x="29637" y="88900"/>
                    </a:lnTo>
                    <a:cubicBezTo>
                      <a:pt x="21777" y="88900"/>
                      <a:pt x="14239" y="85778"/>
                      <a:pt x="8681" y="80220"/>
                    </a:cubicBezTo>
                    <a:cubicBezTo>
                      <a:pt x="3122" y="74662"/>
                      <a:pt x="0" y="67123"/>
                      <a:pt x="0" y="59263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41375" y="312737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29637"/>
                    </a:moveTo>
                    <a:cubicBezTo>
                      <a:pt x="0" y="21777"/>
                      <a:pt x="3122" y="14239"/>
                      <a:pt x="8681" y="8681"/>
                    </a:cubicBezTo>
                    <a:cubicBezTo>
                      <a:pt x="14239" y="3122"/>
                      <a:pt x="21777" y="0"/>
                      <a:pt x="29637" y="0"/>
                    </a:cubicBezTo>
                    <a:lnTo>
                      <a:pt x="59263" y="0"/>
                    </a:lnTo>
                    <a:cubicBezTo>
                      <a:pt x="75631" y="0"/>
                      <a:pt x="88900" y="13269"/>
                      <a:pt x="88900" y="29637"/>
                    </a:cubicBezTo>
                    <a:lnTo>
                      <a:pt x="88900" y="59263"/>
                    </a:lnTo>
                    <a:cubicBezTo>
                      <a:pt x="88900" y="75631"/>
                      <a:pt x="75631" y="88900"/>
                      <a:pt x="59263" y="88900"/>
                    </a:cubicBezTo>
                    <a:lnTo>
                      <a:pt x="29637" y="88900"/>
                    </a:lnTo>
                    <a:cubicBezTo>
                      <a:pt x="21777" y="88900"/>
                      <a:pt x="14239" y="85778"/>
                      <a:pt x="8681" y="80220"/>
                    </a:cubicBezTo>
                    <a:cubicBezTo>
                      <a:pt x="3122" y="74662"/>
                      <a:pt x="0" y="67123"/>
                      <a:pt x="0" y="59263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4700" y="299402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29637"/>
                    </a:moveTo>
                    <a:cubicBezTo>
                      <a:pt x="0" y="13269"/>
                      <a:pt x="13269" y="0"/>
                      <a:pt x="29637" y="0"/>
                    </a:cubicBezTo>
                    <a:lnTo>
                      <a:pt x="59263" y="0"/>
                    </a:lnTo>
                    <a:cubicBezTo>
                      <a:pt x="75631" y="0"/>
                      <a:pt x="88900" y="13269"/>
                      <a:pt x="88900" y="29637"/>
                    </a:cubicBezTo>
                    <a:lnTo>
                      <a:pt x="88900" y="59263"/>
                    </a:lnTo>
                    <a:cubicBezTo>
                      <a:pt x="88900" y="75631"/>
                      <a:pt x="75631" y="88900"/>
                      <a:pt x="59263" y="88900"/>
                    </a:cubicBezTo>
                    <a:lnTo>
                      <a:pt x="29637" y="88900"/>
                    </a:lnTo>
                    <a:cubicBezTo>
                      <a:pt x="13269" y="88900"/>
                      <a:pt x="0" y="75631"/>
                      <a:pt x="0" y="59263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41363" y="3060700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77788" y="0"/>
                    </a:moveTo>
                    <a:cubicBezTo>
                      <a:pt x="71650" y="0"/>
                      <a:pt x="66675" y="4975"/>
                      <a:pt x="66675" y="11113"/>
                    </a:cubicBezTo>
                    <a:lnTo>
                      <a:pt x="66675" y="33338"/>
                    </a:lnTo>
                    <a:lnTo>
                      <a:pt x="33338" y="33338"/>
                    </a:lnTo>
                    <a:cubicBezTo>
                      <a:pt x="15057" y="33338"/>
                      <a:pt x="0" y="48395"/>
                      <a:pt x="0" y="66675"/>
                    </a:cubicBezTo>
                    <a:lnTo>
                      <a:pt x="0" y="77788"/>
                    </a:lnTo>
                    <a:cubicBezTo>
                      <a:pt x="0" y="83925"/>
                      <a:pt x="4975" y="88900"/>
                      <a:pt x="11113" y="88900"/>
                    </a:cubicBezTo>
                    <a:cubicBezTo>
                      <a:pt x="17250" y="88900"/>
                      <a:pt x="22225" y="83925"/>
                      <a:pt x="22225" y="77788"/>
                    </a:cubicBezTo>
                    <a:lnTo>
                      <a:pt x="22225" y="66675"/>
                    </a:lnTo>
                    <a:cubicBezTo>
                      <a:pt x="22225" y="60408"/>
                      <a:pt x="27070" y="55563"/>
                      <a:pt x="33338" y="55563"/>
                    </a:cubicBezTo>
                    <a:lnTo>
                      <a:pt x="122238" y="55563"/>
                    </a:lnTo>
                    <a:cubicBezTo>
                      <a:pt x="128505" y="55563"/>
                      <a:pt x="133350" y="60408"/>
                      <a:pt x="133350" y="66675"/>
                    </a:cubicBezTo>
                    <a:lnTo>
                      <a:pt x="133350" y="77788"/>
                    </a:lnTo>
                    <a:cubicBezTo>
                      <a:pt x="133350" y="83925"/>
                      <a:pt x="138326" y="88900"/>
                      <a:pt x="144463" y="88900"/>
                    </a:cubicBezTo>
                    <a:cubicBezTo>
                      <a:pt x="150600" y="88900"/>
                      <a:pt x="155575" y="83925"/>
                      <a:pt x="155575" y="77788"/>
                    </a:cubicBezTo>
                    <a:lnTo>
                      <a:pt x="155575" y="66675"/>
                    </a:lnTo>
                    <a:cubicBezTo>
                      <a:pt x="155575" y="48395"/>
                      <a:pt x="140518" y="33338"/>
                      <a:pt x="122238" y="33338"/>
                    </a:cubicBezTo>
                    <a:lnTo>
                      <a:pt x="88900" y="33338"/>
                    </a:lnTo>
                    <a:lnTo>
                      <a:pt x="88900" y="11113"/>
                    </a:lnTo>
                    <a:cubicBezTo>
                      <a:pt x="88900" y="4975"/>
                      <a:pt x="83925" y="0"/>
                      <a:pt x="77788" y="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78561" y="3441700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树状锚点级联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0466" y="3721100"/>
              <a:ext cx="2124266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锚点 {2,12,22,32,42} 直接拟合，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其余 16 个 lag 由缓存步变换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连乘推导，最大深度 4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858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6672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板端验证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0085" y="4870450"/>
              <a:ext cx="2235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三臂落在 0.9021~0.9025 窄带内</a:t>
              </a:r>
            </a:p>
          </p:txBody>
        </p:sp>
      </p:grpSp>
      <p:grpSp>
        <p:nvGrpSpPr>
          <p:cNvPr id="38" name="card-control"/>
          <p:cNvGrpSpPr/>
          <p:nvPr/>
        </p:nvGrpSpPr>
        <p:grpSpPr>
          <a:xfrm>
            <a:off x="4343400" y="2781300"/>
            <a:ext cx="3505200" cy="2381250"/>
            <a:chOff x="4343400" y="2781300"/>
            <a:chExt cx="3505200" cy="2381250"/>
          </a:xfrm>
        </p:grpSpPr>
        <p:sp>
          <p:nvSpPr>
            <p:cNvPr id="31" name="Rectangle 31"/>
            <p:cNvSpPr/>
            <p:nvPr/>
          </p:nvSpPr>
          <p:spPr>
            <a:xfrm>
              <a:off x="43434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4594225" y="2994025"/>
              <a:ext cx="222251" cy="222252"/>
            </a:xfrm>
            <a:custGeom>
              <a:avLst/>
              <a:gdLst/>
              <a:ahLst/>
              <a:cxnLst/>
              <a:rect l="l" t="t" r="r" b="b"/>
              <a:pathLst>
                <a:path w="222251" h="222252">
                  <a:moveTo>
                    <a:pt x="181501" y="0"/>
                  </a:moveTo>
                  <a:cubicBezTo>
                    <a:pt x="203282" y="0"/>
                    <a:pt x="221062" y="17080"/>
                    <a:pt x="222195" y="38583"/>
                  </a:cubicBezTo>
                  <a:lnTo>
                    <a:pt x="222251" y="40750"/>
                  </a:lnTo>
                  <a:lnTo>
                    <a:pt x="222251" y="181501"/>
                  </a:lnTo>
                  <a:cubicBezTo>
                    <a:pt x="222251" y="203282"/>
                    <a:pt x="205171" y="221062"/>
                    <a:pt x="183668" y="222195"/>
                  </a:cubicBezTo>
                  <a:lnTo>
                    <a:pt x="181501" y="222251"/>
                  </a:lnTo>
                  <a:lnTo>
                    <a:pt x="40750" y="222251"/>
                  </a:lnTo>
                  <a:cubicBezTo>
                    <a:pt x="19085" y="222252"/>
                    <a:pt x="1208" y="205301"/>
                    <a:pt x="56" y="183668"/>
                  </a:cubicBezTo>
                  <a:lnTo>
                    <a:pt x="0" y="181501"/>
                  </a:lnTo>
                  <a:lnTo>
                    <a:pt x="0" y="40750"/>
                  </a:lnTo>
                  <a:cubicBezTo>
                    <a:pt x="0" y="18969"/>
                    <a:pt x="17080" y="1189"/>
                    <a:pt x="38583" y="56"/>
                  </a:cubicBezTo>
                  <a:lnTo>
                    <a:pt x="40750" y="0"/>
                  </a:lnTo>
                  <a:lnTo>
                    <a:pt x="181501" y="0"/>
                  </a:lnTo>
                  <a:close/>
                  <a:moveTo>
                    <a:pt x="152319" y="81044"/>
                  </a:moveTo>
                  <a:cubicBezTo>
                    <a:pt x="147980" y="76706"/>
                    <a:pt x="140946" y="76706"/>
                    <a:pt x="136606" y="81044"/>
                  </a:cubicBezTo>
                  <a:lnTo>
                    <a:pt x="100013" y="117626"/>
                  </a:lnTo>
                  <a:lnTo>
                    <a:pt x="85644" y="103269"/>
                  </a:lnTo>
                  <a:lnTo>
                    <a:pt x="84600" y="102346"/>
                  </a:lnTo>
                  <a:cubicBezTo>
                    <a:pt x="79964" y="98762"/>
                    <a:pt x="73342" y="99393"/>
                    <a:pt x="69467" y="103788"/>
                  </a:cubicBezTo>
                  <a:cubicBezTo>
                    <a:pt x="65592" y="108183"/>
                    <a:pt x="65795" y="114832"/>
                    <a:pt x="69931" y="118982"/>
                  </a:cubicBezTo>
                  <a:lnTo>
                    <a:pt x="92156" y="141207"/>
                  </a:lnTo>
                  <a:lnTo>
                    <a:pt x="93201" y="142129"/>
                  </a:lnTo>
                  <a:cubicBezTo>
                    <a:pt x="97625" y="145561"/>
                    <a:pt x="103910" y="145166"/>
                    <a:pt x="107869" y="141207"/>
                  </a:cubicBezTo>
                  <a:lnTo>
                    <a:pt x="152319" y="96757"/>
                  </a:lnTo>
                  <a:lnTo>
                    <a:pt x="153242" y="95712"/>
                  </a:lnTo>
                  <a:cubicBezTo>
                    <a:pt x="156673" y="91289"/>
                    <a:pt x="156278" y="85003"/>
                    <a:pt x="152319" y="81044"/>
                  </a:cubicBez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64761" y="344170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空对照臂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6666" y="3721100"/>
              <a:ext cx="2284285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anchor-step 2 即 native 本身，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唯一差别是重写一遍 JPEG：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dF1 = +0.0000，8 门限与 24 序列全 0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5720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67047" y="46672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66285" y="4870450"/>
              <a:ext cx="2597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−0.0003 是树自身偏差，无编码器伪影</a:t>
              </a:r>
            </a:p>
          </p:txBody>
        </p:sp>
      </p:grpSp>
      <p:grpSp>
        <p:nvGrpSpPr>
          <p:cNvPr id="46" name="card-bound"/>
          <p:cNvGrpSpPr/>
          <p:nvPr/>
        </p:nvGrpSpPr>
        <p:grpSpPr>
          <a:xfrm>
            <a:off x="8229600" y="2781300"/>
            <a:ext cx="3505200" cy="2381250"/>
            <a:chOff x="8229600" y="2781300"/>
            <a:chExt cx="3505200" cy="2381250"/>
          </a:xfrm>
        </p:grpSpPr>
        <p:sp>
          <p:nvSpPr>
            <p:cNvPr id="39" name="Rectangle 39"/>
            <p:cNvSpPr/>
            <p:nvPr/>
          </p:nvSpPr>
          <p:spPr>
            <a:xfrm>
              <a:off x="82296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467738" y="2990358"/>
              <a:ext cx="247496" cy="214761"/>
            </a:xfrm>
            <a:custGeom>
              <a:avLst/>
              <a:gdLst/>
              <a:ahLst/>
              <a:cxnLst/>
              <a:rect l="l" t="t" r="r" b="b"/>
              <a:pathLst>
                <a:path w="247496" h="214761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8"/>
                  </a:lnTo>
                  <a:cubicBezTo>
                    <a:pt x="247275" y="175835"/>
                    <a:pt x="247496" y="187668"/>
                    <a:pt x="242289" y="197516"/>
                  </a:cubicBezTo>
                  <a:cubicBezTo>
                    <a:pt x="237081" y="207364"/>
                    <a:pt x="227178" y="213844"/>
                    <a:pt x="216069" y="214672"/>
                  </a:cubicBezTo>
                  <a:lnTo>
                    <a:pt x="213902" y="214761"/>
                  </a:lnTo>
                  <a:lnTo>
                    <a:pt x="33601" y="214761"/>
                  </a:lnTo>
                  <a:cubicBezTo>
                    <a:pt x="22481" y="214636"/>
                    <a:pt x="12203" y="208813"/>
                    <a:pt x="6379" y="199340"/>
                  </a:cubicBezTo>
                  <a:cubicBezTo>
                    <a:pt x="555" y="189866"/>
                    <a:pt x="0" y="178067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2000" y="5914"/>
                    <a:pt x="112495" y="2"/>
                    <a:pt x="123812" y="0"/>
                  </a:cubicBezTo>
                  <a:close/>
                  <a:moveTo>
                    <a:pt x="123924" y="148130"/>
                  </a:moveTo>
                  <a:lnTo>
                    <a:pt x="122512" y="148208"/>
                  </a:lnTo>
                  <a:cubicBezTo>
                    <a:pt x="116922" y="148873"/>
                    <a:pt x="112712" y="153613"/>
                    <a:pt x="112712" y="159243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4" y="170277"/>
                  </a:lnTo>
                  <a:cubicBezTo>
                    <a:pt x="130814" y="169612"/>
                    <a:pt x="135024" y="164872"/>
                    <a:pt x="135024" y="159243"/>
                  </a:cubicBezTo>
                  <a:cubicBezTo>
                    <a:pt x="135024" y="153613"/>
                    <a:pt x="130814" y="148873"/>
                    <a:pt x="125224" y="148208"/>
                  </a:cubicBezTo>
                  <a:lnTo>
                    <a:pt x="123924" y="148130"/>
                  </a:lnTo>
                  <a:close/>
                  <a:moveTo>
                    <a:pt x="123812" y="70342"/>
                  </a:moveTo>
                  <a:cubicBezTo>
                    <a:pt x="118179" y="70343"/>
                    <a:pt x="113437" y="74560"/>
                    <a:pt x="112778" y="80155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8" y="127205"/>
                  </a:lnTo>
                  <a:cubicBezTo>
                    <a:pt x="113443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5"/>
                  </a:lnTo>
                  <a:cubicBezTo>
                    <a:pt x="134188" y="74560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50961" y="3441700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代价与边界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52866" y="3721100"/>
              <a:ext cx="2130933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warp 仍 22 次/帧；FP +13 而非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TP 变化（TP −1 仅贡献 −0.00002，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FP +13 贡献 −0.00025）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4582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453247" y="4667250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未决项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52485" y="4870450"/>
              <a:ext cx="2461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anchor_step 只测了 10，6/14 未测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457200" y="5314950"/>
            <a:ext cx="11277600" cy="857250"/>
            <a:chOff x="457200" y="5314950"/>
            <a:chExt cx="11277600" cy="857250"/>
          </a:xfrm>
        </p:grpSpPr>
        <p:sp>
          <p:nvSpPr>
            <p:cNvPr id="47" name="Rectangle 47"/>
            <p:cNvSpPr/>
            <p:nvPr/>
          </p:nvSpPr>
          <p:spPr>
            <a:xfrm>
              <a:off x="457200" y="5314950"/>
              <a:ext cx="11277600" cy="857250"/>
            </a:xfrm>
            <a:prstGeom prst="rect">
              <a:avLst/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57200" y="5314950"/>
              <a:ext cx="38100" cy="8572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6280" y="5480050"/>
              <a:ext cx="568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A1 与 A2 互补而非重复：step10 砍的是拟合，warp 一次没少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8566" y="5797550"/>
              <a:ext cx="7993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CPU 侧 77.4%（warp + median）仍留在原地——那正是 A1 OpenCL 融合内核搬走的那一块；三招合起来才构成 GMC 的完整降本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52" name="Line 52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52247" y="6477000"/>
              <a:ext cx="716697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来源：gmc_net_pending.md §九·9.1/§九·9.3/§九·9.4/§九·9.6；2026-10-15_arm_gmc_precision_eval_s10.md §2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战果 A3 · 战线 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剖析推翻了一个既有假设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453618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金字塔构建只占 3.2%，真正的瓶颈是占 65.8% 的角点检测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8" name="strip"/>
          <p:cNvGrpSpPr/>
          <p:nvPr/>
        </p:nvGrpSpPr>
        <p:grpSpPr>
          <a:xfrm>
            <a:off x="439674" y="1619250"/>
            <a:ext cx="9110109" cy="991743"/>
            <a:chOff x="439674" y="1619250"/>
            <a:chExt cx="9110109" cy="991743"/>
          </a:xfrm>
        </p:grpSpPr>
        <p:sp>
          <p:nvSpPr>
            <p:cNvPr id="7" name="Line 7"/>
            <p:cNvSpPr/>
            <p:nvPr/>
          </p:nvSpPr>
          <p:spPr>
            <a:xfrm>
              <a:off x="41148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010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9674" y="1619250"/>
              <a:ext cx="13761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4.68×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485" y="2184400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板卡 fit 加速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247" y="2419350"/>
              <a:ext cx="12302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18.46 → 3.94 ms/帧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5874" y="1619250"/>
              <a:ext cx="13761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117.6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7685" y="2184400"/>
              <a:ext cx="772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端到端 fps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8447" y="2419350"/>
              <a:ext cx="7289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原 49.5 fps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2074" y="1619250"/>
              <a:ext cx="303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3885" y="2184400"/>
              <a:ext cx="1325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与基线的 MD5 差异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4647" y="24193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输出逐位相同</a:t>
              </a:r>
            </a:p>
          </p:txBody>
        </p:sp>
      </p:grpSp>
      <p:grpSp>
        <p:nvGrpSpPr>
          <p:cNvPr id="28" name="card-profile"/>
          <p:cNvGrpSpPr/>
          <p:nvPr/>
        </p:nvGrpSpPr>
        <p:grpSpPr>
          <a:xfrm>
            <a:off x="457200" y="2781300"/>
            <a:ext cx="3505200" cy="2381250"/>
            <a:chOff x="457200" y="2781300"/>
            <a:chExt cx="35052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4572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08025" y="2994025"/>
              <a:ext cx="224409" cy="222251"/>
              <a:chOff x="708025" y="2994025"/>
              <a:chExt cx="224409" cy="22225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08025" y="2994025"/>
                <a:ext cx="222251" cy="222251"/>
              </a:xfrm>
              <a:custGeom>
                <a:avLst/>
                <a:gdLst/>
                <a:ahLst/>
                <a:cxnLst/>
                <a:rect l="l" t="t" r="r" b="b"/>
                <a:pathLst>
                  <a:path w="222251" h="222251">
                    <a:moveTo>
                      <a:pt x="11113" y="0"/>
                    </a:moveTo>
                    <a:cubicBezTo>
                      <a:pt x="17250" y="0"/>
                      <a:pt x="22225" y="4975"/>
                      <a:pt x="22225" y="11113"/>
                    </a:cubicBezTo>
                    <a:lnTo>
                      <a:pt x="22225" y="200026"/>
                    </a:lnTo>
                    <a:lnTo>
                      <a:pt x="211138" y="200026"/>
                    </a:lnTo>
                    <a:cubicBezTo>
                      <a:pt x="216772" y="200026"/>
                      <a:pt x="221514" y="204243"/>
                      <a:pt x="222173" y="209838"/>
                    </a:cubicBezTo>
                    <a:lnTo>
                      <a:pt x="222251" y="211138"/>
                    </a:lnTo>
                    <a:cubicBezTo>
                      <a:pt x="222251" y="217275"/>
                      <a:pt x="217275" y="222251"/>
                      <a:pt x="211138" y="222251"/>
                    </a:cubicBezTo>
                    <a:lnTo>
                      <a:pt x="11113" y="222251"/>
                    </a:lnTo>
                    <a:cubicBezTo>
                      <a:pt x="4975" y="222251"/>
                      <a:pt x="0" y="217275"/>
                      <a:pt x="0" y="211138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48830" y="3016250"/>
                <a:ext cx="183604" cy="158936"/>
              </a:xfrm>
              <a:custGeom>
                <a:avLst/>
                <a:gdLst/>
                <a:ahLst/>
                <a:cxnLst/>
                <a:rect l="l" t="t" r="r" b="b"/>
                <a:pathLst>
                  <a:path w="183604" h="158936">
                    <a:moveTo>
                      <a:pt x="148108" y="0"/>
                    </a:moveTo>
                    <a:cubicBezTo>
                      <a:pt x="160873" y="29"/>
                      <a:pt x="172500" y="7344"/>
                      <a:pt x="178052" y="18838"/>
                    </a:cubicBezTo>
                    <a:cubicBezTo>
                      <a:pt x="183604" y="30333"/>
                      <a:pt x="182105" y="43988"/>
                      <a:pt x="174192" y="54004"/>
                    </a:cubicBezTo>
                    <a:cubicBezTo>
                      <a:pt x="166278" y="64020"/>
                      <a:pt x="153340" y="68639"/>
                      <a:pt x="140873" y="65897"/>
                    </a:cubicBezTo>
                    <a:lnTo>
                      <a:pt x="118626" y="101480"/>
                    </a:lnTo>
                    <a:cubicBezTo>
                      <a:pt x="129123" y="114668"/>
                      <a:pt x="128125" y="133617"/>
                      <a:pt x="116299" y="145629"/>
                    </a:cubicBezTo>
                    <a:cubicBezTo>
                      <a:pt x="104474" y="157641"/>
                      <a:pt x="85542" y="158936"/>
                      <a:pt x="72191" y="148646"/>
                    </a:cubicBezTo>
                    <a:cubicBezTo>
                      <a:pt x="58840" y="138356"/>
                      <a:pt x="55271" y="119720"/>
                      <a:pt x="63875" y="105225"/>
                    </a:cubicBezTo>
                    <a:lnTo>
                      <a:pt x="48562" y="86833"/>
                    </a:lnTo>
                    <a:cubicBezTo>
                      <a:pt x="33338" y="92471"/>
                      <a:pt x="16266" y="86322"/>
                      <a:pt x="8133" y="72272"/>
                    </a:cubicBezTo>
                    <a:cubicBezTo>
                      <a:pt x="0" y="58222"/>
                      <a:pt x="3170" y="40357"/>
                      <a:pt x="15640" y="29962"/>
                    </a:cubicBezTo>
                    <a:cubicBezTo>
                      <a:pt x="28110" y="19568"/>
                      <a:pt x="46254" y="19667"/>
                      <a:pt x="58610" y="30197"/>
                    </a:cubicBezTo>
                    <a:cubicBezTo>
                      <a:pt x="70965" y="40728"/>
                      <a:pt x="73939" y="58627"/>
                      <a:pt x="65653" y="72587"/>
                    </a:cubicBezTo>
                    <a:lnTo>
                      <a:pt x="80966" y="90967"/>
                    </a:lnTo>
                    <a:cubicBezTo>
                      <a:pt x="86982" y="88736"/>
                      <a:pt x="93516" y="88292"/>
                      <a:pt x="99779" y="89689"/>
                    </a:cubicBezTo>
                    <a:lnTo>
                      <a:pt x="122027" y="54096"/>
                    </a:lnTo>
                    <a:cubicBezTo>
                      <a:pt x="114057" y="44081"/>
                      <a:pt x="112525" y="30388"/>
                      <a:pt x="118083" y="18859"/>
                    </a:cubicBezTo>
                    <a:cubicBezTo>
                      <a:pt x="123641" y="7331"/>
                      <a:pt x="135309" y="2"/>
                      <a:pt x="148108" y="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678561" y="3441700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剖析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0466" y="3721100"/>
              <a:ext cx="2117598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角点检测与金字塔一样是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单张输入图的纯函数，却在每次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拟合里被重复计算（每帧 3.25 次）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858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0847" y="46672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实测占比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0085" y="4870450"/>
              <a:ext cx="19082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gFTT 65.8% / 金字塔 3.2%</a:t>
              </a:r>
            </a:p>
          </p:txBody>
        </p:sp>
      </p:grpSp>
      <p:grpSp>
        <p:nvGrpSpPr>
          <p:cNvPr id="39" name="card-how"/>
          <p:cNvGrpSpPr/>
          <p:nvPr/>
        </p:nvGrpSpPr>
        <p:grpSpPr>
          <a:xfrm>
            <a:off x="4343400" y="2781300"/>
            <a:ext cx="3505200" cy="2381250"/>
            <a:chOff x="4343400" y="2781300"/>
            <a:chExt cx="35052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43434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605337" y="2994025"/>
              <a:ext cx="200027" cy="222250"/>
              <a:chOff x="4605337" y="2994025"/>
              <a:chExt cx="200027" cy="22225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605338" y="3146611"/>
                <a:ext cx="200026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3" y="25214"/>
                    </a:cubicBezTo>
                    <a:cubicBezTo>
                      <a:pt x="141796" y="25214"/>
                      <a:pt x="178078" y="16769"/>
                      <a:pt x="200026" y="189"/>
                    </a:cubicBezTo>
                    <a:lnTo>
                      <a:pt x="200026" y="25214"/>
                    </a:lnTo>
                    <a:cubicBezTo>
                      <a:pt x="200026" y="52162"/>
                      <a:pt x="156742" y="68953"/>
                      <a:pt x="103424" y="69642"/>
                    </a:cubicBezTo>
                    <a:lnTo>
                      <a:pt x="100013" y="69664"/>
                    </a:lnTo>
                    <a:cubicBezTo>
                      <a:pt x="45139" y="69664"/>
                      <a:pt x="0" y="52740"/>
                      <a:pt x="0" y="25214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605338" y="3079936"/>
                <a:ext cx="200026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3" y="25214"/>
                    </a:cubicBezTo>
                    <a:cubicBezTo>
                      <a:pt x="141796" y="25214"/>
                      <a:pt x="178078" y="16769"/>
                      <a:pt x="200026" y="189"/>
                    </a:cubicBezTo>
                    <a:lnTo>
                      <a:pt x="200026" y="25214"/>
                    </a:lnTo>
                    <a:cubicBezTo>
                      <a:pt x="200026" y="52740"/>
                      <a:pt x="154886" y="69664"/>
                      <a:pt x="100013" y="69664"/>
                    </a:cubicBezTo>
                    <a:cubicBezTo>
                      <a:pt x="46695" y="69664"/>
                      <a:pt x="2556" y="53685"/>
                      <a:pt x="233" y="27492"/>
                    </a:cubicBezTo>
                    <a:lnTo>
                      <a:pt x="56" y="26370"/>
                    </a:lnTo>
                    <a:lnTo>
                      <a:pt x="0" y="25214"/>
                    </a:ln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605337" y="2994025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100014" y="0"/>
                    </a:moveTo>
                    <a:cubicBezTo>
                      <a:pt x="111582" y="0"/>
                      <a:pt x="122728" y="756"/>
                      <a:pt x="133096" y="2200"/>
                    </a:cubicBezTo>
                    <a:lnTo>
                      <a:pt x="138307" y="2989"/>
                    </a:lnTo>
                    <a:cubicBezTo>
                      <a:pt x="144530" y="4026"/>
                      <a:pt x="150405" y="5315"/>
                      <a:pt x="155932" y="6856"/>
                    </a:cubicBezTo>
                    <a:lnTo>
                      <a:pt x="160821" y="8312"/>
                    </a:lnTo>
                    <a:lnTo>
                      <a:pt x="161655" y="8579"/>
                    </a:lnTo>
                    <a:cubicBezTo>
                      <a:pt x="164679" y="9573"/>
                      <a:pt x="167663" y="10685"/>
                      <a:pt x="170600" y="11913"/>
                    </a:cubicBezTo>
                    <a:lnTo>
                      <a:pt x="172812" y="12868"/>
                    </a:lnTo>
                    <a:cubicBezTo>
                      <a:pt x="176775" y="14661"/>
                      <a:pt x="180357" y="16624"/>
                      <a:pt x="183558" y="18758"/>
                    </a:cubicBezTo>
                    <a:cubicBezTo>
                      <a:pt x="184780" y="19573"/>
                      <a:pt x="185939" y="20406"/>
                      <a:pt x="187036" y="21258"/>
                    </a:cubicBezTo>
                    <a:cubicBezTo>
                      <a:pt x="189813" y="23414"/>
                      <a:pt x="192311" y="25907"/>
                      <a:pt x="194470" y="28681"/>
                    </a:cubicBezTo>
                    <a:lnTo>
                      <a:pt x="195481" y="30104"/>
                    </a:lnTo>
                    <a:cubicBezTo>
                      <a:pt x="196000" y="30882"/>
                      <a:pt x="196478" y="31663"/>
                      <a:pt x="196915" y="32449"/>
                    </a:cubicBezTo>
                    <a:lnTo>
                      <a:pt x="197693" y="33993"/>
                    </a:lnTo>
                    <a:cubicBezTo>
                      <a:pt x="198900" y="36586"/>
                      <a:pt x="199641" y="39290"/>
                      <a:pt x="199915" y="42105"/>
                    </a:cubicBezTo>
                    <a:lnTo>
                      <a:pt x="200026" y="44450"/>
                    </a:lnTo>
                    <a:cubicBezTo>
                      <a:pt x="200026" y="71976"/>
                      <a:pt x="154887" y="88900"/>
                      <a:pt x="100014" y="88900"/>
                    </a:cubicBezTo>
                    <a:cubicBezTo>
                      <a:pt x="46696" y="88900"/>
                      <a:pt x="2557" y="72920"/>
                      <a:pt x="234" y="46728"/>
                    </a:cubicBezTo>
                    <a:cubicBezTo>
                      <a:pt x="78" y="45979"/>
                      <a:pt x="0" y="45215"/>
                      <a:pt x="1" y="44450"/>
                    </a:cubicBezTo>
                    <a:lnTo>
                      <a:pt x="56" y="43294"/>
                    </a:lnTo>
                    <a:lnTo>
                      <a:pt x="234" y="42183"/>
                    </a:lnTo>
                    <a:cubicBezTo>
                      <a:pt x="2512" y="16558"/>
                      <a:pt x="44795" y="700"/>
                      <a:pt x="96547" y="22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564761" y="3441700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方案与消融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6666" y="3721100"/>
              <a:ext cx="2290953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resize + 角点 + 金字塔三项按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绝对帧号缓存；复用金字塔是位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精确——按「层数为奇」识别预计算梯度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5720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567047" y="46672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消融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66285" y="4870450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角点单项 2.14×，三项全开 5.15×</a:t>
              </a:r>
            </a:p>
          </p:txBody>
        </p:sp>
      </p:grpSp>
      <p:grpSp>
        <p:nvGrpSpPr>
          <p:cNvPr id="47" name="card-bound"/>
          <p:cNvGrpSpPr/>
          <p:nvPr/>
        </p:nvGrpSpPr>
        <p:grpSpPr>
          <a:xfrm>
            <a:off x="8229600" y="2781300"/>
            <a:ext cx="3505200" cy="2381250"/>
            <a:chOff x="8229600" y="2781300"/>
            <a:chExt cx="3505200" cy="2381250"/>
          </a:xfrm>
        </p:grpSpPr>
        <p:sp>
          <p:nvSpPr>
            <p:cNvPr id="40" name="Rectangle 40"/>
            <p:cNvSpPr/>
            <p:nvPr/>
          </p:nvSpPr>
          <p:spPr>
            <a:xfrm>
              <a:off x="82296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467738" y="2990358"/>
              <a:ext cx="247496" cy="214761"/>
            </a:xfrm>
            <a:custGeom>
              <a:avLst/>
              <a:gdLst/>
              <a:ahLst/>
              <a:cxnLst/>
              <a:rect l="l" t="t" r="r" b="b"/>
              <a:pathLst>
                <a:path w="247496" h="214761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8"/>
                  </a:lnTo>
                  <a:cubicBezTo>
                    <a:pt x="247275" y="175835"/>
                    <a:pt x="247496" y="187668"/>
                    <a:pt x="242289" y="197516"/>
                  </a:cubicBezTo>
                  <a:cubicBezTo>
                    <a:pt x="237081" y="207364"/>
                    <a:pt x="227178" y="213844"/>
                    <a:pt x="216069" y="214672"/>
                  </a:cubicBezTo>
                  <a:lnTo>
                    <a:pt x="213902" y="214761"/>
                  </a:lnTo>
                  <a:lnTo>
                    <a:pt x="33601" y="214761"/>
                  </a:lnTo>
                  <a:cubicBezTo>
                    <a:pt x="22481" y="214636"/>
                    <a:pt x="12203" y="208813"/>
                    <a:pt x="6379" y="199340"/>
                  </a:cubicBezTo>
                  <a:cubicBezTo>
                    <a:pt x="555" y="189866"/>
                    <a:pt x="0" y="178067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2000" y="5914"/>
                    <a:pt x="112495" y="2"/>
                    <a:pt x="123812" y="0"/>
                  </a:cubicBezTo>
                  <a:close/>
                  <a:moveTo>
                    <a:pt x="123924" y="148130"/>
                  </a:moveTo>
                  <a:lnTo>
                    <a:pt x="122512" y="148208"/>
                  </a:lnTo>
                  <a:cubicBezTo>
                    <a:pt x="116922" y="148873"/>
                    <a:pt x="112712" y="153613"/>
                    <a:pt x="112712" y="159243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4" y="170277"/>
                  </a:lnTo>
                  <a:cubicBezTo>
                    <a:pt x="130814" y="169612"/>
                    <a:pt x="135024" y="164872"/>
                    <a:pt x="135024" y="159243"/>
                  </a:cubicBezTo>
                  <a:cubicBezTo>
                    <a:pt x="135024" y="153613"/>
                    <a:pt x="130814" y="148873"/>
                    <a:pt x="125224" y="148208"/>
                  </a:cubicBezTo>
                  <a:lnTo>
                    <a:pt x="123924" y="148130"/>
                  </a:lnTo>
                  <a:close/>
                  <a:moveTo>
                    <a:pt x="123812" y="70342"/>
                  </a:moveTo>
                  <a:cubicBezTo>
                    <a:pt x="118179" y="70343"/>
                    <a:pt x="113437" y="74560"/>
                    <a:pt x="112778" y="80155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8" y="127205"/>
                  </a:lnTo>
                  <a:cubicBezTo>
                    <a:pt x="113443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5"/>
                  </a:lnTo>
                  <a:cubicBezTo>
                    <a:pt x="134188" y="74560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50961" y="344170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收益边界与两个坑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52866" y="3721100"/>
              <a:ext cx="2217610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收益 = 占比 × 命中率（15.7 角点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4.30× vs 291.9 角点 1.37×）；环形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槽不能用「是否已填充」布尔量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4582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3247" y="46672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精度让步档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52485" y="4870450"/>
              <a:ext cx="2469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减角点几乎只伤平移（0 → 5.44 px）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457200" y="5314950"/>
            <a:ext cx="11277600" cy="857250"/>
            <a:chOff x="457200" y="5314950"/>
            <a:chExt cx="11277600" cy="857250"/>
          </a:xfrm>
        </p:grpSpPr>
        <p:sp>
          <p:nvSpPr>
            <p:cNvPr id="48" name="Rectangle 48"/>
            <p:cNvSpPr/>
            <p:nvPr/>
          </p:nvSpPr>
          <p:spPr>
            <a:xfrm>
              <a:off x="457200" y="5314950"/>
              <a:ext cx="11277600" cy="857250"/>
            </a:xfrm>
            <a:prstGeom prst="rect">
              <a:avLst/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57200" y="5314950"/>
              <a:ext cx="38100" cy="8572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6280" y="548005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任何加速比都必须附带该序列的纹理水平，否则不可迁移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8566" y="5797550"/>
              <a:ext cx="7472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缓存消除不了 LK 的逐点迭代——LK 代价正比于点数；引用 4.68× 而不报角点密度，等于把一个场景的数字当成通用结论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53" name="Line 53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52247" y="6477000"/>
              <a:ext cx="80311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来源：gmc_fit_cache_rk3588.md §1.2（阶段剖析）、§2.1（位精确原理）、§4（消融与生产数据）、§5（让步档）、§6（纹理依赖）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ection-head"/>
          <p:cNvGrpSpPr/>
          <p:nvPr/>
        </p:nvGrpSpPr>
        <p:grpSpPr>
          <a:xfrm>
            <a:off x="438150" y="1485900"/>
            <a:ext cx="11296650" cy="2371725"/>
            <a:chOff x="438150" y="1485900"/>
            <a:chExt cx="11296650" cy="2371725"/>
          </a:xfrm>
        </p:grpSpPr>
        <p:sp>
          <p:nvSpPr>
            <p:cNvPr id="2" name="Rectangle 2"/>
            <p:cNvSpPr/>
            <p:nvPr/>
          </p:nvSpPr>
          <p:spPr>
            <a:xfrm>
              <a:off x="457200" y="1485900"/>
              <a:ext cx="685800" cy="3810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38150" y="1638300"/>
              <a:ext cx="1250892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0436" y="2736850"/>
              <a:ext cx="375731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战线 B · NPU 之战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9961" y="3422650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四招打掉算子匹配、效率误判、重复前向与归因错误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57200" y="3848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2" name="preview-b1"/>
          <p:cNvGrpSpPr/>
          <p:nvPr/>
        </p:nvGrpSpPr>
        <p:grpSpPr>
          <a:xfrm>
            <a:off x="449961" y="4121150"/>
            <a:ext cx="1458352" cy="1540828"/>
            <a:chOff x="449961" y="4121150"/>
            <a:chExt cx="1458352" cy="1540828"/>
          </a:xfrm>
        </p:grpSpPr>
        <p:sp>
          <p:nvSpPr>
            <p:cNvPr id="8" name="Freeform 8"/>
            <p:cNvSpPr/>
            <p:nvPr/>
          </p:nvSpPr>
          <p:spPr>
            <a:xfrm>
              <a:off x="482600" y="4121150"/>
              <a:ext cx="253999" cy="254001"/>
            </a:xfrm>
            <a:custGeom>
              <a:avLst/>
              <a:gdLst/>
              <a:ahLst/>
              <a:cxnLst/>
              <a:rect l="l" t="t" r="r" b="b"/>
              <a:pathLst>
                <a:path w="253999" h="254001">
                  <a:moveTo>
                    <a:pt x="207429" y="0"/>
                  </a:moveTo>
                  <a:cubicBezTo>
                    <a:pt x="232321" y="0"/>
                    <a:pt x="252640" y="19520"/>
                    <a:pt x="253936" y="44094"/>
                  </a:cubicBezTo>
                  <a:lnTo>
                    <a:pt x="253999" y="46571"/>
                  </a:lnTo>
                  <a:lnTo>
                    <a:pt x="253999" y="207429"/>
                  </a:lnTo>
                  <a:cubicBezTo>
                    <a:pt x="253999" y="232321"/>
                    <a:pt x="234480" y="252640"/>
                    <a:pt x="209905" y="253936"/>
                  </a:cubicBezTo>
                  <a:lnTo>
                    <a:pt x="207429" y="253999"/>
                  </a:lnTo>
                  <a:lnTo>
                    <a:pt x="46571" y="253999"/>
                  </a:lnTo>
                  <a:cubicBezTo>
                    <a:pt x="21812" y="254001"/>
                    <a:pt x="1380" y="234629"/>
                    <a:pt x="63" y="209905"/>
                  </a:cubicBezTo>
                  <a:lnTo>
                    <a:pt x="0" y="207429"/>
                  </a:lnTo>
                  <a:lnTo>
                    <a:pt x="0" y="46571"/>
                  </a:lnTo>
                  <a:cubicBezTo>
                    <a:pt x="0" y="21679"/>
                    <a:pt x="19520" y="1359"/>
                    <a:pt x="44094" y="63"/>
                  </a:cubicBezTo>
                  <a:lnTo>
                    <a:pt x="46571" y="0"/>
                  </a:lnTo>
                  <a:lnTo>
                    <a:pt x="207429" y="0"/>
                  </a:lnTo>
                  <a:close/>
                  <a:moveTo>
                    <a:pt x="174078" y="92621"/>
                  </a:moveTo>
                  <a:cubicBezTo>
                    <a:pt x="169119" y="87663"/>
                    <a:pt x="161080" y="87663"/>
                    <a:pt x="156121" y="92621"/>
                  </a:cubicBezTo>
                  <a:lnTo>
                    <a:pt x="114300" y="134429"/>
                  </a:lnTo>
                  <a:lnTo>
                    <a:pt x="97879" y="118021"/>
                  </a:lnTo>
                  <a:lnTo>
                    <a:pt x="96685" y="116967"/>
                  </a:lnTo>
                  <a:cubicBezTo>
                    <a:pt x="91387" y="112871"/>
                    <a:pt x="83820" y="113591"/>
                    <a:pt x="79391" y="118614"/>
                  </a:cubicBezTo>
                  <a:cubicBezTo>
                    <a:pt x="74962" y="123637"/>
                    <a:pt x="75194" y="131235"/>
                    <a:pt x="79921" y="135979"/>
                  </a:cubicBezTo>
                  <a:lnTo>
                    <a:pt x="105321" y="161378"/>
                  </a:lnTo>
                  <a:lnTo>
                    <a:pt x="106515" y="162433"/>
                  </a:lnTo>
                  <a:cubicBezTo>
                    <a:pt x="111570" y="166354"/>
                    <a:pt x="118754" y="165903"/>
                    <a:pt x="123279" y="161378"/>
                  </a:cubicBezTo>
                  <a:lnTo>
                    <a:pt x="174078" y="110579"/>
                  </a:lnTo>
                  <a:lnTo>
                    <a:pt x="175133" y="109385"/>
                  </a:lnTo>
                  <a:cubicBezTo>
                    <a:pt x="179054" y="104329"/>
                    <a:pt x="178603" y="97145"/>
                    <a:pt x="174078" y="92621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49961" y="4546600"/>
              <a:ext cx="1458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B1 算子回退清零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866" y="48641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布局变换改写成算术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1485" y="54419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攻：静默回退</a:t>
              </a:r>
            </a:p>
          </p:txBody>
        </p:sp>
      </p:grpSp>
      <p:grpSp>
        <p:nvGrpSpPr>
          <p:cNvPr id="19" name="preview-b2"/>
          <p:cNvGrpSpPr/>
          <p:nvPr/>
        </p:nvGrpSpPr>
        <p:grpSpPr>
          <a:xfrm>
            <a:off x="3269361" y="4121150"/>
            <a:ext cx="1375585" cy="1540828"/>
            <a:chOff x="3269361" y="4121150"/>
            <a:chExt cx="1375585" cy="1540828"/>
          </a:xfrm>
        </p:grpSpPr>
        <p:grpSp>
          <p:nvGrpSpPr>
            <p:cNvPr id="15" name="Group 15"/>
            <p:cNvGrpSpPr/>
            <p:nvPr/>
          </p:nvGrpSpPr>
          <p:grpSpPr>
            <a:xfrm>
              <a:off x="3302000" y="4121150"/>
              <a:ext cx="256466" cy="253999"/>
              <a:chOff x="3302000" y="4121150"/>
              <a:chExt cx="256466" cy="25399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302000" y="4121150"/>
                <a:ext cx="253999" cy="253999"/>
              </a:xfrm>
              <a:custGeom>
                <a:avLst/>
                <a:gdLst/>
                <a:ahLst/>
                <a:cxnLst/>
                <a:rect l="l" t="t" r="r" b="b"/>
                <a:pathLst>
                  <a:path w="253999" h="253999">
                    <a:moveTo>
                      <a:pt x="12700" y="0"/>
                    </a:moveTo>
                    <a:cubicBezTo>
                      <a:pt x="19714" y="0"/>
                      <a:pt x="25400" y="5686"/>
                      <a:pt x="25400" y="12700"/>
                    </a:cubicBezTo>
                    <a:lnTo>
                      <a:pt x="25400" y="228599"/>
                    </a:lnTo>
                    <a:lnTo>
                      <a:pt x="241299" y="228599"/>
                    </a:lnTo>
                    <a:cubicBezTo>
                      <a:pt x="247738" y="228600"/>
                      <a:pt x="253157" y="233419"/>
                      <a:pt x="253910" y="239814"/>
                    </a:cubicBezTo>
                    <a:lnTo>
                      <a:pt x="253999" y="241299"/>
                    </a:lnTo>
                    <a:cubicBezTo>
                      <a:pt x="253999" y="248313"/>
                      <a:pt x="248313" y="253999"/>
                      <a:pt x="241299" y="253999"/>
                    </a:cubicBezTo>
                    <a:lnTo>
                      <a:pt x="12700" y="253999"/>
                    </a:lnTo>
                    <a:cubicBezTo>
                      <a:pt x="5686" y="253999"/>
                      <a:pt x="0" y="248313"/>
                      <a:pt x="0" y="241299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348634" y="4146550"/>
                <a:ext cx="209832" cy="181640"/>
              </a:xfrm>
              <a:custGeom>
                <a:avLst/>
                <a:gdLst/>
                <a:ahLst/>
                <a:cxnLst/>
                <a:rect l="l" t="t" r="r" b="b"/>
                <a:pathLst>
                  <a:path w="209832" h="181640">
                    <a:moveTo>
                      <a:pt x="169265" y="0"/>
                    </a:moveTo>
                    <a:cubicBezTo>
                      <a:pt x="183853" y="33"/>
                      <a:pt x="197142" y="8393"/>
                      <a:pt x="203487" y="21529"/>
                    </a:cubicBezTo>
                    <a:cubicBezTo>
                      <a:pt x="209832" y="34666"/>
                      <a:pt x="208119" y="50272"/>
                      <a:pt x="199075" y="61719"/>
                    </a:cubicBezTo>
                    <a:cubicBezTo>
                      <a:pt x="190031" y="73166"/>
                      <a:pt x="175245" y="78444"/>
                      <a:pt x="160997" y="75311"/>
                    </a:cubicBezTo>
                    <a:lnTo>
                      <a:pt x="135572" y="115976"/>
                    </a:lnTo>
                    <a:cubicBezTo>
                      <a:pt x="147569" y="131049"/>
                      <a:pt x="146428" y="152705"/>
                      <a:pt x="132913" y="166433"/>
                    </a:cubicBezTo>
                    <a:cubicBezTo>
                      <a:pt x="119398" y="180160"/>
                      <a:pt x="97762" y="181640"/>
                      <a:pt x="82504" y="169880"/>
                    </a:cubicBezTo>
                    <a:cubicBezTo>
                      <a:pt x="67246" y="158121"/>
                      <a:pt x="63166" y="136822"/>
                      <a:pt x="72999" y="120256"/>
                    </a:cubicBezTo>
                    <a:lnTo>
                      <a:pt x="55499" y="99238"/>
                    </a:lnTo>
                    <a:cubicBezTo>
                      <a:pt x="38100" y="105680"/>
                      <a:pt x="18590" y="98653"/>
                      <a:pt x="9295" y="82596"/>
                    </a:cubicBezTo>
                    <a:cubicBezTo>
                      <a:pt x="0" y="66540"/>
                      <a:pt x="3622" y="46122"/>
                      <a:pt x="17874" y="34242"/>
                    </a:cubicBezTo>
                    <a:cubicBezTo>
                      <a:pt x="32125" y="22363"/>
                      <a:pt x="52862" y="22477"/>
                      <a:pt x="66982" y="34511"/>
                    </a:cubicBezTo>
                    <a:cubicBezTo>
                      <a:pt x="81103" y="46546"/>
                      <a:pt x="84502" y="67002"/>
                      <a:pt x="75031" y="82956"/>
                    </a:cubicBezTo>
                    <a:lnTo>
                      <a:pt x="92532" y="103962"/>
                    </a:lnTo>
                    <a:cubicBezTo>
                      <a:pt x="99408" y="101412"/>
                      <a:pt x="106875" y="100905"/>
                      <a:pt x="114033" y="102501"/>
                    </a:cubicBezTo>
                    <a:lnTo>
                      <a:pt x="139458" y="61823"/>
                    </a:lnTo>
                    <a:cubicBezTo>
                      <a:pt x="130350" y="50378"/>
                      <a:pt x="128599" y="34729"/>
                      <a:pt x="134951" y="21554"/>
                    </a:cubicBezTo>
                    <a:cubicBezTo>
                      <a:pt x="141304" y="8378"/>
                      <a:pt x="154638" y="2"/>
                      <a:pt x="169265" y="0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3269361" y="4546600"/>
              <a:ext cx="1375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B2 弃用 FLOPs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71266" y="4864100"/>
              <a:ext cx="11356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改用 RKNN 算子表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70885" y="54419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攻：效率误判</a:t>
              </a:r>
            </a:p>
          </p:txBody>
        </p:sp>
      </p:grpSp>
      <p:grpSp>
        <p:nvGrpSpPr>
          <p:cNvPr id="24" name="preview-b3"/>
          <p:cNvGrpSpPr/>
          <p:nvPr/>
        </p:nvGrpSpPr>
        <p:grpSpPr>
          <a:xfrm>
            <a:off x="6088761" y="4121149"/>
            <a:ext cx="1143381" cy="1540829"/>
            <a:chOff x="6088761" y="4121149"/>
            <a:chExt cx="1143381" cy="1540829"/>
          </a:xfrm>
        </p:grpSpPr>
        <p:sp>
          <p:nvSpPr>
            <p:cNvPr id="20" name="Freeform 20"/>
            <p:cNvSpPr/>
            <p:nvPr/>
          </p:nvSpPr>
          <p:spPr>
            <a:xfrm>
              <a:off x="6121396" y="4121149"/>
              <a:ext cx="254629" cy="254005"/>
            </a:xfrm>
            <a:custGeom>
              <a:avLst/>
              <a:gdLst/>
              <a:ahLst/>
              <a:cxnLst/>
              <a:rect l="l" t="t" r="r" b="b"/>
              <a:pathLst>
                <a:path w="254629" h="254005">
                  <a:moveTo>
                    <a:pt x="101604" y="1"/>
                  </a:moveTo>
                  <a:cubicBezTo>
                    <a:pt x="121779" y="0"/>
                    <a:pt x="138457" y="15726"/>
                    <a:pt x="139640" y="35866"/>
                  </a:cubicBezTo>
                  <a:lnTo>
                    <a:pt x="139704" y="38101"/>
                  </a:lnTo>
                  <a:lnTo>
                    <a:pt x="139704" y="50801"/>
                  </a:lnTo>
                  <a:lnTo>
                    <a:pt x="177804" y="50801"/>
                  </a:lnTo>
                  <a:cubicBezTo>
                    <a:pt x="191096" y="50797"/>
                    <a:pt x="202143" y="61041"/>
                    <a:pt x="203140" y="74296"/>
                  </a:cubicBezTo>
                  <a:lnTo>
                    <a:pt x="203204" y="76201"/>
                  </a:lnTo>
                  <a:lnTo>
                    <a:pt x="203204" y="114301"/>
                  </a:lnTo>
                  <a:lnTo>
                    <a:pt x="215904" y="114301"/>
                  </a:lnTo>
                  <a:cubicBezTo>
                    <a:pt x="236525" y="114281"/>
                    <a:pt x="253419" y="130671"/>
                    <a:pt x="254024" y="151283"/>
                  </a:cubicBezTo>
                  <a:cubicBezTo>
                    <a:pt x="254629" y="171895"/>
                    <a:pt x="238725" y="189247"/>
                    <a:pt x="218139" y="190437"/>
                  </a:cubicBezTo>
                  <a:lnTo>
                    <a:pt x="215904" y="190501"/>
                  </a:lnTo>
                  <a:lnTo>
                    <a:pt x="203204" y="190501"/>
                  </a:lnTo>
                  <a:lnTo>
                    <a:pt x="203204" y="228601"/>
                  </a:lnTo>
                  <a:cubicBezTo>
                    <a:pt x="203208" y="241893"/>
                    <a:pt x="192963" y="252940"/>
                    <a:pt x="179709" y="253937"/>
                  </a:cubicBezTo>
                  <a:lnTo>
                    <a:pt x="177804" y="254000"/>
                  </a:lnTo>
                  <a:lnTo>
                    <a:pt x="139704" y="254000"/>
                  </a:lnTo>
                  <a:cubicBezTo>
                    <a:pt x="126412" y="254005"/>
                    <a:pt x="115364" y="243760"/>
                    <a:pt x="114367" y="230506"/>
                  </a:cubicBezTo>
                  <a:lnTo>
                    <a:pt x="114304" y="228601"/>
                  </a:lnTo>
                  <a:lnTo>
                    <a:pt x="114304" y="215901"/>
                  </a:lnTo>
                  <a:cubicBezTo>
                    <a:pt x="114296" y="209181"/>
                    <a:pt x="109056" y="203630"/>
                    <a:pt x="102348" y="203237"/>
                  </a:cubicBezTo>
                  <a:cubicBezTo>
                    <a:pt x="95640" y="202843"/>
                    <a:pt x="89787" y="207742"/>
                    <a:pt x="88993" y="214415"/>
                  </a:cubicBezTo>
                  <a:lnTo>
                    <a:pt x="88904" y="215901"/>
                  </a:lnTo>
                  <a:lnTo>
                    <a:pt x="88904" y="228601"/>
                  </a:lnTo>
                  <a:cubicBezTo>
                    <a:pt x="88908" y="241893"/>
                    <a:pt x="78664" y="252940"/>
                    <a:pt x="65409" y="253937"/>
                  </a:cubicBezTo>
                  <a:lnTo>
                    <a:pt x="63504" y="254000"/>
                  </a:lnTo>
                  <a:lnTo>
                    <a:pt x="25404" y="254000"/>
                  </a:lnTo>
                  <a:cubicBezTo>
                    <a:pt x="12112" y="254005"/>
                    <a:pt x="1065" y="243760"/>
                    <a:pt x="68" y="230506"/>
                  </a:cubicBezTo>
                  <a:lnTo>
                    <a:pt x="4" y="228601"/>
                  </a:lnTo>
                  <a:lnTo>
                    <a:pt x="4" y="190501"/>
                  </a:lnTo>
                  <a:cubicBezTo>
                    <a:pt x="0" y="177209"/>
                    <a:pt x="10244" y="166161"/>
                    <a:pt x="23499" y="165164"/>
                  </a:cubicBezTo>
                  <a:lnTo>
                    <a:pt x="25404" y="165101"/>
                  </a:lnTo>
                  <a:lnTo>
                    <a:pt x="38104" y="165101"/>
                  </a:lnTo>
                  <a:cubicBezTo>
                    <a:pt x="44824" y="165093"/>
                    <a:pt x="50374" y="159853"/>
                    <a:pt x="50768" y="153145"/>
                  </a:cubicBezTo>
                  <a:cubicBezTo>
                    <a:pt x="51162" y="146437"/>
                    <a:pt x="46262" y="140583"/>
                    <a:pt x="39590" y="139790"/>
                  </a:cubicBezTo>
                  <a:lnTo>
                    <a:pt x="38104" y="139701"/>
                  </a:lnTo>
                  <a:lnTo>
                    <a:pt x="25404" y="139701"/>
                  </a:lnTo>
                  <a:cubicBezTo>
                    <a:pt x="12112" y="139705"/>
                    <a:pt x="1065" y="129460"/>
                    <a:pt x="68" y="116206"/>
                  </a:cubicBezTo>
                  <a:lnTo>
                    <a:pt x="4" y="114301"/>
                  </a:lnTo>
                  <a:lnTo>
                    <a:pt x="4" y="76201"/>
                  </a:lnTo>
                  <a:cubicBezTo>
                    <a:pt x="0" y="62909"/>
                    <a:pt x="10244" y="51861"/>
                    <a:pt x="23499" y="50864"/>
                  </a:cubicBezTo>
                  <a:lnTo>
                    <a:pt x="25404" y="50801"/>
                  </a:lnTo>
                  <a:lnTo>
                    <a:pt x="63504" y="50801"/>
                  </a:lnTo>
                  <a:lnTo>
                    <a:pt x="63504" y="38101"/>
                  </a:lnTo>
                  <a:cubicBezTo>
                    <a:pt x="63504" y="17059"/>
                    <a:pt x="80562" y="1"/>
                    <a:pt x="101604" y="1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88761" y="4546600"/>
              <a:ext cx="11072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B3 RGA 拼图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90666" y="48641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三张画布压进一张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90285" y="54419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攻：重复前向</a:t>
              </a:r>
            </a:p>
          </p:txBody>
        </p:sp>
      </p:grpSp>
      <p:grpSp>
        <p:nvGrpSpPr>
          <p:cNvPr id="33" name="preview-b4"/>
          <p:cNvGrpSpPr/>
          <p:nvPr/>
        </p:nvGrpSpPr>
        <p:grpSpPr>
          <a:xfrm>
            <a:off x="8908161" y="4133849"/>
            <a:ext cx="1306858" cy="1528129"/>
            <a:chOff x="8908161" y="4133849"/>
            <a:chExt cx="1306858" cy="1528129"/>
          </a:xfrm>
        </p:grpSpPr>
        <p:grpSp>
          <p:nvGrpSpPr>
            <p:cNvPr id="29" name="Group 29"/>
            <p:cNvGrpSpPr/>
            <p:nvPr/>
          </p:nvGrpSpPr>
          <p:grpSpPr>
            <a:xfrm>
              <a:off x="8953499" y="4133849"/>
              <a:ext cx="228602" cy="228602"/>
              <a:chOff x="8953499" y="4133849"/>
              <a:chExt cx="228602" cy="22860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953500" y="4235450"/>
                <a:ext cx="76200" cy="127001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27001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14300"/>
                    </a:lnTo>
                    <a:cubicBezTo>
                      <a:pt x="76200" y="121314"/>
                      <a:pt x="70514" y="127000"/>
                      <a:pt x="63500" y="127000"/>
                    </a:cubicBezTo>
                    <a:lnTo>
                      <a:pt x="38100" y="127000"/>
                    </a:lnTo>
                    <a:cubicBezTo>
                      <a:pt x="17925" y="127001"/>
                      <a:pt x="1247" y="111275"/>
                      <a:pt x="63" y="91135"/>
                    </a:cubicBezTo>
                    <a:lnTo>
                      <a:pt x="0" y="889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055100" y="4235450"/>
                <a:ext cx="12700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1" h="127000">
                    <a:moveTo>
                      <a:pt x="127000" y="12700"/>
                    </a:moveTo>
                    <a:lnTo>
                      <a:pt x="127000" y="88900"/>
                    </a:lnTo>
                    <a:cubicBezTo>
                      <a:pt x="127001" y="109074"/>
                      <a:pt x="111275" y="125753"/>
                      <a:pt x="91135" y="126936"/>
                    </a:cubicBezTo>
                    <a:lnTo>
                      <a:pt x="88900" y="127000"/>
                    </a:lnTo>
                    <a:lnTo>
                      <a:pt x="12700" y="127000"/>
                    </a:lnTo>
                    <a:cubicBezTo>
                      <a:pt x="5686" y="127000"/>
                      <a:pt x="0" y="121314"/>
                      <a:pt x="0" y="1143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lnTo>
                      <a:pt x="114300" y="0"/>
                    </a:lnTo>
                    <a:cubicBezTo>
                      <a:pt x="121314" y="0"/>
                      <a:pt x="127000" y="5686"/>
                      <a:pt x="127000" y="12700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055100" y="4133849"/>
                <a:ext cx="127000" cy="76201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76201">
                    <a:moveTo>
                      <a:pt x="88900" y="1"/>
                    </a:moveTo>
                    <a:cubicBezTo>
                      <a:pt x="109074" y="0"/>
                      <a:pt x="125753" y="15726"/>
                      <a:pt x="126936" y="35866"/>
                    </a:cubicBezTo>
                    <a:lnTo>
                      <a:pt x="127000" y="38101"/>
                    </a:lnTo>
                    <a:lnTo>
                      <a:pt x="127000" y="63501"/>
                    </a:lnTo>
                    <a:cubicBezTo>
                      <a:pt x="127000" y="70515"/>
                      <a:pt x="121314" y="76201"/>
                      <a:pt x="114300" y="76201"/>
                    </a:cubicBezTo>
                    <a:lnTo>
                      <a:pt x="12700" y="76201"/>
                    </a:lnTo>
                    <a:cubicBezTo>
                      <a:pt x="5686" y="76201"/>
                      <a:pt x="0" y="70515"/>
                      <a:pt x="0" y="63501"/>
                    </a:cubicBezTo>
                    <a:lnTo>
                      <a:pt x="0" y="12701"/>
                    </a:lnTo>
                    <a:cubicBezTo>
                      <a:pt x="0" y="5687"/>
                      <a:pt x="5686" y="1"/>
                      <a:pt x="12700" y="1"/>
                    </a:cubicBezTo>
                    <a:lnTo>
                      <a:pt x="88900" y="1"/>
                    </a:ln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953499" y="4133850"/>
                <a:ext cx="76201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1" h="76200">
                    <a:moveTo>
                      <a:pt x="76201" y="12700"/>
                    </a:moveTo>
                    <a:lnTo>
                      <a:pt x="76201" y="63500"/>
                    </a:lnTo>
                    <a:cubicBezTo>
                      <a:pt x="76201" y="70514"/>
                      <a:pt x="70515" y="76200"/>
                      <a:pt x="63501" y="76200"/>
                    </a:cubicBezTo>
                    <a:lnTo>
                      <a:pt x="12701" y="76200"/>
                    </a:lnTo>
                    <a:cubicBezTo>
                      <a:pt x="5687" y="76200"/>
                      <a:pt x="1" y="70514"/>
                      <a:pt x="1" y="63500"/>
                    </a:cubicBezTo>
                    <a:lnTo>
                      <a:pt x="1" y="38100"/>
                    </a:lnTo>
                    <a:cubicBezTo>
                      <a:pt x="0" y="17925"/>
                      <a:pt x="15726" y="1247"/>
                      <a:pt x="35866" y="63"/>
                    </a:cubicBezTo>
                    <a:lnTo>
                      <a:pt x="38101" y="0"/>
                    </a:lnTo>
                    <a:lnTo>
                      <a:pt x="63501" y="0"/>
                    </a:lnTo>
                    <a:cubicBezTo>
                      <a:pt x="70515" y="0"/>
                      <a:pt x="76201" y="5686"/>
                      <a:pt x="76201" y="12700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8908161" y="4546600"/>
              <a:ext cx="13068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B4 精度账 7 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10066" y="48641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同图对照拆开算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09685" y="54419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攻：归因错误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34" name="Line 34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52247" y="6477000"/>
              <a:ext cx="278835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NPU 不是算得慢，是算的东西与算的方式都不对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战果 B1 · 战线 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端侧第一敌人不是崩溃，是静默失效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48401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RKNN 链路上 1 个计算算子悄悄落到 CPU——不抛异常、不改指标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8" name="strip"/>
          <p:cNvGrpSpPr/>
          <p:nvPr/>
        </p:nvGrpSpPr>
        <p:grpSpPr>
          <a:xfrm>
            <a:off x="439674" y="1619250"/>
            <a:ext cx="9348240" cy="991743"/>
            <a:chOff x="439674" y="1619250"/>
            <a:chExt cx="9348240" cy="991743"/>
          </a:xfrm>
        </p:grpSpPr>
        <p:sp>
          <p:nvSpPr>
            <p:cNvPr id="7" name="Line 7"/>
            <p:cNvSpPr/>
            <p:nvPr/>
          </p:nvSpPr>
          <p:spPr>
            <a:xfrm>
              <a:off x="41148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010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9674" y="1619250"/>
              <a:ext cx="113228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1 → 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485" y="2184400"/>
              <a:ext cx="1292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落 CPU 的计算算子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247" y="2419350"/>
              <a:ext cx="180285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p0_highway / pool / Reshape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5874" y="1619250"/>
              <a:ext cx="13761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103.7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7685" y="2184400"/>
              <a:ext cx="1896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rknn_run ms（原 151.2）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8447" y="2419350"/>
              <a:ext cx="14677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加速 1.46×，精度零代价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2074" y="1619250"/>
              <a:ext cx="145202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EXACT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3885" y="2184400"/>
              <a:ext cx="1564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4 种形状 torch.equal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4647" y="2419350"/>
              <a:ext cx="125002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31 帧输出逐字节相同</a:t>
              </a:r>
            </a:p>
          </p:txBody>
        </p:sp>
      </p:grpSp>
      <p:grpSp>
        <p:nvGrpSpPr>
          <p:cNvPr id="26" name="card-symptom"/>
          <p:cNvGrpSpPr/>
          <p:nvPr/>
        </p:nvGrpSpPr>
        <p:grpSpPr>
          <a:xfrm>
            <a:off x="457200" y="2781300"/>
            <a:ext cx="3505200" cy="2381250"/>
            <a:chOff x="457200" y="2781300"/>
            <a:chExt cx="35052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4572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95338" y="2990358"/>
              <a:ext cx="247496" cy="214761"/>
            </a:xfrm>
            <a:custGeom>
              <a:avLst/>
              <a:gdLst/>
              <a:ahLst/>
              <a:cxnLst/>
              <a:rect l="l" t="t" r="r" b="b"/>
              <a:pathLst>
                <a:path w="247496" h="214761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8"/>
                  </a:lnTo>
                  <a:cubicBezTo>
                    <a:pt x="247275" y="175835"/>
                    <a:pt x="247496" y="187668"/>
                    <a:pt x="242289" y="197516"/>
                  </a:cubicBezTo>
                  <a:cubicBezTo>
                    <a:pt x="237081" y="207364"/>
                    <a:pt x="227178" y="213844"/>
                    <a:pt x="216069" y="214672"/>
                  </a:cubicBezTo>
                  <a:lnTo>
                    <a:pt x="213902" y="214761"/>
                  </a:lnTo>
                  <a:lnTo>
                    <a:pt x="33601" y="214761"/>
                  </a:lnTo>
                  <a:cubicBezTo>
                    <a:pt x="22481" y="214636"/>
                    <a:pt x="12203" y="208813"/>
                    <a:pt x="6379" y="199340"/>
                  </a:cubicBezTo>
                  <a:cubicBezTo>
                    <a:pt x="555" y="189866"/>
                    <a:pt x="0" y="178067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2000" y="5914"/>
                    <a:pt x="112495" y="2"/>
                    <a:pt x="123812" y="0"/>
                  </a:cubicBezTo>
                  <a:close/>
                  <a:moveTo>
                    <a:pt x="123924" y="148130"/>
                  </a:moveTo>
                  <a:lnTo>
                    <a:pt x="122512" y="148208"/>
                  </a:lnTo>
                  <a:cubicBezTo>
                    <a:pt x="116922" y="148873"/>
                    <a:pt x="112712" y="153613"/>
                    <a:pt x="112712" y="159243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4" y="170277"/>
                  </a:lnTo>
                  <a:cubicBezTo>
                    <a:pt x="130814" y="169612"/>
                    <a:pt x="135024" y="164872"/>
                    <a:pt x="135024" y="159243"/>
                  </a:cubicBezTo>
                  <a:cubicBezTo>
                    <a:pt x="135024" y="153613"/>
                    <a:pt x="130814" y="148873"/>
                    <a:pt x="125224" y="148208"/>
                  </a:cubicBezTo>
                  <a:lnTo>
                    <a:pt x="123924" y="148130"/>
                  </a:lnTo>
                  <a:close/>
                  <a:moveTo>
                    <a:pt x="123812" y="70342"/>
                  </a:moveTo>
                  <a:cubicBezTo>
                    <a:pt x="118179" y="70343"/>
                    <a:pt x="113437" y="74560"/>
                    <a:pt x="112778" y="80155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8" y="127205"/>
                  </a:lnTo>
                  <a:cubicBezTo>
                    <a:pt x="113443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5"/>
                  </a:lnTo>
                  <a:cubicBezTo>
                    <a:pt x="134188" y="74560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8561" y="3441700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现象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466" y="3721100"/>
              <a:ext cx="2137600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1 个计算算子落到 CPU，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既不抛异常也不改指标 ⇒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「编译通过」被误当成「全在 NPU」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6672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085" y="4870450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v1 端到端仅 6.6 fps</a:t>
              </a:r>
            </a:p>
          </p:txBody>
        </p:sp>
      </p:grpSp>
      <p:grpSp>
        <p:nvGrpSpPr>
          <p:cNvPr id="34" name="card-fix"/>
          <p:cNvGrpSpPr/>
          <p:nvPr/>
        </p:nvGrpSpPr>
        <p:grpSpPr>
          <a:xfrm>
            <a:off x="4343400" y="2781300"/>
            <a:ext cx="3505200" cy="2381250"/>
            <a:chOff x="4343400" y="2781300"/>
            <a:chExt cx="3505200" cy="2381250"/>
          </a:xfrm>
        </p:grpSpPr>
        <p:sp>
          <p:nvSpPr>
            <p:cNvPr id="27" name="Rectangle 27"/>
            <p:cNvSpPr/>
            <p:nvPr/>
          </p:nvSpPr>
          <p:spPr>
            <a:xfrm>
              <a:off x="43434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594221" y="2994024"/>
              <a:ext cx="222802" cy="222255"/>
            </a:xfrm>
            <a:custGeom>
              <a:avLst/>
              <a:gdLst/>
              <a:ahLst/>
              <a:cxnLst/>
              <a:rect l="l" t="t" r="r" b="b"/>
              <a:pathLst>
                <a:path w="222802" h="222255">
                  <a:moveTo>
                    <a:pt x="88904" y="1"/>
                  </a:moveTo>
                  <a:cubicBezTo>
                    <a:pt x="106557" y="0"/>
                    <a:pt x="121150" y="13760"/>
                    <a:pt x="122186" y="31383"/>
                  </a:cubicBezTo>
                  <a:lnTo>
                    <a:pt x="122242" y="33339"/>
                  </a:lnTo>
                  <a:lnTo>
                    <a:pt x="122242" y="44451"/>
                  </a:lnTo>
                  <a:lnTo>
                    <a:pt x="155579" y="44451"/>
                  </a:lnTo>
                  <a:cubicBezTo>
                    <a:pt x="167210" y="44447"/>
                    <a:pt x="176876" y="53411"/>
                    <a:pt x="177749" y="65009"/>
                  </a:cubicBezTo>
                  <a:lnTo>
                    <a:pt x="177804" y="66676"/>
                  </a:lnTo>
                  <a:lnTo>
                    <a:pt x="177804" y="100014"/>
                  </a:lnTo>
                  <a:lnTo>
                    <a:pt x="188917" y="100014"/>
                  </a:lnTo>
                  <a:cubicBezTo>
                    <a:pt x="206960" y="99996"/>
                    <a:pt x="221743" y="114337"/>
                    <a:pt x="222272" y="132373"/>
                  </a:cubicBezTo>
                  <a:cubicBezTo>
                    <a:pt x="222802" y="150409"/>
                    <a:pt x="208886" y="165592"/>
                    <a:pt x="190873" y="166633"/>
                  </a:cubicBezTo>
                  <a:lnTo>
                    <a:pt x="188917" y="166689"/>
                  </a:lnTo>
                  <a:lnTo>
                    <a:pt x="177804" y="166689"/>
                  </a:lnTo>
                  <a:lnTo>
                    <a:pt x="177804" y="200027"/>
                  </a:lnTo>
                  <a:cubicBezTo>
                    <a:pt x="177808" y="211657"/>
                    <a:pt x="168844" y="221324"/>
                    <a:pt x="157246" y="222196"/>
                  </a:cubicBezTo>
                  <a:lnTo>
                    <a:pt x="155579" y="222252"/>
                  </a:lnTo>
                  <a:lnTo>
                    <a:pt x="122242" y="222252"/>
                  </a:lnTo>
                  <a:cubicBezTo>
                    <a:pt x="110611" y="222255"/>
                    <a:pt x="100944" y="213291"/>
                    <a:pt x="100072" y="201693"/>
                  </a:cubicBezTo>
                  <a:lnTo>
                    <a:pt x="100016" y="200027"/>
                  </a:lnTo>
                  <a:lnTo>
                    <a:pt x="100016" y="188914"/>
                  </a:lnTo>
                  <a:cubicBezTo>
                    <a:pt x="100010" y="183034"/>
                    <a:pt x="95425" y="178177"/>
                    <a:pt x="89555" y="177833"/>
                  </a:cubicBezTo>
                  <a:cubicBezTo>
                    <a:pt x="83686" y="177488"/>
                    <a:pt x="78564" y="181775"/>
                    <a:pt x="77869" y="187614"/>
                  </a:cubicBezTo>
                  <a:lnTo>
                    <a:pt x="77791" y="188914"/>
                  </a:lnTo>
                  <a:lnTo>
                    <a:pt x="77791" y="200027"/>
                  </a:lnTo>
                  <a:cubicBezTo>
                    <a:pt x="77795" y="211657"/>
                    <a:pt x="68831" y="221324"/>
                    <a:pt x="57233" y="222196"/>
                  </a:cubicBezTo>
                  <a:lnTo>
                    <a:pt x="55566" y="222252"/>
                  </a:lnTo>
                  <a:lnTo>
                    <a:pt x="22229" y="222252"/>
                  </a:lnTo>
                  <a:cubicBezTo>
                    <a:pt x="10598" y="222255"/>
                    <a:pt x="932" y="213291"/>
                    <a:pt x="59" y="201693"/>
                  </a:cubicBezTo>
                  <a:lnTo>
                    <a:pt x="4" y="200027"/>
                  </a:lnTo>
                  <a:lnTo>
                    <a:pt x="4" y="166689"/>
                  </a:lnTo>
                  <a:cubicBezTo>
                    <a:pt x="0" y="155058"/>
                    <a:pt x="8964" y="145392"/>
                    <a:pt x="20562" y="144519"/>
                  </a:cubicBezTo>
                  <a:lnTo>
                    <a:pt x="22229" y="144464"/>
                  </a:lnTo>
                  <a:lnTo>
                    <a:pt x="33341" y="144464"/>
                  </a:lnTo>
                  <a:cubicBezTo>
                    <a:pt x="39221" y="144457"/>
                    <a:pt x="44078" y="139872"/>
                    <a:pt x="44422" y="134003"/>
                  </a:cubicBezTo>
                  <a:cubicBezTo>
                    <a:pt x="44767" y="128133"/>
                    <a:pt x="40480" y="123011"/>
                    <a:pt x="34641" y="122317"/>
                  </a:cubicBezTo>
                  <a:lnTo>
                    <a:pt x="33341" y="122239"/>
                  </a:lnTo>
                  <a:lnTo>
                    <a:pt x="22229" y="122239"/>
                  </a:lnTo>
                  <a:cubicBezTo>
                    <a:pt x="10598" y="122243"/>
                    <a:pt x="932" y="113279"/>
                    <a:pt x="59" y="101681"/>
                  </a:cubicBezTo>
                  <a:lnTo>
                    <a:pt x="4" y="100014"/>
                  </a:lnTo>
                  <a:lnTo>
                    <a:pt x="4" y="66676"/>
                  </a:lnTo>
                  <a:cubicBezTo>
                    <a:pt x="0" y="55046"/>
                    <a:pt x="8964" y="45379"/>
                    <a:pt x="20562" y="44507"/>
                  </a:cubicBezTo>
                  <a:lnTo>
                    <a:pt x="22229" y="44451"/>
                  </a:lnTo>
                  <a:lnTo>
                    <a:pt x="55566" y="44451"/>
                  </a:lnTo>
                  <a:lnTo>
                    <a:pt x="55566" y="33339"/>
                  </a:lnTo>
                  <a:cubicBezTo>
                    <a:pt x="55566" y="14927"/>
                    <a:pt x="70492" y="1"/>
                    <a:pt x="88904" y="1"/>
                  </a:cubicBez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64761" y="3441700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66666" y="3721100"/>
              <a:ext cx="2564320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把布局变换改写成算术——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stride-2 depthwise conv 读窗口写小图，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绕开需要 transpose 的算子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45720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67047" y="46672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66285" y="48704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加速零精度代价</a:t>
              </a:r>
            </a:p>
          </p:txBody>
        </p:sp>
      </p:grpSp>
      <p:grpSp>
        <p:nvGrpSpPr>
          <p:cNvPr id="42" name="card-gate"/>
          <p:cNvGrpSpPr/>
          <p:nvPr/>
        </p:nvGrpSpPr>
        <p:grpSpPr>
          <a:xfrm>
            <a:off x="8229600" y="2781300"/>
            <a:ext cx="3505200" cy="2381250"/>
            <a:chOff x="8229600" y="2781300"/>
            <a:chExt cx="3505200" cy="2381250"/>
          </a:xfrm>
        </p:grpSpPr>
        <p:sp>
          <p:nvSpPr>
            <p:cNvPr id="35" name="Rectangle 35"/>
            <p:cNvSpPr/>
            <p:nvPr/>
          </p:nvSpPr>
          <p:spPr>
            <a:xfrm>
              <a:off x="82296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480425" y="2994025"/>
              <a:ext cx="222251" cy="222252"/>
            </a:xfrm>
            <a:custGeom>
              <a:avLst/>
              <a:gdLst/>
              <a:ahLst/>
              <a:cxnLst/>
              <a:rect l="l" t="t" r="r" b="b"/>
              <a:pathLst>
                <a:path w="222251" h="222252">
                  <a:moveTo>
                    <a:pt x="181501" y="0"/>
                  </a:moveTo>
                  <a:cubicBezTo>
                    <a:pt x="203282" y="0"/>
                    <a:pt x="221062" y="17080"/>
                    <a:pt x="222195" y="38583"/>
                  </a:cubicBezTo>
                  <a:lnTo>
                    <a:pt x="222251" y="40750"/>
                  </a:lnTo>
                  <a:lnTo>
                    <a:pt x="222251" y="181501"/>
                  </a:lnTo>
                  <a:cubicBezTo>
                    <a:pt x="222251" y="203282"/>
                    <a:pt x="205171" y="221062"/>
                    <a:pt x="183668" y="222195"/>
                  </a:cubicBezTo>
                  <a:lnTo>
                    <a:pt x="181501" y="222251"/>
                  </a:lnTo>
                  <a:lnTo>
                    <a:pt x="40750" y="222251"/>
                  </a:lnTo>
                  <a:cubicBezTo>
                    <a:pt x="19085" y="222252"/>
                    <a:pt x="1208" y="205301"/>
                    <a:pt x="56" y="183668"/>
                  </a:cubicBezTo>
                  <a:lnTo>
                    <a:pt x="0" y="181501"/>
                  </a:lnTo>
                  <a:lnTo>
                    <a:pt x="0" y="40750"/>
                  </a:lnTo>
                  <a:cubicBezTo>
                    <a:pt x="0" y="18969"/>
                    <a:pt x="17080" y="1189"/>
                    <a:pt x="38583" y="56"/>
                  </a:cubicBezTo>
                  <a:lnTo>
                    <a:pt x="40750" y="0"/>
                  </a:lnTo>
                  <a:lnTo>
                    <a:pt x="181501" y="0"/>
                  </a:lnTo>
                  <a:close/>
                  <a:moveTo>
                    <a:pt x="152319" y="81044"/>
                  </a:moveTo>
                  <a:cubicBezTo>
                    <a:pt x="147980" y="76706"/>
                    <a:pt x="140946" y="76706"/>
                    <a:pt x="136606" y="81044"/>
                  </a:cubicBezTo>
                  <a:lnTo>
                    <a:pt x="100013" y="117626"/>
                  </a:lnTo>
                  <a:lnTo>
                    <a:pt x="85644" y="103269"/>
                  </a:lnTo>
                  <a:lnTo>
                    <a:pt x="84600" y="102346"/>
                  </a:lnTo>
                  <a:cubicBezTo>
                    <a:pt x="79964" y="98762"/>
                    <a:pt x="73342" y="99393"/>
                    <a:pt x="69467" y="103788"/>
                  </a:cubicBezTo>
                  <a:cubicBezTo>
                    <a:pt x="65592" y="108183"/>
                    <a:pt x="65795" y="114832"/>
                    <a:pt x="69931" y="118982"/>
                  </a:cubicBezTo>
                  <a:lnTo>
                    <a:pt x="92156" y="141207"/>
                  </a:lnTo>
                  <a:lnTo>
                    <a:pt x="93201" y="142129"/>
                  </a:lnTo>
                  <a:cubicBezTo>
                    <a:pt x="97625" y="145561"/>
                    <a:pt x="103910" y="145166"/>
                    <a:pt x="107869" y="141207"/>
                  </a:cubicBezTo>
                  <a:lnTo>
                    <a:pt x="152319" y="96757"/>
                  </a:lnTo>
                  <a:lnTo>
                    <a:pt x="153242" y="95712"/>
                  </a:lnTo>
                  <a:cubicBezTo>
                    <a:pt x="156673" y="91289"/>
                    <a:pt x="156278" y="85003"/>
                    <a:pt x="152319" y="81044"/>
                  </a:cubicBez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50961" y="344170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固化为交付硬闸门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52866" y="3721100"/>
              <a:ext cx="2317623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NPU 上板模型必须 0 个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计算算子（I/O 边界的 InputOperator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/ OutputOperator 不计入）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4582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53247" y="4667250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方法论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52485" y="48704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守卫必须能被证伪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457200" y="5314950"/>
            <a:ext cx="11277600" cy="857250"/>
            <a:chOff x="457200" y="5314950"/>
            <a:chExt cx="11277600" cy="857250"/>
          </a:xfrm>
        </p:grpSpPr>
        <p:sp>
          <p:nvSpPr>
            <p:cNvPr id="43" name="Rectangle 43"/>
            <p:cNvSpPr/>
            <p:nvPr/>
          </p:nvSpPr>
          <p:spPr>
            <a:xfrm>
              <a:off x="457200" y="5314950"/>
              <a:ext cx="11277600" cy="857250"/>
            </a:xfrm>
            <a:prstGeom prst="rect">
              <a:avLst/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57200" y="5314950"/>
              <a:ext cx="38100" cy="85725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6280" y="5480050"/>
              <a:ext cx="3267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一个永远 PASS 的检查等于没有检查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8566" y="5797550"/>
              <a:ext cx="6760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「静默失效优先于崩溃」：守卫与断言必须能被证伪——所以部署自检的正向 PASS 与反向 FAIL 都要各验一次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48" name="Line 48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52247" y="6477000"/>
              <a:ext cx="795194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来源：heatmap_npu_trial0474.md §零（判决摘要）、§六之二（算子回退与全量精度代价）；rules.md §四·9e（0 计算算子硬闸门）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战果 B2 · 战线 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42438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NPU 时延不能靠 FLOPs 外推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419318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删掉 P0 Highway 支路，同时达成 CPU 算子 0 与警告 0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8" name="strip"/>
          <p:cNvGrpSpPr/>
          <p:nvPr/>
        </p:nvGrpSpPr>
        <p:grpSpPr>
          <a:xfrm>
            <a:off x="439674" y="1619250"/>
            <a:ext cx="9230636" cy="991743"/>
            <a:chOff x="439674" y="1619250"/>
            <a:chExt cx="9230636" cy="991743"/>
          </a:xfrm>
        </p:grpSpPr>
        <p:sp>
          <p:nvSpPr>
            <p:cNvPr id="7" name="Line 7"/>
            <p:cNvSpPr/>
            <p:nvPr/>
          </p:nvSpPr>
          <p:spPr>
            <a:xfrm>
              <a:off x="41148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010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9674" y="1619250"/>
              <a:ext cx="120543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6.8%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485" y="2184400"/>
              <a:ext cx="15252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Conv MAC 只降这么多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247" y="24193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算力几乎没省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5874" y="1619250"/>
              <a:ext cx="147365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46.5%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7685" y="218440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时延却降这么多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8447" y="2419350"/>
              <a:ext cx="16458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rknn_run 103.7 → 55.5 ms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2074" y="1619250"/>
              <a:ext cx="13761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2.69×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3885" y="2184400"/>
              <a:ext cx="14464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累计加速（v1 → v3）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4647" y="2419350"/>
              <a:ext cx="9268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6.6 → 17.7 fps</a:t>
              </a:r>
            </a:p>
          </p:txBody>
        </p:sp>
      </p:grpSp>
      <p:grpSp>
        <p:nvGrpSpPr>
          <p:cNvPr id="28" name="card-why"/>
          <p:cNvGrpSpPr/>
          <p:nvPr/>
        </p:nvGrpSpPr>
        <p:grpSpPr>
          <a:xfrm>
            <a:off x="457200" y="2781300"/>
            <a:ext cx="3505200" cy="2381250"/>
            <a:chOff x="457200" y="2781300"/>
            <a:chExt cx="35052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4572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08025" y="2994025"/>
              <a:ext cx="224409" cy="222251"/>
              <a:chOff x="708025" y="2994025"/>
              <a:chExt cx="224409" cy="22225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08025" y="2994025"/>
                <a:ext cx="222251" cy="222251"/>
              </a:xfrm>
              <a:custGeom>
                <a:avLst/>
                <a:gdLst/>
                <a:ahLst/>
                <a:cxnLst/>
                <a:rect l="l" t="t" r="r" b="b"/>
                <a:pathLst>
                  <a:path w="222251" h="222251">
                    <a:moveTo>
                      <a:pt x="11113" y="0"/>
                    </a:moveTo>
                    <a:cubicBezTo>
                      <a:pt x="17250" y="0"/>
                      <a:pt x="22225" y="4975"/>
                      <a:pt x="22225" y="11113"/>
                    </a:cubicBezTo>
                    <a:lnTo>
                      <a:pt x="22225" y="200026"/>
                    </a:lnTo>
                    <a:lnTo>
                      <a:pt x="211138" y="200026"/>
                    </a:lnTo>
                    <a:cubicBezTo>
                      <a:pt x="216772" y="200026"/>
                      <a:pt x="221514" y="204243"/>
                      <a:pt x="222173" y="209838"/>
                    </a:cubicBezTo>
                    <a:lnTo>
                      <a:pt x="222251" y="211138"/>
                    </a:lnTo>
                    <a:cubicBezTo>
                      <a:pt x="222251" y="217275"/>
                      <a:pt x="217275" y="222251"/>
                      <a:pt x="211138" y="222251"/>
                    </a:cubicBezTo>
                    <a:lnTo>
                      <a:pt x="11113" y="222251"/>
                    </a:lnTo>
                    <a:cubicBezTo>
                      <a:pt x="4975" y="222251"/>
                      <a:pt x="0" y="217275"/>
                      <a:pt x="0" y="211138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48830" y="3016250"/>
                <a:ext cx="183604" cy="158936"/>
              </a:xfrm>
              <a:custGeom>
                <a:avLst/>
                <a:gdLst/>
                <a:ahLst/>
                <a:cxnLst/>
                <a:rect l="l" t="t" r="r" b="b"/>
                <a:pathLst>
                  <a:path w="183604" h="158936">
                    <a:moveTo>
                      <a:pt x="148108" y="0"/>
                    </a:moveTo>
                    <a:cubicBezTo>
                      <a:pt x="160873" y="29"/>
                      <a:pt x="172500" y="7344"/>
                      <a:pt x="178052" y="18838"/>
                    </a:cubicBezTo>
                    <a:cubicBezTo>
                      <a:pt x="183604" y="30333"/>
                      <a:pt x="182105" y="43988"/>
                      <a:pt x="174192" y="54004"/>
                    </a:cubicBezTo>
                    <a:cubicBezTo>
                      <a:pt x="166278" y="64020"/>
                      <a:pt x="153340" y="68639"/>
                      <a:pt x="140873" y="65897"/>
                    </a:cubicBezTo>
                    <a:lnTo>
                      <a:pt x="118626" y="101480"/>
                    </a:lnTo>
                    <a:cubicBezTo>
                      <a:pt x="129123" y="114668"/>
                      <a:pt x="128125" y="133617"/>
                      <a:pt x="116299" y="145629"/>
                    </a:cubicBezTo>
                    <a:cubicBezTo>
                      <a:pt x="104474" y="157641"/>
                      <a:pt x="85542" y="158936"/>
                      <a:pt x="72191" y="148646"/>
                    </a:cubicBezTo>
                    <a:cubicBezTo>
                      <a:pt x="58840" y="138356"/>
                      <a:pt x="55271" y="119720"/>
                      <a:pt x="63875" y="105225"/>
                    </a:cubicBezTo>
                    <a:lnTo>
                      <a:pt x="48562" y="86833"/>
                    </a:lnTo>
                    <a:cubicBezTo>
                      <a:pt x="33338" y="92471"/>
                      <a:pt x="16266" y="86322"/>
                      <a:pt x="8133" y="72272"/>
                    </a:cubicBezTo>
                    <a:cubicBezTo>
                      <a:pt x="0" y="58222"/>
                      <a:pt x="3170" y="40357"/>
                      <a:pt x="15640" y="29962"/>
                    </a:cubicBezTo>
                    <a:cubicBezTo>
                      <a:pt x="28110" y="19568"/>
                      <a:pt x="46254" y="19667"/>
                      <a:pt x="58610" y="30197"/>
                    </a:cubicBezTo>
                    <a:cubicBezTo>
                      <a:pt x="70965" y="40728"/>
                      <a:pt x="73939" y="58627"/>
                      <a:pt x="65653" y="72587"/>
                    </a:cubicBezTo>
                    <a:lnTo>
                      <a:pt x="80966" y="90967"/>
                    </a:lnTo>
                    <a:cubicBezTo>
                      <a:pt x="86982" y="88736"/>
                      <a:pt x="93516" y="88292"/>
                      <a:pt x="99779" y="89689"/>
                    </a:cubicBezTo>
                    <a:lnTo>
                      <a:pt x="122027" y="54096"/>
                    </a:lnTo>
                    <a:cubicBezTo>
                      <a:pt x="114057" y="44081"/>
                      <a:pt x="112525" y="30388"/>
                      <a:pt x="118083" y="18859"/>
                    </a:cubicBezTo>
                    <a:cubicBezTo>
                      <a:pt x="123641" y="7331"/>
                      <a:pt x="135309" y="2"/>
                      <a:pt x="148108" y="0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678561" y="3441700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反直觉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0466" y="3721100"/>
              <a:ext cx="2264283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算力只省了 6.8%，时延却省了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46.5% —— FLOPs 外推在此彻底失效，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按 GFLOPs 排优先级一定会错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858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0847" y="46672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精度代价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0085" y="4870450"/>
              <a:ext cx="1819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F1 0.906361 → 0.905736</a:t>
              </a:r>
            </a:p>
          </p:txBody>
        </p:sp>
      </p:grpSp>
      <p:grpSp>
        <p:nvGrpSpPr>
          <p:cNvPr id="36" name="card-mech"/>
          <p:cNvGrpSpPr/>
          <p:nvPr/>
        </p:nvGrpSpPr>
        <p:grpSpPr>
          <a:xfrm>
            <a:off x="4343400" y="2781300"/>
            <a:ext cx="3505200" cy="2381250"/>
            <a:chOff x="4343400" y="2781300"/>
            <a:chExt cx="35052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43434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594225" y="2994025"/>
              <a:ext cx="222240" cy="211138"/>
            </a:xfrm>
            <a:custGeom>
              <a:avLst/>
              <a:gdLst/>
              <a:ahLst/>
              <a:cxnLst/>
              <a:rect l="l" t="t" r="r" b="b"/>
              <a:pathLst>
                <a:path w="222240" h="211138">
                  <a:moveTo>
                    <a:pt x="111125" y="0"/>
                  </a:moveTo>
                  <a:cubicBezTo>
                    <a:pt x="117263" y="0"/>
                    <a:pt x="122238" y="4975"/>
                    <a:pt x="122238" y="11113"/>
                  </a:cubicBezTo>
                  <a:lnTo>
                    <a:pt x="122238" y="23914"/>
                  </a:lnTo>
                  <a:lnTo>
                    <a:pt x="179567" y="33471"/>
                  </a:lnTo>
                  <a:cubicBezTo>
                    <a:pt x="182385" y="33899"/>
                    <a:pt x="184922" y="35416"/>
                    <a:pt x="186635" y="37694"/>
                  </a:cubicBezTo>
                  <a:lnTo>
                    <a:pt x="187091" y="38349"/>
                  </a:lnTo>
                  <a:lnTo>
                    <a:pt x="187735" y="39483"/>
                  </a:lnTo>
                  <a:lnTo>
                    <a:pt x="221339" y="106714"/>
                  </a:lnTo>
                  <a:lnTo>
                    <a:pt x="221728" y="107758"/>
                  </a:lnTo>
                  <a:lnTo>
                    <a:pt x="222006" y="108825"/>
                  </a:lnTo>
                  <a:lnTo>
                    <a:pt x="222184" y="109936"/>
                  </a:lnTo>
                  <a:lnTo>
                    <a:pt x="222240" y="111270"/>
                  </a:lnTo>
                  <a:lnTo>
                    <a:pt x="222206" y="111948"/>
                  </a:lnTo>
                  <a:cubicBezTo>
                    <a:pt x="221782" y="136168"/>
                    <a:pt x="202024" y="155579"/>
                    <a:pt x="177801" y="155575"/>
                  </a:cubicBezTo>
                  <a:cubicBezTo>
                    <a:pt x="153251" y="155575"/>
                    <a:pt x="133350" y="135674"/>
                    <a:pt x="133350" y="111125"/>
                  </a:cubicBezTo>
                  <a:cubicBezTo>
                    <a:pt x="133352" y="109401"/>
                    <a:pt x="133756" y="107700"/>
                    <a:pt x="134528" y="106158"/>
                  </a:cubicBezTo>
                  <a:lnTo>
                    <a:pt x="161121" y="52929"/>
                  </a:lnTo>
                  <a:lnTo>
                    <a:pt x="122238" y="46450"/>
                  </a:lnTo>
                  <a:lnTo>
                    <a:pt x="122238" y="188913"/>
                  </a:lnTo>
                  <a:lnTo>
                    <a:pt x="166688" y="188913"/>
                  </a:lnTo>
                  <a:cubicBezTo>
                    <a:pt x="172825" y="188913"/>
                    <a:pt x="177801" y="193888"/>
                    <a:pt x="177801" y="200026"/>
                  </a:cubicBezTo>
                  <a:cubicBezTo>
                    <a:pt x="177801" y="206163"/>
                    <a:pt x="172825" y="211138"/>
                    <a:pt x="166688" y="211138"/>
                  </a:cubicBezTo>
                  <a:lnTo>
                    <a:pt x="55563" y="211138"/>
                  </a:lnTo>
                  <a:cubicBezTo>
                    <a:pt x="49425" y="211138"/>
                    <a:pt x="44450" y="206163"/>
                    <a:pt x="44450" y="200026"/>
                  </a:cubicBezTo>
                  <a:cubicBezTo>
                    <a:pt x="44450" y="193888"/>
                    <a:pt x="49425" y="188913"/>
                    <a:pt x="55563" y="188913"/>
                  </a:cubicBezTo>
                  <a:lnTo>
                    <a:pt x="100013" y="188913"/>
                  </a:lnTo>
                  <a:lnTo>
                    <a:pt x="100013" y="46450"/>
                  </a:lnTo>
                  <a:lnTo>
                    <a:pt x="61119" y="52929"/>
                  </a:lnTo>
                  <a:lnTo>
                    <a:pt x="87989" y="106714"/>
                  </a:lnTo>
                  <a:lnTo>
                    <a:pt x="88378" y="107758"/>
                  </a:lnTo>
                  <a:lnTo>
                    <a:pt x="88656" y="108825"/>
                  </a:lnTo>
                  <a:lnTo>
                    <a:pt x="88834" y="109936"/>
                  </a:lnTo>
                  <a:lnTo>
                    <a:pt x="88889" y="111270"/>
                  </a:lnTo>
                  <a:lnTo>
                    <a:pt x="88856" y="111948"/>
                  </a:lnTo>
                  <a:cubicBezTo>
                    <a:pt x="88431" y="136168"/>
                    <a:pt x="68674" y="155579"/>
                    <a:pt x="44450" y="155575"/>
                  </a:cubicBezTo>
                  <a:cubicBezTo>
                    <a:pt x="19901" y="155575"/>
                    <a:pt x="0" y="135674"/>
                    <a:pt x="0" y="111125"/>
                  </a:cubicBezTo>
                  <a:cubicBezTo>
                    <a:pt x="2" y="109401"/>
                    <a:pt x="405" y="107700"/>
                    <a:pt x="1178" y="106158"/>
                  </a:cubicBezTo>
                  <a:lnTo>
                    <a:pt x="34893" y="38761"/>
                  </a:lnTo>
                  <a:lnTo>
                    <a:pt x="35327" y="38083"/>
                  </a:lnTo>
                  <a:lnTo>
                    <a:pt x="35605" y="37705"/>
                  </a:lnTo>
                  <a:cubicBezTo>
                    <a:pt x="37317" y="35427"/>
                    <a:pt x="39854" y="33911"/>
                    <a:pt x="42672" y="33482"/>
                  </a:cubicBezTo>
                  <a:lnTo>
                    <a:pt x="100013" y="23903"/>
                  </a:lnTo>
                  <a:lnTo>
                    <a:pt x="100013" y="11113"/>
                  </a:lnTo>
                  <a:cubicBezTo>
                    <a:pt x="100013" y="4975"/>
                    <a:pt x="104988" y="0"/>
                    <a:pt x="111125" y="0"/>
                  </a:cubicBezTo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564761" y="3441700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机理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66666" y="3721100"/>
              <a:ext cx="2304288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P0 那几层是 640×640 / C=16 的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最劣形状，空间乘积逼近 RKNN 的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H*W ≤ 16384 上限 ⇒ 卡在「空间乘积」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5720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67047" y="46672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与张量怎么拼无关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6285" y="48704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只与形状有关</a:t>
              </a:r>
            </a:p>
          </p:txBody>
        </p:sp>
      </p:grpSp>
      <p:grpSp>
        <p:nvGrpSpPr>
          <p:cNvPr id="44" name="card-rule"/>
          <p:cNvGrpSpPr/>
          <p:nvPr/>
        </p:nvGrpSpPr>
        <p:grpSpPr>
          <a:xfrm>
            <a:off x="8229600" y="2781300"/>
            <a:ext cx="3505200" cy="2381250"/>
            <a:chOff x="8229600" y="2781300"/>
            <a:chExt cx="3505200" cy="2381250"/>
          </a:xfrm>
        </p:grpSpPr>
        <p:sp>
          <p:nvSpPr>
            <p:cNvPr id="37" name="Rectangle 37"/>
            <p:cNvSpPr/>
            <p:nvPr/>
          </p:nvSpPr>
          <p:spPr>
            <a:xfrm>
              <a:off x="82296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480425" y="2994025"/>
              <a:ext cx="222251" cy="222252"/>
            </a:xfrm>
            <a:custGeom>
              <a:avLst/>
              <a:gdLst/>
              <a:ahLst/>
              <a:cxnLst/>
              <a:rect l="l" t="t" r="r" b="b"/>
              <a:pathLst>
                <a:path w="222251" h="222252">
                  <a:moveTo>
                    <a:pt x="181501" y="0"/>
                  </a:moveTo>
                  <a:cubicBezTo>
                    <a:pt x="203282" y="0"/>
                    <a:pt x="221062" y="17080"/>
                    <a:pt x="222195" y="38583"/>
                  </a:cubicBezTo>
                  <a:lnTo>
                    <a:pt x="222251" y="40750"/>
                  </a:lnTo>
                  <a:lnTo>
                    <a:pt x="222251" y="181501"/>
                  </a:lnTo>
                  <a:cubicBezTo>
                    <a:pt x="222251" y="203282"/>
                    <a:pt x="205171" y="221062"/>
                    <a:pt x="183668" y="222195"/>
                  </a:cubicBezTo>
                  <a:lnTo>
                    <a:pt x="181501" y="222251"/>
                  </a:lnTo>
                  <a:lnTo>
                    <a:pt x="40750" y="222251"/>
                  </a:lnTo>
                  <a:cubicBezTo>
                    <a:pt x="19085" y="222252"/>
                    <a:pt x="1208" y="205301"/>
                    <a:pt x="56" y="183668"/>
                  </a:cubicBezTo>
                  <a:lnTo>
                    <a:pt x="0" y="181501"/>
                  </a:lnTo>
                  <a:lnTo>
                    <a:pt x="0" y="40750"/>
                  </a:lnTo>
                  <a:cubicBezTo>
                    <a:pt x="0" y="18969"/>
                    <a:pt x="17080" y="1189"/>
                    <a:pt x="38583" y="56"/>
                  </a:cubicBezTo>
                  <a:lnTo>
                    <a:pt x="40750" y="0"/>
                  </a:lnTo>
                  <a:lnTo>
                    <a:pt x="181501" y="0"/>
                  </a:lnTo>
                  <a:close/>
                  <a:moveTo>
                    <a:pt x="152319" y="81044"/>
                  </a:moveTo>
                  <a:cubicBezTo>
                    <a:pt x="147980" y="76706"/>
                    <a:pt x="140946" y="76706"/>
                    <a:pt x="136606" y="81044"/>
                  </a:cubicBezTo>
                  <a:lnTo>
                    <a:pt x="100013" y="117626"/>
                  </a:lnTo>
                  <a:lnTo>
                    <a:pt x="85644" y="103269"/>
                  </a:lnTo>
                  <a:lnTo>
                    <a:pt x="84600" y="102346"/>
                  </a:lnTo>
                  <a:cubicBezTo>
                    <a:pt x="79964" y="98762"/>
                    <a:pt x="73342" y="99393"/>
                    <a:pt x="69467" y="103788"/>
                  </a:cubicBezTo>
                  <a:cubicBezTo>
                    <a:pt x="65592" y="108183"/>
                    <a:pt x="65795" y="114832"/>
                    <a:pt x="69931" y="118982"/>
                  </a:cubicBezTo>
                  <a:lnTo>
                    <a:pt x="92156" y="141207"/>
                  </a:lnTo>
                  <a:lnTo>
                    <a:pt x="93201" y="142129"/>
                  </a:lnTo>
                  <a:cubicBezTo>
                    <a:pt x="97625" y="145561"/>
                    <a:pt x="103910" y="145166"/>
                    <a:pt x="107869" y="141207"/>
                  </a:cubicBezTo>
                  <a:lnTo>
                    <a:pt x="152319" y="96757"/>
                  </a:lnTo>
                  <a:lnTo>
                    <a:pt x="153242" y="95712"/>
                  </a:lnTo>
                  <a:cubicBezTo>
                    <a:pt x="156673" y="91289"/>
                    <a:pt x="156278" y="85003"/>
                    <a:pt x="152319" y="81044"/>
                  </a:cubicBez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961" y="3441700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留下的铁律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52866" y="3721100"/>
              <a:ext cx="2590990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禁止用 MAC / FLOPs 外推 NPU 时延；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禁止用 onnx.shape_inference 估计算量，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必须用 RKNN 算子表定位代价项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4582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53247" y="46672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决策模型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52485" y="4870450"/>
              <a:ext cx="2114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牺牲 0.0006 F1 换 1.87× 时延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457200" y="5314950"/>
            <a:ext cx="11277600" cy="857250"/>
            <a:chOff x="457200" y="5314950"/>
            <a:chExt cx="11277600" cy="857250"/>
          </a:xfrm>
        </p:grpSpPr>
        <p:sp>
          <p:nvSpPr>
            <p:cNvPr id="45" name="Rectangle 45"/>
            <p:cNvSpPr/>
            <p:nvPr/>
          </p:nvSpPr>
          <p:spPr>
            <a:xfrm>
              <a:off x="457200" y="5314950"/>
              <a:ext cx="11277600" cy="857250"/>
            </a:xfrm>
            <a:prstGeom prst="rect">
              <a:avLst/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57200" y="5314950"/>
              <a:ext cx="38100" cy="85725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6280" y="54800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时延不由算力决定，而由张量形状决定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8566" y="5797550"/>
              <a:ext cx="6918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NPU 上「最慢的算子」不是 FLOPs 最多的那个，而是形状最劣的那个——优化方向搞错，后面所有提速都会落空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50" name="Line 50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52247" y="6477000"/>
              <a:ext cx="70708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来源：heatmap_npu_trial0474.md §零（判决摘要）、§六之二·0（全量精度代价）、§六之二·4（MAC 与时延的反差）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战果 B3 · 战线 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45799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3 次前向压成 1 次，且逐位等价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510482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输入张量静态 [1,3,640,640]——卷积代价由形状决定、与像素无关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8" name="strip"/>
          <p:cNvGrpSpPr/>
          <p:nvPr/>
        </p:nvGrpSpPr>
        <p:grpSpPr>
          <a:xfrm>
            <a:off x="439674" y="1619250"/>
            <a:ext cx="9607003" cy="991743"/>
            <a:chOff x="439674" y="1619250"/>
            <a:chExt cx="9607003" cy="991743"/>
          </a:xfrm>
        </p:grpSpPr>
        <p:sp>
          <p:nvSpPr>
            <p:cNvPr id="7" name="Line 7"/>
            <p:cNvSpPr/>
            <p:nvPr/>
          </p:nvSpPr>
          <p:spPr>
            <a:xfrm>
              <a:off x="41148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010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9674" y="1619250"/>
              <a:ext cx="113228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3 →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485" y="2184400"/>
              <a:ext cx="940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NPU 前向次数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247" y="2419350"/>
              <a:ext cx="16985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原来约 3 fps，完全不可交付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5874" y="1619250"/>
              <a:ext cx="215637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0.943 ms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7685" y="2184400"/>
              <a:ext cx="11785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RGA 拼图装配/帧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8447" y="2419350"/>
              <a:ext cx="14413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相对 102 ms 前向可忽略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2074" y="1619250"/>
              <a:ext cx="176624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max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3885" y="2184400"/>
              <a:ext cx="1822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native 区与 CPU 参考的差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4647" y="24193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逐字节一致</a:t>
              </a:r>
            </a:p>
          </p:txBody>
        </p:sp>
      </p:grpSp>
      <p:grpSp>
        <p:nvGrpSpPr>
          <p:cNvPr id="26" name="card-lever"/>
          <p:cNvGrpSpPr/>
          <p:nvPr/>
        </p:nvGrpSpPr>
        <p:grpSpPr>
          <a:xfrm>
            <a:off x="457200" y="2781300"/>
            <a:ext cx="3505200" cy="2381250"/>
            <a:chOff x="457200" y="2781300"/>
            <a:chExt cx="35052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4572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08021" y="2994024"/>
              <a:ext cx="222802" cy="222255"/>
            </a:xfrm>
            <a:custGeom>
              <a:avLst/>
              <a:gdLst/>
              <a:ahLst/>
              <a:cxnLst/>
              <a:rect l="l" t="t" r="r" b="b"/>
              <a:pathLst>
                <a:path w="222802" h="222255">
                  <a:moveTo>
                    <a:pt x="88904" y="1"/>
                  </a:moveTo>
                  <a:cubicBezTo>
                    <a:pt x="106557" y="0"/>
                    <a:pt x="121150" y="13760"/>
                    <a:pt x="122186" y="31383"/>
                  </a:cubicBezTo>
                  <a:lnTo>
                    <a:pt x="122242" y="33339"/>
                  </a:lnTo>
                  <a:lnTo>
                    <a:pt x="122242" y="44451"/>
                  </a:lnTo>
                  <a:lnTo>
                    <a:pt x="155579" y="44451"/>
                  </a:lnTo>
                  <a:cubicBezTo>
                    <a:pt x="167210" y="44447"/>
                    <a:pt x="176876" y="53411"/>
                    <a:pt x="177749" y="65009"/>
                  </a:cubicBezTo>
                  <a:lnTo>
                    <a:pt x="177804" y="66676"/>
                  </a:lnTo>
                  <a:lnTo>
                    <a:pt x="177804" y="100014"/>
                  </a:lnTo>
                  <a:lnTo>
                    <a:pt x="188917" y="100014"/>
                  </a:lnTo>
                  <a:cubicBezTo>
                    <a:pt x="206960" y="99996"/>
                    <a:pt x="221743" y="114337"/>
                    <a:pt x="222272" y="132373"/>
                  </a:cubicBezTo>
                  <a:cubicBezTo>
                    <a:pt x="222802" y="150409"/>
                    <a:pt x="208886" y="165592"/>
                    <a:pt x="190873" y="166633"/>
                  </a:cubicBezTo>
                  <a:lnTo>
                    <a:pt x="188917" y="166689"/>
                  </a:lnTo>
                  <a:lnTo>
                    <a:pt x="177804" y="166689"/>
                  </a:lnTo>
                  <a:lnTo>
                    <a:pt x="177804" y="200027"/>
                  </a:lnTo>
                  <a:cubicBezTo>
                    <a:pt x="177808" y="211657"/>
                    <a:pt x="168844" y="221324"/>
                    <a:pt x="157246" y="222196"/>
                  </a:cubicBezTo>
                  <a:lnTo>
                    <a:pt x="155579" y="222252"/>
                  </a:lnTo>
                  <a:lnTo>
                    <a:pt x="122242" y="222252"/>
                  </a:lnTo>
                  <a:cubicBezTo>
                    <a:pt x="110611" y="222255"/>
                    <a:pt x="100944" y="213291"/>
                    <a:pt x="100072" y="201693"/>
                  </a:cubicBezTo>
                  <a:lnTo>
                    <a:pt x="100016" y="200027"/>
                  </a:lnTo>
                  <a:lnTo>
                    <a:pt x="100016" y="188914"/>
                  </a:lnTo>
                  <a:cubicBezTo>
                    <a:pt x="100010" y="183034"/>
                    <a:pt x="95425" y="178177"/>
                    <a:pt x="89555" y="177833"/>
                  </a:cubicBezTo>
                  <a:cubicBezTo>
                    <a:pt x="83686" y="177488"/>
                    <a:pt x="78564" y="181775"/>
                    <a:pt x="77869" y="187614"/>
                  </a:cubicBezTo>
                  <a:lnTo>
                    <a:pt x="77791" y="188914"/>
                  </a:lnTo>
                  <a:lnTo>
                    <a:pt x="77791" y="200027"/>
                  </a:lnTo>
                  <a:cubicBezTo>
                    <a:pt x="77795" y="211657"/>
                    <a:pt x="68831" y="221324"/>
                    <a:pt x="57233" y="222196"/>
                  </a:cubicBezTo>
                  <a:lnTo>
                    <a:pt x="55566" y="222252"/>
                  </a:lnTo>
                  <a:lnTo>
                    <a:pt x="22229" y="222252"/>
                  </a:lnTo>
                  <a:cubicBezTo>
                    <a:pt x="10598" y="222255"/>
                    <a:pt x="932" y="213291"/>
                    <a:pt x="59" y="201693"/>
                  </a:cubicBezTo>
                  <a:lnTo>
                    <a:pt x="4" y="200027"/>
                  </a:lnTo>
                  <a:lnTo>
                    <a:pt x="4" y="166689"/>
                  </a:lnTo>
                  <a:cubicBezTo>
                    <a:pt x="0" y="155058"/>
                    <a:pt x="8964" y="145392"/>
                    <a:pt x="20562" y="144519"/>
                  </a:cubicBezTo>
                  <a:lnTo>
                    <a:pt x="22229" y="144464"/>
                  </a:lnTo>
                  <a:lnTo>
                    <a:pt x="33341" y="144464"/>
                  </a:lnTo>
                  <a:cubicBezTo>
                    <a:pt x="39221" y="144457"/>
                    <a:pt x="44078" y="139872"/>
                    <a:pt x="44422" y="134003"/>
                  </a:cubicBezTo>
                  <a:cubicBezTo>
                    <a:pt x="44767" y="128133"/>
                    <a:pt x="40480" y="123011"/>
                    <a:pt x="34641" y="122317"/>
                  </a:cubicBezTo>
                  <a:lnTo>
                    <a:pt x="33341" y="122239"/>
                  </a:lnTo>
                  <a:lnTo>
                    <a:pt x="22229" y="122239"/>
                  </a:lnTo>
                  <a:cubicBezTo>
                    <a:pt x="10598" y="122243"/>
                    <a:pt x="932" y="113279"/>
                    <a:pt x="59" y="101681"/>
                  </a:cubicBezTo>
                  <a:lnTo>
                    <a:pt x="4" y="100014"/>
                  </a:lnTo>
                  <a:lnTo>
                    <a:pt x="4" y="66676"/>
                  </a:lnTo>
                  <a:cubicBezTo>
                    <a:pt x="0" y="55046"/>
                    <a:pt x="8964" y="45379"/>
                    <a:pt x="20562" y="44507"/>
                  </a:cubicBezTo>
                  <a:lnTo>
                    <a:pt x="22229" y="44451"/>
                  </a:lnTo>
                  <a:lnTo>
                    <a:pt x="55566" y="44451"/>
                  </a:lnTo>
                  <a:lnTo>
                    <a:pt x="55566" y="33339"/>
                  </a:lnTo>
                  <a:cubicBezTo>
                    <a:pt x="55566" y="14927"/>
                    <a:pt x="70492" y="1"/>
                    <a:pt x="88904" y="1"/>
                  </a:cubicBez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8561" y="3441700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支点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466" y="3721100"/>
              <a:ext cx="2904363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三张画布压进同一张 640×640：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native(0,0,640,512) + thumb160</a:t>
              </a:r>
              <a:br>
                <a:rPr lang="en-US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(0,512,160,128) + thumb80(160,512,80,64)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6672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085" y="4870450"/>
              <a:ext cx="1829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NPU 时间与单尺度完全相同</a:t>
              </a:r>
            </a:p>
          </p:txBody>
        </p:sp>
      </p:grpSp>
      <p:grpSp>
        <p:nvGrpSpPr>
          <p:cNvPr id="36" name="card-rga"/>
          <p:cNvGrpSpPr/>
          <p:nvPr/>
        </p:nvGrpSpPr>
        <p:grpSpPr>
          <a:xfrm>
            <a:off x="4343400" y="2781300"/>
            <a:ext cx="3505200" cy="2381250"/>
            <a:chOff x="4343400" y="2781300"/>
            <a:chExt cx="3505200" cy="2381250"/>
          </a:xfrm>
        </p:grpSpPr>
        <p:sp>
          <p:nvSpPr>
            <p:cNvPr id="27" name="Rectangle 27"/>
            <p:cNvSpPr/>
            <p:nvPr/>
          </p:nvSpPr>
          <p:spPr>
            <a:xfrm>
              <a:off x="43434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4594225" y="2994025"/>
              <a:ext cx="222251" cy="222251"/>
              <a:chOff x="4594225" y="2994025"/>
              <a:chExt cx="222251" cy="22225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638675" y="2994025"/>
                <a:ext cx="177801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77801">
                    <a:moveTo>
                      <a:pt x="0" y="40750"/>
                    </a:moveTo>
                    <a:cubicBezTo>
                      <a:pt x="0" y="18244"/>
                      <a:pt x="18244" y="0"/>
                      <a:pt x="40750" y="0"/>
                    </a:cubicBezTo>
                    <a:lnTo>
                      <a:pt x="137051" y="0"/>
                    </a:lnTo>
                    <a:cubicBezTo>
                      <a:pt x="147858" y="0"/>
                      <a:pt x="158223" y="4293"/>
                      <a:pt x="165865" y="11935"/>
                    </a:cubicBezTo>
                    <a:cubicBezTo>
                      <a:pt x="173507" y="19577"/>
                      <a:pt x="177801" y="29942"/>
                      <a:pt x="177801" y="40750"/>
                    </a:cubicBezTo>
                    <a:lnTo>
                      <a:pt x="177801" y="137051"/>
                    </a:lnTo>
                    <a:cubicBezTo>
                      <a:pt x="177801" y="147858"/>
                      <a:pt x="173507" y="158223"/>
                      <a:pt x="165865" y="165865"/>
                    </a:cubicBezTo>
                    <a:cubicBezTo>
                      <a:pt x="158223" y="173507"/>
                      <a:pt x="147858" y="177801"/>
                      <a:pt x="137051" y="177801"/>
                    </a:cubicBezTo>
                    <a:lnTo>
                      <a:pt x="40750" y="177801"/>
                    </a:lnTo>
                    <a:cubicBezTo>
                      <a:pt x="18244" y="177801"/>
                      <a:pt x="0" y="159556"/>
                      <a:pt x="0" y="137051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594225" y="3042449"/>
                <a:ext cx="175387" cy="173827"/>
              </a:xfrm>
              <a:custGeom>
                <a:avLst/>
                <a:gdLst/>
                <a:ahLst/>
                <a:cxnLst/>
                <a:rect l="l" t="t" r="r" b="b"/>
                <a:pathLst>
                  <a:path w="175387" h="173827">
                    <a:moveTo>
                      <a:pt x="0" y="29364"/>
                    </a:moveTo>
                    <a:cubicBezTo>
                      <a:pt x="0" y="17207"/>
                      <a:pt x="5923" y="9050"/>
                      <a:pt x="16824" y="2983"/>
                    </a:cubicBezTo>
                    <a:cubicBezTo>
                      <a:pt x="22188" y="0"/>
                      <a:pt x="28955" y="1930"/>
                      <a:pt x="31937" y="7294"/>
                    </a:cubicBezTo>
                    <a:cubicBezTo>
                      <a:pt x="34920" y="12658"/>
                      <a:pt x="32990" y="19425"/>
                      <a:pt x="27626" y="22407"/>
                    </a:cubicBezTo>
                    <a:cubicBezTo>
                      <a:pt x="23203" y="24863"/>
                      <a:pt x="22225" y="26208"/>
                      <a:pt x="22225" y="29364"/>
                    </a:cubicBezTo>
                    <a:lnTo>
                      <a:pt x="22225" y="140489"/>
                    </a:lnTo>
                    <a:cubicBezTo>
                      <a:pt x="22225" y="146579"/>
                      <a:pt x="27248" y="151602"/>
                      <a:pt x="33338" y="151602"/>
                    </a:cubicBezTo>
                    <a:lnTo>
                      <a:pt x="144441" y="151602"/>
                    </a:lnTo>
                    <a:cubicBezTo>
                      <a:pt x="147997" y="151602"/>
                      <a:pt x="151308" y="149890"/>
                      <a:pt x="153386" y="147079"/>
                    </a:cubicBezTo>
                    <a:lnTo>
                      <a:pt x="154109" y="145968"/>
                    </a:lnTo>
                    <a:cubicBezTo>
                      <a:pt x="156074" y="142518"/>
                      <a:pt x="159730" y="140378"/>
                      <a:pt x="163701" y="140355"/>
                    </a:cubicBezTo>
                    <a:cubicBezTo>
                      <a:pt x="167671" y="140332"/>
                      <a:pt x="171352" y="142429"/>
                      <a:pt x="173358" y="145856"/>
                    </a:cubicBezTo>
                    <a:cubicBezTo>
                      <a:pt x="175363" y="149283"/>
                      <a:pt x="175387" y="153519"/>
                      <a:pt x="173422" y="156969"/>
                    </a:cubicBezTo>
                    <a:cubicBezTo>
                      <a:pt x="167500" y="167384"/>
                      <a:pt x="156444" y="173820"/>
                      <a:pt x="144463" y="173827"/>
                    </a:cubicBezTo>
                    <a:lnTo>
                      <a:pt x="33338" y="173827"/>
                    </a:lnTo>
                    <a:cubicBezTo>
                      <a:pt x="14980" y="173827"/>
                      <a:pt x="0" y="158847"/>
                      <a:pt x="0" y="140489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564761" y="3441700"/>
              <a:ext cx="11926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RGA 硬件画布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66666" y="3721100"/>
              <a:ext cx="2264283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3 次 improcess 一次装配（缩放 +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落位一步到位）；解码缓冲直接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importbuffer_virtualaddr 交给 RGA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5720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67047" y="46672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逐帧开销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6285" y="4870450"/>
              <a:ext cx="11237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零 CPU 图像拷贝</a:t>
              </a:r>
            </a:p>
          </p:txBody>
        </p:sp>
      </p:grpSp>
      <p:grpSp>
        <p:nvGrpSpPr>
          <p:cNvPr id="44" name="card-pitfall"/>
          <p:cNvGrpSpPr/>
          <p:nvPr/>
        </p:nvGrpSpPr>
        <p:grpSpPr>
          <a:xfrm>
            <a:off x="8229600" y="2781300"/>
            <a:ext cx="3505200" cy="2381250"/>
            <a:chOff x="8229600" y="2781300"/>
            <a:chExt cx="3505200" cy="2381250"/>
          </a:xfrm>
        </p:grpSpPr>
        <p:sp>
          <p:nvSpPr>
            <p:cNvPr id="37" name="Rectangle 37"/>
            <p:cNvSpPr/>
            <p:nvPr/>
          </p:nvSpPr>
          <p:spPr>
            <a:xfrm>
              <a:off x="82296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467738" y="2990358"/>
              <a:ext cx="247496" cy="214761"/>
            </a:xfrm>
            <a:custGeom>
              <a:avLst/>
              <a:gdLst/>
              <a:ahLst/>
              <a:cxnLst/>
              <a:rect l="l" t="t" r="r" b="b"/>
              <a:pathLst>
                <a:path w="247496" h="214761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8"/>
                  </a:lnTo>
                  <a:cubicBezTo>
                    <a:pt x="247275" y="175835"/>
                    <a:pt x="247496" y="187668"/>
                    <a:pt x="242289" y="197516"/>
                  </a:cubicBezTo>
                  <a:cubicBezTo>
                    <a:pt x="237081" y="207364"/>
                    <a:pt x="227178" y="213844"/>
                    <a:pt x="216069" y="214672"/>
                  </a:cubicBezTo>
                  <a:lnTo>
                    <a:pt x="213902" y="214761"/>
                  </a:lnTo>
                  <a:lnTo>
                    <a:pt x="33601" y="214761"/>
                  </a:lnTo>
                  <a:cubicBezTo>
                    <a:pt x="22481" y="214636"/>
                    <a:pt x="12203" y="208813"/>
                    <a:pt x="6379" y="199340"/>
                  </a:cubicBezTo>
                  <a:cubicBezTo>
                    <a:pt x="555" y="189866"/>
                    <a:pt x="0" y="178067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2000" y="5914"/>
                    <a:pt x="112495" y="2"/>
                    <a:pt x="123812" y="0"/>
                  </a:cubicBezTo>
                  <a:close/>
                  <a:moveTo>
                    <a:pt x="123924" y="148130"/>
                  </a:moveTo>
                  <a:lnTo>
                    <a:pt x="122512" y="148208"/>
                  </a:lnTo>
                  <a:cubicBezTo>
                    <a:pt x="116922" y="148873"/>
                    <a:pt x="112712" y="153613"/>
                    <a:pt x="112712" y="159243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4" y="170277"/>
                  </a:lnTo>
                  <a:cubicBezTo>
                    <a:pt x="130814" y="169612"/>
                    <a:pt x="135024" y="164872"/>
                    <a:pt x="135024" y="159243"/>
                  </a:cubicBezTo>
                  <a:cubicBezTo>
                    <a:pt x="135024" y="153613"/>
                    <a:pt x="130814" y="148873"/>
                    <a:pt x="125224" y="148208"/>
                  </a:cubicBezTo>
                  <a:lnTo>
                    <a:pt x="123924" y="148130"/>
                  </a:lnTo>
                  <a:close/>
                  <a:moveTo>
                    <a:pt x="123812" y="70342"/>
                  </a:moveTo>
                  <a:cubicBezTo>
                    <a:pt x="118179" y="70343"/>
                    <a:pt x="113437" y="74560"/>
                    <a:pt x="112778" y="80155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8" y="127205"/>
                  </a:lnTo>
                  <a:cubicBezTo>
                    <a:pt x="113443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5"/>
                  </a:lnTo>
                  <a:cubicBezTo>
                    <a:pt x="134188" y="74560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961" y="344170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三条静默失效坑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52866" y="3721100"/>
              <a:ext cx="2284285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缓冲区路径唯一（裸 fd 返回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SUCCESS 但零字节不写）；imcheck()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让紧随的真实操作静默失效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4582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53247" y="46672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接口边界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52485" y="4870450"/>
              <a:ext cx="12841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imfill 只支持 RGBA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457200" y="5314950"/>
            <a:ext cx="11277600" cy="857250"/>
            <a:chOff x="457200" y="5314950"/>
            <a:chExt cx="11277600" cy="857250"/>
          </a:xfrm>
        </p:grpSpPr>
        <p:sp>
          <p:nvSpPr>
            <p:cNvPr id="45" name="Rectangle 45"/>
            <p:cNvSpPr/>
            <p:nvPr/>
          </p:nvSpPr>
          <p:spPr>
            <a:xfrm>
              <a:off x="457200" y="5314950"/>
              <a:ext cx="11277600" cy="857250"/>
            </a:xfrm>
            <a:prstGeom prst="rect">
              <a:avLst/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57200" y="5314950"/>
              <a:ext cx="38100" cy="85725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6280" y="548005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硬件加速的前提，是先摸清硬件的真实能力边界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8566" y="5797550"/>
              <a:ext cx="78783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RGA 的三条坑全部是「返回成功但什么都没做」——包括 imcheck() 让紧随其后的真实操作静默失效；这类失效靠日志看不出来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50" name="Line 50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52247" y="6477000"/>
              <a:ext cx="80023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来源：MOSAIC_RK3588_20261026.md §1.1–§1.2、§2 结论 1–3；RGA_RK3588_NOTES.md §1–§4、§6–§7（能力表 12 条与三条坑）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战果 B4 · 战线 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58399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没有同图对照，报的是差值不是量化损失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679447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A（PC f32 逐尺度）与 C（板端 f16 拼图）计算图不同，差值只是「打包 + 量化」的合计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8" name="strip"/>
          <p:cNvGrpSpPr/>
          <p:nvPr/>
        </p:nvGrpSpPr>
        <p:grpSpPr>
          <a:xfrm>
            <a:off x="439674" y="1619250"/>
            <a:ext cx="10221374" cy="991743"/>
            <a:chOff x="439674" y="1619250"/>
            <a:chExt cx="10221374" cy="991743"/>
          </a:xfrm>
        </p:grpSpPr>
        <p:sp>
          <p:nvSpPr>
            <p:cNvPr id="7" name="Line 7"/>
            <p:cNvSpPr/>
            <p:nvPr/>
          </p:nvSpPr>
          <p:spPr>
            <a:xfrm>
              <a:off x="41148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010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9674" y="1619250"/>
              <a:ext cx="91400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7 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485" y="21844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同一打分器全部重算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247" y="2419350"/>
              <a:ext cx="9617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关键补件是 B 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5874" y="1619250"/>
              <a:ext cx="244897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+0.000000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7685" y="2184400"/>
              <a:ext cx="1124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T2 黄金池 B → 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8447" y="2419350"/>
              <a:ext cx="14149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逐位相同；f16 代价 ≈ 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2074" y="1619250"/>
              <a:ext cx="244897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−0.002139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3885" y="2184400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T3 盲测总账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4647" y="2419350"/>
              <a:ext cx="20745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打包 −0.002668 + 量化 +0.000529</a:t>
              </a:r>
            </a:p>
          </p:txBody>
        </p:sp>
      </p:grpSp>
      <p:grpSp>
        <p:nvGrpSpPr>
          <p:cNvPr id="30" name="card-problem"/>
          <p:cNvGrpSpPr/>
          <p:nvPr/>
        </p:nvGrpSpPr>
        <p:grpSpPr>
          <a:xfrm>
            <a:off x="457200" y="2781300"/>
            <a:ext cx="3505200" cy="2381250"/>
            <a:chOff x="457200" y="2781300"/>
            <a:chExt cx="35052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4572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19137" y="3005137"/>
              <a:ext cx="200027" cy="200027"/>
              <a:chOff x="719137" y="3005137"/>
              <a:chExt cx="200027" cy="20002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19138" y="3094038"/>
                <a:ext cx="66675" cy="111126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11126">
                    <a:moveTo>
                      <a:pt x="11113" y="0"/>
                    </a:move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100013"/>
                    </a:lnTo>
                    <a:cubicBezTo>
                      <a:pt x="66675" y="106150"/>
                      <a:pt x="61700" y="111125"/>
                      <a:pt x="55563" y="111125"/>
                    </a:cubicBezTo>
                    <a:lnTo>
                      <a:pt x="33338" y="111125"/>
                    </a:lnTo>
                    <a:cubicBezTo>
                      <a:pt x="15685" y="111126"/>
                      <a:pt x="1091" y="97366"/>
                      <a:pt x="56" y="79744"/>
                    </a:cubicBezTo>
                    <a:lnTo>
                      <a:pt x="0" y="77788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8038" y="3094038"/>
                <a:ext cx="11112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6" h="111125">
                    <a:moveTo>
                      <a:pt x="111125" y="11113"/>
                    </a:moveTo>
                    <a:lnTo>
                      <a:pt x="111125" y="77788"/>
                    </a:lnTo>
                    <a:cubicBezTo>
                      <a:pt x="111126" y="95441"/>
                      <a:pt x="97366" y="110034"/>
                      <a:pt x="79744" y="111070"/>
                    </a:cubicBezTo>
                    <a:lnTo>
                      <a:pt x="77788" y="111125"/>
                    </a:lnTo>
                    <a:lnTo>
                      <a:pt x="11113" y="111125"/>
                    </a:lnTo>
                    <a:cubicBezTo>
                      <a:pt x="4975" y="111125"/>
                      <a:pt x="0" y="106150"/>
                      <a:pt x="0" y="100013"/>
                    </a:cubicBez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lnTo>
                      <a:pt x="100013" y="0"/>
                    </a:lnTo>
                    <a:cubicBezTo>
                      <a:pt x="106150" y="0"/>
                      <a:pt x="111125" y="4975"/>
                      <a:pt x="111125" y="11113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8038" y="3005137"/>
                <a:ext cx="111125" cy="66676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66676">
                    <a:moveTo>
                      <a:pt x="77788" y="1"/>
                    </a:moveTo>
                    <a:cubicBezTo>
                      <a:pt x="95441" y="0"/>
                      <a:pt x="110034" y="13760"/>
                      <a:pt x="111070" y="31383"/>
                    </a:cubicBezTo>
                    <a:lnTo>
                      <a:pt x="111125" y="33339"/>
                    </a:lnTo>
                    <a:lnTo>
                      <a:pt x="111125" y="55564"/>
                    </a:lnTo>
                    <a:cubicBezTo>
                      <a:pt x="111125" y="61701"/>
                      <a:pt x="106150" y="66676"/>
                      <a:pt x="100013" y="66676"/>
                    </a:cubicBezTo>
                    <a:lnTo>
                      <a:pt x="11113" y="66676"/>
                    </a:lnTo>
                    <a:cubicBezTo>
                      <a:pt x="4975" y="66676"/>
                      <a:pt x="0" y="61701"/>
                      <a:pt x="0" y="55564"/>
                    </a:cubicBezTo>
                    <a:lnTo>
                      <a:pt x="0" y="11114"/>
                    </a:lnTo>
                    <a:cubicBezTo>
                      <a:pt x="0" y="4976"/>
                      <a:pt x="4975" y="1"/>
                      <a:pt x="11113" y="1"/>
                    </a:cubicBezTo>
                    <a:lnTo>
                      <a:pt x="77788" y="1"/>
                    </a:ln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19137" y="3005138"/>
                <a:ext cx="66676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6" h="66675">
                    <a:moveTo>
                      <a:pt x="66676" y="11113"/>
                    </a:moveTo>
                    <a:lnTo>
                      <a:pt x="66676" y="55563"/>
                    </a:lnTo>
                    <a:cubicBezTo>
                      <a:pt x="66676" y="61700"/>
                      <a:pt x="61701" y="66675"/>
                      <a:pt x="55564" y="66675"/>
                    </a:cubicBezTo>
                    <a:lnTo>
                      <a:pt x="11114" y="66675"/>
                    </a:lnTo>
                    <a:cubicBezTo>
                      <a:pt x="4976" y="66675"/>
                      <a:pt x="1" y="61700"/>
                      <a:pt x="1" y="55563"/>
                    </a:cubicBez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9" y="0"/>
                    </a:lnTo>
                    <a:lnTo>
                      <a:pt x="55564" y="0"/>
                    </a:lnTo>
                    <a:cubicBezTo>
                      <a:pt x="61701" y="0"/>
                      <a:pt x="66676" y="4975"/>
                      <a:pt x="66676" y="11113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678561" y="3441700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0466" y="3721100"/>
              <a:ext cx="1764221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A 与 C 的计算图不同，差值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只是「打包 + 量化」的合计，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不能直接归给量化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858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667250"/>
              <a:ext cx="11508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T3 盲测 11,810 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0085" y="4870450"/>
              <a:ext cx="1867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A 0.897694 / C 0.895555</a:t>
              </a:r>
            </a:p>
          </p:txBody>
        </p:sp>
      </p:grpSp>
      <p:grpSp>
        <p:nvGrpSpPr>
          <p:cNvPr id="38" name="card-fix"/>
          <p:cNvGrpSpPr/>
          <p:nvPr/>
        </p:nvGrpSpPr>
        <p:grpSpPr>
          <a:xfrm>
            <a:off x="4343400" y="2781300"/>
            <a:ext cx="3505200" cy="2381250"/>
            <a:chOff x="4343400" y="2781300"/>
            <a:chExt cx="3505200" cy="2381250"/>
          </a:xfrm>
        </p:grpSpPr>
        <p:sp>
          <p:nvSpPr>
            <p:cNvPr id="31" name="Rectangle 31"/>
            <p:cNvSpPr/>
            <p:nvPr/>
          </p:nvSpPr>
          <p:spPr>
            <a:xfrm>
              <a:off x="43434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4594225" y="2994025"/>
              <a:ext cx="222251" cy="222252"/>
            </a:xfrm>
            <a:custGeom>
              <a:avLst/>
              <a:gdLst/>
              <a:ahLst/>
              <a:cxnLst/>
              <a:rect l="l" t="t" r="r" b="b"/>
              <a:pathLst>
                <a:path w="222251" h="222252">
                  <a:moveTo>
                    <a:pt x="181501" y="0"/>
                  </a:moveTo>
                  <a:cubicBezTo>
                    <a:pt x="203282" y="0"/>
                    <a:pt x="221062" y="17080"/>
                    <a:pt x="222195" y="38583"/>
                  </a:cubicBezTo>
                  <a:lnTo>
                    <a:pt x="222251" y="40750"/>
                  </a:lnTo>
                  <a:lnTo>
                    <a:pt x="222251" y="181501"/>
                  </a:lnTo>
                  <a:cubicBezTo>
                    <a:pt x="222251" y="203282"/>
                    <a:pt x="205171" y="221062"/>
                    <a:pt x="183668" y="222195"/>
                  </a:cubicBezTo>
                  <a:lnTo>
                    <a:pt x="181501" y="222251"/>
                  </a:lnTo>
                  <a:lnTo>
                    <a:pt x="40750" y="222251"/>
                  </a:lnTo>
                  <a:cubicBezTo>
                    <a:pt x="19085" y="222252"/>
                    <a:pt x="1208" y="205301"/>
                    <a:pt x="56" y="183668"/>
                  </a:cubicBezTo>
                  <a:lnTo>
                    <a:pt x="0" y="181501"/>
                  </a:lnTo>
                  <a:lnTo>
                    <a:pt x="0" y="40750"/>
                  </a:lnTo>
                  <a:cubicBezTo>
                    <a:pt x="0" y="18969"/>
                    <a:pt x="17080" y="1189"/>
                    <a:pt x="38583" y="56"/>
                  </a:cubicBezTo>
                  <a:lnTo>
                    <a:pt x="40750" y="0"/>
                  </a:lnTo>
                  <a:lnTo>
                    <a:pt x="181501" y="0"/>
                  </a:lnTo>
                  <a:close/>
                  <a:moveTo>
                    <a:pt x="152319" y="81044"/>
                  </a:moveTo>
                  <a:cubicBezTo>
                    <a:pt x="147980" y="76706"/>
                    <a:pt x="140946" y="76706"/>
                    <a:pt x="136606" y="81044"/>
                  </a:cubicBezTo>
                  <a:lnTo>
                    <a:pt x="100013" y="117626"/>
                  </a:lnTo>
                  <a:lnTo>
                    <a:pt x="85644" y="103269"/>
                  </a:lnTo>
                  <a:lnTo>
                    <a:pt x="84600" y="102346"/>
                  </a:lnTo>
                  <a:cubicBezTo>
                    <a:pt x="79964" y="98762"/>
                    <a:pt x="73342" y="99393"/>
                    <a:pt x="69467" y="103788"/>
                  </a:cubicBezTo>
                  <a:cubicBezTo>
                    <a:pt x="65592" y="108183"/>
                    <a:pt x="65795" y="114832"/>
                    <a:pt x="69931" y="118982"/>
                  </a:cubicBezTo>
                  <a:lnTo>
                    <a:pt x="92156" y="141207"/>
                  </a:lnTo>
                  <a:lnTo>
                    <a:pt x="93201" y="142129"/>
                  </a:lnTo>
                  <a:cubicBezTo>
                    <a:pt x="97625" y="145561"/>
                    <a:pt x="103910" y="145166"/>
                    <a:pt x="107869" y="141207"/>
                  </a:cubicBezTo>
                  <a:lnTo>
                    <a:pt x="152319" y="96757"/>
                  </a:lnTo>
                  <a:lnTo>
                    <a:pt x="153242" y="95712"/>
                  </a:lnTo>
                  <a:cubicBezTo>
                    <a:pt x="156673" y="91289"/>
                    <a:pt x="156278" y="85003"/>
                    <a:pt x="152319" y="81044"/>
                  </a:cubicBez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64761" y="3441700"/>
              <a:ext cx="12141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解法：补 B 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6666" y="3721100"/>
              <a:ext cx="1884236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B = PC f32 + 同一画布 + 同一次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前向 ⇒ 打包与量化被拆开算，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各自归因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5720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67047" y="4667250"/>
              <a:ext cx="47115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T3 B 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66285" y="4870450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0.895025</a:t>
              </a:r>
            </a:p>
          </p:txBody>
        </p:sp>
      </p:grpSp>
      <p:grpSp>
        <p:nvGrpSpPr>
          <p:cNvPr id="46" name="card-caveat"/>
          <p:cNvGrpSpPr/>
          <p:nvPr/>
        </p:nvGrpSpPr>
        <p:grpSpPr>
          <a:xfrm>
            <a:off x="8229600" y="2781300"/>
            <a:ext cx="3505200" cy="2381250"/>
            <a:chOff x="8229600" y="2781300"/>
            <a:chExt cx="3505200" cy="2381250"/>
          </a:xfrm>
        </p:grpSpPr>
        <p:sp>
          <p:nvSpPr>
            <p:cNvPr id="39" name="Rectangle 39"/>
            <p:cNvSpPr/>
            <p:nvPr/>
          </p:nvSpPr>
          <p:spPr>
            <a:xfrm>
              <a:off x="82296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467738" y="2990358"/>
              <a:ext cx="247496" cy="214761"/>
            </a:xfrm>
            <a:custGeom>
              <a:avLst/>
              <a:gdLst/>
              <a:ahLst/>
              <a:cxnLst/>
              <a:rect l="l" t="t" r="r" b="b"/>
              <a:pathLst>
                <a:path w="247496" h="214761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8"/>
                  </a:lnTo>
                  <a:cubicBezTo>
                    <a:pt x="247275" y="175835"/>
                    <a:pt x="247496" y="187668"/>
                    <a:pt x="242289" y="197516"/>
                  </a:cubicBezTo>
                  <a:cubicBezTo>
                    <a:pt x="237081" y="207364"/>
                    <a:pt x="227178" y="213844"/>
                    <a:pt x="216069" y="214672"/>
                  </a:cubicBezTo>
                  <a:lnTo>
                    <a:pt x="213902" y="214761"/>
                  </a:lnTo>
                  <a:lnTo>
                    <a:pt x="33601" y="214761"/>
                  </a:lnTo>
                  <a:cubicBezTo>
                    <a:pt x="22481" y="214636"/>
                    <a:pt x="12203" y="208813"/>
                    <a:pt x="6379" y="199340"/>
                  </a:cubicBezTo>
                  <a:cubicBezTo>
                    <a:pt x="555" y="189866"/>
                    <a:pt x="0" y="178067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2000" y="5914"/>
                    <a:pt x="112495" y="2"/>
                    <a:pt x="123812" y="0"/>
                  </a:cubicBezTo>
                  <a:close/>
                  <a:moveTo>
                    <a:pt x="123924" y="148130"/>
                  </a:moveTo>
                  <a:lnTo>
                    <a:pt x="122512" y="148208"/>
                  </a:lnTo>
                  <a:cubicBezTo>
                    <a:pt x="116922" y="148873"/>
                    <a:pt x="112712" y="153613"/>
                    <a:pt x="112712" y="159243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4" y="170277"/>
                  </a:lnTo>
                  <a:cubicBezTo>
                    <a:pt x="130814" y="169612"/>
                    <a:pt x="135024" y="164872"/>
                    <a:pt x="135024" y="159243"/>
                  </a:cubicBezTo>
                  <a:cubicBezTo>
                    <a:pt x="135024" y="153613"/>
                    <a:pt x="130814" y="148873"/>
                    <a:pt x="125224" y="148208"/>
                  </a:cubicBezTo>
                  <a:lnTo>
                    <a:pt x="123924" y="148130"/>
                  </a:lnTo>
                  <a:close/>
                  <a:moveTo>
                    <a:pt x="123812" y="70342"/>
                  </a:moveTo>
                  <a:cubicBezTo>
                    <a:pt x="118179" y="70343"/>
                    <a:pt x="113437" y="74560"/>
                    <a:pt x="112778" y="80155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8" y="127205"/>
                  </a:lnTo>
                  <a:cubicBezTo>
                    <a:pt x="113443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5"/>
                  </a:lnTo>
                  <a:cubicBezTo>
                    <a:pt x="134188" y="74560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50961" y="344170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附带的口径提醒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52866" y="3721100"/>
              <a:ext cx="2144268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dedup_radius 768 大于帧内任意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两点距离 ⇒ 每帧基本只留最高分的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那一个候选，不是常规多框平均精度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4582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453247" y="4667250"/>
              <a:ext cx="10502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报 F1 必须同时报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52485" y="4870450"/>
              <a:ext cx="1247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det/帧与匹配模式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457200" y="5314950"/>
            <a:ext cx="11277600" cy="857250"/>
            <a:chOff x="457200" y="5314950"/>
            <a:chExt cx="11277600" cy="857250"/>
          </a:xfrm>
        </p:grpSpPr>
        <p:sp>
          <p:nvSpPr>
            <p:cNvPr id="47" name="Rectangle 47"/>
            <p:cNvSpPr/>
            <p:nvPr/>
          </p:nvSpPr>
          <p:spPr>
            <a:xfrm>
              <a:off x="457200" y="5314950"/>
              <a:ext cx="11277600" cy="857250"/>
            </a:xfrm>
            <a:prstGeom prst="rect">
              <a:avLst/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57200" y="5314950"/>
              <a:ext cx="38100" cy="85725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6280" y="5480050"/>
              <a:ext cx="5742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「量化损失」必须能报出同口径的 f32 对照臂，否则报的是差值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8566" y="5797550"/>
              <a:ext cx="79899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跨计算图的差值必须先拆成「同图对照」——否则任何关于精度代价的结论都可能归错方向（这在 f16 → int8 的路线上同样成立）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52" name="Line 52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52247" y="6477000"/>
              <a:ext cx="96313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来源：MOSAIC_RK3588_20261026.md §2（7 臂对照表）、§7.1（跨计算图差值必须先拆成同图对照）、§3.2（评测形态）；MOSAIC_RK3588_REPORT.md §2.1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75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底座 1 · 公共底座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先分清「算法慢」还是「被抢慢」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706236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NPU 线程 94.45 ms 里只有 59.96 ms 是硬件，另 28.60 ms 是挤在同一线程上的 letterbox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8" name="strip"/>
          <p:cNvGrpSpPr/>
          <p:nvPr/>
        </p:nvGrpSpPr>
        <p:grpSpPr>
          <a:xfrm>
            <a:off x="439674" y="1619250"/>
            <a:ext cx="10221374" cy="991743"/>
            <a:chOff x="439674" y="1619250"/>
            <a:chExt cx="10221374" cy="991743"/>
          </a:xfrm>
        </p:grpSpPr>
        <p:sp>
          <p:nvSpPr>
            <p:cNvPr id="7" name="Line 7"/>
            <p:cNvSpPr/>
            <p:nvPr/>
          </p:nvSpPr>
          <p:spPr>
            <a:xfrm>
              <a:off x="41148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010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9674" y="1619250"/>
              <a:ext cx="13761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14.07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485" y="2184400"/>
              <a:ext cx="19221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三级流水线 fps（原 5.74）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247" y="2419350"/>
              <a:ext cx="159963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重叠效率 0.949× → 1.409×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5874" y="1619250"/>
              <a:ext cx="13761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2.45×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7685" y="21844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累计提速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8447" y="241935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三步：去落盘 → 2 级 → 3 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2074" y="1619250"/>
              <a:ext cx="244897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1070/1070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3885" y="2184400"/>
              <a:ext cx="2063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heatmap+offset 逐字节一致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4647" y="2419350"/>
              <a:ext cx="11016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检出 TSV 0 行差异</a:t>
              </a:r>
            </a:p>
          </p:txBody>
        </p:sp>
      </p:grpSp>
      <p:grpSp>
        <p:nvGrpSpPr>
          <p:cNvPr id="26" name="card-attribute"/>
          <p:cNvGrpSpPr/>
          <p:nvPr/>
        </p:nvGrpSpPr>
        <p:grpSpPr>
          <a:xfrm>
            <a:off x="457200" y="2781300"/>
            <a:ext cx="3505200" cy="2381250"/>
            <a:chOff x="457200" y="2781300"/>
            <a:chExt cx="35052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4572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52474" y="3004583"/>
              <a:ext cx="166694" cy="201135"/>
            </a:xfrm>
            <a:custGeom>
              <a:avLst/>
              <a:gdLst/>
              <a:ahLst/>
              <a:cxnLst/>
              <a:rect l="l" t="t" r="r" b="b"/>
              <a:pathLst>
                <a:path w="166694" h="201135">
                  <a:moveTo>
                    <a:pt x="1" y="11667"/>
                  </a:moveTo>
                  <a:lnTo>
                    <a:pt x="1" y="189468"/>
                  </a:lnTo>
                  <a:cubicBezTo>
                    <a:pt x="0" y="193494"/>
                    <a:pt x="2177" y="197206"/>
                    <a:pt x="5691" y="199171"/>
                  </a:cubicBezTo>
                  <a:cubicBezTo>
                    <a:pt x="9205" y="201135"/>
                    <a:pt x="13507" y="201046"/>
                    <a:pt x="16937" y="198936"/>
                  </a:cubicBezTo>
                  <a:lnTo>
                    <a:pt x="161400" y="110036"/>
                  </a:lnTo>
                  <a:cubicBezTo>
                    <a:pt x="164690" y="108014"/>
                    <a:pt x="166694" y="104429"/>
                    <a:pt x="166694" y="100568"/>
                  </a:cubicBezTo>
                  <a:cubicBezTo>
                    <a:pt x="166694" y="96706"/>
                    <a:pt x="164690" y="93122"/>
                    <a:pt x="161400" y="91100"/>
                  </a:cubicBezTo>
                  <a:lnTo>
                    <a:pt x="16937" y="2200"/>
                  </a:lnTo>
                  <a:cubicBezTo>
                    <a:pt x="13507" y="90"/>
                    <a:pt x="9205" y="0"/>
                    <a:pt x="5691" y="1965"/>
                  </a:cubicBezTo>
                  <a:cubicBezTo>
                    <a:pt x="2177" y="3929"/>
                    <a:pt x="0" y="7641"/>
                    <a:pt x="1" y="11667"/>
                  </a:cubicBez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8561" y="344170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归因先行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466" y="3721100"/>
              <a:ext cx="2230945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letterbox 独占线程只要 12.23 ms，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挂在 NPU 线程上要 28.60 ms——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差 2.3 倍是争抢，不是算法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46672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085" y="48704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挪到独占线程再测一次</a:t>
              </a:r>
            </a:p>
          </p:txBody>
        </p:sp>
      </p:grpSp>
      <p:grpSp>
        <p:nvGrpSpPr>
          <p:cNvPr id="38" name="card-steps"/>
          <p:cNvGrpSpPr/>
          <p:nvPr/>
        </p:nvGrpSpPr>
        <p:grpSpPr>
          <a:xfrm>
            <a:off x="4343400" y="2781300"/>
            <a:ext cx="3505200" cy="2381250"/>
            <a:chOff x="4343400" y="2781300"/>
            <a:chExt cx="3505200" cy="2381250"/>
          </a:xfrm>
        </p:grpSpPr>
        <p:sp>
          <p:nvSpPr>
            <p:cNvPr id="27" name="Rectangle 27"/>
            <p:cNvSpPr/>
            <p:nvPr/>
          </p:nvSpPr>
          <p:spPr>
            <a:xfrm>
              <a:off x="43434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594225" y="2994025"/>
              <a:ext cx="222250" cy="222250"/>
              <a:chOff x="4594225" y="2994025"/>
              <a:chExt cx="222250" cy="2222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594225" y="312737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29637"/>
                    </a:moveTo>
                    <a:cubicBezTo>
                      <a:pt x="0" y="13269"/>
                      <a:pt x="13269" y="0"/>
                      <a:pt x="29637" y="0"/>
                    </a:cubicBezTo>
                    <a:lnTo>
                      <a:pt x="59263" y="0"/>
                    </a:lnTo>
                    <a:cubicBezTo>
                      <a:pt x="75631" y="0"/>
                      <a:pt x="88900" y="13269"/>
                      <a:pt x="88900" y="29637"/>
                    </a:cubicBezTo>
                    <a:lnTo>
                      <a:pt x="88900" y="59263"/>
                    </a:lnTo>
                    <a:cubicBezTo>
                      <a:pt x="88900" y="75631"/>
                      <a:pt x="75631" y="88900"/>
                      <a:pt x="59263" y="88900"/>
                    </a:cubicBezTo>
                    <a:lnTo>
                      <a:pt x="29637" y="88900"/>
                    </a:lnTo>
                    <a:cubicBezTo>
                      <a:pt x="21777" y="88900"/>
                      <a:pt x="14239" y="85778"/>
                      <a:pt x="8681" y="80220"/>
                    </a:cubicBezTo>
                    <a:cubicBezTo>
                      <a:pt x="3122" y="74662"/>
                      <a:pt x="0" y="67123"/>
                      <a:pt x="0" y="59263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727575" y="312737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29637"/>
                    </a:moveTo>
                    <a:cubicBezTo>
                      <a:pt x="0" y="21777"/>
                      <a:pt x="3122" y="14239"/>
                      <a:pt x="8681" y="8681"/>
                    </a:cubicBezTo>
                    <a:cubicBezTo>
                      <a:pt x="14239" y="3122"/>
                      <a:pt x="21777" y="0"/>
                      <a:pt x="29637" y="0"/>
                    </a:cubicBezTo>
                    <a:lnTo>
                      <a:pt x="59263" y="0"/>
                    </a:lnTo>
                    <a:cubicBezTo>
                      <a:pt x="75631" y="0"/>
                      <a:pt x="88900" y="13269"/>
                      <a:pt x="88900" y="29637"/>
                    </a:cubicBezTo>
                    <a:lnTo>
                      <a:pt x="88900" y="59263"/>
                    </a:lnTo>
                    <a:cubicBezTo>
                      <a:pt x="88900" y="75631"/>
                      <a:pt x="75631" y="88900"/>
                      <a:pt x="59263" y="88900"/>
                    </a:cubicBezTo>
                    <a:lnTo>
                      <a:pt x="29637" y="88900"/>
                    </a:lnTo>
                    <a:cubicBezTo>
                      <a:pt x="21777" y="88900"/>
                      <a:pt x="14239" y="85778"/>
                      <a:pt x="8681" y="80220"/>
                    </a:cubicBezTo>
                    <a:cubicBezTo>
                      <a:pt x="3122" y="74662"/>
                      <a:pt x="0" y="67123"/>
                      <a:pt x="0" y="59263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660900" y="299402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29637"/>
                    </a:moveTo>
                    <a:cubicBezTo>
                      <a:pt x="0" y="13269"/>
                      <a:pt x="13269" y="0"/>
                      <a:pt x="29637" y="0"/>
                    </a:cubicBezTo>
                    <a:lnTo>
                      <a:pt x="59263" y="0"/>
                    </a:lnTo>
                    <a:cubicBezTo>
                      <a:pt x="75631" y="0"/>
                      <a:pt x="88900" y="13269"/>
                      <a:pt x="88900" y="29637"/>
                    </a:cubicBezTo>
                    <a:lnTo>
                      <a:pt x="88900" y="59263"/>
                    </a:lnTo>
                    <a:cubicBezTo>
                      <a:pt x="88900" y="75631"/>
                      <a:pt x="75631" y="88900"/>
                      <a:pt x="59263" y="88900"/>
                    </a:cubicBezTo>
                    <a:lnTo>
                      <a:pt x="29637" y="88900"/>
                    </a:lnTo>
                    <a:cubicBezTo>
                      <a:pt x="13269" y="88900"/>
                      <a:pt x="0" y="75631"/>
                      <a:pt x="0" y="59263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627563" y="3060700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77788" y="0"/>
                    </a:moveTo>
                    <a:cubicBezTo>
                      <a:pt x="71650" y="0"/>
                      <a:pt x="66675" y="4975"/>
                      <a:pt x="66675" y="11113"/>
                    </a:cubicBezTo>
                    <a:lnTo>
                      <a:pt x="66675" y="33338"/>
                    </a:lnTo>
                    <a:lnTo>
                      <a:pt x="33338" y="33338"/>
                    </a:lnTo>
                    <a:cubicBezTo>
                      <a:pt x="15057" y="33338"/>
                      <a:pt x="0" y="48395"/>
                      <a:pt x="0" y="66675"/>
                    </a:cubicBezTo>
                    <a:lnTo>
                      <a:pt x="0" y="77788"/>
                    </a:lnTo>
                    <a:cubicBezTo>
                      <a:pt x="0" y="83925"/>
                      <a:pt x="4975" y="88900"/>
                      <a:pt x="11113" y="88900"/>
                    </a:cubicBezTo>
                    <a:cubicBezTo>
                      <a:pt x="17250" y="88900"/>
                      <a:pt x="22225" y="83925"/>
                      <a:pt x="22225" y="77788"/>
                    </a:cubicBezTo>
                    <a:lnTo>
                      <a:pt x="22225" y="66675"/>
                    </a:lnTo>
                    <a:cubicBezTo>
                      <a:pt x="22225" y="60408"/>
                      <a:pt x="27070" y="55563"/>
                      <a:pt x="33338" y="55563"/>
                    </a:cubicBezTo>
                    <a:lnTo>
                      <a:pt x="122238" y="55563"/>
                    </a:lnTo>
                    <a:cubicBezTo>
                      <a:pt x="128505" y="55563"/>
                      <a:pt x="133350" y="60408"/>
                      <a:pt x="133350" y="66675"/>
                    </a:cubicBezTo>
                    <a:lnTo>
                      <a:pt x="133350" y="77788"/>
                    </a:lnTo>
                    <a:cubicBezTo>
                      <a:pt x="133350" y="83925"/>
                      <a:pt x="138326" y="88900"/>
                      <a:pt x="144463" y="88900"/>
                    </a:cubicBezTo>
                    <a:cubicBezTo>
                      <a:pt x="150600" y="88900"/>
                      <a:pt x="155575" y="83925"/>
                      <a:pt x="155575" y="77788"/>
                    </a:cubicBezTo>
                    <a:lnTo>
                      <a:pt x="155575" y="66675"/>
                    </a:lnTo>
                    <a:cubicBezTo>
                      <a:pt x="155575" y="48395"/>
                      <a:pt x="140518" y="33338"/>
                      <a:pt x="122238" y="33338"/>
                    </a:cubicBezTo>
                    <a:lnTo>
                      <a:pt x="88900" y="33338"/>
                    </a:lnTo>
                    <a:lnTo>
                      <a:pt x="88900" y="11113"/>
                    </a:lnTo>
                    <a:cubicBezTo>
                      <a:pt x="88900" y="4975"/>
                      <a:pt x="83925" y="0"/>
                      <a:pt x="77788" y="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4564761" y="344170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三步提速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6666" y="3721100"/>
              <a:ext cx="2170938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去落盘（每帧省 38 ms 纯 I/O，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占 NPU 段 32%）→ 并行 2 级 →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3 级（letterbox 拆出，66.99 ms）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5720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67047" y="46672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等价性是白送的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66285" y="487045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无状态阶段挪线程免复验</a:t>
              </a:r>
            </a:p>
          </p:txBody>
        </p:sp>
      </p:grpSp>
      <p:grpSp>
        <p:nvGrpSpPr>
          <p:cNvPr id="46" name="card-ceiling"/>
          <p:cNvGrpSpPr/>
          <p:nvPr/>
        </p:nvGrpSpPr>
        <p:grpSpPr>
          <a:xfrm>
            <a:off x="8229600" y="2781300"/>
            <a:ext cx="3505200" cy="2381250"/>
            <a:chOff x="8229600" y="2781300"/>
            <a:chExt cx="3505200" cy="2381250"/>
          </a:xfrm>
        </p:grpSpPr>
        <p:sp>
          <p:nvSpPr>
            <p:cNvPr id="39" name="Rectangle 39"/>
            <p:cNvSpPr/>
            <p:nvPr/>
          </p:nvSpPr>
          <p:spPr>
            <a:xfrm>
              <a:off x="82296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480425" y="2989047"/>
              <a:ext cx="233697" cy="234079"/>
            </a:xfrm>
            <a:custGeom>
              <a:avLst/>
              <a:gdLst/>
              <a:ahLst/>
              <a:cxnLst/>
              <a:rect l="l" t="t" r="r" b="b"/>
              <a:pathLst>
                <a:path w="233697" h="234079">
                  <a:moveTo>
                    <a:pt x="166688" y="19869"/>
                  </a:moveTo>
                  <a:cubicBezTo>
                    <a:pt x="212998" y="46608"/>
                    <a:pt x="233697" y="102539"/>
                    <a:pt x="215950" y="152984"/>
                  </a:cubicBezTo>
                  <a:cubicBezTo>
                    <a:pt x="198203" y="203428"/>
                    <a:pt x="147044" y="234079"/>
                    <a:pt x="94193" y="225932"/>
                  </a:cubicBezTo>
                  <a:cubicBezTo>
                    <a:pt x="41341" y="217785"/>
                    <a:pt x="1788" y="173151"/>
                    <a:pt x="56" y="119704"/>
                  </a:cubicBezTo>
                  <a:lnTo>
                    <a:pt x="0" y="116103"/>
                  </a:lnTo>
                  <a:lnTo>
                    <a:pt x="56" y="112503"/>
                  </a:lnTo>
                  <a:cubicBezTo>
                    <a:pt x="1321" y="73464"/>
                    <a:pt x="22990" y="37956"/>
                    <a:pt x="57128" y="18978"/>
                  </a:cubicBezTo>
                  <a:cubicBezTo>
                    <a:pt x="91267" y="0"/>
                    <a:pt x="132862" y="338"/>
                    <a:pt x="166688" y="19869"/>
                  </a:cubicBezTo>
                  <a:close/>
                  <a:moveTo>
                    <a:pt x="163432" y="63796"/>
                  </a:moveTo>
                  <a:cubicBezTo>
                    <a:pt x="159093" y="59458"/>
                    <a:pt x="152058" y="59458"/>
                    <a:pt x="147719" y="63796"/>
                  </a:cubicBezTo>
                  <a:lnTo>
                    <a:pt x="118937" y="92578"/>
                  </a:lnTo>
                  <a:lnTo>
                    <a:pt x="118015" y="93622"/>
                  </a:lnTo>
                  <a:lnTo>
                    <a:pt x="117259" y="94734"/>
                  </a:lnTo>
                  <a:cubicBezTo>
                    <a:pt x="110829" y="92890"/>
                    <a:pt x="103910" y="94039"/>
                    <a:pt x="98421" y="97862"/>
                  </a:cubicBezTo>
                  <a:cubicBezTo>
                    <a:pt x="92932" y="101685"/>
                    <a:pt x="89456" y="107776"/>
                    <a:pt x="88956" y="114447"/>
                  </a:cubicBezTo>
                  <a:lnTo>
                    <a:pt x="88900" y="116103"/>
                  </a:lnTo>
                  <a:lnTo>
                    <a:pt x="88956" y="117770"/>
                  </a:lnTo>
                  <a:cubicBezTo>
                    <a:pt x="89593" y="126228"/>
                    <a:pt x="94989" y="133587"/>
                    <a:pt x="102864" y="136737"/>
                  </a:cubicBezTo>
                  <a:cubicBezTo>
                    <a:pt x="110740" y="139887"/>
                    <a:pt x="119722" y="138280"/>
                    <a:pt x="126017" y="132594"/>
                  </a:cubicBezTo>
                  <a:cubicBezTo>
                    <a:pt x="132311" y="126907"/>
                    <a:pt x="134820" y="118134"/>
                    <a:pt x="132484" y="109980"/>
                  </a:cubicBezTo>
                  <a:cubicBezTo>
                    <a:pt x="133275" y="109512"/>
                    <a:pt x="134003" y="108944"/>
                    <a:pt x="134651" y="108291"/>
                  </a:cubicBezTo>
                  <a:lnTo>
                    <a:pt x="163432" y="79509"/>
                  </a:lnTo>
                  <a:lnTo>
                    <a:pt x="164354" y="78465"/>
                  </a:lnTo>
                  <a:cubicBezTo>
                    <a:pt x="167786" y="74041"/>
                    <a:pt x="167391" y="67755"/>
                    <a:pt x="163432" y="63796"/>
                  </a:cubicBezTo>
                  <a:close/>
                  <a:moveTo>
                    <a:pt x="111125" y="49428"/>
                  </a:moveTo>
                  <a:cubicBezTo>
                    <a:pt x="93442" y="49428"/>
                    <a:pt x="76483" y="56453"/>
                    <a:pt x="63979" y="68957"/>
                  </a:cubicBezTo>
                  <a:cubicBezTo>
                    <a:pt x="51475" y="81461"/>
                    <a:pt x="44450" y="98420"/>
                    <a:pt x="44450" y="116103"/>
                  </a:cubicBezTo>
                  <a:cubicBezTo>
                    <a:pt x="44450" y="122240"/>
                    <a:pt x="49425" y="127216"/>
                    <a:pt x="55563" y="127216"/>
                  </a:cubicBezTo>
                  <a:cubicBezTo>
                    <a:pt x="61700" y="127216"/>
                    <a:pt x="66675" y="122240"/>
                    <a:pt x="66675" y="116103"/>
                  </a:cubicBezTo>
                  <a:cubicBezTo>
                    <a:pt x="66675" y="91554"/>
                    <a:pt x="86576" y="71653"/>
                    <a:pt x="111125" y="71653"/>
                  </a:cubicBezTo>
                  <a:cubicBezTo>
                    <a:pt x="117263" y="71653"/>
                    <a:pt x="122238" y="66678"/>
                    <a:pt x="122238" y="60540"/>
                  </a:cubicBezTo>
                  <a:cubicBezTo>
                    <a:pt x="122238" y="54403"/>
                    <a:pt x="117263" y="49428"/>
                    <a:pt x="111125" y="49428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50961" y="344170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天花板已算到底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52866" y="3721100"/>
              <a:ext cx="1824228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理论上限 14.93 fps；硬地板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rknn 60.77 + dequant 2.75 +</a:t>
              </a:r>
              <a:br>
                <a:rPr lang="en-US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peaks 0.35 = 63.87 ms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4582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453247" y="46672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诚实声明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52485" y="4870450"/>
              <a:ext cx="12930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rknn 内部构成未拆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457200" y="5314950"/>
            <a:ext cx="11277600" cy="857250"/>
            <a:chOff x="457200" y="5314950"/>
            <a:chExt cx="11277600" cy="857250"/>
          </a:xfrm>
        </p:grpSpPr>
        <p:sp>
          <p:nvSpPr>
            <p:cNvPr id="47" name="Rectangle 47"/>
            <p:cNvSpPr/>
            <p:nvPr/>
          </p:nvSpPr>
          <p:spPr>
            <a:xfrm>
              <a:off x="457200" y="5314950"/>
              <a:ext cx="11277600" cy="857250"/>
            </a:xfrm>
            <a:prstGeom prst="rect">
              <a:avLst/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57200" y="5314950"/>
              <a:ext cx="38100" cy="8572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6280" y="54800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先分清算法慢还是被抢慢，再谈并行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8566" y="5797550"/>
              <a:ext cx="61028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把「这段代码慢」直接当成算法问题去优化，最容易白干——挪到独占线程再测一次，代价近乎为零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52" name="Line 52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52247" y="6477000"/>
              <a:ext cx="73648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来源：archive/02_流水线与量化主线 §二十二（归因与等价性三证）、§二十三（三级流水线）、§二十五（收口表与天花板）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75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底座 2 · 公共底座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359208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demo 跑通 ≠ 库契约成立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48913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纯 C ABI 交付 + 契约测试 + 特征指纹部署自检，三件套缺一不可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8" name="strip"/>
          <p:cNvGrpSpPr/>
          <p:nvPr/>
        </p:nvGrpSpPr>
        <p:grpSpPr>
          <a:xfrm>
            <a:off x="439674" y="1619250"/>
            <a:ext cx="9529727" cy="991743"/>
            <a:chOff x="439674" y="1619250"/>
            <a:chExt cx="9529727" cy="991743"/>
          </a:xfrm>
        </p:grpSpPr>
        <p:sp>
          <p:nvSpPr>
            <p:cNvPr id="7" name="Line 7"/>
            <p:cNvSpPr/>
            <p:nvPr/>
          </p:nvSpPr>
          <p:spPr>
            <a:xfrm>
              <a:off x="41148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010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9674" y="1619250"/>
              <a:ext cx="164433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14.951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485" y="2184400"/>
              <a:ext cx="1224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服务化端到端 fps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247" y="2419350"/>
              <a:ext cx="196243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e2e 79.952 ms/帧 = 12.507 fps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5874" y="1619250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7685" y="21844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契约测试断言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8447" y="241935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专门踩错误路径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2074" y="1619250"/>
              <a:ext cx="303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3885" y="218440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本轮定位的真缺陷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4647" y="2419350"/>
              <a:ext cx="17447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其中 2 个曾污染已报出的数字</a:t>
              </a:r>
            </a:p>
          </p:txBody>
        </p:sp>
      </p:grpSp>
      <p:grpSp>
        <p:nvGrpSpPr>
          <p:cNvPr id="28" name="card-form"/>
          <p:cNvGrpSpPr/>
          <p:nvPr/>
        </p:nvGrpSpPr>
        <p:grpSpPr>
          <a:xfrm>
            <a:off x="457200" y="2781300"/>
            <a:ext cx="3505200" cy="2381250"/>
            <a:chOff x="457200" y="2781300"/>
            <a:chExt cx="35052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4572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08025" y="2994025"/>
              <a:ext cx="222251" cy="222251"/>
              <a:chOff x="708025" y="2994025"/>
              <a:chExt cx="222251" cy="22225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52475" y="2994025"/>
                <a:ext cx="177801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77801">
                    <a:moveTo>
                      <a:pt x="0" y="40750"/>
                    </a:moveTo>
                    <a:cubicBezTo>
                      <a:pt x="0" y="18244"/>
                      <a:pt x="18244" y="0"/>
                      <a:pt x="40750" y="0"/>
                    </a:cubicBezTo>
                    <a:lnTo>
                      <a:pt x="137051" y="0"/>
                    </a:lnTo>
                    <a:cubicBezTo>
                      <a:pt x="147858" y="0"/>
                      <a:pt x="158223" y="4293"/>
                      <a:pt x="165865" y="11935"/>
                    </a:cubicBezTo>
                    <a:cubicBezTo>
                      <a:pt x="173507" y="19577"/>
                      <a:pt x="177801" y="29942"/>
                      <a:pt x="177801" y="40750"/>
                    </a:cubicBezTo>
                    <a:lnTo>
                      <a:pt x="177801" y="137051"/>
                    </a:lnTo>
                    <a:cubicBezTo>
                      <a:pt x="177801" y="147858"/>
                      <a:pt x="173507" y="158223"/>
                      <a:pt x="165865" y="165865"/>
                    </a:cubicBezTo>
                    <a:cubicBezTo>
                      <a:pt x="158223" y="173507"/>
                      <a:pt x="147858" y="177801"/>
                      <a:pt x="137051" y="177801"/>
                    </a:cubicBezTo>
                    <a:lnTo>
                      <a:pt x="40750" y="177801"/>
                    </a:lnTo>
                    <a:cubicBezTo>
                      <a:pt x="18244" y="177801"/>
                      <a:pt x="0" y="159556"/>
                      <a:pt x="0" y="137051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08025" y="3042449"/>
                <a:ext cx="175387" cy="173827"/>
              </a:xfrm>
              <a:custGeom>
                <a:avLst/>
                <a:gdLst/>
                <a:ahLst/>
                <a:cxnLst/>
                <a:rect l="l" t="t" r="r" b="b"/>
                <a:pathLst>
                  <a:path w="175387" h="173827">
                    <a:moveTo>
                      <a:pt x="0" y="29364"/>
                    </a:moveTo>
                    <a:cubicBezTo>
                      <a:pt x="0" y="17207"/>
                      <a:pt x="5923" y="9050"/>
                      <a:pt x="16824" y="2983"/>
                    </a:cubicBezTo>
                    <a:cubicBezTo>
                      <a:pt x="22188" y="0"/>
                      <a:pt x="28955" y="1930"/>
                      <a:pt x="31937" y="7294"/>
                    </a:cubicBezTo>
                    <a:cubicBezTo>
                      <a:pt x="34920" y="12658"/>
                      <a:pt x="32990" y="19425"/>
                      <a:pt x="27626" y="22407"/>
                    </a:cubicBezTo>
                    <a:cubicBezTo>
                      <a:pt x="23203" y="24863"/>
                      <a:pt x="22225" y="26208"/>
                      <a:pt x="22225" y="29364"/>
                    </a:cubicBezTo>
                    <a:lnTo>
                      <a:pt x="22225" y="140489"/>
                    </a:lnTo>
                    <a:cubicBezTo>
                      <a:pt x="22225" y="146579"/>
                      <a:pt x="27248" y="151602"/>
                      <a:pt x="33338" y="151602"/>
                    </a:cubicBezTo>
                    <a:lnTo>
                      <a:pt x="144441" y="151602"/>
                    </a:lnTo>
                    <a:cubicBezTo>
                      <a:pt x="147997" y="151602"/>
                      <a:pt x="151308" y="149890"/>
                      <a:pt x="153386" y="147079"/>
                    </a:cubicBezTo>
                    <a:lnTo>
                      <a:pt x="154109" y="145968"/>
                    </a:lnTo>
                    <a:cubicBezTo>
                      <a:pt x="156074" y="142518"/>
                      <a:pt x="159730" y="140378"/>
                      <a:pt x="163701" y="140355"/>
                    </a:cubicBezTo>
                    <a:cubicBezTo>
                      <a:pt x="167671" y="140332"/>
                      <a:pt x="171352" y="142429"/>
                      <a:pt x="173358" y="145856"/>
                    </a:cubicBezTo>
                    <a:cubicBezTo>
                      <a:pt x="175363" y="149283"/>
                      <a:pt x="175387" y="153519"/>
                      <a:pt x="173422" y="156969"/>
                    </a:cubicBezTo>
                    <a:cubicBezTo>
                      <a:pt x="167500" y="167384"/>
                      <a:pt x="156444" y="173820"/>
                      <a:pt x="144463" y="173827"/>
                    </a:cubicBezTo>
                    <a:lnTo>
                      <a:pt x="33338" y="173827"/>
                    </a:lnTo>
                    <a:cubicBezTo>
                      <a:pt x="14980" y="173827"/>
                      <a:pt x="0" y="158847"/>
                      <a:pt x="0" y="140489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678561" y="344170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交付形态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0466" y="3721100"/>
              <a:ext cx="1957578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纯 C ABI libmosaic_pipeline.a，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主机与 aarch64 交叉均纯 C 编译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通过（头里无任何 C++ 构造）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858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0847" y="4667250"/>
              <a:ext cx="273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自检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0085" y="4870450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feature-md5-golden 部署自检</a:t>
              </a:r>
            </a:p>
          </p:txBody>
        </p:sp>
      </p:grpSp>
      <p:grpSp>
        <p:nvGrpSpPr>
          <p:cNvPr id="40" name="card-arch"/>
          <p:cNvGrpSpPr/>
          <p:nvPr/>
        </p:nvGrpSpPr>
        <p:grpSpPr>
          <a:xfrm>
            <a:off x="4343400" y="2781300"/>
            <a:ext cx="3505200" cy="2381250"/>
            <a:chOff x="4343400" y="2781300"/>
            <a:chExt cx="35052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43434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4594225" y="2994025"/>
              <a:ext cx="222250" cy="222250"/>
              <a:chOff x="4594225" y="2994025"/>
              <a:chExt cx="222250" cy="22225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594225" y="312737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29637"/>
                    </a:moveTo>
                    <a:cubicBezTo>
                      <a:pt x="0" y="13269"/>
                      <a:pt x="13269" y="0"/>
                      <a:pt x="29637" y="0"/>
                    </a:cubicBezTo>
                    <a:lnTo>
                      <a:pt x="59263" y="0"/>
                    </a:lnTo>
                    <a:cubicBezTo>
                      <a:pt x="75631" y="0"/>
                      <a:pt x="88900" y="13269"/>
                      <a:pt x="88900" y="29637"/>
                    </a:cubicBezTo>
                    <a:lnTo>
                      <a:pt x="88900" y="59263"/>
                    </a:lnTo>
                    <a:cubicBezTo>
                      <a:pt x="88900" y="75631"/>
                      <a:pt x="75631" y="88900"/>
                      <a:pt x="59263" y="88900"/>
                    </a:cubicBezTo>
                    <a:lnTo>
                      <a:pt x="29637" y="88900"/>
                    </a:lnTo>
                    <a:cubicBezTo>
                      <a:pt x="21777" y="88900"/>
                      <a:pt x="14239" y="85778"/>
                      <a:pt x="8681" y="80220"/>
                    </a:cubicBezTo>
                    <a:cubicBezTo>
                      <a:pt x="3122" y="74662"/>
                      <a:pt x="0" y="67123"/>
                      <a:pt x="0" y="59263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727575" y="312737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29637"/>
                    </a:moveTo>
                    <a:cubicBezTo>
                      <a:pt x="0" y="21777"/>
                      <a:pt x="3122" y="14239"/>
                      <a:pt x="8681" y="8681"/>
                    </a:cubicBezTo>
                    <a:cubicBezTo>
                      <a:pt x="14239" y="3122"/>
                      <a:pt x="21777" y="0"/>
                      <a:pt x="29637" y="0"/>
                    </a:cubicBezTo>
                    <a:lnTo>
                      <a:pt x="59263" y="0"/>
                    </a:lnTo>
                    <a:cubicBezTo>
                      <a:pt x="75631" y="0"/>
                      <a:pt x="88900" y="13269"/>
                      <a:pt x="88900" y="29637"/>
                    </a:cubicBezTo>
                    <a:lnTo>
                      <a:pt x="88900" y="59263"/>
                    </a:lnTo>
                    <a:cubicBezTo>
                      <a:pt x="88900" y="75631"/>
                      <a:pt x="75631" y="88900"/>
                      <a:pt x="59263" y="88900"/>
                    </a:cubicBezTo>
                    <a:lnTo>
                      <a:pt x="29637" y="88900"/>
                    </a:lnTo>
                    <a:cubicBezTo>
                      <a:pt x="21777" y="88900"/>
                      <a:pt x="14239" y="85778"/>
                      <a:pt x="8681" y="80220"/>
                    </a:cubicBezTo>
                    <a:cubicBezTo>
                      <a:pt x="3122" y="74662"/>
                      <a:pt x="0" y="67123"/>
                      <a:pt x="0" y="59263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660900" y="2994025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29637"/>
                    </a:moveTo>
                    <a:cubicBezTo>
                      <a:pt x="0" y="13269"/>
                      <a:pt x="13269" y="0"/>
                      <a:pt x="29637" y="0"/>
                    </a:cubicBezTo>
                    <a:lnTo>
                      <a:pt x="59263" y="0"/>
                    </a:lnTo>
                    <a:cubicBezTo>
                      <a:pt x="75631" y="0"/>
                      <a:pt x="88900" y="13269"/>
                      <a:pt x="88900" y="29637"/>
                    </a:cubicBezTo>
                    <a:lnTo>
                      <a:pt x="88900" y="59263"/>
                    </a:lnTo>
                    <a:cubicBezTo>
                      <a:pt x="88900" y="75631"/>
                      <a:pt x="75631" y="88900"/>
                      <a:pt x="59263" y="88900"/>
                    </a:cubicBezTo>
                    <a:lnTo>
                      <a:pt x="29637" y="88900"/>
                    </a:lnTo>
                    <a:cubicBezTo>
                      <a:pt x="13269" y="88900"/>
                      <a:pt x="0" y="75631"/>
                      <a:pt x="0" y="59263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627563" y="3060700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77788" y="0"/>
                    </a:moveTo>
                    <a:cubicBezTo>
                      <a:pt x="71650" y="0"/>
                      <a:pt x="66675" y="4975"/>
                      <a:pt x="66675" y="11113"/>
                    </a:cubicBezTo>
                    <a:lnTo>
                      <a:pt x="66675" y="33338"/>
                    </a:lnTo>
                    <a:lnTo>
                      <a:pt x="33338" y="33338"/>
                    </a:lnTo>
                    <a:cubicBezTo>
                      <a:pt x="15057" y="33338"/>
                      <a:pt x="0" y="48395"/>
                      <a:pt x="0" y="66675"/>
                    </a:cubicBezTo>
                    <a:lnTo>
                      <a:pt x="0" y="77788"/>
                    </a:lnTo>
                    <a:cubicBezTo>
                      <a:pt x="0" y="83925"/>
                      <a:pt x="4975" y="88900"/>
                      <a:pt x="11113" y="88900"/>
                    </a:cubicBezTo>
                    <a:cubicBezTo>
                      <a:pt x="17250" y="88900"/>
                      <a:pt x="22225" y="83925"/>
                      <a:pt x="22225" y="77788"/>
                    </a:cubicBezTo>
                    <a:lnTo>
                      <a:pt x="22225" y="66675"/>
                    </a:lnTo>
                    <a:cubicBezTo>
                      <a:pt x="22225" y="60408"/>
                      <a:pt x="27070" y="55563"/>
                      <a:pt x="33338" y="55563"/>
                    </a:cubicBezTo>
                    <a:lnTo>
                      <a:pt x="122238" y="55563"/>
                    </a:lnTo>
                    <a:cubicBezTo>
                      <a:pt x="128505" y="55563"/>
                      <a:pt x="133350" y="60408"/>
                      <a:pt x="133350" y="66675"/>
                    </a:cubicBezTo>
                    <a:lnTo>
                      <a:pt x="133350" y="77788"/>
                    </a:lnTo>
                    <a:cubicBezTo>
                      <a:pt x="133350" y="83925"/>
                      <a:pt x="138326" y="88900"/>
                      <a:pt x="144463" y="88900"/>
                    </a:cubicBezTo>
                    <a:cubicBezTo>
                      <a:pt x="150600" y="88900"/>
                      <a:pt x="155575" y="83925"/>
                      <a:pt x="155575" y="77788"/>
                    </a:cubicBezTo>
                    <a:lnTo>
                      <a:pt x="155575" y="66675"/>
                    </a:lnTo>
                    <a:cubicBezTo>
                      <a:pt x="155575" y="48395"/>
                      <a:pt x="140518" y="33338"/>
                      <a:pt x="122238" y="33338"/>
                    </a:cubicBezTo>
                    <a:lnTo>
                      <a:pt x="88900" y="33338"/>
                    </a:lnTo>
                    <a:lnTo>
                      <a:pt x="88900" y="11113"/>
                    </a:lnTo>
                    <a:cubicBezTo>
                      <a:pt x="88900" y="4975"/>
                      <a:pt x="83925" y="0"/>
                      <a:pt x="77788" y="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564761" y="3441700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服务化架构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66666" y="3721100"/>
              <a:ext cx="1890903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相机队列 → GMC 服务(2 引擎) →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特征缓冲 → NPU×2 → 热图缓冲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→ POST；每级独立有界队列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45720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67047" y="4667250"/>
              <a:ext cx="142392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丢帧点必须在 GMC 之下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66285" y="4870450"/>
              <a:ext cx="18616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GMC 丢一帧其后每帧都失配</a:t>
              </a:r>
            </a:p>
          </p:txBody>
        </p:sp>
      </p:grpSp>
      <p:grpSp>
        <p:nvGrpSpPr>
          <p:cNvPr id="48" name="card-bugs"/>
          <p:cNvGrpSpPr/>
          <p:nvPr/>
        </p:nvGrpSpPr>
        <p:grpSpPr>
          <a:xfrm>
            <a:off x="8229600" y="2781300"/>
            <a:ext cx="3505200" cy="2381250"/>
            <a:chOff x="8229600" y="2781300"/>
            <a:chExt cx="3505200" cy="2381250"/>
          </a:xfrm>
        </p:grpSpPr>
        <p:sp>
          <p:nvSpPr>
            <p:cNvPr id="41" name="Rectangle 41"/>
            <p:cNvSpPr/>
            <p:nvPr/>
          </p:nvSpPr>
          <p:spPr>
            <a:xfrm>
              <a:off x="8229600" y="2781300"/>
              <a:ext cx="35052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467738" y="2990358"/>
              <a:ext cx="247496" cy="214761"/>
            </a:xfrm>
            <a:custGeom>
              <a:avLst/>
              <a:gdLst/>
              <a:ahLst/>
              <a:cxnLst/>
              <a:rect l="l" t="t" r="r" b="b"/>
              <a:pathLst>
                <a:path w="247496" h="214761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8"/>
                  </a:lnTo>
                  <a:cubicBezTo>
                    <a:pt x="247275" y="175835"/>
                    <a:pt x="247496" y="187668"/>
                    <a:pt x="242289" y="197516"/>
                  </a:cubicBezTo>
                  <a:cubicBezTo>
                    <a:pt x="237081" y="207364"/>
                    <a:pt x="227178" y="213844"/>
                    <a:pt x="216069" y="214672"/>
                  </a:cubicBezTo>
                  <a:lnTo>
                    <a:pt x="213902" y="214761"/>
                  </a:lnTo>
                  <a:lnTo>
                    <a:pt x="33601" y="214761"/>
                  </a:lnTo>
                  <a:cubicBezTo>
                    <a:pt x="22481" y="214636"/>
                    <a:pt x="12203" y="208813"/>
                    <a:pt x="6379" y="199340"/>
                  </a:cubicBezTo>
                  <a:cubicBezTo>
                    <a:pt x="555" y="189866"/>
                    <a:pt x="0" y="178067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2000" y="5914"/>
                    <a:pt x="112495" y="2"/>
                    <a:pt x="123812" y="0"/>
                  </a:cubicBezTo>
                  <a:close/>
                  <a:moveTo>
                    <a:pt x="123924" y="148130"/>
                  </a:moveTo>
                  <a:lnTo>
                    <a:pt x="122512" y="148208"/>
                  </a:lnTo>
                  <a:cubicBezTo>
                    <a:pt x="116922" y="148873"/>
                    <a:pt x="112712" y="153613"/>
                    <a:pt x="112712" y="159243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4" y="170277"/>
                  </a:lnTo>
                  <a:cubicBezTo>
                    <a:pt x="130814" y="169612"/>
                    <a:pt x="135024" y="164872"/>
                    <a:pt x="135024" y="159243"/>
                  </a:cubicBezTo>
                  <a:cubicBezTo>
                    <a:pt x="135024" y="153613"/>
                    <a:pt x="130814" y="148873"/>
                    <a:pt x="125224" y="148208"/>
                  </a:cubicBezTo>
                  <a:lnTo>
                    <a:pt x="123924" y="148130"/>
                  </a:lnTo>
                  <a:close/>
                  <a:moveTo>
                    <a:pt x="123812" y="70342"/>
                  </a:moveTo>
                  <a:cubicBezTo>
                    <a:pt x="118179" y="70343"/>
                    <a:pt x="113437" y="74560"/>
                    <a:pt x="112778" y="80155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8" y="127205"/>
                  </a:lnTo>
                  <a:cubicBezTo>
                    <a:pt x="113443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5"/>
                  </a:lnTo>
                  <a:cubicBezTo>
                    <a:pt x="134188" y="74560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0961" y="3441700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修掉的真缺陷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52866" y="3721100"/>
              <a:ext cx="2590990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Mat::operator= 是浅拷贝 ⇒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喂非拥有视图即悬垂指针；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config_defaults 漏 5 字段 ⇒ 门限是栈垃圾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4582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4E2D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53247" y="46672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后者不崩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52485" y="4870450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只把变换退化成恒等，静默掉精度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457200" y="5314950"/>
            <a:ext cx="11277600" cy="857250"/>
            <a:chOff x="457200" y="5314950"/>
            <a:chExt cx="11277600" cy="857250"/>
          </a:xfrm>
        </p:grpSpPr>
        <p:sp>
          <p:nvSpPr>
            <p:cNvPr id="49" name="Rectangle 49"/>
            <p:cNvSpPr/>
            <p:nvPr/>
          </p:nvSpPr>
          <p:spPr>
            <a:xfrm>
              <a:off x="457200" y="5314950"/>
              <a:ext cx="11277600" cy="857250"/>
            </a:xfrm>
            <a:prstGeom prst="rect">
              <a:avLst/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57200" y="5314950"/>
              <a:ext cx="38100" cy="8572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6280" y="5480050"/>
              <a:ext cx="6071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契约测试要专门踩错误路径——「demo 跑通」证明不了库的契约成立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8566" y="5797550"/>
              <a:ext cx="64845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两个必须随库交接的认知：浅拷贝必须 clone；配置结构体默认值必须逐字段初始化，否则门限是栈垃圾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54" name="Line 54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52247" y="6477000"/>
              <a:ext cx="86880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来源：MOSAIC_RK3588_20261026.md §8（库交付与根因）、§9（最终交付数字）；MOSAIC_RK3588_REPORT.md §2.5（服务拓扑与丢帧计数）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8295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汇报点 14 · 现状遗留问题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两条战线各剩什么：主动摆出未解项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465794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每条都有板卡或实测证据；L7 / L8 是 2026-10-28 新发现的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2" name="l1"/>
          <p:cNvGrpSpPr/>
          <p:nvPr/>
        </p:nvGrpSpPr>
        <p:grpSpPr>
          <a:xfrm>
            <a:off x="457200" y="1524000"/>
            <a:ext cx="5486400" cy="1123950"/>
            <a:chOff x="457200" y="1524000"/>
            <a:chExt cx="5486400" cy="1123950"/>
          </a:xfrm>
        </p:grpSpPr>
        <p:sp>
          <p:nvSpPr>
            <p:cNvPr id="7" name="Rectangle 7"/>
            <p:cNvSpPr/>
            <p:nvPr/>
          </p:nvSpPr>
          <p:spPr>
            <a:xfrm>
              <a:off x="457200" y="1524000"/>
              <a:ext cx="5486400" cy="1123950"/>
            </a:xfrm>
            <a:prstGeom prst="roundRect">
              <a:avLst>
                <a:gd name="adj" fmla="val 6780"/>
              </a:avLst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524000"/>
              <a:ext cx="38100" cy="112395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80847" y="1695450"/>
              <a:ext cx="7274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L1 · 战线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323" y="1924050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零丢帧是锚定等价的前提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847" y="2184400"/>
              <a:ext cx="3015615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深缓冲已把丢帧归零，但物理帧号锚定 ≡ 消费计数锚定</a:t>
              </a:r>
              <a:b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仅当 dropped == 0——深缓冲不能替代这个条件</a:t>
              </a:r>
            </a:p>
          </p:txBody>
        </p:sp>
      </p:grpSp>
      <p:grpSp>
        <p:nvGrpSpPr>
          <p:cNvPr id="18" name="l2"/>
          <p:cNvGrpSpPr/>
          <p:nvPr/>
        </p:nvGrpSpPr>
        <p:grpSpPr>
          <a:xfrm>
            <a:off x="6248400" y="1524000"/>
            <a:ext cx="5486400" cy="1123950"/>
            <a:chOff x="6248400" y="1524000"/>
            <a:chExt cx="5486400" cy="1123950"/>
          </a:xfrm>
        </p:grpSpPr>
        <p:sp>
          <p:nvSpPr>
            <p:cNvPr id="13" name="Rectangle 13"/>
            <p:cNvSpPr/>
            <p:nvPr/>
          </p:nvSpPr>
          <p:spPr>
            <a:xfrm>
              <a:off x="6248400" y="1524000"/>
              <a:ext cx="5486400" cy="1123950"/>
            </a:xfrm>
            <a:prstGeom prst="roundRect">
              <a:avLst>
                <a:gd name="adj" fmla="val 6780"/>
              </a:avLst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48400" y="1524000"/>
              <a:ext cx="38100" cy="112395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72047" y="1695450"/>
              <a:ext cx="7274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L2 · 战线 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70523" y="1924050"/>
              <a:ext cx="183823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GMC 吞吐必须 ≥ 相机率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2047" y="2184400"/>
              <a:ext cx="3090291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零丢帧且有界延迟 ⇒ 25 fps ⇒ ≤40 ms/帧；step10 实测</a:t>
              </a:r>
              <a:b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60.8~61.2 ms 仍超，step2 差 4 倍</a:t>
              </a:r>
            </a:p>
          </p:txBody>
        </p:sp>
      </p:grpSp>
      <p:grpSp>
        <p:nvGrpSpPr>
          <p:cNvPr id="24" name="l3"/>
          <p:cNvGrpSpPr/>
          <p:nvPr/>
        </p:nvGrpSpPr>
        <p:grpSpPr>
          <a:xfrm>
            <a:off x="457200" y="2743200"/>
            <a:ext cx="5486400" cy="1123950"/>
            <a:chOff x="457200" y="2743200"/>
            <a:chExt cx="5486400" cy="1123950"/>
          </a:xfrm>
        </p:grpSpPr>
        <p:sp>
          <p:nvSpPr>
            <p:cNvPr id="19" name="Rectangle 19"/>
            <p:cNvSpPr/>
            <p:nvPr/>
          </p:nvSpPr>
          <p:spPr>
            <a:xfrm>
              <a:off x="457200" y="2743200"/>
              <a:ext cx="5486400" cy="1123950"/>
            </a:xfrm>
            <a:prstGeom prst="roundRect">
              <a:avLst>
                <a:gd name="adj" fmla="val 6780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7200" y="2743200"/>
              <a:ext cx="38100" cy="11239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0847" y="2914650"/>
              <a:ext cx="6030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L3 · 横切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9323" y="3143250"/>
              <a:ext cx="14578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没有领域迁移 SOP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0847" y="3403600"/>
              <a:ext cx="3227197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4 个 Skill 已成型但只真实跑过 1 个场景；</a:t>
              </a:r>
              <a:b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GT 分母 133,279 行 vs 文件数 165,224（用错偏低 20%）</a:t>
              </a:r>
            </a:p>
          </p:txBody>
        </p:sp>
      </p:grpSp>
      <p:grpSp>
        <p:nvGrpSpPr>
          <p:cNvPr id="30" name="l4"/>
          <p:cNvGrpSpPr/>
          <p:nvPr/>
        </p:nvGrpSpPr>
        <p:grpSpPr>
          <a:xfrm>
            <a:off x="6248400" y="2743200"/>
            <a:ext cx="5486400" cy="1123950"/>
            <a:chOff x="6248400" y="2743200"/>
            <a:chExt cx="5486400" cy="1123950"/>
          </a:xfrm>
        </p:grpSpPr>
        <p:sp>
          <p:nvSpPr>
            <p:cNvPr id="25" name="Rectangle 25"/>
            <p:cNvSpPr/>
            <p:nvPr/>
          </p:nvSpPr>
          <p:spPr>
            <a:xfrm>
              <a:off x="6248400" y="2743200"/>
              <a:ext cx="5486400" cy="1123950"/>
            </a:xfrm>
            <a:prstGeom prst="roundRect">
              <a:avLst>
                <a:gd name="adj" fmla="val 6780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48400" y="2743200"/>
              <a:ext cx="38100" cy="11239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72047" y="2914650"/>
              <a:ext cx="7274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L4 · 战线 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0523" y="31432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吞吐是硬件天花板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2047" y="3403600"/>
              <a:ext cx="2754249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RKNN ctx 上限 2 ⇒ 天花板 ≈15.3~15.6 fps</a:t>
              </a:r>
              <a:b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（17.51 已作废：漏算同线程 upload 13.23 ms）</a:t>
              </a:r>
            </a:p>
          </p:txBody>
        </p:sp>
      </p:grpSp>
      <p:grpSp>
        <p:nvGrpSpPr>
          <p:cNvPr id="36" name="l5"/>
          <p:cNvGrpSpPr/>
          <p:nvPr/>
        </p:nvGrpSpPr>
        <p:grpSpPr>
          <a:xfrm>
            <a:off x="457200" y="3962400"/>
            <a:ext cx="5486400" cy="1123950"/>
            <a:chOff x="457200" y="3962400"/>
            <a:chExt cx="5486400" cy="1123950"/>
          </a:xfrm>
        </p:grpSpPr>
        <p:sp>
          <p:nvSpPr>
            <p:cNvPr id="31" name="Rectangle 31"/>
            <p:cNvSpPr/>
            <p:nvPr/>
          </p:nvSpPr>
          <p:spPr>
            <a:xfrm>
              <a:off x="457200" y="3962400"/>
              <a:ext cx="5486400" cy="1123950"/>
            </a:xfrm>
            <a:prstGeom prst="roundRect">
              <a:avLst>
                <a:gd name="adj" fmla="val 6780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57200" y="3962400"/>
              <a:ext cx="38100" cy="11239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847" y="4133850"/>
              <a:ext cx="7274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L5 · 战线 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323" y="43624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时延账仍然不可信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0847" y="4622800"/>
              <a:ext cx="3021838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PC 侧三套测量互相矛盾 5 倍（183.32 / 137.33 /</a:t>
              </a:r>
              <a:b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271.45 ms）；离线测速低估 1.78×；前 300 帧是陷阱</a:t>
              </a:r>
            </a:p>
          </p:txBody>
        </p:sp>
      </p:grpSp>
      <p:grpSp>
        <p:nvGrpSpPr>
          <p:cNvPr id="42" name="l6"/>
          <p:cNvGrpSpPr/>
          <p:nvPr/>
        </p:nvGrpSpPr>
        <p:grpSpPr>
          <a:xfrm>
            <a:off x="6248400" y="3962400"/>
            <a:ext cx="5486400" cy="1123950"/>
            <a:chOff x="6248400" y="3962400"/>
            <a:chExt cx="5486400" cy="1123950"/>
          </a:xfrm>
        </p:grpSpPr>
        <p:sp>
          <p:nvSpPr>
            <p:cNvPr id="37" name="Rectangle 37"/>
            <p:cNvSpPr/>
            <p:nvPr/>
          </p:nvSpPr>
          <p:spPr>
            <a:xfrm>
              <a:off x="6248400" y="3962400"/>
              <a:ext cx="5486400" cy="1123950"/>
            </a:xfrm>
            <a:prstGeom prst="roundRect">
              <a:avLst>
                <a:gd name="adj" fmla="val 6780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3962400"/>
              <a:ext cx="38100" cy="11239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72047" y="4133850"/>
              <a:ext cx="7274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L6 · 战线 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0523" y="43624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部署一致性是脆的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2047" y="4622800"/>
              <a:ext cx="3364103" cy="3821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toolkit build 非 bit-reproducible；板卡 NFS</a:t>
              </a:r>
              <a:b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不随工作站重启存活；板卡 / 仅剩 1.4 G；位精确强制单线程</a:t>
              </a:r>
            </a:p>
          </p:txBody>
        </p:sp>
      </p:grpSp>
      <p:grpSp>
        <p:nvGrpSpPr>
          <p:cNvPr id="47" name="new-risks"/>
          <p:cNvGrpSpPr/>
          <p:nvPr/>
        </p:nvGrpSpPr>
        <p:grpSpPr>
          <a:xfrm>
            <a:off x="457200" y="5238750"/>
            <a:ext cx="11277600" cy="933450"/>
            <a:chOff x="457200" y="5238750"/>
            <a:chExt cx="11277600" cy="933450"/>
          </a:xfrm>
        </p:grpSpPr>
        <p:sp>
          <p:nvSpPr>
            <p:cNvPr id="43" name="Rectangle 43"/>
            <p:cNvSpPr/>
            <p:nvPr/>
          </p:nvSpPr>
          <p:spPr>
            <a:xfrm>
              <a:off x="457200" y="5238750"/>
              <a:ext cx="11277600" cy="933450"/>
            </a:xfrm>
            <a:prstGeom prst="rect">
              <a:avLst/>
            </a:prstGeom>
            <a:solidFill>
              <a:srgbClr val="14171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0085" y="5403850"/>
              <a:ext cx="1834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2026-10-28 新发现的两条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0466" y="5664200"/>
              <a:ext cx="7608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8CDD4"/>
                  </a:solidFill>
                  <a:latin typeface="+mn-lt"/>
                  <a:ea typeface="+mn-ea"/>
                  <a:cs typeface="+mn-cs"/>
                </a:rPr>
                <a:t>L7 GMC 历史锚定缺陷：消费计数 abs_counter 与物理帧号 next_id 发散 ⇒ 静默错位（无崩溃、无报错、特征照常产出）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0466" y="5892800"/>
              <a:ext cx="76058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8CDD4"/>
                  </a:solidFill>
                  <a:latin typeface="+mn-lt"/>
                  <a:ea typeface="+mn-ea"/>
                  <a:cs typeface="+mn-cs"/>
                </a:rPr>
                <a:t>L8 勿重试清单：--npu-core-mask 7 两次 exit=139（SIGSEGV）禁用；queue_depth 16、post_workers 2 两条负结果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48" name="Line 48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52247" y="6477000"/>
              <a:ext cx="77806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来源：memory.md §15.5 / §17.3 / §17.8 / §18.1–§18.5；MOSAIC_RK3588_20261026.md §9；gmc_net_pending.md §八·8.4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2443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汇报点 14 · 下一阶段重点改进方向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四条线，按收益确定性排序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59119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方向 A 与 C 命中当前主要风险且不占算力；方向 B 决定 SOP 是否真的可复制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8" name="priority"/>
          <p:cNvGrpSpPr/>
          <p:nvPr/>
        </p:nvGrpSpPr>
        <p:grpSpPr>
          <a:xfrm>
            <a:off x="439674" y="1619250"/>
            <a:ext cx="10115311" cy="991743"/>
            <a:chOff x="439674" y="1619250"/>
            <a:chExt cx="10115311" cy="991743"/>
          </a:xfrm>
        </p:grpSpPr>
        <p:sp>
          <p:nvSpPr>
            <p:cNvPr id="7" name="Line 7"/>
            <p:cNvSpPr/>
            <p:nvPr/>
          </p:nvSpPr>
          <p:spPr>
            <a:xfrm>
              <a:off x="41148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010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9674" y="1619250"/>
              <a:ext cx="1842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优先级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485" y="2184400"/>
              <a:ext cx="1468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方向 A 恒等门控 GMC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247" y="2419350"/>
              <a:ext cx="25259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命中战线 A 的 L1 + L2，收益确定、投入低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5874" y="1619250"/>
              <a:ext cx="1842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优先级 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7685" y="2184400"/>
              <a:ext cx="1259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方向 C 嵌入式集成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8447" y="2419350"/>
              <a:ext cx="19888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八项交付工作，不占算力、可并行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2074" y="1619250"/>
              <a:ext cx="1842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优先级 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3885" y="2184400"/>
              <a:ext cx="1259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方向 B 第二个场景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4647" y="2419350"/>
              <a:ext cx="233033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需长周期验证，但决定 SOP 是否可复制</a:t>
              </a:r>
            </a:p>
          </p:txBody>
        </p:sp>
      </p:grpSp>
      <p:grpSp>
        <p:nvGrpSpPr>
          <p:cNvPr id="23" name="dir-a"/>
          <p:cNvGrpSpPr/>
          <p:nvPr/>
        </p:nvGrpSpPr>
        <p:grpSpPr>
          <a:xfrm>
            <a:off x="457200" y="2781300"/>
            <a:ext cx="2590800" cy="2381250"/>
            <a:chOff x="457200" y="2781300"/>
            <a:chExt cx="25908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457200" y="2781300"/>
              <a:ext cx="25908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68337" y="2968765"/>
              <a:ext cx="217003" cy="217358"/>
            </a:xfrm>
            <a:custGeom>
              <a:avLst/>
              <a:gdLst/>
              <a:ahLst/>
              <a:cxnLst/>
              <a:rect l="l" t="t" r="r" b="b"/>
              <a:pathLst>
                <a:path w="217003" h="217358">
                  <a:moveTo>
                    <a:pt x="154781" y="18449"/>
                  </a:moveTo>
                  <a:cubicBezTo>
                    <a:pt x="197783" y="43278"/>
                    <a:pt x="217003" y="95214"/>
                    <a:pt x="200524" y="142055"/>
                  </a:cubicBezTo>
                  <a:cubicBezTo>
                    <a:pt x="184044" y="188897"/>
                    <a:pt x="136540" y="217358"/>
                    <a:pt x="87464" y="209793"/>
                  </a:cubicBezTo>
                  <a:cubicBezTo>
                    <a:pt x="38388" y="202228"/>
                    <a:pt x="1660" y="160782"/>
                    <a:pt x="52" y="111153"/>
                  </a:cubicBezTo>
                  <a:lnTo>
                    <a:pt x="0" y="107809"/>
                  </a:lnTo>
                  <a:lnTo>
                    <a:pt x="52" y="104466"/>
                  </a:lnTo>
                  <a:cubicBezTo>
                    <a:pt x="1227" y="68216"/>
                    <a:pt x="21348" y="35245"/>
                    <a:pt x="53047" y="17623"/>
                  </a:cubicBezTo>
                  <a:cubicBezTo>
                    <a:pt x="84747" y="0"/>
                    <a:pt x="123372" y="314"/>
                    <a:pt x="154781" y="18449"/>
                  </a:cubicBezTo>
                  <a:close/>
                  <a:moveTo>
                    <a:pt x="151757" y="59239"/>
                  </a:moveTo>
                  <a:cubicBezTo>
                    <a:pt x="147728" y="55211"/>
                    <a:pt x="141196" y="55211"/>
                    <a:pt x="137167" y="59239"/>
                  </a:cubicBezTo>
                  <a:lnTo>
                    <a:pt x="110441" y="85965"/>
                  </a:lnTo>
                  <a:lnTo>
                    <a:pt x="109585" y="86935"/>
                  </a:lnTo>
                  <a:lnTo>
                    <a:pt x="108883" y="87966"/>
                  </a:lnTo>
                  <a:cubicBezTo>
                    <a:pt x="102912" y="86254"/>
                    <a:pt x="96488" y="87321"/>
                    <a:pt x="91390" y="90871"/>
                  </a:cubicBezTo>
                  <a:cubicBezTo>
                    <a:pt x="86293" y="94421"/>
                    <a:pt x="83065" y="100078"/>
                    <a:pt x="82601" y="106272"/>
                  </a:cubicBezTo>
                  <a:lnTo>
                    <a:pt x="82550" y="107809"/>
                  </a:lnTo>
                  <a:lnTo>
                    <a:pt x="82601" y="109357"/>
                  </a:lnTo>
                  <a:cubicBezTo>
                    <a:pt x="83193" y="117211"/>
                    <a:pt x="88203" y="124044"/>
                    <a:pt x="95516" y="126969"/>
                  </a:cubicBezTo>
                  <a:cubicBezTo>
                    <a:pt x="102829" y="129894"/>
                    <a:pt x="111170" y="128402"/>
                    <a:pt x="117015" y="123122"/>
                  </a:cubicBezTo>
                  <a:cubicBezTo>
                    <a:pt x="122859" y="117842"/>
                    <a:pt x="125189" y="109696"/>
                    <a:pt x="123020" y="102124"/>
                  </a:cubicBezTo>
                  <a:cubicBezTo>
                    <a:pt x="123755" y="101689"/>
                    <a:pt x="124431" y="101162"/>
                    <a:pt x="125032" y="100555"/>
                  </a:cubicBezTo>
                  <a:lnTo>
                    <a:pt x="151757" y="73830"/>
                  </a:lnTo>
                  <a:lnTo>
                    <a:pt x="152614" y="72860"/>
                  </a:lnTo>
                  <a:cubicBezTo>
                    <a:pt x="155800" y="68752"/>
                    <a:pt x="155433" y="62915"/>
                    <a:pt x="151757" y="59239"/>
                  </a:cubicBezTo>
                  <a:close/>
                  <a:moveTo>
                    <a:pt x="103187" y="45897"/>
                  </a:moveTo>
                  <a:cubicBezTo>
                    <a:pt x="86767" y="45897"/>
                    <a:pt x="71019" y="52420"/>
                    <a:pt x="59409" y="64031"/>
                  </a:cubicBezTo>
                  <a:cubicBezTo>
                    <a:pt x="47798" y="75642"/>
                    <a:pt x="41275" y="91389"/>
                    <a:pt x="41275" y="107809"/>
                  </a:cubicBezTo>
                  <a:cubicBezTo>
                    <a:pt x="41275" y="113508"/>
                    <a:pt x="45895" y="118128"/>
                    <a:pt x="51594" y="118128"/>
                  </a:cubicBezTo>
                  <a:cubicBezTo>
                    <a:pt x="57292" y="118128"/>
                    <a:pt x="61912" y="113508"/>
                    <a:pt x="61912" y="107809"/>
                  </a:cubicBezTo>
                  <a:cubicBezTo>
                    <a:pt x="61912" y="85014"/>
                    <a:pt x="80392" y="66534"/>
                    <a:pt x="103187" y="66534"/>
                  </a:cubicBezTo>
                  <a:cubicBezTo>
                    <a:pt x="108886" y="66534"/>
                    <a:pt x="113506" y="61915"/>
                    <a:pt x="113506" y="56216"/>
                  </a:cubicBezTo>
                  <a:cubicBezTo>
                    <a:pt x="113506" y="50517"/>
                    <a:pt x="108886" y="45897"/>
                    <a:pt x="103187" y="45897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48050"/>
              <a:ext cx="12757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A 恒等门控 GMC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747" y="3721100"/>
              <a:ext cx="1746123" cy="10298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只拟合 1 个矩阵（~1.8 ms），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近恒等则跳过全部 21 拟合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+ 21 warp；PC 183→65 ms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门限待测：先测净位移幅度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分布，禁止拍脑袋定值</a:t>
              </a:r>
            </a:p>
          </p:txBody>
        </p:sp>
      </p:grpSp>
      <p:grpSp>
        <p:nvGrpSpPr>
          <p:cNvPr id="32" name="dir-b"/>
          <p:cNvGrpSpPr/>
          <p:nvPr/>
        </p:nvGrpSpPr>
        <p:grpSpPr>
          <a:xfrm>
            <a:off x="3276600" y="2781300"/>
            <a:ext cx="2590800" cy="2381250"/>
            <a:chOff x="3276600" y="2781300"/>
            <a:chExt cx="2590800" cy="2381250"/>
          </a:xfrm>
        </p:grpSpPr>
        <p:sp>
          <p:nvSpPr>
            <p:cNvPr id="24" name="Rectangle 24"/>
            <p:cNvSpPr/>
            <p:nvPr/>
          </p:nvSpPr>
          <p:spPr>
            <a:xfrm>
              <a:off x="3276600" y="2781300"/>
              <a:ext cx="25908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3487737" y="2973387"/>
              <a:ext cx="206375" cy="206375"/>
              <a:chOff x="3487737" y="2973387"/>
              <a:chExt cx="206375" cy="20637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3487737" y="3097212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27520"/>
                    </a:moveTo>
                    <a:cubicBezTo>
                      <a:pt x="0" y="12321"/>
                      <a:pt x="12321" y="0"/>
                      <a:pt x="27520" y="0"/>
                    </a:cubicBezTo>
                    <a:lnTo>
                      <a:pt x="55030" y="0"/>
                    </a:lnTo>
                    <a:cubicBezTo>
                      <a:pt x="70229" y="0"/>
                      <a:pt x="82550" y="12321"/>
                      <a:pt x="82550" y="27520"/>
                    </a:cubicBezTo>
                    <a:lnTo>
                      <a:pt x="82550" y="55030"/>
                    </a:lnTo>
                    <a:cubicBezTo>
                      <a:pt x="82550" y="70229"/>
                      <a:pt x="70229" y="82550"/>
                      <a:pt x="55030" y="82550"/>
                    </a:cubicBezTo>
                    <a:lnTo>
                      <a:pt x="27520" y="82550"/>
                    </a:lnTo>
                    <a:cubicBezTo>
                      <a:pt x="20221" y="82550"/>
                      <a:pt x="13221" y="79650"/>
                      <a:pt x="8060" y="74489"/>
                    </a:cubicBezTo>
                    <a:cubicBezTo>
                      <a:pt x="2899" y="69328"/>
                      <a:pt x="0" y="62328"/>
                      <a:pt x="0" y="5503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611562" y="3097212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27520"/>
                    </a:moveTo>
                    <a:cubicBezTo>
                      <a:pt x="0" y="20221"/>
                      <a:pt x="2899" y="13221"/>
                      <a:pt x="8060" y="8060"/>
                    </a:cubicBezTo>
                    <a:cubicBezTo>
                      <a:pt x="13221" y="2899"/>
                      <a:pt x="20221" y="0"/>
                      <a:pt x="27520" y="0"/>
                    </a:cubicBezTo>
                    <a:lnTo>
                      <a:pt x="55030" y="0"/>
                    </a:lnTo>
                    <a:cubicBezTo>
                      <a:pt x="70229" y="0"/>
                      <a:pt x="82550" y="12321"/>
                      <a:pt x="82550" y="27520"/>
                    </a:cubicBezTo>
                    <a:lnTo>
                      <a:pt x="82550" y="55030"/>
                    </a:lnTo>
                    <a:cubicBezTo>
                      <a:pt x="82550" y="70229"/>
                      <a:pt x="70229" y="82550"/>
                      <a:pt x="55030" y="82550"/>
                    </a:cubicBezTo>
                    <a:lnTo>
                      <a:pt x="27520" y="82550"/>
                    </a:lnTo>
                    <a:cubicBezTo>
                      <a:pt x="20221" y="82550"/>
                      <a:pt x="13221" y="79650"/>
                      <a:pt x="8060" y="74489"/>
                    </a:cubicBezTo>
                    <a:cubicBezTo>
                      <a:pt x="2899" y="69328"/>
                      <a:pt x="0" y="62328"/>
                      <a:pt x="0" y="5503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549650" y="2973387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27520"/>
                    </a:moveTo>
                    <a:cubicBezTo>
                      <a:pt x="0" y="12321"/>
                      <a:pt x="12321" y="0"/>
                      <a:pt x="27520" y="0"/>
                    </a:cubicBezTo>
                    <a:lnTo>
                      <a:pt x="55030" y="0"/>
                    </a:lnTo>
                    <a:cubicBezTo>
                      <a:pt x="70229" y="0"/>
                      <a:pt x="82550" y="12321"/>
                      <a:pt x="82550" y="27520"/>
                    </a:cubicBezTo>
                    <a:lnTo>
                      <a:pt x="82550" y="55030"/>
                    </a:lnTo>
                    <a:cubicBezTo>
                      <a:pt x="82550" y="70229"/>
                      <a:pt x="70229" y="82550"/>
                      <a:pt x="55030" y="82550"/>
                    </a:cubicBezTo>
                    <a:lnTo>
                      <a:pt x="27520" y="82550"/>
                    </a:lnTo>
                    <a:cubicBezTo>
                      <a:pt x="12321" y="82550"/>
                      <a:pt x="0" y="70229"/>
                      <a:pt x="0" y="5503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518694" y="3035300"/>
                <a:ext cx="14446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82550">
                    <a:moveTo>
                      <a:pt x="72231" y="0"/>
                    </a:moveTo>
                    <a:cubicBezTo>
                      <a:pt x="66532" y="0"/>
                      <a:pt x="61912" y="4620"/>
                      <a:pt x="61912" y="10319"/>
                    </a:cubicBezTo>
                    <a:lnTo>
                      <a:pt x="61912" y="30956"/>
                    </a:lnTo>
                    <a:lnTo>
                      <a:pt x="30956" y="30956"/>
                    </a:lnTo>
                    <a:cubicBezTo>
                      <a:pt x="13982" y="30956"/>
                      <a:pt x="0" y="44938"/>
                      <a:pt x="0" y="61912"/>
                    </a:cubicBezTo>
                    <a:lnTo>
                      <a:pt x="0" y="72231"/>
                    </a:lnTo>
                    <a:cubicBezTo>
                      <a:pt x="0" y="77930"/>
                      <a:pt x="4620" y="82550"/>
                      <a:pt x="10319" y="82550"/>
                    </a:cubicBezTo>
                    <a:cubicBezTo>
                      <a:pt x="16018" y="82550"/>
                      <a:pt x="20637" y="77930"/>
                      <a:pt x="20637" y="72231"/>
                    </a:cubicBezTo>
                    <a:lnTo>
                      <a:pt x="20637" y="61912"/>
                    </a:lnTo>
                    <a:cubicBezTo>
                      <a:pt x="20637" y="56093"/>
                      <a:pt x="25136" y="51594"/>
                      <a:pt x="30956" y="51594"/>
                    </a:cubicBezTo>
                    <a:lnTo>
                      <a:pt x="113506" y="51594"/>
                    </a:lnTo>
                    <a:cubicBezTo>
                      <a:pt x="119326" y="51594"/>
                      <a:pt x="123825" y="56093"/>
                      <a:pt x="123825" y="61912"/>
                    </a:cubicBezTo>
                    <a:lnTo>
                      <a:pt x="123825" y="72231"/>
                    </a:lnTo>
                    <a:cubicBezTo>
                      <a:pt x="123825" y="77930"/>
                      <a:pt x="128444" y="82550"/>
                      <a:pt x="134143" y="82550"/>
                    </a:cubicBezTo>
                    <a:cubicBezTo>
                      <a:pt x="139842" y="82550"/>
                      <a:pt x="144462" y="77930"/>
                      <a:pt x="144462" y="72231"/>
                    </a:cubicBezTo>
                    <a:lnTo>
                      <a:pt x="144462" y="61912"/>
                    </a:lnTo>
                    <a:cubicBezTo>
                      <a:pt x="144462" y="44938"/>
                      <a:pt x="130480" y="30956"/>
                      <a:pt x="113506" y="30956"/>
                    </a:cubicBezTo>
                    <a:lnTo>
                      <a:pt x="82550" y="30956"/>
                    </a:lnTo>
                    <a:lnTo>
                      <a:pt x="82550" y="10319"/>
                    </a:lnTo>
                    <a:cubicBezTo>
                      <a:pt x="82550" y="4620"/>
                      <a:pt x="77930" y="0"/>
                      <a:pt x="72231" y="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3460623" y="3448050"/>
              <a:ext cx="12757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 领域迁移 SOP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62147" y="3721100"/>
              <a:ext cx="1752346" cy="8202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七步：定界 → 配置 → 官方特征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→ GT 对账 → 特征固化 → 防护网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→ 接线；验收 = 跑通第二个场景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（4 个 Skill 已成型）</a:t>
              </a:r>
            </a:p>
          </p:txBody>
        </p:sp>
      </p:grpSp>
      <p:grpSp>
        <p:nvGrpSpPr>
          <p:cNvPr id="39" name="dir-c"/>
          <p:cNvGrpSpPr/>
          <p:nvPr/>
        </p:nvGrpSpPr>
        <p:grpSpPr>
          <a:xfrm>
            <a:off x="6096000" y="2781300"/>
            <a:ext cx="2590800" cy="2381250"/>
            <a:chOff x="6096000" y="2781300"/>
            <a:chExt cx="2590800" cy="2381250"/>
          </a:xfrm>
        </p:grpSpPr>
        <p:sp>
          <p:nvSpPr>
            <p:cNvPr id="33" name="Rectangle 33"/>
            <p:cNvSpPr/>
            <p:nvPr/>
          </p:nvSpPr>
          <p:spPr>
            <a:xfrm>
              <a:off x="6096000" y="2781300"/>
              <a:ext cx="25908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307137" y="2973387"/>
              <a:ext cx="206374" cy="206375"/>
              <a:chOff x="6307137" y="2973387"/>
              <a:chExt cx="206374" cy="20637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348412" y="2973387"/>
                <a:ext cx="165099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165099">
                    <a:moveTo>
                      <a:pt x="0" y="37839"/>
                    </a:moveTo>
                    <a:cubicBezTo>
                      <a:pt x="0" y="16941"/>
                      <a:pt x="16941" y="0"/>
                      <a:pt x="37839" y="0"/>
                    </a:cubicBezTo>
                    <a:lnTo>
                      <a:pt x="127261" y="0"/>
                    </a:lnTo>
                    <a:cubicBezTo>
                      <a:pt x="137296" y="0"/>
                      <a:pt x="146921" y="3987"/>
                      <a:pt x="154017" y="11083"/>
                    </a:cubicBezTo>
                    <a:cubicBezTo>
                      <a:pt x="161113" y="18179"/>
                      <a:pt x="165099" y="27803"/>
                      <a:pt x="165099" y="37839"/>
                    </a:cubicBezTo>
                    <a:lnTo>
                      <a:pt x="165099" y="127261"/>
                    </a:lnTo>
                    <a:cubicBezTo>
                      <a:pt x="165099" y="137296"/>
                      <a:pt x="161113" y="146921"/>
                      <a:pt x="154017" y="154017"/>
                    </a:cubicBezTo>
                    <a:cubicBezTo>
                      <a:pt x="146921" y="161113"/>
                      <a:pt x="137296" y="165099"/>
                      <a:pt x="127261" y="165099"/>
                    </a:cubicBezTo>
                    <a:lnTo>
                      <a:pt x="37839" y="165099"/>
                    </a:lnTo>
                    <a:cubicBezTo>
                      <a:pt x="16941" y="165099"/>
                      <a:pt x="0" y="148159"/>
                      <a:pt x="0" y="127261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307137" y="3018352"/>
                <a:ext cx="162859" cy="161410"/>
              </a:xfrm>
              <a:custGeom>
                <a:avLst/>
                <a:gdLst/>
                <a:ahLst/>
                <a:cxnLst/>
                <a:rect l="l" t="t" r="r" b="b"/>
                <a:pathLst>
                  <a:path w="162859" h="161410">
                    <a:moveTo>
                      <a:pt x="0" y="27266"/>
                    </a:moveTo>
                    <a:cubicBezTo>
                      <a:pt x="0" y="15978"/>
                      <a:pt x="5500" y="8404"/>
                      <a:pt x="15623" y="2770"/>
                    </a:cubicBezTo>
                    <a:cubicBezTo>
                      <a:pt x="20603" y="0"/>
                      <a:pt x="26886" y="1793"/>
                      <a:pt x="29656" y="6773"/>
                    </a:cubicBezTo>
                    <a:cubicBezTo>
                      <a:pt x="32426" y="11754"/>
                      <a:pt x="30633" y="18037"/>
                      <a:pt x="25652" y="20807"/>
                    </a:cubicBezTo>
                    <a:cubicBezTo>
                      <a:pt x="21545" y="23087"/>
                      <a:pt x="20637" y="24336"/>
                      <a:pt x="20637" y="27266"/>
                    </a:cubicBezTo>
                    <a:lnTo>
                      <a:pt x="20637" y="130453"/>
                    </a:lnTo>
                    <a:cubicBezTo>
                      <a:pt x="20637" y="136108"/>
                      <a:pt x="25301" y="140772"/>
                      <a:pt x="30956" y="140772"/>
                    </a:cubicBezTo>
                    <a:lnTo>
                      <a:pt x="134123" y="140772"/>
                    </a:lnTo>
                    <a:cubicBezTo>
                      <a:pt x="137425" y="140772"/>
                      <a:pt x="140500" y="139183"/>
                      <a:pt x="142429" y="136572"/>
                    </a:cubicBezTo>
                    <a:lnTo>
                      <a:pt x="143100" y="135541"/>
                    </a:lnTo>
                    <a:cubicBezTo>
                      <a:pt x="144925" y="132337"/>
                      <a:pt x="148320" y="130350"/>
                      <a:pt x="152007" y="130329"/>
                    </a:cubicBezTo>
                    <a:cubicBezTo>
                      <a:pt x="155694" y="130307"/>
                      <a:pt x="159112" y="132254"/>
                      <a:pt x="160974" y="135437"/>
                    </a:cubicBezTo>
                    <a:cubicBezTo>
                      <a:pt x="162836" y="138619"/>
                      <a:pt x="162859" y="142553"/>
                      <a:pt x="161034" y="145756"/>
                    </a:cubicBezTo>
                    <a:cubicBezTo>
                      <a:pt x="155534" y="155427"/>
                      <a:pt x="145268" y="161403"/>
                      <a:pt x="134143" y="161410"/>
                    </a:cubicBezTo>
                    <a:lnTo>
                      <a:pt x="30956" y="161410"/>
                    </a:lnTo>
                    <a:cubicBezTo>
                      <a:pt x="13910" y="161410"/>
                      <a:pt x="0" y="147500"/>
                      <a:pt x="0" y="130453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280023" y="3448050"/>
              <a:ext cx="10370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C 嵌入式集成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81547" y="3721100"/>
              <a:ext cx="1914144" cy="8202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八项：ABI 版本化 / 契约文档 /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告警分级 / 背压参数化 / 构建对齐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/ 兼容矩阵 / 自检产品化 /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第三方可执行验收脚本</a:t>
              </a:r>
            </a:p>
          </p:txBody>
        </p:sp>
      </p:grpSp>
      <p:grpSp>
        <p:nvGrpSpPr>
          <p:cNvPr id="44" name="dir-d"/>
          <p:cNvGrpSpPr/>
          <p:nvPr/>
        </p:nvGrpSpPr>
        <p:grpSpPr>
          <a:xfrm>
            <a:off x="8915400" y="2781300"/>
            <a:ext cx="2590800" cy="2381250"/>
            <a:chOff x="8915400" y="2781300"/>
            <a:chExt cx="2590800" cy="2381250"/>
          </a:xfrm>
        </p:grpSpPr>
        <p:sp>
          <p:nvSpPr>
            <p:cNvPr id="40" name="Rectangle 40"/>
            <p:cNvSpPr/>
            <p:nvPr/>
          </p:nvSpPr>
          <p:spPr>
            <a:xfrm>
              <a:off x="8915400" y="2781300"/>
              <a:ext cx="25908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126537" y="2973387"/>
              <a:ext cx="206364" cy="196056"/>
            </a:xfrm>
            <a:custGeom>
              <a:avLst/>
              <a:gdLst/>
              <a:ahLst/>
              <a:cxnLst/>
              <a:rect l="l" t="t" r="r" b="b"/>
              <a:pathLst>
                <a:path w="206364" h="196056">
                  <a:moveTo>
                    <a:pt x="103187" y="0"/>
                  </a:moveTo>
                  <a:cubicBezTo>
                    <a:pt x="108886" y="0"/>
                    <a:pt x="113506" y="4620"/>
                    <a:pt x="113506" y="10319"/>
                  </a:cubicBezTo>
                  <a:lnTo>
                    <a:pt x="113506" y="22206"/>
                  </a:lnTo>
                  <a:lnTo>
                    <a:pt x="166740" y="31080"/>
                  </a:lnTo>
                  <a:cubicBezTo>
                    <a:pt x="169357" y="31478"/>
                    <a:pt x="171713" y="32886"/>
                    <a:pt x="173303" y="35001"/>
                  </a:cubicBezTo>
                  <a:lnTo>
                    <a:pt x="173726" y="35610"/>
                  </a:lnTo>
                  <a:lnTo>
                    <a:pt x="174324" y="36662"/>
                  </a:lnTo>
                  <a:lnTo>
                    <a:pt x="205528" y="99091"/>
                  </a:lnTo>
                  <a:lnTo>
                    <a:pt x="205889" y="100061"/>
                  </a:lnTo>
                  <a:lnTo>
                    <a:pt x="206147" y="101051"/>
                  </a:lnTo>
                  <a:lnTo>
                    <a:pt x="206312" y="102083"/>
                  </a:lnTo>
                  <a:lnTo>
                    <a:pt x="206364" y="103321"/>
                  </a:lnTo>
                  <a:lnTo>
                    <a:pt x="206333" y="103951"/>
                  </a:lnTo>
                  <a:cubicBezTo>
                    <a:pt x="205939" y="126441"/>
                    <a:pt x="187593" y="144466"/>
                    <a:pt x="165099" y="144462"/>
                  </a:cubicBezTo>
                  <a:cubicBezTo>
                    <a:pt x="142304" y="144462"/>
                    <a:pt x="123825" y="125983"/>
                    <a:pt x="123825" y="103187"/>
                  </a:cubicBezTo>
                  <a:cubicBezTo>
                    <a:pt x="123826" y="101586"/>
                    <a:pt x="124201" y="100006"/>
                    <a:pt x="124918" y="98575"/>
                  </a:cubicBezTo>
                  <a:lnTo>
                    <a:pt x="149611" y="49148"/>
                  </a:lnTo>
                  <a:lnTo>
                    <a:pt x="113506" y="43132"/>
                  </a:lnTo>
                  <a:lnTo>
                    <a:pt x="113506" y="175418"/>
                  </a:lnTo>
                  <a:lnTo>
                    <a:pt x="154781" y="175418"/>
                  </a:lnTo>
                  <a:cubicBezTo>
                    <a:pt x="160480" y="175418"/>
                    <a:pt x="165099" y="180038"/>
                    <a:pt x="165099" y="185737"/>
                  </a:cubicBezTo>
                  <a:cubicBezTo>
                    <a:pt x="165099" y="191436"/>
                    <a:pt x="160480" y="196056"/>
                    <a:pt x="154781" y="196056"/>
                  </a:cubicBezTo>
                  <a:lnTo>
                    <a:pt x="51594" y="196056"/>
                  </a:lnTo>
                  <a:cubicBezTo>
                    <a:pt x="45895" y="196056"/>
                    <a:pt x="41275" y="191436"/>
                    <a:pt x="41275" y="185737"/>
                  </a:cubicBezTo>
                  <a:cubicBezTo>
                    <a:pt x="41275" y="180038"/>
                    <a:pt x="45895" y="175418"/>
                    <a:pt x="51594" y="175418"/>
                  </a:cubicBezTo>
                  <a:lnTo>
                    <a:pt x="92868" y="175418"/>
                  </a:lnTo>
                  <a:lnTo>
                    <a:pt x="92868" y="43132"/>
                  </a:lnTo>
                  <a:lnTo>
                    <a:pt x="56753" y="49148"/>
                  </a:lnTo>
                  <a:lnTo>
                    <a:pt x="81704" y="99091"/>
                  </a:lnTo>
                  <a:lnTo>
                    <a:pt x="82065" y="100061"/>
                  </a:lnTo>
                  <a:lnTo>
                    <a:pt x="82323" y="101051"/>
                  </a:lnTo>
                  <a:lnTo>
                    <a:pt x="82488" y="102083"/>
                  </a:lnTo>
                  <a:lnTo>
                    <a:pt x="82539" y="103321"/>
                  </a:lnTo>
                  <a:lnTo>
                    <a:pt x="82508" y="103951"/>
                  </a:lnTo>
                  <a:cubicBezTo>
                    <a:pt x="82114" y="126441"/>
                    <a:pt x="63768" y="144466"/>
                    <a:pt x="41275" y="144462"/>
                  </a:cubicBezTo>
                  <a:cubicBezTo>
                    <a:pt x="18479" y="144462"/>
                    <a:pt x="0" y="125983"/>
                    <a:pt x="0" y="103187"/>
                  </a:cubicBezTo>
                  <a:cubicBezTo>
                    <a:pt x="2" y="101586"/>
                    <a:pt x="376" y="100006"/>
                    <a:pt x="1094" y="98575"/>
                  </a:cubicBezTo>
                  <a:lnTo>
                    <a:pt x="32401" y="35992"/>
                  </a:lnTo>
                  <a:lnTo>
                    <a:pt x="32803" y="35362"/>
                  </a:lnTo>
                  <a:lnTo>
                    <a:pt x="33061" y="35011"/>
                  </a:lnTo>
                  <a:cubicBezTo>
                    <a:pt x="34651" y="32896"/>
                    <a:pt x="37007" y="31488"/>
                    <a:pt x="39624" y="31090"/>
                  </a:cubicBezTo>
                  <a:lnTo>
                    <a:pt x="92868" y="22196"/>
                  </a:lnTo>
                  <a:lnTo>
                    <a:pt x="92868" y="10319"/>
                  </a:lnTo>
                  <a:cubicBezTo>
                    <a:pt x="92868" y="4620"/>
                    <a:pt x="97488" y="0"/>
                    <a:pt x="103187" y="0"/>
                  </a:cubicBezTo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99423" y="3448050"/>
              <a:ext cx="103762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D f16 → int8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00947" y="3721100"/>
              <a:ext cx="1553210" cy="10298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输入侧 45.41 → 0.34 ms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（133 倍）；但 QAT 已判负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不能兼得「更准」与「INT8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输入延时」⇒ 维持原生 int8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+ 逐轨阈值重标定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457200" y="5314950"/>
            <a:ext cx="11277600" cy="857250"/>
            <a:chOff x="457200" y="5314950"/>
            <a:chExt cx="11277600" cy="857250"/>
          </a:xfrm>
        </p:grpSpPr>
        <p:sp>
          <p:nvSpPr>
            <p:cNvPr id="45" name="Rectangle 45"/>
            <p:cNvSpPr/>
            <p:nvPr/>
          </p:nvSpPr>
          <p:spPr>
            <a:xfrm>
              <a:off x="457200" y="5314950"/>
              <a:ext cx="11277600" cy="857250"/>
            </a:xfrm>
            <a:prstGeom prst="rect">
              <a:avLst/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57200" y="5314950"/>
              <a:ext cx="38100" cy="8572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6280" y="548005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下一阶段的核心是「少算」而不是「多算」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8566" y="5797550"/>
              <a:ext cx="85118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吞吐天花板由 RKNN ctx 数与同线程串行链决定，调度侧已榨到 97.2% 占用——剩下的空间只能靠减少重复计算与更好的 GMC 语义换语义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50" name="Line 50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52247" y="6477000"/>
              <a:ext cx="10766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来源：gmc_net_pending.md §八·8.4（恒等门控提案与门限待定）；§十七·17.7（Lite GMC 代价已量化）；skills/REGISTRY.md（SOP 七步）；PTQ_RK3588_int8_报告.md §21.4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9830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汇报点 14 · 问题闭环状态表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61630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每条问题解决到哪、还剩什么、下一步是谁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519959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「已做」不等于「已解」——残留项与下一步一并列出，避免过度宣称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2" name="table-head"/>
          <p:cNvGrpSpPr/>
          <p:nvPr/>
        </p:nvGrpSpPr>
        <p:grpSpPr>
          <a:xfrm>
            <a:off x="452247" y="1619250"/>
            <a:ext cx="11282553" cy="219075"/>
            <a:chOff x="452247" y="1619250"/>
            <a:chExt cx="11282553" cy="219075"/>
          </a:xfrm>
        </p:grpSpPr>
        <p:sp>
          <p:nvSpPr>
            <p:cNvPr id="7" name="TextBox 7"/>
            <p:cNvSpPr txBox="1"/>
            <p:nvPr/>
          </p:nvSpPr>
          <p:spPr>
            <a:xfrm>
              <a:off x="452247" y="1619250"/>
              <a:ext cx="555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遗留问题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95347" y="1619250"/>
              <a:ext cx="831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本阶段做到哪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14797" y="1619250"/>
              <a:ext cx="2798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残留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10497" y="1619250"/>
              <a:ext cx="4178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下一步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57200" y="18288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9" name="row-l1"/>
          <p:cNvGrpSpPr/>
          <p:nvPr/>
        </p:nvGrpSpPr>
        <p:grpSpPr>
          <a:xfrm>
            <a:off x="451866" y="1866900"/>
            <a:ext cx="11282934" cy="676275"/>
            <a:chOff x="451866" y="1866900"/>
            <a:chExt cx="11282934" cy="676275"/>
          </a:xfrm>
        </p:grpSpPr>
        <p:sp>
          <p:nvSpPr>
            <p:cNvPr id="13" name="Line 13"/>
            <p:cNvSpPr/>
            <p:nvPr/>
          </p:nvSpPr>
          <p:spPr>
            <a:xfrm>
              <a:off x="457200" y="18669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1866" y="1987550"/>
              <a:ext cx="1078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L1 零丢帧是前提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95347" y="2000250"/>
              <a:ext cx="223288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深原始缓冲把丢帧归零（0 帧 / 0 洞）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14797" y="2000250"/>
              <a:ext cx="16458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锚定等价仅当 dropped == 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10497" y="2000250"/>
              <a:ext cx="11605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方向 A1 · 优先级 1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57200" y="253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26" name="row-l2"/>
          <p:cNvGrpSpPr/>
          <p:nvPr/>
        </p:nvGrpSpPr>
        <p:grpSpPr>
          <a:xfrm>
            <a:off x="451866" y="2571750"/>
            <a:ext cx="11282934" cy="676275"/>
            <a:chOff x="451866" y="2571750"/>
            <a:chExt cx="11282934" cy="676275"/>
          </a:xfrm>
        </p:grpSpPr>
        <p:sp>
          <p:nvSpPr>
            <p:cNvPr id="20" name="Line 20"/>
            <p:cNvSpPr/>
            <p:nvPr/>
          </p:nvSpPr>
          <p:spPr>
            <a:xfrm>
              <a:off x="457200" y="25717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1866" y="2692400"/>
              <a:ext cx="1107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L2 吞吐 ≥ 相机率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95347" y="2705100"/>
              <a:ext cx="19360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step10 + 纯函数缓存 + 两级缓存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14797" y="2705100"/>
              <a:ext cx="19888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step10 60.8 ms 仍超 40 ms 红线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10497" y="2705100"/>
              <a:ext cx="14898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方向 A1 + A3 · 优先级 1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57200" y="3238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33" name="row-l3"/>
          <p:cNvGrpSpPr/>
          <p:nvPr/>
        </p:nvGrpSpPr>
        <p:grpSpPr>
          <a:xfrm>
            <a:off x="451866" y="3276600"/>
            <a:ext cx="11282934" cy="676275"/>
            <a:chOff x="451866" y="3276600"/>
            <a:chExt cx="11282934" cy="676275"/>
          </a:xfrm>
        </p:grpSpPr>
        <p:sp>
          <p:nvSpPr>
            <p:cNvPr id="27" name="Line 27"/>
            <p:cNvSpPr/>
            <p:nvPr/>
          </p:nvSpPr>
          <p:spPr>
            <a:xfrm>
              <a:off x="457200" y="32766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1866" y="3397250"/>
              <a:ext cx="1078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L3 场景不可复制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95347" y="3409950"/>
              <a:ext cx="17154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4 个 Skill + 七步 SOP 已成文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14797" y="3409950"/>
              <a:ext cx="12170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只真实跑过 1 个场景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10497" y="3409950"/>
              <a:ext cx="10800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方向 B · 优先级 3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57200" y="39433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40" name="row-l4"/>
          <p:cNvGrpSpPr/>
          <p:nvPr/>
        </p:nvGrpSpPr>
        <p:grpSpPr>
          <a:xfrm>
            <a:off x="451866" y="3981450"/>
            <a:ext cx="11282934" cy="676275"/>
            <a:chOff x="451866" y="3981450"/>
            <a:chExt cx="11282934" cy="676275"/>
          </a:xfrm>
        </p:grpSpPr>
        <p:sp>
          <p:nvSpPr>
            <p:cNvPr id="34" name="Line 34"/>
            <p:cNvSpPr/>
            <p:nvPr/>
          </p:nvSpPr>
          <p:spPr>
            <a:xfrm>
              <a:off x="457200" y="39814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51866" y="4102100"/>
              <a:ext cx="7956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L4 吞吐硬顶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95347" y="4114800"/>
              <a:ext cx="185913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服务化 + 2×NPU worker + 背压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14797" y="4114800"/>
              <a:ext cx="17777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ctx 上限 2 ⇒ ≈15.3~15.6 fps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10497" y="4114800"/>
              <a:ext cx="16862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只能「少算」→ 回到 L1 / L2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457200" y="46482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47" name="row-l5"/>
          <p:cNvGrpSpPr/>
          <p:nvPr/>
        </p:nvGrpSpPr>
        <p:grpSpPr>
          <a:xfrm>
            <a:off x="451866" y="4686300"/>
            <a:ext cx="11282934" cy="676275"/>
            <a:chOff x="451866" y="4686300"/>
            <a:chExt cx="11282934" cy="676275"/>
          </a:xfrm>
        </p:grpSpPr>
        <p:sp>
          <p:nvSpPr>
            <p:cNvPr id="41" name="Line 41"/>
            <p:cNvSpPr/>
            <p:nvPr/>
          </p:nvSpPr>
          <p:spPr>
            <a:xfrm>
              <a:off x="457200" y="46863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51866" y="4806950"/>
              <a:ext cx="1078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L5 时延账不可信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395347" y="4819650"/>
              <a:ext cx="21339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板卡噪声底噪 + 6/7 臂同打分器重算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14797" y="4819650"/>
              <a:ext cx="19465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PC 三套差 5 倍；离线低估 1.78×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10497" y="4819650"/>
              <a:ext cx="17381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串行成本对账裁决 · 优先级 2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57200" y="53530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54" name="row-l6"/>
          <p:cNvGrpSpPr/>
          <p:nvPr/>
        </p:nvGrpSpPr>
        <p:grpSpPr>
          <a:xfrm>
            <a:off x="451866" y="5391150"/>
            <a:ext cx="11282934" cy="676275"/>
            <a:chOff x="451866" y="5391150"/>
            <a:chExt cx="11282934" cy="676275"/>
          </a:xfrm>
        </p:grpSpPr>
        <p:sp>
          <p:nvSpPr>
            <p:cNvPr id="48" name="Line 48"/>
            <p:cNvSpPr/>
            <p:nvPr/>
          </p:nvSpPr>
          <p:spPr>
            <a:xfrm>
              <a:off x="457200" y="5391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51866" y="5511800"/>
              <a:ext cx="1078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L6 部署一致性脆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395347" y="5524500"/>
              <a:ext cx="24373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部署自检（4 类事故）+ 契约测试 42 断言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14797" y="5524500"/>
              <a:ext cx="204333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无 ABI 版本 / 契约文档 / 告警分级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10497" y="5524500"/>
              <a:ext cx="10800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方向 C · 优先级 2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457200" y="60579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58" name="footer"/>
          <p:cNvGrpSpPr/>
          <p:nvPr/>
        </p:nvGrpSpPr>
        <p:grpSpPr>
          <a:xfrm>
            <a:off x="452247" y="6248400"/>
            <a:ext cx="11287506" cy="420243"/>
            <a:chOff x="452247" y="6248400"/>
            <a:chExt cx="11287506" cy="420243"/>
          </a:xfrm>
        </p:grpSpPr>
        <p:sp>
          <p:nvSpPr>
            <p:cNvPr id="55" name="TextBox 55"/>
            <p:cNvSpPr txBox="1"/>
            <p:nvPr/>
          </p:nvSpPr>
          <p:spPr>
            <a:xfrm>
              <a:off x="452247" y="6248400"/>
              <a:ext cx="41910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另有 2026-10-28 新发现的 L7 锚定缺陷与 L8 勿重试清单，详见上一页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2247" y="6477000"/>
              <a:ext cx="77806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来源：memory.md §15.5 / §17.3 / §17.8 / §18.1–§18.5；MOSAIC_RK3588_20261026.md §9；gmc_net_pending.md §八·8.4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losing-head"/>
          <p:cNvGrpSpPr/>
          <p:nvPr/>
        </p:nvGrpSpPr>
        <p:grpSpPr>
          <a:xfrm>
            <a:off x="438150" y="1219200"/>
            <a:ext cx="11296650" cy="1571625"/>
            <a:chOff x="438150" y="1219200"/>
            <a:chExt cx="11296650" cy="1571625"/>
          </a:xfrm>
        </p:grpSpPr>
        <p:sp>
          <p:nvSpPr>
            <p:cNvPr id="2" name="Rectangle 2"/>
            <p:cNvSpPr/>
            <p:nvPr/>
          </p:nvSpPr>
          <p:spPr>
            <a:xfrm>
              <a:off x="457200" y="1219200"/>
              <a:ext cx="685800" cy="381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38150" y="1276350"/>
              <a:ext cx="5308473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谢谢聆听，敬请指正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9580" y="2051050"/>
              <a:ext cx="6864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把一条 PC 上的算法图，变成 RK3588 上可并行、可量化、可验收的实时管线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9580" y="2355850"/>
              <a:ext cx="67023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本阶段 9 个工作汇报点，全部围绕 GMC 与 NPU 这两个核心待攻克问题展开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57200" y="27813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2" name="takeaway-1"/>
          <p:cNvGrpSpPr/>
          <p:nvPr/>
        </p:nvGrpSpPr>
        <p:grpSpPr>
          <a:xfrm>
            <a:off x="457200" y="3028950"/>
            <a:ext cx="3505200" cy="2000250"/>
            <a:chOff x="457200" y="3028950"/>
            <a:chExt cx="3505200" cy="2000250"/>
          </a:xfrm>
        </p:grpSpPr>
        <p:sp>
          <p:nvSpPr>
            <p:cNvPr id="8" name="Rectangle 8"/>
            <p:cNvSpPr/>
            <p:nvPr/>
          </p:nvSpPr>
          <p:spPr>
            <a:xfrm>
              <a:off x="457200" y="3028950"/>
              <a:ext cx="3505200" cy="2000250"/>
            </a:xfrm>
            <a:prstGeom prst="roundRect">
              <a:avLst>
                <a:gd name="adj" fmla="val 3810"/>
              </a:avLst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08025" y="3236697"/>
              <a:ext cx="233697" cy="234079"/>
            </a:xfrm>
            <a:custGeom>
              <a:avLst/>
              <a:gdLst/>
              <a:ahLst/>
              <a:cxnLst/>
              <a:rect l="l" t="t" r="r" b="b"/>
              <a:pathLst>
                <a:path w="233697" h="234079">
                  <a:moveTo>
                    <a:pt x="166688" y="19869"/>
                  </a:moveTo>
                  <a:cubicBezTo>
                    <a:pt x="212998" y="46608"/>
                    <a:pt x="233697" y="102539"/>
                    <a:pt x="215950" y="152984"/>
                  </a:cubicBezTo>
                  <a:cubicBezTo>
                    <a:pt x="198203" y="203428"/>
                    <a:pt x="147044" y="234079"/>
                    <a:pt x="94193" y="225932"/>
                  </a:cubicBezTo>
                  <a:cubicBezTo>
                    <a:pt x="41341" y="217785"/>
                    <a:pt x="1788" y="173151"/>
                    <a:pt x="56" y="119704"/>
                  </a:cubicBezTo>
                  <a:lnTo>
                    <a:pt x="0" y="116103"/>
                  </a:lnTo>
                  <a:lnTo>
                    <a:pt x="56" y="112503"/>
                  </a:lnTo>
                  <a:cubicBezTo>
                    <a:pt x="1321" y="73464"/>
                    <a:pt x="22990" y="37956"/>
                    <a:pt x="57128" y="18978"/>
                  </a:cubicBezTo>
                  <a:cubicBezTo>
                    <a:pt x="91267" y="0"/>
                    <a:pt x="132862" y="338"/>
                    <a:pt x="166688" y="19869"/>
                  </a:cubicBezTo>
                  <a:close/>
                  <a:moveTo>
                    <a:pt x="163432" y="63796"/>
                  </a:moveTo>
                  <a:cubicBezTo>
                    <a:pt x="159093" y="59458"/>
                    <a:pt x="152058" y="59458"/>
                    <a:pt x="147719" y="63796"/>
                  </a:cubicBezTo>
                  <a:lnTo>
                    <a:pt x="118937" y="92578"/>
                  </a:lnTo>
                  <a:lnTo>
                    <a:pt x="118015" y="93622"/>
                  </a:lnTo>
                  <a:lnTo>
                    <a:pt x="117259" y="94734"/>
                  </a:lnTo>
                  <a:cubicBezTo>
                    <a:pt x="110829" y="92890"/>
                    <a:pt x="103910" y="94039"/>
                    <a:pt x="98421" y="97862"/>
                  </a:cubicBezTo>
                  <a:cubicBezTo>
                    <a:pt x="92932" y="101685"/>
                    <a:pt x="89456" y="107776"/>
                    <a:pt x="88956" y="114447"/>
                  </a:cubicBezTo>
                  <a:lnTo>
                    <a:pt x="88900" y="116103"/>
                  </a:lnTo>
                  <a:lnTo>
                    <a:pt x="88956" y="117770"/>
                  </a:lnTo>
                  <a:cubicBezTo>
                    <a:pt x="89593" y="126228"/>
                    <a:pt x="94989" y="133587"/>
                    <a:pt x="102864" y="136737"/>
                  </a:cubicBezTo>
                  <a:cubicBezTo>
                    <a:pt x="110740" y="139887"/>
                    <a:pt x="119722" y="138280"/>
                    <a:pt x="126017" y="132594"/>
                  </a:cubicBezTo>
                  <a:cubicBezTo>
                    <a:pt x="132311" y="126907"/>
                    <a:pt x="134820" y="118134"/>
                    <a:pt x="132484" y="109980"/>
                  </a:cubicBezTo>
                  <a:cubicBezTo>
                    <a:pt x="133275" y="109512"/>
                    <a:pt x="134003" y="108944"/>
                    <a:pt x="134651" y="108291"/>
                  </a:cubicBezTo>
                  <a:lnTo>
                    <a:pt x="163432" y="79509"/>
                  </a:lnTo>
                  <a:lnTo>
                    <a:pt x="164354" y="78465"/>
                  </a:lnTo>
                  <a:cubicBezTo>
                    <a:pt x="167786" y="74041"/>
                    <a:pt x="167391" y="67755"/>
                    <a:pt x="163432" y="63796"/>
                  </a:cubicBezTo>
                  <a:close/>
                  <a:moveTo>
                    <a:pt x="111125" y="49428"/>
                  </a:moveTo>
                  <a:cubicBezTo>
                    <a:pt x="93442" y="49428"/>
                    <a:pt x="76483" y="56453"/>
                    <a:pt x="63979" y="68957"/>
                  </a:cubicBezTo>
                  <a:cubicBezTo>
                    <a:pt x="51475" y="81461"/>
                    <a:pt x="44450" y="98420"/>
                    <a:pt x="44450" y="116103"/>
                  </a:cubicBezTo>
                  <a:cubicBezTo>
                    <a:pt x="44450" y="122240"/>
                    <a:pt x="49425" y="127216"/>
                    <a:pt x="55563" y="127216"/>
                  </a:cubicBezTo>
                  <a:cubicBezTo>
                    <a:pt x="61700" y="127216"/>
                    <a:pt x="66675" y="122240"/>
                    <a:pt x="66675" y="116103"/>
                  </a:cubicBezTo>
                  <a:cubicBezTo>
                    <a:pt x="66675" y="91554"/>
                    <a:pt x="86576" y="71653"/>
                    <a:pt x="111125" y="71653"/>
                  </a:cubicBezTo>
                  <a:cubicBezTo>
                    <a:pt x="117263" y="71653"/>
                    <a:pt x="122238" y="66678"/>
                    <a:pt x="122238" y="60540"/>
                  </a:cubicBezTo>
                  <a:cubicBezTo>
                    <a:pt x="122238" y="54403"/>
                    <a:pt x="117263" y="49428"/>
                    <a:pt x="111125" y="49428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8561" y="3670300"/>
              <a:ext cx="10439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难题一 GMC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466" y="3949700"/>
              <a:ext cx="2190940" cy="834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三段成本各一招：OpenCL 搬走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warp + median 的 77.4%，锚点级联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砍掉拟合的 21.6%，纯函数缓存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去掉 fit 内部的重复计算</a:t>
              </a:r>
            </a:p>
          </p:txBody>
        </p:sp>
      </p:grpSp>
      <p:grpSp>
        <p:nvGrpSpPr>
          <p:cNvPr id="17" name="takeaway-2"/>
          <p:cNvGrpSpPr/>
          <p:nvPr/>
        </p:nvGrpSpPr>
        <p:grpSpPr>
          <a:xfrm>
            <a:off x="4343400" y="3028950"/>
            <a:ext cx="3505200" cy="2000250"/>
            <a:chOff x="4343400" y="3028950"/>
            <a:chExt cx="35052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4343400" y="3028950"/>
              <a:ext cx="3505200" cy="2000250"/>
            </a:xfrm>
            <a:prstGeom prst="roundRect">
              <a:avLst>
                <a:gd name="adj" fmla="val 3810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4615947" y="3241675"/>
              <a:ext cx="178807" cy="226373"/>
            </a:xfrm>
            <a:custGeom>
              <a:avLst/>
              <a:gdLst/>
              <a:ahLst/>
              <a:cxnLst/>
              <a:rect l="l" t="t" r="r" b="b"/>
              <a:pathLst>
                <a:path w="178807" h="226373">
                  <a:moveTo>
                    <a:pt x="100516" y="0"/>
                  </a:moveTo>
                  <a:lnTo>
                    <a:pt x="100716" y="11"/>
                  </a:lnTo>
                  <a:lnTo>
                    <a:pt x="100894" y="22"/>
                  </a:lnTo>
                  <a:lnTo>
                    <a:pt x="101816" y="78"/>
                  </a:lnTo>
                  <a:lnTo>
                    <a:pt x="101938" y="100"/>
                  </a:lnTo>
                  <a:lnTo>
                    <a:pt x="102061" y="100"/>
                  </a:lnTo>
                  <a:lnTo>
                    <a:pt x="102483" y="200"/>
                  </a:lnTo>
                  <a:lnTo>
                    <a:pt x="103061" y="289"/>
                  </a:lnTo>
                  <a:lnTo>
                    <a:pt x="103238" y="356"/>
                  </a:lnTo>
                  <a:lnTo>
                    <a:pt x="103361" y="367"/>
                  </a:lnTo>
                  <a:lnTo>
                    <a:pt x="103683" y="489"/>
                  </a:lnTo>
                  <a:lnTo>
                    <a:pt x="104261" y="645"/>
                  </a:lnTo>
                  <a:lnTo>
                    <a:pt x="104472" y="745"/>
                  </a:lnTo>
                  <a:lnTo>
                    <a:pt x="104639" y="789"/>
                  </a:lnTo>
                  <a:lnTo>
                    <a:pt x="104950" y="945"/>
                  </a:lnTo>
                  <a:lnTo>
                    <a:pt x="105394" y="1133"/>
                  </a:lnTo>
                  <a:lnTo>
                    <a:pt x="105628" y="1267"/>
                  </a:lnTo>
                  <a:lnTo>
                    <a:pt x="105872" y="1378"/>
                  </a:lnTo>
                  <a:lnTo>
                    <a:pt x="106128" y="1545"/>
                  </a:lnTo>
                  <a:lnTo>
                    <a:pt x="106472" y="1734"/>
                  </a:lnTo>
                  <a:lnTo>
                    <a:pt x="106850" y="2000"/>
                  </a:lnTo>
                  <a:lnTo>
                    <a:pt x="107050" y="2122"/>
                  </a:lnTo>
                  <a:lnTo>
                    <a:pt x="107195" y="2256"/>
                  </a:lnTo>
                  <a:lnTo>
                    <a:pt x="107461" y="2445"/>
                  </a:lnTo>
                  <a:lnTo>
                    <a:pt x="107884" y="2823"/>
                  </a:lnTo>
                  <a:lnTo>
                    <a:pt x="108128" y="3011"/>
                  </a:lnTo>
                  <a:lnTo>
                    <a:pt x="108217" y="3123"/>
                  </a:lnTo>
                  <a:lnTo>
                    <a:pt x="108372" y="3256"/>
                  </a:lnTo>
                  <a:lnTo>
                    <a:pt x="108773" y="3712"/>
                  </a:lnTo>
                  <a:lnTo>
                    <a:pt x="109061" y="4012"/>
                  </a:lnTo>
                  <a:lnTo>
                    <a:pt x="109128" y="4112"/>
                  </a:lnTo>
                  <a:cubicBezTo>
                    <a:pt x="110462" y="5745"/>
                    <a:pt x="111306" y="7690"/>
                    <a:pt x="111551" y="9812"/>
                  </a:cubicBezTo>
                  <a:lnTo>
                    <a:pt x="111562" y="9946"/>
                  </a:lnTo>
                  <a:lnTo>
                    <a:pt x="111584" y="10401"/>
                  </a:lnTo>
                  <a:lnTo>
                    <a:pt x="111628" y="11113"/>
                  </a:lnTo>
                  <a:lnTo>
                    <a:pt x="111628" y="77788"/>
                  </a:lnTo>
                  <a:lnTo>
                    <a:pt x="167191" y="77788"/>
                  </a:lnTo>
                  <a:cubicBezTo>
                    <a:pt x="171155" y="77787"/>
                    <a:pt x="174819" y="79897"/>
                    <a:pt x="176807" y="83326"/>
                  </a:cubicBezTo>
                  <a:cubicBezTo>
                    <a:pt x="178796" y="86755"/>
                    <a:pt x="178807" y="90984"/>
                    <a:pt x="176837" y="94423"/>
                  </a:cubicBezTo>
                  <a:lnTo>
                    <a:pt x="176170" y="95434"/>
                  </a:lnTo>
                  <a:lnTo>
                    <a:pt x="87270" y="217672"/>
                  </a:lnTo>
                  <a:cubicBezTo>
                    <a:pt x="80958" y="226373"/>
                    <a:pt x="67178" y="221895"/>
                    <a:pt x="67178" y="211138"/>
                  </a:cubicBezTo>
                  <a:lnTo>
                    <a:pt x="67178" y="144463"/>
                  </a:lnTo>
                  <a:lnTo>
                    <a:pt x="11616" y="144463"/>
                  </a:lnTo>
                  <a:cubicBezTo>
                    <a:pt x="7652" y="144464"/>
                    <a:pt x="3988" y="142354"/>
                    <a:pt x="1999" y="138924"/>
                  </a:cubicBezTo>
                  <a:cubicBezTo>
                    <a:pt x="11" y="135495"/>
                    <a:pt x="0" y="131267"/>
                    <a:pt x="1970" y="127827"/>
                  </a:cubicBezTo>
                  <a:lnTo>
                    <a:pt x="2637" y="126816"/>
                  </a:lnTo>
                  <a:lnTo>
                    <a:pt x="91537" y="4578"/>
                  </a:lnTo>
                  <a:lnTo>
                    <a:pt x="91648" y="4434"/>
                  </a:lnTo>
                  <a:lnTo>
                    <a:pt x="91848" y="4167"/>
                  </a:lnTo>
                  <a:lnTo>
                    <a:pt x="92215" y="3745"/>
                  </a:lnTo>
                  <a:lnTo>
                    <a:pt x="92415" y="3500"/>
                  </a:lnTo>
                  <a:lnTo>
                    <a:pt x="92515" y="3412"/>
                  </a:lnTo>
                  <a:lnTo>
                    <a:pt x="92659" y="3256"/>
                  </a:lnTo>
                  <a:lnTo>
                    <a:pt x="93104" y="2856"/>
                  </a:lnTo>
                  <a:lnTo>
                    <a:pt x="93415" y="2567"/>
                  </a:lnTo>
                  <a:lnTo>
                    <a:pt x="93504" y="2500"/>
                  </a:lnTo>
                  <a:cubicBezTo>
                    <a:pt x="94806" y="1434"/>
                    <a:pt x="96334" y="678"/>
                    <a:pt x="97971" y="289"/>
                  </a:cubicBezTo>
                  <a:lnTo>
                    <a:pt x="98093" y="278"/>
                  </a:lnTo>
                  <a:lnTo>
                    <a:pt x="98393" y="222"/>
                  </a:lnTo>
                  <a:lnTo>
                    <a:pt x="99216" y="78"/>
                  </a:lnTo>
                  <a:lnTo>
                    <a:pt x="99338" y="67"/>
                  </a:lnTo>
                  <a:lnTo>
                    <a:pt x="99794" y="44"/>
                  </a:ln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64761" y="3670300"/>
              <a:ext cx="1001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难题二 NPU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66666" y="3949700"/>
              <a:ext cx="2164271" cy="834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算子回退清零、弃用 FLOPs 外推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（形状决定代价）、RGA 拼图把 3 次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前向压成 1 次、同图对照把「打包」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与「量化」拆开算</a:t>
              </a:r>
            </a:p>
          </p:txBody>
        </p:sp>
      </p:grpSp>
      <p:grpSp>
        <p:nvGrpSpPr>
          <p:cNvPr id="22" name="takeaway-3"/>
          <p:cNvGrpSpPr/>
          <p:nvPr/>
        </p:nvGrpSpPr>
        <p:grpSpPr>
          <a:xfrm>
            <a:off x="8229600" y="3028950"/>
            <a:ext cx="3505200" cy="2000250"/>
            <a:chOff x="8229600" y="3028950"/>
            <a:chExt cx="35052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8229600" y="3028950"/>
              <a:ext cx="3505200" cy="2000250"/>
            </a:xfrm>
            <a:prstGeom prst="roundRect">
              <a:avLst>
                <a:gd name="adj" fmla="val 3810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8480425" y="3241675"/>
              <a:ext cx="222251" cy="222252"/>
            </a:xfrm>
            <a:custGeom>
              <a:avLst/>
              <a:gdLst/>
              <a:ahLst/>
              <a:cxnLst/>
              <a:rect l="l" t="t" r="r" b="b"/>
              <a:pathLst>
                <a:path w="222251" h="222252">
                  <a:moveTo>
                    <a:pt x="181501" y="0"/>
                  </a:moveTo>
                  <a:cubicBezTo>
                    <a:pt x="203282" y="0"/>
                    <a:pt x="221062" y="17080"/>
                    <a:pt x="222195" y="38583"/>
                  </a:cubicBezTo>
                  <a:lnTo>
                    <a:pt x="222251" y="40750"/>
                  </a:lnTo>
                  <a:lnTo>
                    <a:pt x="222251" y="181501"/>
                  </a:lnTo>
                  <a:cubicBezTo>
                    <a:pt x="222251" y="203282"/>
                    <a:pt x="205171" y="221062"/>
                    <a:pt x="183668" y="222195"/>
                  </a:cubicBezTo>
                  <a:lnTo>
                    <a:pt x="181501" y="222251"/>
                  </a:lnTo>
                  <a:lnTo>
                    <a:pt x="40750" y="222251"/>
                  </a:lnTo>
                  <a:cubicBezTo>
                    <a:pt x="19085" y="222252"/>
                    <a:pt x="1208" y="205301"/>
                    <a:pt x="56" y="183668"/>
                  </a:cubicBezTo>
                  <a:lnTo>
                    <a:pt x="0" y="181501"/>
                  </a:lnTo>
                  <a:lnTo>
                    <a:pt x="0" y="40750"/>
                  </a:lnTo>
                  <a:cubicBezTo>
                    <a:pt x="0" y="18969"/>
                    <a:pt x="17080" y="1189"/>
                    <a:pt x="38583" y="56"/>
                  </a:cubicBezTo>
                  <a:lnTo>
                    <a:pt x="40750" y="0"/>
                  </a:lnTo>
                  <a:lnTo>
                    <a:pt x="181501" y="0"/>
                  </a:lnTo>
                  <a:close/>
                  <a:moveTo>
                    <a:pt x="152319" y="81044"/>
                  </a:moveTo>
                  <a:cubicBezTo>
                    <a:pt x="147980" y="76706"/>
                    <a:pt x="140946" y="76706"/>
                    <a:pt x="136606" y="81044"/>
                  </a:cubicBezTo>
                  <a:lnTo>
                    <a:pt x="100013" y="117626"/>
                  </a:lnTo>
                  <a:lnTo>
                    <a:pt x="85644" y="103269"/>
                  </a:lnTo>
                  <a:lnTo>
                    <a:pt x="84600" y="102346"/>
                  </a:lnTo>
                  <a:cubicBezTo>
                    <a:pt x="79964" y="98762"/>
                    <a:pt x="73342" y="99393"/>
                    <a:pt x="69467" y="103788"/>
                  </a:cubicBezTo>
                  <a:cubicBezTo>
                    <a:pt x="65592" y="108183"/>
                    <a:pt x="65795" y="114832"/>
                    <a:pt x="69931" y="118982"/>
                  </a:cubicBezTo>
                  <a:lnTo>
                    <a:pt x="92156" y="141207"/>
                  </a:lnTo>
                  <a:lnTo>
                    <a:pt x="93201" y="142129"/>
                  </a:lnTo>
                  <a:cubicBezTo>
                    <a:pt x="97625" y="145561"/>
                    <a:pt x="103910" y="145166"/>
                    <a:pt x="107869" y="141207"/>
                  </a:cubicBezTo>
                  <a:lnTo>
                    <a:pt x="152319" y="96757"/>
                  </a:lnTo>
                  <a:lnTo>
                    <a:pt x="153242" y="95712"/>
                  </a:lnTo>
                  <a:cubicBezTo>
                    <a:pt x="156673" y="91289"/>
                    <a:pt x="156278" y="85003"/>
                    <a:pt x="152319" y="81044"/>
                  </a:cubicBez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50961" y="3670300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方法论沉淀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52866" y="3949700"/>
              <a:ext cx="1877568" cy="834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静默失效优先于崩溃；位精确是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入场券；板卡实测纪律是地基；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空对照臂与同图对照臂是所有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精度结论的前提</a:t>
              </a:r>
            </a:p>
          </p:txBody>
        </p:sp>
      </p:grpSp>
      <p:grpSp>
        <p:nvGrpSpPr>
          <p:cNvPr id="27" name="next-band"/>
          <p:cNvGrpSpPr/>
          <p:nvPr/>
        </p:nvGrpSpPr>
        <p:grpSpPr>
          <a:xfrm>
            <a:off x="457200" y="5200650"/>
            <a:ext cx="11277600" cy="878459"/>
            <a:chOff x="457200" y="5200650"/>
            <a:chExt cx="11277600" cy="878459"/>
          </a:xfrm>
        </p:grpSpPr>
        <p:sp>
          <p:nvSpPr>
            <p:cNvPr id="23" name="Rectangle 23"/>
            <p:cNvSpPr/>
            <p:nvPr/>
          </p:nvSpPr>
          <p:spPr>
            <a:xfrm>
              <a:off x="457200" y="5200650"/>
              <a:ext cx="11277600" cy="876300"/>
            </a:xfrm>
            <a:prstGeom prst="rect">
              <a:avLst/>
            </a:prstGeom>
            <a:solidFill>
              <a:srgbClr val="14171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085" y="53848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下一阶段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466" y="5664200"/>
              <a:ext cx="61627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8CDD4"/>
                  </a:solidFill>
                  <a:latin typeface="+mn-lt"/>
                  <a:ea typeface="+mn-ea"/>
                  <a:cs typeface="+mn-cs"/>
                </a:rPr>
                <a:t>方向 A 恒等门控 GMC（解硬保证与可对账的互斥）　·　方向 B 领域迁移 SOP（跑通第二个场景）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0466" y="5873750"/>
              <a:ext cx="5926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8CDD4"/>
                  </a:solidFill>
                  <a:latin typeface="+mn-lt"/>
                  <a:ea typeface="+mn-ea"/>
                  <a:cs typeface="+mn-cs"/>
                </a:rPr>
                <a:t>方向 C 算法库与嵌入式组集成　·　方向 D f16 → int8　——　未解项已如实列出，见 P17 / P19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28" name="Line 28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2247" y="6477000"/>
              <a:ext cx="50033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算法攻坚组　·　2026-10-29　·　全部数据出自 manu/memory 专题档，逐条可溯源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20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r_uav_engineering">
  <a:themeElements>
    <a:clrScheme name="ir_uav_engineeri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r_uav_engineering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r_uav_enginee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2026-10-29T06:12:34Z</dcterms:created>
  <dcterms:modified xsi:type="dcterms:W3CDTF">2026-10-29T06:12:34Z</dcterms:modified>
  <cp:category/>
  <cp:contentStatus/>
</cp:coreProperties>
</file>