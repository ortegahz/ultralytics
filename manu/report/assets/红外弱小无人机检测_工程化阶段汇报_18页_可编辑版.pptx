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1.svg" ContentType="image/svg+xml"/>
  <Override PartName="/ppt/media/image-1-13.svg" ContentType="image/svg+xml"/>
  <Override PartName="/ppt/media/image-1-15.svg" ContentType="image/svg+xml"/>
  <Override PartName="/ppt/media/image-1-17.svg" ContentType="image/svg+xml"/>
  <Override PartName="/ppt/media/image-1-2.svg" ContentType="image/svg+xml"/>
  <Override PartName="/ppt/media/image-1-4.svg" ContentType="image/svg+xml"/>
  <Override PartName="/ppt/media/image-1-6.svg" ContentType="image/svg+xml"/>
  <Override PartName="/ppt/media/image-1-9.svg" ContentType="image/svg+xml"/>
  <Override PartName="/ppt/media/image-10-10.svg" ContentType="image/svg+xml"/>
  <Override PartName="/ppt/media/image-10-12.svg" ContentType="image/svg+xml"/>
  <Override PartName="/ppt/media/image-10-14.svg" ContentType="image/svg+xml"/>
  <Override PartName="/ppt/media/image-10-2.svg" ContentType="image/svg+xml"/>
  <Override PartName="/ppt/media/image-10-4.svg" ContentType="image/svg+xml"/>
  <Override PartName="/ppt/media/image-10-6.svg" ContentType="image/svg+xml"/>
  <Override PartName="/ppt/media/image-10-8.svg" ContentType="image/svg+xml"/>
  <Override PartName="/ppt/media/image-11-10.svg" ContentType="image/svg+xml"/>
  <Override PartName="/ppt/media/image-11-12.svg" ContentType="image/svg+xml"/>
  <Override PartName="/ppt/media/image-11-14.svg" ContentType="image/svg+xml"/>
  <Override PartName="/ppt/media/image-11-16.svg" ContentType="image/svg+xml"/>
  <Override PartName="/ppt/media/image-11-2.svg" ContentType="image/svg+xml"/>
  <Override PartName="/ppt/media/image-11-4.svg" ContentType="image/svg+xml"/>
  <Override PartName="/ppt/media/image-11-6.svg" ContentType="image/svg+xml"/>
  <Override PartName="/ppt/media/image-11-8.svg" ContentType="image/svg+xml"/>
  <Override PartName="/ppt/media/image-12-11.svg" ContentType="image/svg+xml"/>
  <Override PartName="/ppt/media/image-12-14.svg" ContentType="image/svg+xml"/>
  <Override PartName="/ppt/media/image-12-16.svg" ContentType="image/svg+xml"/>
  <Override PartName="/ppt/media/image-12-18.svg" ContentType="image/svg+xml"/>
  <Override PartName="/ppt/media/image-12-2.svg" ContentType="image/svg+xml"/>
  <Override PartName="/ppt/media/image-12-20.svg" ContentType="image/svg+xml"/>
  <Override PartName="/ppt/media/image-12-22.svg" ContentType="image/svg+xml"/>
  <Override PartName="/ppt/media/image-12-24.svg" ContentType="image/svg+xml"/>
  <Override PartName="/ppt/media/image-12-26.svg" ContentType="image/svg+xml"/>
  <Override PartName="/ppt/media/image-12-28.svg" ContentType="image/svg+xml"/>
  <Override PartName="/ppt/media/image-12-4.svg" ContentType="image/svg+xml"/>
  <Override PartName="/ppt/media/image-12-6.svg" ContentType="image/svg+xml"/>
  <Override PartName="/ppt/media/image-12-9.svg" ContentType="image/svg+xml"/>
  <Override PartName="/ppt/media/image-13-11.svg" ContentType="image/svg+xml"/>
  <Override PartName="/ppt/media/image-13-2.svg" ContentType="image/svg+xml"/>
  <Override PartName="/ppt/media/image-13-4.svg" ContentType="image/svg+xml"/>
  <Override PartName="/ppt/media/image-13-6.svg" ContentType="image/svg+xml"/>
  <Override PartName="/ppt/media/image-13-9.svg" ContentType="image/svg+xml"/>
  <Override PartName="/ppt/media/image-14-13.svg" ContentType="image/svg+xml"/>
  <Override PartName="/ppt/media/image-14-17.svg" ContentType="image/svg+xml"/>
  <Override PartName="/ppt/media/image-14-19.svg" ContentType="image/svg+xml"/>
  <Override PartName="/ppt/media/image-14-2.svg" ContentType="image/svg+xml"/>
  <Override PartName="/ppt/media/image-14-21.svg" ContentType="image/svg+xml"/>
  <Override PartName="/ppt/media/image-14-23.svg" ContentType="image/svg+xml"/>
  <Override PartName="/ppt/media/image-14-25.svg" ContentType="image/svg+xml"/>
  <Override PartName="/ppt/media/image-14-27.svg" ContentType="image/svg+xml"/>
  <Override PartName="/ppt/media/image-14-29.svg" ContentType="image/svg+xml"/>
  <Override PartName="/ppt/media/image-14-31.svg" ContentType="image/svg+xml"/>
  <Override PartName="/ppt/media/image-14-4.svg" ContentType="image/svg+xml"/>
  <Override PartName="/ppt/media/image-14-6.svg" ContentType="image/svg+xml"/>
  <Override PartName="/ppt/media/image-14-9.svg" ContentType="image/svg+xml"/>
  <Override PartName="/ppt/media/image-15-10.svg" ContentType="image/svg+xml"/>
  <Override PartName="/ppt/media/image-15-12.svg" ContentType="image/svg+xml"/>
  <Override PartName="/ppt/media/image-15-14.svg" ContentType="image/svg+xml"/>
  <Override PartName="/ppt/media/image-15-2.svg" ContentType="image/svg+xml"/>
  <Override PartName="/ppt/media/image-15-4.svg" ContentType="image/svg+xml"/>
  <Override PartName="/ppt/media/image-15-6.svg" ContentType="image/svg+xml"/>
  <Override PartName="/ppt/media/image-15-8.svg" ContentType="image/svg+xml"/>
  <Override PartName="/ppt/media/image-16-11.svg" ContentType="image/svg+xml"/>
  <Override PartName="/ppt/media/image-16-14.svg" ContentType="image/svg+xml"/>
  <Override PartName="/ppt/media/image-16-16.svg" ContentType="image/svg+xml"/>
  <Override PartName="/ppt/media/image-16-18.svg" ContentType="image/svg+xml"/>
  <Override PartName="/ppt/media/image-16-2.svg" ContentType="image/svg+xml"/>
  <Override PartName="/ppt/media/image-16-4.svg" ContentType="image/svg+xml"/>
  <Override PartName="/ppt/media/image-16-6.svg" ContentType="image/svg+xml"/>
  <Override PartName="/ppt/media/image-16-8.svg" ContentType="image/svg+xml"/>
  <Override PartName="/ppt/media/image-17-10.svg" ContentType="image/svg+xml"/>
  <Override PartName="/ppt/media/image-17-13.svg" ContentType="image/svg+xml"/>
  <Override PartName="/ppt/media/image-17-15.svg" ContentType="image/svg+xml"/>
  <Override PartName="/ppt/media/image-17-17.svg" ContentType="image/svg+xml"/>
  <Override PartName="/ppt/media/image-17-19.svg" ContentType="image/svg+xml"/>
  <Override PartName="/ppt/media/image-17-2.svg" ContentType="image/svg+xml"/>
  <Override PartName="/ppt/media/image-17-21.svg" ContentType="image/svg+xml"/>
  <Override PartName="/ppt/media/image-17-23.svg" ContentType="image/svg+xml"/>
  <Override PartName="/ppt/media/image-17-4.svg" ContentType="image/svg+xml"/>
  <Override PartName="/ppt/media/image-17-6.svg" ContentType="image/svg+xml"/>
  <Override PartName="/ppt/media/image-17-8.svg" ContentType="image/svg+xml"/>
  <Override PartName="/ppt/media/image-18-2.svg" ContentType="image/svg+xml"/>
  <Override PartName="/ppt/media/image-18-4.svg" ContentType="image/svg+xml"/>
  <Override PartName="/ppt/media/image-18-6.svg" ContentType="image/svg+xml"/>
  <Override PartName="/ppt/media/image-18-8.svg" ContentType="image/svg+xml"/>
  <Override PartName="/ppt/media/image-2-13.svg" ContentType="image/svg+xml"/>
  <Override PartName="/ppt/media/image-2-15.svg" ContentType="image/svg+xml"/>
  <Override PartName="/ppt/media/image-2-17.svg" ContentType="image/svg+xml"/>
  <Override PartName="/ppt/media/image-2-19.svg" ContentType="image/svg+xml"/>
  <Override PartName="/ppt/media/image-2-2.svg" ContentType="image/svg+xml"/>
  <Override PartName="/ppt/media/image-2-21.svg" ContentType="image/svg+xml"/>
  <Override PartName="/ppt/media/image-2-23.svg" ContentType="image/svg+xml"/>
  <Override PartName="/ppt/media/image-2-25.svg" ContentType="image/svg+xml"/>
  <Override PartName="/ppt/media/image-2-27.svg" ContentType="image/svg+xml"/>
  <Override PartName="/ppt/media/image-2-29.svg" ContentType="image/svg+xml"/>
  <Override PartName="/ppt/media/image-2-31.svg" ContentType="image/svg+xml"/>
  <Override PartName="/ppt/media/image-2-33.svg" ContentType="image/svg+xml"/>
  <Override PartName="/ppt/media/image-2-4.svg" ContentType="image/svg+xml"/>
  <Override PartName="/ppt/media/image-2-7.svg" ContentType="image/svg+xml"/>
  <Override PartName="/ppt/media/image-2-9.svg" ContentType="image/svg+xml"/>
  <Override PartName="/ppt/media/image-3-10.svg" ContentType="image/svg+xml"/>
  <Override PartName="/ppt/media/image-3-12.svg" ContentType="image/svg+xml"/>
  <Override PartName="/ppt/media/image-3-14.svg" ContentType="image/svg+xml"/>
  <Override PartName="/ppt/media/image-3-16.svg" ContentType="image/svg+xml"/>
  <Override PartName="/ppt/media/image-3-2.svg" ContentType="image/svg+xml"/>
  <Override PartName="/ppt/media/image-3-4.svg" ContentType="image/svg+xml"/>
  <Override PartName="/ppt/media/image-3-8.svg" ContentType="image/svg+xml"/>
  <Override PartName="/ppt/media/image-4-10.svg" ContentType="image/svg+xml"/>
  <Override PartName="/ppt/media/image-4-12.svg" ContentType="image/svg+xml"/>
  <Override PartName="/ppt/media/image-4-14.svg" ContentType="image/svg+xml"/>
  <Override PartName="/ppt/media/image-4-16.svg" ContentType="image/svg+xml"/>
  <Override PartName="/ppt/media/image-4-2.svg" ContentType="image/svg+xml"/>
  <Override PartName="/ppt/media/image-4-4.svg" ContentType="image/svg+xml"/>
  <Override PartName="/ppt/media/image-4-6.svg" ContentType="image/svg+xml"/>
  <Override PartName="/ppt/media/image-4-8.svg" ContentType="image/svg+xml"/>
  <Override PartName="/ppt/media/image-5-2.svg" ContentType="image/svg+xml"/>
  <Override PartName="/ppt/media/image-5-7.svg" ContentType="image/svg+xml"/>
  <Override PartName="/ppt/media/image-5-9.svg" ContentType="image/svg+xml"/>
  <Override PartName="/ppt/media/image-6-10.svg" ContentType="image/svg+xml"/>
  <Override PartName="/ppt/media/image-6-12.svg" ContentType="image/svg+xml"/>
  <Override PartName="/ppt/media/image-6-14.svg" ContentType="image/svg+xml"/>
  <Override PartName="/ppt/media/image-6-2.svg" ContentType="image/svg+xml"/>
  <Override PartName="/ppt/media/image-6-4.svg" ContentType="image/svg+xml"/>
  <Override PartName="/ppt/media/image-6-6.svg" ContentType="image/svg+xml"/>
  <Override PartName="/ppt/media/image-6-8.svg" ContentType="image/svg+xml"/>
  <Override PartName="/ppt/media/image-7-11.svg" ContentType="image/svg+xml"/>
  <Override PartName="/ppt/media/image-7-13.svg" ContentType="image/svg+xml"/>
  <Override PartName="/ppt/media/image-7-15.svg" ContentType="image/svg+xml"/>
  <Override PartName="/ppt/media/image-7-2.svg" ContentType="image/svg+xml"/>
  <Override PartName="/ppt/media/image-7-4.svg" ContentType="image/svg+xml"/>
  <Override PartName="/ppt/media/image-7-7.svg" ContentType="image/svg+xml"/>
  <Override PartName="/ppt/media/image-7-9.svg" ContentType="image/svg+xml"/>
  <Override PartName="/ppt/media/image-8-11.svg" ContentType="image/svg+xml"/>
  <Override PartName="/ppt/media/image-8-14.svg" ContentType="image/svg+xml"/>
  <Override PartName="/ppt/media/image-8-16.svg" ContentType="image/svg+xml"/>
  <Override PartName="/ppt/media/image-8-18.svg" ContentType="image/svg+xml"/>
  <Override PartName="/ppt/media/image-8-2.svg" ContentType="image/svg+xml"/>
  <Override PartName="/ppt/media/image-8-26.svg" ContentType="image/svg+xml"/>
  <Override PartName="/ppt/media/image-8-28.svg" ContentType="image/svg+xml"/>
  <Override PartName="/ppt/media/image-8-4.svg" ContentType="image/svg+xml"/>
  <Override PartName="/ppt/media/image-8-6.svg" ContentType="image/svg+xml"/>
  <Override PartName="/ppt/media/image-8-9.svg" ContentType="image/svg+xml"/>
  <Override PartName="/ppt/media/image-9-10.svg" ContentType="image/svg+xml"/>
  <Override PartName="/ppt/media/image-9-12.svg" ContentType="image/svg+xml"/>
  <Override PartName="/ppt/media/image-9-14.svg" ContentType="image/svg+xml"/>
  <Override PartName="/ppt/media/image-9-16.svg" ContentType="image/svg+xml"/>
  <Override PartName="/ppt/media/image-9-18.svg" ContentType="image/svg+xml"/>
  <Override PartName="/ppt/media/image-9-2.svg" ContentType="image/svg+xml"/>
  <Override PartName="/ppt/media/image-9-4.svg" ContentType="image/svg+xml"/>
  <Override PartName="/ppt/media/image-9-6.svg" ContentType="image/svg+xml"/>
  <Override PartName="/ppt/media/image-9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svg"/><Relationship Id="rId12" Type="http://schemas.openxmlformats.org/officeDocument/2006/relationships/image" Target="../media/image-1-12.png"/><Relationship Id="rId13" Type="http://schemas.openxmlformats.org/officeDocument/2006/relationships/image" Target="../media/image-1-13.svg"/><Relationship Id="rId14" Type="http://schemas.openxmlformats.org/officeDocument/2006/relationships/image" Target="../media/image-1-14.png"/><Relationship Id="rId15" Type="http://schemas.openxmlformats.org/officeDocument/2006/relationships/image" Target="../media/image-1-15.svg"/><Relationship Id="rId16" Type="http://schemas.openxmlformats.org/officeDocument/2006/relationships/image" Target="../media/image-1-16.png"/><Relationship Id="rId17" Type="http://schemas.openxmlformats.org/officeDocument/2006/relationships/image" Target="../media/image-1-17.sv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Relationship Id="rId20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svg"/><Relationship Id="rId14" Type="http://schemas.openxmlformats.org/officeDocument/2006/relationships/image" Target="../media/image-2-14.png"/><Relationship Id="rId15" Type="http://schemas.openxmlformats.org/officeDocument/2006/relationships/image" Target="../media/image-2-15.svg"/><Relationship Id="rId16" Type="http://schemas.openxmlformats.org/officeDocument/2006/relationships/image" Target="../media/image-2-16.png"/><Relationship Id="rId17" Type="http://schemas.openxmlformats.org/officeDocument/2006/relationships/image" Target="../media/image-2-17.svg"/><Relationship Id="rId18" Type="http://schemas.openxmlformats.org/officeDocument/2006/relationships/image" Target="../media/image-2-18.png"/><Relationship Id="rId19" Type="http://schemas.openxmlformats.org/officeDocument/2006/relationships/image" Target="../media/image-2-19.svg"/><Relationship Id="rId20" Type="http://schemas.openxmlformats.org/officeDocument/2006/relationships/image" Target="../media/image-2-20.png"/><Relationship Id="rId21" Type="http://schemas.openxmlformats.org/officeDocument/2006/relationships/image" Target="../media/image-2-21.svg"/><Relationship Id="rId22" Type="http://schemas.openxmlformats.org/officeDocument/2006/relationships/image" Target="../media/image-2-22.png"/><Relationship Id="rId23" Type="http://schemas.openxmlformats.org/officeDocument/2006/relationships/image" Target="../media/image-2-23.svg"/><Relationship Id="rId24" Type="http://schemas.openxmlformats.org/officeDocument/2006/relationships/image" Target="../media/image-2-24.png"/><Relationship Id="rId25" Type="http://schemas.openxmlformats.org/officeDocument/2006/relationships/image" Target="../media/image-2-25.svg"/><Relationship Id="rId26" Type="http://schemas.openxmlformats.org/officeDocument/2006/relationships/image" Target="../media/image-2-26.png"/><Relationship Id="rId27" Type="http://schemas.openxmlformats.org/officeDocument/2006/relationships/image" Target="../media/image-2-27.svg"/><Relationship Id="rId28" Type="http://schemas.openxmlformats.org/officeDocument/2006/relationships/image" Target="../media/image-2-28.png"/><Relationship Id="rId29" Type="http://schemas.openxmlformats.org/officeDocument/2006/relationships/image" Target="../media/image-2-29.svg"/><Relationship Id="rId30" Type="http://schemas.openxmlformats.org/officeDocument/2006/relationships/image" Target="../media/image-2-30.png"/><Relationship Id="rId31" Type="http://schemas.openxmlformats.org/officeDocument/2006/relationships/image" Target="../media/image-2-31.svg"/><Relationship Id="rId32" Type="http://schemas.openxmlformats.org/officeDocument/2006/relationships/image" Target="../media/image-2-32.png"/><Relationship Id="rId33" Type="http://schemas.openxmlformats.org/officeDocument/2006/relationships/image" Target="../media/image-2-33.sv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2.xml"/><Relationship Id="rId36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Relationship Id="rId19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Relationship Id="rId19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Relationship Id="rId1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Relationship Id="rId17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image" Target="../media/image-7-12.png"/><Relationship Id="rId13" Type="http://schemas.openxmlformats.org/officeDocument/2006/relationships/image" Target="../media/image-7-13.svg"/><Relationship Id="rId14" Type="http://schemas.openxmlformats.org/officeDocument/2006/relationships/image" Target="../media/image-7-14.png"/><Relationship Id="rId15" Type="http://schemas.openxmlformats.org/officeDocument/2006/relationships/image" Target="../media/image-7-15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Relationship Id="rId18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sv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svg"/><Relationship Id="rId27" Type="http://schemas.openxmlformats.org/officeDocument/2006/relationships/image" Target="../media/image-8-27.png"/><Relationship Id="rId28" Type="http://schemas.openxmlformats.org/officeDocument/2006/relationships/image" Target="../media/image-8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8.xml"/><Relationship Id="rId31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9.xml"/><Relationship Id="rId21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0.xml"/><Relationship Id="rId17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Relationship Id="rId19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sv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sv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sv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sv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sv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sv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2.xml"/><Relationship Id="rId31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sv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Relationship Id="rId1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sv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sv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sv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sv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sv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svg"/><Relationship Id="rId24" Type="http://schemas.openxmlformats.org/officeDocument/2006/relationships/image" Target="../media/image-14-24.png"/><Relationship Id="rId25" Type="http://schemas.openxmlformats.org/officeDocument/2006/relationships/image" Target="../media/image-14-25.svg"/><Relationship Id="rId26" Type="http://schemas.openxmlformats.org/officeDocument/2006/relationships/image" Target="../media/image-14-26.png"/><Relationship Id="rId27" Type="http://schemas.openxmlformats.org/officeDocument/2006/relationships/image" Target="../media/image-14-27.svg"/><Relationship Id="rId28" Type="http://schemas.openxmlformats.org/officeDocument/2006/relationships/image" Target="../media/image-14-28.png"/><Relationship Id="rId29" Type="http://schemas.openxmlformats.org/officeDocument/2006/relationships/image" Target="../media/image-14-29.svg"/><Relationship Id="rId30" Type="http://schemas.openxmlformats.org/officeDocument/2006/relationships/image" Target="../media/image-14-30.png"/><Relationship Id="rId31" Type="http://schemas.openxmlformats.org/officeDocument/2006/relationships/image" Target="../media/image-14-31.sv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14.xml"/><Relationship Id="rId3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5.xml"/><Relationship Id="rId17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sv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sv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sv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6.xml"/><Relationship Id="rId21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sv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sv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svg"/><Relationship Id="rId18" Type="http://schemas.openxmlformats.org/officeDocument/2006/relationships/image" Target="../media/image-17-18.png"/><Relationship Id="rId19" Type="http://schemas.openxmlformats.org/officeDocument/2006/relationships/image" Target="../media/image-17-19.svg"/><Relationship Id="rId20" Type="http://schemas.openxmlformats.org/officeDocument/2006/relationships/image" Target="../media/image-17-20.png"/><Relationship Id="rId21" Type="http://schemas.openxmlformats.org/officeDocument/2006/relationships/image" Target="../media/image-17-21.svg"/><Relationship Id="rId22" Type="http://schemas.openxmlformats.org/officeDocument/2006/relationships/image" Target="../media/image-17-22.png"/><Relationship Id="rId23" Type="http://schemas.openxmlformats.org/officeDocument/2006/relationships/image" Target="../media/image-17-23.sv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7.xml"/><Relationship Id="rId26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Relationship Id="rId1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7188" y="357188"/>
            <a:ext cx="8429625" cy="4429125"/>
          </a:xfrm>
          <a:prstGeom prst="roundRect">
            <a:avLst>
              <a:gd name="adj" fmla="val 932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78644" y="564356"/>
            <a:ext cx="7986713" cy="785813"/>
          </a:xfrm>
          <a:prstGeom prst="rect">
            <a:avLst/>
          </a:prstGeom>
          <a:ln/>
        </p:spPr>
      </p:sp>
      <p:sp>
        <p:nvSpPr>
          <p:cNvPr id="6" name="Text 3"/>
          <p:cNvSpPr/>
          <p:nvPr/>
        </p:nvSpPr>
        <p:spPr>
          <a:xfrm>
            <a:off x="578421" y="423156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78644" y="736755"/>
            <a:ext cx="720090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复杂背景下红外弱小无人机检测 · 工程化阶段汇报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8644" y="1093105"/>
            <a:ext cx="72009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9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从“能跑”到“可交付”——RK3588 实时管线的构建与验证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122444" y="564356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01/18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576858" y="1478756"/>
            <a:ext cx="3264694" cy="2471738"/>
          </a:xfrm>
          <a:prstGeom prst="roundRect">
            <a:avLst>
              <a:gd name="adj" fmla="val 2566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4289" y="1643063"/>
            <a:ext cx="800100" cy="178594"/>
          </a:xfrm>
          <a:prstGeom prst="roundRect">
            <a:avLst>
              <a:gd name="adj" fmla="val 64000"/>
            </a:avLst>
          </a:prstGeom>
          <a:solidFill>
            <a:srgbClr val="C9974D">
              <a:alpha val="12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21531" y="1710928"/>
            <a:ext cx="42863" cy="42863"/>
          </a:xfrm>
          <a:prstGeom prst="ellipse">
            <a:avLst/>
          </a:prstGeom>
          <a:solidFill>
            <a:srgbClr val="B89348"/>
          </a:solidFill>
          <a:ln/>
          <a:effectLst>
            <a:outerShdw sx="100000" sy="100000" kx="0" ky="0" algn="bl" rotWithShape="0" blurRad="101600" dist="50800" dir="16200000">
              <a:srgbClr val="B89348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21544" y="1693069"/>
            <a:ext cx="545604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7D5A22"/>
                </a:solidFill>
                <a:highlight>
                  <a:srgbClr val="C9974D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THESIS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2876476" y="1693069"/>
            <a:ext cx="800100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7B8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 DEPLOYMENT</a:t>
            </a:r>
            <a:endParaRPr lang="en-US" sz="500" dirty="0"/>
          </a:p>
        </p:txBody>
      </p:sp>
      <p:sp>
        <p:nvSpPr>
          <p:cNvPr id="15" name="Text 12"/>
          <p:cNvSpPr/>
          <p:nvPr/>
        </p:nvSpPr>
        <p:spPr>
          <a:xfrm>
            <a:off x="741164" y="2006054"/>
            <a:ext cx="2936081" cy="11215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3"/>
              </a:lnSpc>
              <a:spcBef>
                <a:spcPts val="1463"/>
              </a:spcBef>
              <a:buNone/>
            </a:pPr>
            <a:r>
              <a:rPr lang="en-US" sz="1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把一条 PC 上的算法图，变成 RK3588 上 </a:t>
            </a:r>
            <a:pPr algn="l" indent="0" marL="0">
              <a:lnSpc>
                <a:spcPts val="2203"/>
              </a:lnSpc>
              <a:buNone/>
            </a:pPr>
            <a:r>
              <a:rPr lang="en-US" sz="1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可并行、可量化、可验收 </a:t>
            </a:r>
            <a:pPr algn="l" indent="0" marL="0">
              <a:lnSpc>
                <a:spcPts val="2203"/>
              </a:lnSpc>
              <a:spcBef>
                <a:spcPts val="1463"/>
              </a:spcBef>
              <a:buNone/>
            </a:pPr>
            <a:r>
              <a:rPr lang="en-US" sz="1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的实时管线。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1164" y="3312802"/>
            <a:ext cx="2936081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Bef>
                <a:spcPts val="1463"/>
              </a:spcBef>
              <a:buNone/>
            </a:pPr>
            <a:r>
              <a:rPr lang="en-US" sz="7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以工程化交付为判断基准，将算法验证推进到 </a:t>
            </a:r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稳定运行、性能可测、接口可用</a:t>
            </a:r>
            <a:pPr algn="l" indent="0" marL="0">
              <a:lnSpc>
                <a:spcPts val="1188"/>
              </a:lnSpc>
              <a:spcBef>
                <a:spcPts val="1463"/>
              </a:spcBef>
              <a:buNone/>
            </a:pPr>
            <a:r>
              <a:rPr lang="en-US" sz="7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的边缘端闭环。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742950" y="3742209"/>
            <a:ext cx="435769" cy="228600"/>
          </a:xfrm>
          <a:prstGeom prst="roundRect">
            <a:avLst>
              <a:gd name="adj" fmla="val 50000"/>
            </a:avLst>
          </a:prstGeom>
          <a:solidFill>
            <a:srgbClr val="122033">
              <a:alpha val="55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828675" y="3831506"/>
            <a:ext cx="50006" cy="50006"/>
          </a:xfrm>
          <a:prstGeom prst="ellipse">
            <a:avLst/>
          </a:prstGeom>
          <a:solidFill>
            <a:srgbClr val="B89348"/>
          </a:solidFill>
          <a:ln/>
        </p:spPr>
      </p:sp>
      <p:sp>
        <p:nvSpPr>
          <p:cNvPr id="19" name="Text 16"/>
          <p:cNvSpPr/>
          <p:nvPr/>
        </p:nvSpPr>
        <p:spPr>
          <a:xfrm>
            <a:off x="935831" y="3820790"/>
            <a:ext cx="1571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22033"/>
                </a:solidFill>
                <a:highlight>
                  <a:srgbClr val="122033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1235869" y="3742209"/>
            <a:ext cx="435769" cy="228600"/>
          </a:xfrm>
          <a:prstGeom prst="roundRect">
            <a:avLst>
              <a:gd name="adj" fmla="val 50000"/>
            </a:avLst>
          </a:prstGeom>
          <a:solidFill>
            <a:srgbClr val="122033">
              <a:alpha val="55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321594" y="3831506"/>
            <a:ext cx="50006" cy="50006"/>
          </a:xfrm>
          <a:prstGeom prst="ellipse">
            <a:avLst/>
          </a:prstGeom>
          <a:solidFill>
            <a:srgbClr val="B89348"/>
          </a:solidFill>
          <a:ln/>
        </p:spPr>
      </p:sp>
      <p:sp>
        <p:nvSpPr>
          <p:cNvPr id="22" name="Text 19"/>
          <p:cNvSpPr/>
          <p:nvPr/>
        </p:nvSpPr>
        <p:spPr>
          <a:xfrm>
            <a:off x="1428750" y="3820790"/>
            <a:ext cx="1571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22033"/>
                </a:solidFill>
                <a:highlight>
                  <a:srgbClr val="122033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1728788" y="3742209"/>
            <a:ext cx="435769" cy="228600"/>
          </a:xfrm>
          <a:prstGeom prst="roundRect">
            <a:avLst>
              <a:gd name="adj" fmla="val 50000"/>
            </a:avLst>
          </a:prstGeom>
          <a:solidFill>
            <a:srgbClr val="122033">
              <a:alpha val="55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814513" y="3831506"/>
            <a:ext cx="50006" cy="50006"/>
          </a:xfrm>
          <a:prstGeom prst="ellipse">
            <a:avLst/>
          </a:prstGeom>
          <a:solidFill>
            <a:srgbClr val="B89348"/>
          </a:solidFill>
          <a:ln/>
        </p:spPr>
      </p:sp>
      <p:sp>
        <p:nvSpPr>
          <p:cNvPr id="25" name="Text 22"/>
          <p:cNvSpPr/>
          <p:nvPr/>
        </p:nvSpPr>
        <p:spPr>
          <a:xfrm>
            <a:off x="1921669" y="3820790"/>
            <a:ext cx="1571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22033"/>
                </a:solidFill>
                <a:highlight>
                  <a:srgbClr val="122033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</a:t>
            </a:r>
            <a:endParaRPr lang="en-US" sz="6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1164" y="4063678"/>
            <a:ext cx="2936081" cy="39290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42963" y="4156546"/>
            <a:ext cx="1042988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7B8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</a:t>
            </a:r>
            <a:endParaRPr lang="en-US" sz="500" dirty="0"/>
          </a:p>
        </p:txBody>
      </p:sp>
      <p:sp>
        <p:nvSpPr>
          <p:cNvPr id="28" name="Text 24"/>
          <p:cNvSpPr/>
          <p:nvPr/>
        </p:nvSpPr>
        <p:spPr>
          <a:xfrm>
            <a:off x="842963" y="4249415"/>
            <a:ext cx="104298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算法图</a:t>
            </a:r>
            <a:endParaRPr lang="en-US" sz="6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0244" y="4256559"/>
            <a:ext cx="257175" cy="7144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2171700" y="4235128"/>
            <a:ext cx="42863" cy="42863"/>
          </a:xfrm>
          <a:prstGeom prst="rect">
            <a:avLst/>
          </a:prstGeom>
          <a:ln/>
        </p:spPr>
      </p:sp>
      <p:sp>
        <p:nvSpPr>
          <p:cNvPr id="31" name="Text 26"/>
          <p:cNvSpPr/>
          <p:nvPr/>
        </p:nvSpPr>
        <p:spPr>
          <a:xfrm>
            <a:off x="2269927" y="4156546"/>
            <a:ext cx="1307306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7B8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</a:t>
            </a:r>
            <a:endParaRPr lang="en-US" sz="500" dirty="0"/>
          </a:p>
        </p:txBody>
      </p:sp>
      <p:sp>
        <p:nvSpPr>
          <p:cNvPr id="32" name="Text 27"/>
          <p:cNvSpPr/>
          <p:nvPr/>
        </p:nvSpPr>
        <p:spPr>
          <a:xfrm>
            <a:off x="2269927" y="4249415"/>
            <a:ext cx="1307306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RK3588 实时管线</a:t>
            </a:r>
            <a:endParaRPr lang="en-US" sz="600" dirty="0"/>
          </a:p>
        </p:txBody>
      </p:sp>
      <p:sp>
        <p:nvSpPr>
          <p:cNvPr id="33" name="Text 28"/>
          <p:cNvSpPr/>
          <p:nvPr/>
        </p:nvSpPr>
        <p:spPr>
          <a:xfrm>
            <a:off x="741164" y="4542309"/>
            <a:ext cx="2936081" cy="2000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汇报团队：算法攻坚组</a:t>
            </a:r>
            <a:pPr algn="l" indent="0" marL="0">
              <a:spcBef>
                <a:spcPts val="675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PHASE</a:t>
            </a:r>
            <a:endParaRPr lang="en-US" sz="500" dirty="0"/>
          </a:p>
        </p:txBody>
      </p:sp>
      <p:sp>
        <p:nvSpPr>
          <p:cNvPr id="34" name="Shape 29"/>
          <p:cNvSpPr/>
          <p:nvPr/>
        </p:nvSpPr>
        <p:spPr>
          <a:xfrm>
            <a:off x="3966567" y="1478756"/>
            <a:ext cx="4600575" cy="2471738"/>
          </a:xfrm>
          <a:prstGeom prst="roundRect">
            <a:avLst>
              <a:gd name="adj" fmla="val 2566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4132659" y="1657350"/>
            <a:ext cx="57150" cy="57150"/>
          </a:xfrm>
          <a:prstGeom prst="ellipse">
            <a:avLst/>
          </a:prstGeom>
          <a:solidFill>
            <a:srgbClr val="B89348"/>
          </a:solidFill>
          <a:ln/>
          <a:effectLst>
            <a:outerShdw sx="100000" sy="100000" kx="0" ky="0" algn="bl" rotWithShape="0" blurRad="101600" dist="50800" dir="16200000">
              <a:srgbClr val="B89348">
                <a:alpha val="11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4254271" y="1643062"/>
            <a:ext cx="1300163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INFRARED DETECTION FIELD</a:t>
            </a:r>
            <a:endParaRPr lang="en-US" sz="600" dirty="0"/>
          </a:p>
        </p:txBody>
      </p:sp>
      <p:sp>
        <p:nvSpPr>
          <p:cNvPr id="37" name="Shape 32"/>
          <p:cNvSpPr/>
          <p:nvPr/>
        </p:nvSpPr>
        <p:spPr>
          <a:xfrm>
            <a:off x="7555297" y="1668066"/>
            <a:ext cx="35719" cy="35719"/>
          </a:xfrm>
          <a:prstGeom prst="ellipse">
            <a:avLst/>
          </a:prstGeom>
          <a:solidFill>
            <a:srgbClr val="B89348"/>
          </a:solidFill>
          <a:ln/>
        </p:spPr>
      </p:sp>
      <p:sp>
        <p:nvSpPr>
          <p:cNvPr id="38" name="Text 33"/>
          <p:cNvSpPr/>
          <p:nvPr/>
        </p:nvSpPr>
        <p:spPr>
          <a:xfrm>
            <a:off x="7648166" y="1650206"/>
            <a:ext cx="752884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B8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RK3588 · LIVE PIPELINE</a:t>
            </a:r>
            <a:endParaRPr lang="en-US" sz="500" dirty="0"/>
          </a:p>
        </p:txBody>
      </p:sp>
      <p:sp>
        <p:nvSpPr>
          <p:cNvPr id="39" name="Shape 34"/>
          <p:cNvSpPr/>
          <p:nvPr/>
        </p:nvSpPr>
        <p:spPr>
          <a:xfrm>
            <a:off x="4130873" y="1821656"/>
            <a:ext cx="4271963" cy="1507331"/>
          </a:xfrm>
          <a:prstGeom prst="roundRect">
            <a:avLst>
              <a:gd name="adj" fmla="val 5463"/>
            </a:avLst>
          </a:prstGeom>
          <a:solidFill>
            <a:srgbClr val="101C2B"/>
          </a:solidFill>
          <a:ln w="7144">
            <a:solidFill>
              <a:srgbClr val="122033">
                <a:alpha val="16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3500"/>
              </a:srgbClr>
            </a:outerShdw>
          </a:effectLst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9803" y="1828800"/>
            <a:ext cx="4254103" cy="1493044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4231053" y="3050381"/>
            <a:ext cx="2057400" cy="185738"/>
          </a:xfrm>
          <a:prstGeom prst="roundRect">
            <a:avLst>
              <a:gd name="adj" fmla="val 61538"/>
            </a:avLst>
          </a:prstGeom>
          <a:solidFill>
            <a:srgbClr val="101C2B">
              <a:alpha val="82000"/>
            </a:srgbClr>
          </a:solidFill>
          <a:ln w="7144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4311253" y="3125391"/>
            <a:ext cx="35719" cy="35719"/>
          </a:xfrm>
          <a:prstGeom prst="ellipse">
            <a:avLst/>
          </a:prstGeom>
          <a:solidFill>
            <a:srgbClr val="EF8A4F"/>
          </a:solidFill>
          <a:ln/>
          <a:effectLst>
            <a:outerShdw sx="100000" sy="100000" kx="0" ky="0" algn="bl" rotWithShape="0" blurRad="101600" dist="50800" dir="16200000">
              <a:srgbClr val="EF8A4F">
                <a:alpha val="12000"/>
              </a:srgbClr>
            </a:outerShdw>
          </a:effectLst>
        </p:spPr>
      </p:sp>
      <p:sp>
        <p:nvSpPr>
          <p:cNvPr id="43" name="Text 37"/>
          <p:cNvSpPr/>
          <p:nvPr/>
        </p:nvSpPr>
        <p:spPr>
          <a:xfrm>
            <a:off x="4404122" y="3107531"/>
            <a:ext cx="1804132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DCE5E8"/>
                </a:solidFill>
                <a:highlight>
                  <a:srgbClr val="101C2B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COMPLEX BACKGROUND / WEAK INFRARED TARGET</a:t>
            </a:r>
            <a:endParaRPr lang="en-US" sz="500" dirty="0"/>
          </a:p>
        </p:txBody>
      </p:sp>
      <p:sp>
        <p:nvSpPr>
          <p:cNvPr id="44" name="Shape 38"/>
          <p:cNvSpPr/>
          <p:nvPr/>
        </p:nvSpPr>
        <p:spPr>
          <a:xfrm>
            <a:off x="4133162" y="3414713"/>
            <a:ext cx="1378744" cy="371475"/>
          </a:xfrm>
          <a:prstGeom prst="roundRect">
            <a:avLst>
              <a:gd name="adj" fmla="val 15385"/>
            </a:avLst>
          </a:prstGeom>
          <a:solidFill>
            <a:srgbClr val="122033">
              <a:alpha val="43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4218887" y="3493294"/>
            <a:ext cx="1207294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dirty="0">
                <a:solidFill>
                  <a:srgbClr val="7B8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</a:t>
            </a:r>
            <a:endParaRPr lang="en-US" sz="400" dirty="0"/>
          </a:p>
        </p:txBody>
      </p:sp>
      <p:sp>
        <p:nvSpPr>
          <p:cNvPr id="46" name="Text 40"/>
          <p:cNvSpPr/>
          <p:nvPr/>
        </p:nvSpPr>
        <p:spPr>
          <a:xfrm>
            <a:off x="4218887" y="3593306"/>
            <a:ext cx="120729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5"/>
              </a:spcBef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RK3588 边缘端</a:t>
            </a:r>
            <a:endParaRPr lang="en-US" sz="600" dirty="0"/>
          </a:p>
        </p:txBody>
      </p:sp>
      <p:sp>
        <p:nvSpPr>
          <p:cNvPr id="47" name="Shape 41"/>
          <p:cNvSpPr/>
          <p:nvPr/>
        </p:nvSpPr>
        <p:spPr>
          <a:xfrm>
            <a:off x="5577315" y="3414713"/>
            <a:ext cx="1378744" cy="371475"/>
          </a:xfrm>
          <a:prstGeom prst="roundRect">
            <a:avLst>
              <a:gd name="adj" fmla="val 15385"/>
            </a:avLst>
          </a:prstGeom>
          <a:solidFill>
            <a:srgbClr val="122033">
              <a:alpha val="43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5663040" y="3493294"/>
            <a:ext cx="1207294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dirty="0">
                <a:solidFill>
                  <a:srgbClr val="7B8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DELIVERY</a:t>
            </a:r>
            <a:endParaRPr lang="en-US" sz="400" dirty="0"/>
          </a:p>
        </p:txBody>
      </p:sp>
      <p:sp>
        <p:nvSpPr>
          <p:cNvPr id="49" name="Text 43"/>
          <p:cNvSpPr/>
          <p:nvPr/>
        </p:nvSpPr>
        <p:spPr>
          <a:xfrm>
            <a:off x="5663040" y="3593306"/>
            <a:ext cx="120729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5"/>
              </a:spcBef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实时处理闭环</a:t>
            </a:r>
            <a:endParaRPr lang="en-US" sz="600" dirty="0"/>
          </a:p>
        </p:txBody>
      </p:sp>
      <p:sp>
        <p:nvSpPr>
          <p:cNvPr id="50" name="Shape 44"/>
          <p:cNvSpPr/>
          <p:nvPr/>
        </p:nvSpPr>
        <p:spPr>
          <a:xfrm>
            <a:off x="7021581" y="3414713"/>
            <a:ext cx="1378744" cy="371475"/>
          </a:xfrm>
          <a:prstGeom prst="roundRect">
            <a:avLst>
              <a:gd name="adj" fmla="val 15385"/>
            </a:avLst>
          </a:prstGeom>
          <a:solidFill>
            <a:srgbClr val="C9974D">
              <a:alpha val="9000"/>
            </a:srgbClr>
          </a:solidFill>
          <a:ln w="7144">
            <a:solidFill>
              <a:srgbClr val="C9974D">
                <a:alpha val="14000"/>
              </a:srgbClr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7107306" y="3493294"/>
            <a:ext cx="1207294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" dirty="0">
                <a:solidFill>
                  <a:srgbClr val="8B74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FOCUS</a:t>
            </a:r>
            <a:endParaRPr lang="en-US" sz="400" dirty="0"/>
          </a:p>
        </p:txBody>
      </p:sp>
      <p:sp>
        <p:nvSpPr>
          <p:cNvPr id="52" name="Text 46"/>
          <p:cNvSpPr/>
          <p:nvPr/>
        </p:nvSpPr>
        <p:spPr>
          <a:xfrm>
            <a:off x="7107306" y="3593306"/>
            <a:ext cx="120729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5"/>
              </a:spcBef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弱小目标检测</a:t>
            </a:r>
            <a:endParaRPr lang="en-US" sz="600" dirty="0"/>
          </a:p>
        </p:txBody>
      </p:sp>
      <p:sp>
        <p:nvSpPr>
          <p:cNvPr id="53" name="Text 47"/>
          <p:cNvSpPr/>
          <p:nvPr/>
        </p:nvSpPr>
        <p:spPr>
          <a:xfrm>
            <a:off x="578644" y="4079081"/>
            <a:ext cx="798671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00" dirty="0"/>
          </a:p>
        </p:txBody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8644" y="564356"/>
            <a:ext cx="7986713" cy="785813"/>
          </a:xfrm>
          <a:prstGeom prst="rect">
            <a:avLst/>
          </a:prstGeom>
        </p:spPr>
      </p:pic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1164" y="3312802"/>
            <a:ext cx="2936081" cy="300038"/>
          </a:xfrm>
          <a:prstGeom prst="rect">
            <a:avLst/>
          </a:prstGeom>
        </p:spPr>
      </p:pic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71700" y="4235128"/>
            <a:ext cx="42863" cy="42863"/>
          </a:xfrm>
          <a:prstGeom prst="rect">
            <a:avLst/>
          </a:prstGeom>
        </p:spPr>
      </p:pic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1164" y="4542309"/>
            <a:ext cx="2936081" cy="200025"/>
          </a:xfrm>
          <a:prstGeom prst="rect">
            <a:avLst/>
          </a:prstGeom>
        </p:spPr>
      </p:pic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8644" y="4079081"/>
            <a:ext cx="798671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9" name="Picture 98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7188" y="357188"/>
            <a:ext cx="8429625" cy="4429125"/>
          </a:xfrm>
          <a:prstGeom prst="roundRect">
            <a:avLst>
              <a:gd name="adj" fmla="val 932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78644" y="564356"/>
            <a:ext cx="7986713" cy="785813"/>
          </a:xfrm>
          <a:prstGeom prst="rect">
            <a:avLst/>
          </a:prstGeom>
          <a:ln/>
        </p:spPr>
      </p:sp>
      <p:sp>
        <p:nvSpPr>
          <p:cNvPr id="6" name="Text 3"/>
          <p:cNvSpPr/>
          <p:nvPr/>
        </p:nvSpPr>
        <p:spPr>
          <a:xfrm>
            <a:off x="578421" y="422932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78644" y="736532"/>
            <a:ext cx="720090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8644" y="1092994"/>
            <a:ext cx="72009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两大核心难题 → GMC / NPU 双线攻关 → 公共底座支撑 → 遗留问题收口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122444" y="564356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02/18</a:t>
            </a:r>
            <a:endParaRPr lang="en-US" sz="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644" y="1477919"/>
            <a:ext cx="1214438" cy="59293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1571625"/>
            <a:ext cx="1000125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1"/>
              </a:spcAft>
              <a:buNone/>
            </a:pPr>
            <a:r>
              <a:rPr lang="en-US" sz="500" b="1" dirty="0">
                <a:solidFill>
                  <a:srgbClr val="F8FAFC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 / OPENING</a:t>
            </a:r>
            <a:endParaRPr lang="en-US" sz="500" dirty="0"/>
          </a:p>
        </p:txBody>
      </p:sp>
      <p:sp>
        <p:nvSpPr>
          <p:cNvPr id="12" name="Text 8"/>
          <p:cNvSpPr/>
          <p:nvPr/>
        </p:nvSpPr>
        <p:spPr>
          <a:xfrm>
            <a:off x="685800" y="1687264"/>
            <a:ext cx="10001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两大核心难题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85800" y="1868537"/>
            <a:ext cx="1000125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Bef>
                <a:spcPts val="281"/>
              </a:spcBef>
              <a:buNone/>
            </a:pPr>
            <a:r>
              <a:rPr lang="en-US" sz="600" dirty="0">
                <a:solidFill>
                  <a:srgbClr val="F8FAFC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问题定义与攻关入口</a:t>
            </a:r>
            <a:endParaRPr lang="en-US" sz="600" dirty="0"/>
          </a:p>
        </p:txBody>
      </p:sp>
      <p:sp>
        <p:nvSpPr>
          <p:cNvPr id="14" name="Shape 10"/>
          <p:cNvSpPr/>
          <p:nvPr/>
        </p:nvSpPr>
        <p:spPr>
          <a:xfrm>
            <a:off x="1878806" y="1477919"/>
            <a:ext cx="3300413" cy="592931"/>
          </a:xfrm>
          <a:prstGeom prst="roundRect">
            <a:avLst>
              <a:gd name="adj" fmla="val 8361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885950" y="1485063"/>
            <a:ext cx="28575" cy="578644"/>
          </a:xfrm>
          <a:prstGeom prst="rect">
            <a:avLst/>
          </a:prstGeom>
          <a:solidFill>
            <a:srgbClr val="BC9348"/>
          </a:solidFill>
          <a:ln/>
        </p:spPr>
      </p:sp>
      <p:sp>
        <p:nvSpPr>
          <p:cNvPr id="16" name="Text 12"/>
          <p:cNvSpPr/>
          <p:nvPr/>
        </p:nvSpPr>
        <p:spPr>
          <a:xfrm>
            <a:off x="1987358" y="1571625"/>
            <a:ext cx="22860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难题一</a:t>
            </a:r>
            <a:endParaRPr lang="en-US" sz="500" dirty="0"/>
          </a:p>
        </p:txBody>
      </p:sp>
      <p:sp>
        <p:nvSpPr>
          <p:cNvPr id="17" name="Text 13"/>
          <p:cNvSpPr/>
          <p:nvPr/>
        </p:nvSpPr>
        <p:spPr>
          <a:xfrm>
            <a:off x="2275731" y="1564481"/>
            <a:ext cx="264319" cy="121444"/>
          </a:xfrm>
          <a:prstGeom prst="roundRect">
            <a:avLst>
              <a:gd name="adj" fmla="val 94117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</a:t>
            </a:r>
            <a:endParaRPr lang="en-US" sz="500" dirty="0"/>
          </a:p>
        </p:txBody>
      </p:sp>
      <p:sp>
        <p:nvSpPr>
          <p:cNvPr id="18" name="Text 14"/>
          <p:cNvSpPr/>
          <p:nvPr/>
        </p:nvSpPr>
        <p:spPr>
          <a:xfrm>
            <a:off x="4706336" y="1571625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A96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 × 时延</a:t>
            </a:r>
            <a:endParaRPr lang="en-US" sz="500" dirty="0"/>
          </a:p>
        </p:txBody>
      </p:sp>
      <p:sp>
        <p:nvSpPr>
          <p:cNvPr id="19" name="Text 15"/>
          <p:cNvSpPr/>
          <p:nvPr/>
        </p:nvSpPr>
        <p:spPr>
          <a:xfrm>
            <a:off x="1985963" y="1735931"/>
            <a:ext cx="30861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94"/>
              </a:spcBef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算力开销大、时延高，稳定性有前提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5264944" y="1477919"/>
            <a:ext cx="3300413" cy="592931"/>
          </a:xfrm>
          <a:prstGeom prst="roundRect">
            <a:avLst>
              <a:gd name="adj" fmla="val 8361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272088" y="1485063"/>
            <a:ext cx="28575" cy="578644"/>
          </a:xfrm>
          <a:prstGeom prst="rect">
            <a:avLst/>
          </a:prstGeom>
          <a:solidFill>
            <a:srgbClr val="72869A"/>
          </a:solidFill>
          <a:ln/>
        </p:spPr>
      </p:sp>
      <p:sp>
        <p:nvSpPr>
          <p:cNvPr id="22" name="Text 18"/>
          <p:cNvSpPr/>
          <p:nvPr/>
        </p:nvSpPr>
        <p:spPr>
          <a:xfrm>
            <a:off x="5373495" y="1571625"/>
            <a:ext cx="22860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26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难题二</a:t>
            </a:r>
            <a:endParaRPr lang="en-US" sz="500" dirty="0"/>
          </a:p>
        </p:txBody>
      </p:sp>
      <p:sp>
        <p:nvSpPr>
          <p:cNvPr id="23" name="Text 19"/>
          <p:cNvSpPr/>
          <p:nvPr/>
        </p:nvSpPr>
        <p:spPr>
          <a:xfrm>
            <a:off x="5661087" y="1564481"/>
            <a:ext cx="250031" cy="121444"/>
          </a:xfrm>
          <a:prstGeom prst="roundRect">
            <a:avLst>
              <a:gd name="adj" fmla="val 94117"/>
            </a:avLst>
          </a:prstGeom>
          <a:solidFill>
            <a:srgbClr val="72869A">
              <a:alpha val="14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26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</a:t>
            </a:r>
            <a:endParaRPr lang="en-US" sz="500" dirty="0"/>
          </a:p>
        </p:txBody>
      </p:sp>
      <p:sp>
        <p:nvSpPr>
          <p:cNvPr id="24" name="Text 20"/>
          <p:cNvSpPr/>
          <p:nvPr/>
        </p:nvSpPr>
        <p:spPr>
          <a:xfrm>
            <a:off x="8092473" y="1571625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A96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 × 硬件</a:t>
            </a:r>
            <a:endParaRPr lang="en-US" sz="500" dirty="0"/>
          </a:p>
        </p:txBody>
      </p:sp>
      <p:sp>
        <p:nvSpPr>
          <p:cNvPr id="25" name="Text 21"/>
          <p:cNvSpPr/>
          <p:nvPr/>
        </p:nvSpPr>
        <p:spPr>
          <a:xfrm>
            <a:off x="5372100" y="1735931"/>
            <a:ext cx="30861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94"/>
              </a:spcBef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算子匹配不完美，推理效率与直觉背离</a:t>
            </a:r>
            <a:endParaRPr lang="en-US" sz="700" dirty="0"/>
          </a:p>
        </p:txBody>
      </p:sp>
      <p:sp>
        <p:nvSpPr>
          <p:cNvPr id="26" name="Shape 22"/>
          <p:cNvSpPr/>
          <p:nvPr/>
        </p:nvSpPr>
        <p:spPr>
          <a:xfrm>
            <a:off x="578421" y="2057400"/>
            <a:ext cx="4543425" cy="1414463"/>
          </a:xfrm>
          <a:prstGeom prst="roundRect">
            <a:avLst>
              <a:gd name="adj" fmla="val 6530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92721" y="2157413"/>
            <a:ext cx="4314825" cy="221456"/>
          </a:xfrm>
          <a:prstGeom prst="rect">
            <a:avLst/>
          </a:prstGeom>
          <a:ln/>
        </p:spPr>
      </p:sp>
      <p:sp>
        <p:nvSpPr>
          <p:cNvPr id="28" name="Text 24"/>
          <p:cNvSpPr/>
          <p:nvPr/>
        </p:nvSpPr>
        <p:spPr>
          <a:xfrm>
            <a:off x="692944" y="2160984"/>
            <a:ext cx="207169" cy="207169"/>
          </a:xfrm>
          <a:prstGeom prst="roundRect">
            <a:avLst>
              <a:gd name="adj" fmla="val 38050"/>
            </a:avLst>
          </a:prstGeom>
          <a:solidFill>
            <a:srgbClr val="C9974D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964183" y="2143125"/>
            <a:ext cx="907256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战线 A · GMC 之战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964183" y="2277963"/>
            <a:ext cx="90725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500" dirty="0">
                <a:solidFill>
                  <a:srgbClr val="7A87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计算量 · 时延 · 位精确</a:t>
            </a:r>
            <a:endParaRPr lang="en-US" sz="5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147" y="2200275"/>
            <a:ext cx="257175" cy="128588"/>
          </a:xfrm>
          <a:prstGeom prst="rect">
            <a:avLst/>
          </a:prstGeom>
        </p:spPr>
      </p:pic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2721" y="2434233"/>
            <a:ext cx="4314825" cy="44291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86929" y="2507456"/>
            <a:ext cx="3371850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</a:t>
            </a:r>
            <a:endParaRPr lang="en-US" sz="500" dirty="0"/>
          </a:p>
        </p:txBody>
      </p:sp>
      <p:sp>
        <p:nvSpPr>
          <p:cNvPr id="34" name="Text 28"/>
          <p:cNvSpPr/>
          <p:nvPr/>
        </p:nvSpPr>
        <p:spPr>
          <a:xfrm>
            <a:off x="786929" y="2600325"/>
            <a:ext cx="3371850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3"/>
              </a:spcBef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Tree 锚点级联</a:t>
            </a:r>
            <a:endParaRPr lang="en-US" sz="700" dirty="0"/>
          </a:p>
        </p:txBody>
      </p:sp>
      <p:sp>
        <p:nvSpPr>
          <p:cNvPr id="35" name="Text 29"/>
          <p:cNvSpPr/>
          <p:nvPr/>
        </p:nvSpPr>
        <p:spPr>
          <a:xfrm>
            <a:off x="786929" y="2757488"/>
            <a:ext cx="337185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5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拟合调用次数显著下降</a:t>
            </a:r>
            <a:endParaRPr lang="en-US" sz="500" dirty="0"/>
          </a:p>
        </p:txBody>
      </p:sp>
      <p:sp>
        <p:nvSpPr>
          <p:cNvPr id="36" name="Text 30"/>
          <p:cNvSpPr/>
          <p:nvPr/>
        </p:nvSpPr>
        <p:spPr>
          <a:xfrm>
            <a:off x="4244225" y="2539603"/>
            <a:ext cx="67151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1200" b="1" dirty="0">
                <a:solidFill>
                  <a:srgbClr val="8A61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→ 6.19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4244225" y="2725341"/>
            <a:ext cx="671513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225"/>
              </a:spcBef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 / 帧</a:t>
            </a:r>
            <a:endParaRPr lang="en-US" sz="5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2721" y="2930723"/>
            <a:ext cx="4314825" cy="44291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87208" y="3003947"/>
            <a:ext cx="3171825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</a:t>
            </a:r>
            <a:endParaRPr lang="en-US" sz="500" dirty="0"/>
          </a:p>
        </p:txBody>
      </p:sp>
      <p:sp>
        <p:nvSpPr>
          <p:cNvPr id="40" name="Text 33"/>
          <p:cNvSpPr/>
          <p:nvPr/>
        </p:nvSpPr>
        <p:spPr>
          <a:xfrm>
            <a:off x="787208" y="3096816"/>
            <a:ext cx="3171825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3"/>
              </a:spcBef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纯函数缓存</a:t>
            </a:r>
            <a:endParaRPr lang="en-US" sz="700" dirty="0"/>
          </a:p>
        </p:txBody>
      </p:sp>
      <p:sp>
        <p:nvSpPr>
          <p:cNvPr id="41" name="Text 34"/>
          <p:cNvSpPr/>
          <p:nvPr/>
        </p:nvSpPr>
        <p:spPr>
          <a:xfrm>
            <a:off x="785813" y="3261122"/>
            <a:ext cx="278606" cy="121444"/>
          </a:xfrm>
          <a:prstGeom prst="roundRect">
            <a:avLst>
              <a:gd name="adj" fmla="val 94117"/>
            </a:avLst>
          </a:prstGeom>
          <a:solidFill>
            <a:srgbClr val="C9974D">
              <a:alpha val="13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位精确</a:t>
            </a:r>
            <a:endParaRPr lang="en-US" sz="500" dirty="0"/>
          </a:p>
        </p:txBody>
      </p:sp>
      <p:sp>
        <p:nvSpPr>
          <p:cNvPr id="42" name="Text 35"/>
          <p:cNvSpPr/>
          <p:nvPr/>
        </p:nvSpPr>
        <p:spPr>
          <a:xfrm>
            <a:off x="1098575" y="3268266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 时延下降</a:t>
            </a:r>
            <a:endParaRPr lang="en-US" sz="500" dirty="0"/>
          </a:p>
        </p:txBody>
      </p:sp>
      <p:sp>
        <p:nvSpPr>
          <p:cNvPr id="43" name="Text 36"/>
          <p:cNvSpPr/>
          <p:nvPr/>
        </p:nvSpPr>
        <p:spPr>
          <a:xfrm>
            <a:off x="4044535" y="3061097"/>
            <a:ext cx="871538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1200" b="1" dirty="0">
                <a:solidFill>
                  <a:srgbClr val="8A61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18.46 → 3.94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4044535" y="3246834"/>
            <a:ext cx="871538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225"/>
              </a:spcBef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</a:t>
            </a:r>
            <a:endParaRPr lang="en-US" sz="500" dirty="0"/>
          </a:p>
        </p:txBody>
      </p:sp>
      <p:sp>
        <p:nvSpPr>
          <p:cNvPr id="45" name="Shape 38"/>
          <p:cNvSpPr/>
          <p:nvPr/>
        </p:nvSpPr>
        <p:spPr>
          <a:xfrm>
            <a:off x="5207515" y="2057400"/>
            <a:ext cx="3357563" cy="1414463"/>
          </a:xfrm>
          <a:prstGeom prst="roundRect">
            <a:avLst>
              <a:gd name="adj" fmla="val 6530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5321815" y="2157413"/>
            <a:ext cx="3128963" cy="221456"/>
          </a:xfrm>
          <a:prstGeom prst="rect">
            <a:avLst/>
          </a:prstGeom>
          <a:ln/>
        </p:spPr>
      </p:sp>
      <p:sp>
        <p:nvSpPr>
          <p:cNvPr id="47" name="Text 40"/>
          <p:cNvSpPr/>
          <p:nvPr/>
        </p:nvSpPr>
        <p:spPr>
          <a:xfrm>
            <a:off x="5321647" y="2160984"/>
            <a:ext cx="207169" cy="207169"/>
          </a:xfrm>
          <a:prstGeom prst="roundRect">
            <a:avLst>
              <a:gd name="adj" fmla="val 38050"/>
            </a:avLst>
          </a:prstGeom>
          <a:solidFill>
            <a:srgbClr val="72869A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26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600" dirty="0"/>
          </a:p>
        </p:txBody>
      </p:sp>
      <p:sp>
        <p:nvSpPr>
          <p:cNvPr id="48" name="Text 41"/>
          <p:cNvSpPr/>
          <p:nvPr/>
        </p:nvSpPr>
        <p:spPr>
          <a:xfrm>
            <a:off x="5591938" y="2143125"/>
            <a:ext cx="907256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战线 B · NPU 之战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5591938" y="2277963"/>
            <a:ext cx="90725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500" dirty="0">
                <a:solidFill>
                  <a:srgbClr val="7A87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 · 时延 · 硬件协同 · 精度</a:t>
            </a:r>
            <a:endParaRPr lang="en-US" sz="500" dirty="0"/>
          </a:p>
        </p:txBody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3770" y="2200275"/>
            <a:ext cx="257175" cy="128588"/>
          </a:xfrm>
          <a:prstGeom prst="rect">
            <a:avLst/>
          </a:prstGeom>
        </p:spPr>
      </p:pic>
      <p:sp>
        <p:nvSpPr>
          <p:cNvPr id="51" name="Shape 43"/>
          <p:cNvSpPr/>
          <p:nvPr/>
        </p:nvSpPr>
        <p:spPr>
          <a:xfrm>
            <a:off x="5321815" y="2428875"/>
            <a:ext cx="3128963" cy="235744"/>
          </a:xfrm>
          <a:prstGeom prst="rect">
            <a:avLst/>
          </a:prstGeom>
          <a:ln/>
        </p:spPr>
      </p:sp>
      <p:sp>
        <p:nvSpPr>
          <p:cNvPr id="52" name="Text 44"/>
          <p:cNvSpPr/>
          <p:nvPr/>
        </p:nvSpPr>
        <p:spPr>
          <a:xfrm>
            <a:off x="5321647" y="2503884"/>
            <a:ext cx="178594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26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</a:t>
            </a:r>
            <a:endParaRPr lang="en-US" sz="500" dirty="0"/>
          </a:p>
        </p:txBody>
      </p:sp>
      <p:sp>
        <p:nvSpPr>
          <p:cNvPr id="53" name="Text 45"/>
          <p:cNvSpPr/>
          <p:nvPr/>
        </p:nvSpPr>
        <p:spPr>
          <a:xfrm>
            <a:off x="5550415" y="2436019"/>
            <a:ext cx="2557463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算子回退清零</a:t>
            </a:r>
            <a:endParaRPr lang="en-US" sz="600" dirty="0"/>
          </a:p>
        </p:txBody>
      </p:sp>
      <p:sp>
        <p:nvSpPr>
          <p:cNvPr id="54" name="Text 46"/>
          <p:cNvSpPr/>
          <p:nvPr/>
        </p:nvSpPr>
        <p:spPr>
          <a:xfrm>
            <a:off x="5550415" y="2551658"/>
            <a:ext cx="2557463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静默失效的交付硬闸门</a:t>
            </a:r>
            <a:endParaRPr lang="en-US" sz="500" dirty="0"/>
          </a:p>
        </p:txBody>
      </p:sp>
      <p:sp>
        <p:nvSpPr>
          <p:cNvPr id="55" name="Text 47"/>
          <p:cNvSpPr/>
          <p:nvPr/>
        </p:nvSpPr>
        <p:spPr>
          <a:xfrm>
            <a:off x="8158051" y="2475309"/>
            <a:ext cx="292894" cy="135731"/>
          </a:xfrm>
          <a:prstGeom prst="roundRect">
            <a:avLst>
              <a:gd name="adj" fmla="val 84211"/>
            </a:avLst>
          </a:prstGeom>
          <a:solidFill>
            <a:srgbClr val="72869A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26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硬闸门</a:t>
            </a:r>
            <a:endParaRPr lang="en-US" sz="500" dirty="0"/>
          </a:p>
        </p:txBody>
      </p:sp>
      <p:sp>
        <p:nvSpPr>
          <p:cNvPr id="56" name="Shape 48"/>
          <p:cNvSpPr/>
          <p:nvPr/>
        </p:nvSpPr>
        <p:spPr>
          <a:xfrm>
            <a:off x="5321815" y="2664619"/>
            <a:ext cx="3128963" cy="235744"/>
          </a:xfrm>
          <a:prstGeom prst="rect">
            <a:avLst/>
          </a:prstGeom>
          <a:ln/>
        </p:spPr>
      </p:sp>
      <p:sp>
        <p:nvSpPr>
          <p:cNvPr id="57" name="Text 49"/>
          <p:cNvSpPr/>
          <p:nvPr/>
        </p:nvSpPr>
        <p:spPr>
          <a:xfrm>
            <a:off x="5321647" y="2739628"/>
            <a:ext cx="178594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26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</a:t>
            </a:r>
            <a:endParaRPr lang="en-US" sz="500" dirty="0"/>
          </a:p>
        </p:txBody>
      </p:sp>
      <p:sp>
        <p:nvSpPr>
          <p:cNvPr id="58" name="Text 50"/>
          <p:cNvSpPr/>
          <p:nvPr/>
        </p:nvSpPr>
        <p:spPr>
          <a:xfrm>
            <a:off x="5550415" y="2671763"/>
            <a:ext cx="2807494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时延不能靠 FLOPs 外推</a:t>
            </a:r>
            <a:endParaRPr lang="en-US" sz="600" dirty="0"/>
          </a:p>
        </p:txBody>
      </p:sp>
      <p:sp>
        <p:nvSpPr>
          <p:cNvPr id="59" name="Text 51"/>
          <p:cNvSpPr/>
          <p:nvPr/>
        </p:nvSpPr>
        <p:spPr>
          <a:xfrm>
            <a:off x="5550415" y="2787402"/>
            <a:ext cx="2807494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以真实时延作为优化依据</a:t>
            </a:r>
            <a:endParaRPr lang="en-US" sz="500" dirty="0"/>
          </a:p>
        </p:txBody>
      </p:sp>
      <p:sp>
        <p:nvSpPr>
          <p:cNvPr id="60" name="Shape 52"/>
          <p:cNvSpPr/>
          <p:nvPr/>
        </p:nvSpPr>
        <p:spPr>
          <a:xfrm>
            <a:off x="8408082" y="2757488"/>
            <a:ext cx="42863" cy="42863"/>
          </a:xfrm>
          <a:prstGeom prst="ellipse">
            <a:avLst/>
          </a:prstGeom>
          <a:solidFill>
            <a:srgbClr val="72869A"/>
          </a:solidFill>
          <a:ln/>
        </p:spPr>
      </p:sp>
      <p:sp>
        <p:nvSpPr>
          <p:cNvPr id="61" name="Shape 53"/>
          <p:cNvSpPr/>
          <p:nvPr/>
        </p:nvSpPr>
        <p:spPr>
          <a:xfrm>
            <a:off x="5321815" y="2900362"/>
            <a:ext cx="3128963" cy="235744"/>
          </a:xfrm>
          <a:prstGeom prst="rect">
            <a:avLst/>
          </a:prstGeom>
          <a:ln/>
        </p:spPr>
      </p:sp>
      <p:sp>
        <p:nvSpPr>
          <p:cNvPr id="62" name="Text 54"/>
          <p:cNvSpPr/>
          <p:nvPr/>
        </p:nvSpPr>
        <p:spPr>
          <a:xfrm>
            <a:off x="5321647" y="2975372"/>
            <a:ext cx="178594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26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</a:t>
            </a:r>
            <a:endParaRPr lang="en-US" sz="500" dirty="0"/>
          </a:p>
        </p:txBody>
      </p:sp>
      <p:sp>
        <p:nvSpPr>
          <p:cNvPr id="63" name="Text 55"/>
          <p:cNvSpPr/>
          <p:nvPr/>
        </p:nvSpPr>
        <p:spPr>
          <a:xfrm>
            <a:off x="5548629" y="2907506"/>
            <a:ext cx="2500313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640×640 拼图 × RGA 硬件画布</a:t>
            </a:r>
            <a:endParaRPr lang="en-US" sz="600" dirty="0"/>
          </a:p>
        </p:txBody>
      </p:sp>
      <p:sp>
        <p:nvSpPr>
          <p:cNvPr id="64" name="Text 56"/>
          <p:cNvSpPr/>
          <p:nvPr/>
        </p:nvSpPr>
        <p:spPr>
          <a:xfrm>
            <a:off x="5548629" y="3023146"/>
            <a:ext cx="2500313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减少重复前向</a:t>
            </a:r>
            <a:endParaRPr lang="en-US" sz="500" dirty="0"/>
          </a:p>
        </p:txBody>
      </p:sp>
      <p:sp>
        <p:nvSpPr>
          <p:cNvPr id="65" name="Text 57"/>
          <p:cNvSpPr/>
          <p:nvPr/>
        </p:nvSpPr>
        <p:spPr>
          <a:xfrm>
            <a:off x="8095543" y="2939653"/>
            <a:ext cx="357187" cy="150019"/>
          </a:xfrm>
          <a:prstGeom prst="roundRect">
            <a:avLst>
              <a:gd name="adj" fmla="val 76190"/>
            </a:avLst>
          </a:prstGeom>
          <a:solidFill>
            <a:srgbClr val="72869A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26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→ 1 次</a:t>
            </a:r>
            <a:endParaRPr lang="en-US" sz="500" dirty="0"/>
          </a:p>
        </p:txBody>
      </p:sp>
      <p:sp>
        <p:nvSpPr>
          <p:cNvPr id="66" name="Text 58"/>
          <p:cNvSpPr/>
          <p:nvPr/>
        </p:nvSpPr>
        <p:spPr>
          <a:xfrm>
            <a:off x="5321647" y="3214687"/>
            <a:ext cx="178594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26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B4</a:t>
            </a:r>
            <a:endParaRPr lang="en-US" sz="500" dirty="0"/>
          </a:p>
        </p:txBody>
      </p:sp>
      <p:sp>
        <p:nvSpPr>
          <p:cNvPr id="67" name="Text 59"/>
          <p:cNvSpPr/>
          <p:nvPr/>
        </p:nvSpPr>
        <p:spPr>
          <a:xfrm>
            <a:off x="5550415" y="3146822"/>
            <a:ext cx="2493169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精度账</a:t>
            </a:r>
            <a:endParaRPr lang="en-US" sz="600" dirty="0"/>
          </a:p>
        </p:txBody>
      </p:sp>
      <p:sp>
        <p:nvSpPr>
          <p:cNvPr id="68" name="Text 60"/>
          <p:cNvSpPr/>
          <p:nvPr/>
        </p:nvSpPr>
        <p:spPr>
          <a:xfrm>
            <a:off x="5550415" y="3262461"/>
            <a:ext cx="2493169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f16 代价 ≈ 0，打包成本单独算</a:t>
            </a:r>
            <a:endParaRPr lang="en-US" sz="500" dirty="0"/>
          </a:p>
        </p:txBody>
      </p:sp>
      <p:sp>
        <p:nvSpPr>
          <p:cNvPr id="69" name="Text 61"/>
          <p:cNvSpPr/>
          <p:nvPr/>
        </p:nvSpPr>
        <p:spPr>
          <a:xfrm>
            <a:off x="8093757" y="3186112"/>
            <a:ext cx="357187" cy="135731"/>
          </a:xfrm>
          <a:prstGeom prst="roundRect">
            <a:avLst>
              <a:gd name="adj" fmla="val 84211"/>
            </a:avLst>
          </a:prstGeom>
          <a:solidFill>
            <a:srgbClr val="72869A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26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单独核算</a:t>
            </a:r>
            <a:endParaRPr lang="en-US" sz="500" dirty="0"/>
          </a:p>
        </p:txBody>
      </p:sp>
      <p:sp>
        <p:nvSpPr>
          <p:cNvPr id="70" name="Shape 62"/>
          <p:cNvSpPr/>
          <p:nvPr/>
        </p:nvSpPr>
        <p:spPr>
          <a:xfrm>
            <a:off x="578644" y="3550444"/>
            <a:ext cx="6236494" cy="471488"/>
          </a:xfrm>
          <a:prstGeom prst="roundRect">
            <a:avLst>
              <a:gd name="adj" fmla="val 13223"/>
            </a:avLst>
          </a:prstGeom>
          <a:solidFill>
            <a:srgbClr val="E1E7ED">
              <a:alpha val="70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71450" dist="71438" dir="5400000">
              <a:srgbClr val="0F172A">
                <a:alpha val="5000"/>
              </a:srgbClr>
            </a:outerShdw>
          </a:effectLst>
        </p:spPr>
      </p:sp>
      <p:sp>
        <p:nvSpPr>
          <p:cNvPr id="71" name="Text 63"/>
          <p:cNvSpPr/>
          <p:nvPr/>
        </p:nvSpPr>
        <p:spPr>
          <a:xfrm>
            <a:off x="671513" y="3671888"/>
            <a:ext cx="685800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26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BASE</a:t>
            </a:r>
            <a:endParaRPr lang="en-US" sz="500" dirty="0"/>
          </a:p>
        </p:txBody>
      </p:sp>
      <p:sp>
        <p:nvSpPr>
          <p:cNvPr id="72" name="Text 64"/>
          <p:cNvSpPr/>
          <p:nvPr/>
        </p:nvSpPr>
        <p:spPr>
          <a:xfrm>
            <a:off x="671513" y="3764756"/>
            <a:ext cx="685800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3"/>
              </a:spcBef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公共底座</a:t>
            </a:r>
            <a:endParaRPr lang="en-US" sz="700" dirty="0"/>
          </a:p>
        </p:txBody>
      </p:sp>
      <p:sp>
        <p:nvSpPr>
          <p:cNvPr id="73" name="Shape 65"/>
          <p:cNvSpPr/>
          <p:nvPr/>
        </p:nvSpPr>
        <p:spPr>
          <a:xfrm>
            <a:off x="1428304" y="3661172"/>
            <a:ext cx="1635919" cy="250031"/>
          </a:xfrm>
          <a:prstGeom prst="rect">
            <a:avLst/>
          </a:prstGeom>
          <a:ln/>
        </p:spPr>
      </p:sp>
      <p:sp>
        <p:nvSpPr>
          <p:cNvPr id="74" name="Text 66"/>
          <p:cNvSpPr/>
          <p:nvPr/>
        </p:nvSpPr>
        <p:spPr>
          <a:xfrm>
            <a:off x="1514029" y="3661172"/>
            <a:ext cx="15501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三级流水线</a:t>
            </a:r>
            <a:endParaRPr lang="en-US" sz="500" dirty="0"/>
          </a:p>
        </p:txBody>
      </p:sp>
      <p:sp>
        <p:nvSpPr>
          <p:cNvPr id="75" name="Text 67"/>
          <p:cNvSpPr/>
          <p:nvPr/>
        </p:nvSpPr>
        <p:spPr>
          <a:xfrm>
            <a:off x="1514029" y="3782616"/>
            <a:ext cx="1550194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3"/>
              </a:spcBef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5.74 → 14.07 </a:t>
            </a:r>
            <a:pPr algn="l" indent="0" marL="0">
              <a:buNone/>
            </a:pPr>
            <a:r>
              <a:rPr lang="en-US" sz="500" b="1" dirty="0">
                <a:solidFill>
                  <a:srgbClr val="526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</a:t>
            </a:r>
            <a:endParaRPr lang="en-US" sz="900" dirty="0"/>
          </a:p>
        </p:txBody>
      </p:sp>
      <p:sp>
        <p:nvSpPr>
          <p:cNvPr id="76" name="Shape 68"/>
          <p:cNvSpPr/>
          <p:nvPr/>
        </p:nvSpPr>
        <p:spPr>
          <a:xfrm>
            <a:off x="3135995" y="3671888"/>
            <a:ext cx="1878806" cy="228600"/>
          </a:xfrm>
          <a:prstGeom prst="rect">
            <a:avLst/>
          </a:prstGeom>
          <a:ln/>
        </p:spPr>
      </p:sp>
      <p:sp>
        <p:nvSpPr>
          <p:cNvPr id="77" name="Text 69"/>
          <p:cNvSpPr/>
          <p:nvPr/>
        </p:nvSpPr>
        <p:spPr>
          <a:xfrm>
            <a:off x="3221720" y="3671888"/>
            <a:ext cx="1793081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 融合内核</a:t>
            </a:r>
            <a:endParaRPr lang="en-US" sz="600" dirty="0"/>
          </a:p>
        </p:txBody>
      </p:sp>
      <p:sp>
        <p:nvSpPr>
          <p:cNvPr id="78" name="Text 70"/>
          <p:cNvSpPr/>
          <p:nvPr/>
        </p:nvSpPr>
        <p:spPr>
          <a:xfrm>
            <a:off x="3221720" y="3800475"/>
            <a:ext cx="1793081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并行执行与内核协同</a:t>
            </a:r>
            <a:endParaRPr lang="en-US" sz="500" dirty="0"/>
          </a:p>
        </p:txBody>
      </p:sp>
      <p:sp>
        <p:nvSpPr>
          <p:cNvPr id="79" name="Shape 71"/>
          <p:cNvSpPr/>
          <p:nvPr/>
        </p:nvSpPr>
        <p:spPr>
          <a:xfrm>
            <a:off x="5086573" y="3671888"/>
            <a:ext cx="1635919" cy="228600"/>
          </a:xfrm>
          <a:prstGeom prst="rect">
            <a:avLst/>
          </a:prstGeom>
          <a:ln/>
        </p:spPr>
      </p:sp>
      <p:sp>
        <p:nvSpPr>
          <p:cNvPr id="80" name="Text 72"/>
          <p:cNvSpPr/>
          <p:nvPr/>
        </p:nvSpPr>
        <p:spPr>
          <a:xfrm>
            <a:off x="5172298" y="3671888"/>
            <a:ext cx="155019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端到端库交付</a:t>
            </a:r>
            <a:endParaRPr lang="en-US" sz="600" dirty="0"/>
          </a:p>
        </p:txBody>
      </p:sp>
      <p:sp>
        <p:nvSpPr>
          <p:cNvPr id="81" name="Text 73"/>
          <p:cNvSpPr/>
          <p:nvPr/>
        </p:nvSpPr>
        <p:spPr>
          <a:xfrm>
            <a:off x="5172298" y="3800475"/>
            <a:ext cx="1550194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工程接口收口</a:t>
            </a:r>
            <a:endParaRPr lang="en-US" sz="500" dirty="0"/>
          </a:p>
        </p:txBody>
      </p:sp>
      <p:pic>
        <p:nvPicPr>
          <p:cNvPr id="82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72287" y="3700463"/>
            <a:ext cx="171450" cy="171450"/>
          </a:xfrm>
          <a:prstGeom prst="rect">
            <a:avLst/>
          </a:prstGeom>
        </p:spPr>
      </p:pic>
      <p:pic>
        <p:nvPicPr>
          <p:cNvPr id="83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00888" y="3550444"/>
            <a:ext cx="1464469" cy="471488"/>
          </a:xfrm>
          <a:prstGeom prst="rect">
            <a:avLst/>
          </a:prstGeom>
        </p:spPr>
      </p:pic>
      <p:sp>
        <p:nvSpPr>
          <p:cNvPr id="84" name="Text 74"/>
          <p:cNvSpPr/>
          <p:nvPr/>
        </p:nvSpPr>
        <p:spPr>
          <a:xfrm>
            <a:off x="7194872" y="3607594"/>
            <a:ext cx="378619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8FAFC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NEXT</a:t>
            </a:r>
            <a:endParaRPr lang="en-US" sz="500" dirty="0"/>
          </a:p>
        </p:txBody>
      </p:sp>
      <p:sp>
        <p:nvSpPr>
          <p:cNvPr id="85" name="Shape 75"/>
          <p:cNvSpPr/>
          <p:nvPr/>
        </p:nvSpPr>
        <p:spPr>
          <a:xfrm>
            <a:off x="8429625" y="3625453"/>
            <a:ext cx="42863" cy="42863"/>
          </a:xfrm>
          <a:prstGeom prst="ellipse">
            <a:avLst/>
          </a:prstGeom>
          <a:solidFill>
            <a:srgbClr val="BC9348"/>
          </a:solidFill>
          <a:ln/>
          <a:effectLst>
            <a:outerShdw sx="100000" sy="100000" kx="0" ky="0" algn="bl" rotWithShape="0" blurRad="101600" dist="50800" dir="16200000">
              <a:srgbClr val="BC9348">
                <a:alpha val="14000"/>
              </a:srgbClr>
            </a:outerShdw>
          </a:effectLst>
        </p:spPr>
      </p:sp>
      <p:sp>
        <p:nvSpPr>
          <p:cNvPr id="86" name="Text 76"/>
          <p:cNvSpPr/>
          <p:nvPr/>
        </p:nvSpPr>
        <p:spPr>
          <a:xfrm>
            <a:off x="7193756" y="3707606"/>
            <a:ext cx="1278731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 · 遗留问题收口</a:t>
            </a:r>
            <a:endParaRPr lang="en-US" sz="700" dirty="0"/>
          </a:p>
        </p:txBody>
      </p:sp>
      <p:sp>
        <p:nvSpPr>
          <p:cNvPr id="87" name="Text 77"/>
          <p:cNvSpPr/>
          <p:nvPr/>
        </p:nvSpPr>
        <p:spPr>
          <a:xfrm>
            <a:off x="7193756" y="3864769"/>
            <a:ext cx="1278731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500" dirty="0">
                <a:solidFill>
                  <a:srgbClr val="F8FAFC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明确方案边界与重点改进方向</a:t>
            </a:r>
            <a:endParaRPr lang="en-US" sz="500" dirty="0"/>
          </a:p>
        </p:txBody>
      </p:sp>
      <p:sp>
        <p:nvSpPr>
          <p:cNvPr id="88" name="Text 78"/>
          <p:cNvSpPr/>
          <p:nvPr/>
        </p:nvSpPr>
        <p:spPr>
          <a:xfrm>
            <a:off x="578644" y="4079081"/>
            <a:ext cx="798671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00" dirty="0"/>
          </a:p>
        </p:txBody>
      </p:sp>
      <p:pic>
        <p:nvPicPr>
          <p:cNvPr id="89" name="Image 8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8644" y="564356"/>
            <a:ext cx="7986713" cy="785813"/>
          </a:xfrm>
          <a:prstGeom prst="rect">
            <a:avLst/>
          </a:prstGeom>
        </p:spPr>
      </p:pic>
      <p:pic>
        <p:nvPicPr>
          <p:cNvPr id="90" name="Image 9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92721" y="2157413"/>
            <a:ext cx="4314825" cy="221456"/>
          </a:xfrm>
          <a:prstGeom prst="rect">
            <a:avLst/>
          </a:prstGeom>
        </p:spPr>
      </p:pic>
      <p:pic>
        <p:nvPicPr>
          <p:cNvPr id="91" name="Image 10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1815" y="2157413"/>
            <a:ext cx="3128963" cy="221456"/>
          </a:xfrm>
          <a:prstGeom prst="rect">
            <a:avLst/>
          </a:prstGeom>
        </p:spPr>
      </p:pic>
      <p:pic>
        <p:nvPicPr>
          <p:cNvPr id="92" name="Image 11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21815" y="2428875"/>
            <a:ext cx="3128963" cy="235744"/>
          </a:xfrm>
          <a:prstGeom prst="rect">
            <a:avLst/>
          </a:prstGeom>
        </p:spPr>
      </p:pic>
      <p:pic>
        <p:nvPicPr>
          <p:cNvPr id="93" name="Image 12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321815" y="2664619"/>
            <a:ext cx="3128963" cy="235744"/>
          </a:xfrm>
          <a:prstGeom prst="rect">
            <a:avLst/>
          </a:prstGeom>
        </p:spPr>
      </p:pic>
      <p:pic>
        <p:nvPicPr>
          <p:cNvPr id="94" name="Image 13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321815" y="2900362"/>
            <a:ext cx="3128963" cy="235744"/>
          </a:xfrm>
          <a:prstGeom prst="rect">
            <a:avLst/>
          </a:prstGeom>
        </p:spPr>
      </p:pic>
      <p:pic>
        <p:nvPicPr>
          <p:cNvPr id="95" name="Image 14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428304" y="3661172"/>
            <a:ext cx="1635919" cy="250031"/>
          </a:xfrm>
          <a:prstGeom prst="rect">
            <a:avLst/>
          </a:prstGeom>
        </p:spPr>
      </p:pic>
      <p:pic>
        <p:nvPicPr>
          <p:cNvPr id="96" name="Image 15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135995" y="3671888"/>
            <a:ext cx="1878806" cy="228600"/>
          </a:xfrm>
          <a:prstGeom prst="rect">
            <a:avLst/>
          </a:prstGeom>
        </p:spPr>
      </p:pic>
      <p:pic>
        <p:nvPicPr>
          <p:cNvPr id="97" name="Image 16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086573" y="3671888"/>
            <a:ext cx="1635919" cy="228600"/>
          </a:xfrm>
          <a:prstGeom prst="rect">
            <a:avLst/>
          </a:prstGeom>
        </p:spPr>
      </p:pic>
      <p:pic>
        <p:nvPicPr>
          <p:cNvPr id="98" name="Image 17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78644" y="4079081"/>
            <a:ext cx="798671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7188" y="357188"/>
            <a:ext cx="8429625" cy="4429125"/>
          </a:xfrm>
          <a:prstGeom prst="roundRect">
            <a:avLst>
              <a:gd name="adj" fmla="val 932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78644" y="564356"/>
            <a:ext cx="8401050" cy="785813"/>
          </a:xfrm>
          <a:prstGeom prst="rect">
            <a:avLst/>
          </a:prstGeom>
          <a:ln/>
        </p:spPr>
      </p:sp>
      <p:sp>
        <p:nvSpPr>
          <p:cNvPr id="6" name="Text 3"/>
          <p:cNvSpPr/>
          <p:nvPr/>
        </p:nvSpPr>
        <p:spPr>
          <a:xfrm>
            <a:off x="578421" y="422932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78644" y="736532"/>
            <a:ext cx="720090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两大核心待攻克问题：GMC 与 NPU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8644" y="1092994"/>
            <a:ext cx="72009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管线在板卡上跑起来之后，被两个问题卡住了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122444" y="564356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03/18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578644" y="1478756"/>
            <a:ext cx="4157663" cy="1857375"/>
          </a:xfrm>
          <a:prstGeom prst="roundRect">
            <a:avLst>
              <a:gd name="adj" fmla="val 4544"/>
            </a:avLst>
          </a:prstGeom>
          <a:solidFill>
            <a:srgbClr val="FFFFFF">
              <a:alpha val="82000"/>
            </a:srgbClr>
          </a:solidFill>
          <a:ln/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14375" y="1659806"/>
            <a:ext cx="385763" cy="185738"/>
          </a:xfrm>
          <a:prstGeom prst="roundRect">
            <a:avLst>
              <a:gd name="adj" fmla="val 61538"/>
            </a:avLst>
          </a:prstGeom>
          <a:solidFill>
            <a:srgbClr val="C58A3B">
              <a:alpha val="14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B67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172524" y="1613371"/>
            <a:ext cx="978694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难题一 · GMC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72524" y="1776561"/>
            <a:ext cx="97869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600" dirty="0">
                <a:solidFill>
                  <a:srgbClr val="7B87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计算链路与端到端时延瓶颈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3921919" y="1659806"/>
            <a:ext cx="678656" cy="185738"/>
          </a:xfrm>
          <a:prstGeom prst="roundRect">
            <a:avLst>
              <a:gd name="adj" fmla="val 61538"/>
            </a:avLst>
          </a:prstGeom>
          <a:solidFill>
            <a:srgbClr val="C58A3B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C6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主要算力消耗源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714375" y="1976586"/>
            <a:ext cx="1357313" cy="514350"/>
          </a:xfrm>
          <a:prstGeom prst="rect">
            <a:avLst/>
          </a:prstGeom>
          <a:ln/>
        </p:spPr>
      </p:sp>
      <p:sp>
        <p:nvSpPr>
          <p:cNvPr id="16" name="Text 13"/>
          <p:cNvSpPr/>
          <p:nvPr/>
        </p:nvSpPr>
        <p:spPr>
          <a:xfrm>
            <a:off x="714375" y="1976586"/>
            <a:ext cx="1250156" cy="3500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6"/>
              </a:lnSpc>
              <a:buNone/>
            </a:pPr>
            <a:r>
              <a:rPr lang="en-US" sz="2800" b="1" dirty="0">
                <a:solidFill>
                  <a:srgbClr val="B879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78.5</a:t>
            </a:r>
            <a:pPr algn="l" indent="0" marL="0">
              <a:lnSpc>
                <a:spcPts val="1389"/>
              </a:lnSpc>
              <a:buNone/>
            </a:pPr>
            <a:r>
              <a:rPr lang="en-US" sz="1400" b="1" dirty="0">
                <a:solidFill>
                  <a:srgbClr val="B879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14375" y="2368153"/>
            <a:ext cx="125015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38"/>
              </a:spcBef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端到端时延占比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2171700" y="2048582"/>
            <a:ext cx="2428875" cy="1143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976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时延压力分布</a:t>
            </a:r>
            <a:pPr algn="l" indent="0" marL="0">
              <a:spcAft>
                <a:spcPts val="338"/>
              </a:spcAft>
              <a:buNone/>
            </a:pPr>
            <a:r>
              <a:rPr lang="en-US" sz="600" dirty="0">
                <a:solidFill>
                  <a:srgbClr val="6976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9B67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78.5%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2171700" y="2205744"/>
            <a:ext cx="2428875" cy="57150"/>
          </a:xfrm>
          <a:prstGeom prst="roundRect">
            <a:avLst>
              <a:gd name="adj" fmla="val 200000"/>
            </a:avLst>
          </a:prstGeom>
          <a:solidFill>
            <a:srgbClr val="122033">
              <a:alpha val="7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1309" y="2205744"/>
            <a:ext cx="1907381" cy="571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171700" y="2312343"/>
            <a:ext cx="2428875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spcBef>
                <a:spcPts val="394"/>
              </a:spcBef>
              <a:buNone/>
            </a:pPr>
            <a:r>
              <a:rPr lang="en-US" sz="600" dirty="0">
                <a:solidFill>
                  <a:srgbClr val="6A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吞掉主要端到端时延</a:t>
            </a:r>
            <a:endParaRPr lang="en-US" sz="600" dirty="0"/>
          </a:p>
        </p:txBody>
      </p:sp>
      <p:sp>
        <p:nvSpPr>
          <p:cNvPr id="22" name="Text 18"/>
          <p:cNvSpPr/>
          <p:nvPr/>
        </p:nvSpPr>
        <p:spPr>
          <a:xfrm>
            <a:off x="714375" y="2555230"/>
            <a:ext cx="3886200" cy="192881"/>
          </a:xfrm>
          <a:prstGeom prst="roundRect">
            <a:avLst>
              <a:gd name="adj" fmla="val 52675"/>
            </a:avLst>
          </a:prstGeom>
          <a:solidFill>
            <a:srgbClr val="C58A3B">
              <a:alpha val="8000"/>
            </a:srgbClr>
          </a:solidFill>
          <a:ln w="7144">
            <a:solidFill>
              <a:srgbClr val="C58A3B">
                <a:alpha val="14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B67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计算链路占比</a:t>
            </a:r>
            <a:pPr algn="l" indent="0" marL="0">
              <a:buNone/>
            </a:pPr>
            <a:r>
              <a:rPr lang="en-US" sz="600" dirty="0">
                <a:solidFill>
                  <a:srgbClr val="7655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B08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拟合 + Warp + Median</a:t>
            </a:r>
            <a:pPr algn="l" indent="0" marL="0">
              <a:buNone/>
            </a:pPr>
            <a:r>
              <a:rPr lang="en-US" sz="600" dirty="0">
                <a:solidFill>
                  <a:srgbClr val="7655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800" b="1" dirty="0">
                <a:solidFill>
                  <a:srgbClr val="9B67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99%</a:t>
            </a:r>
            <a:endParaRPr lang="en-US" sz="600" dirty="0"/>
          </a:p>
        </p:txBody>
      </p:sp>
      <p:sp>
        <p:nvSpPr>
          <p:cNvPr id="23" name="Shape 19"/>
          <p:cNvSpPr/>
          <p:nvPr/>
        </p:nvSpPr>
        <p:spPr>
          <a:xfrm>
            <a:off x="713817" y="2864644"/>
            <a:ext cx="1528763" cy="364331"/>
          </a:xfrm>
          <a:prstGeom prst="roundRect">
            <a:avLst>
              <a:gd name="adj" fmla="val 15994"/>
            </a:avLst>
          </a:prstGeom>
          <a:solidFill>
            <a:srgbClr val="C58A3B">
              <a:alpha val="9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778111" y="2921794"/>
            <a:ext cx="1400175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9A7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算力开销</a:t>
            </a:r>
            <a:endParaRPr lang="en-US" sz="500" dirty="0"/>
          </a:p>
        </p:txBody>
      </p:sp>
      <p:sp>
        <p:nvSpPr>
          <p:cNvPr id="25" name="Text 21"/>
          <p:cNvSpPr/>
          <p:nvPr/>
        </p:nvSpPr>
        <p:spPr>
          <a:xfrm>
            <a:off x="778111" y="3050381"/>
            <a:ext cx="1400175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600" b="1" dirty="0">
                <a:solidFill>
                  <a:srgbClr val="594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拟合 / Warp / Median</a:t>
            </a:r>
            <a:endParaRPr lang="en-US" sz="600" dirty="0"/>
          </a:p>
        </p:txBody>
      </p:sp>
      <p:sp>
        <p:nvSpPr>
          <p:cNvPr id="26" name="Shape 22"/>
          <p:cNvSpPr/>
          <p:nvPr/>
        </p:nvSpPr>
        <p:spPr>
          <a:xfrm>
            <a:off x="2292641" y="2864644"/>
            <a:ext cx="928688" cy="364331"/>
          </a:xfrm>
          <a:prstGeom prst="roundRect">
            <a:avLst>
              <a:gd name="adj" fmla="val 15994"/>
            </a:avLst>
          </a:prstGeom>
          <a:solidFill>
            <a:srgbClr val="C58A3B">
              <a:alpha val="9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2356935" y="2921794"/>
            <a:ext cx="80010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9A7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延时</a:t>
            </a:r>
            <a:endParaRPr lang="en-US" sz="500" dirty="0"/>
          </a:p>
        </p:txBody>
      </p:sp>
      <p:sp>
        <p:nvSpPr>
          <p:cNvPr id="28" name="Text 24"/>
          <p:cNvSpPr/>
          <p:nvPr/>
        </p:nvSpPr>
        <p:spPr>
          <a:xfrm>
            <a:off x="2356935" y="3050381"/>
            <a:ext cx="80010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600" b="1" dirty="0">
                <a:solidFill>
                  <a:srgbClr val="594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显著受压</a:t>
            </a:r>
            <a:endParaRPr lang="en-US" sz="600" dirty="0"/>
          </a:p>
        </p:txBody>
      </p:sp>
      <p:sp>
        <p:nvSpPr>
          <p:cNvPr id="29" name="Shape 25"/>
          <p:cNvSpPr/>
          <p:nvPr/>
        </p:nvSpPr>
        <p:spPr>
          <a:xfrm>
            <a:off x="3271838" y="2864644"/>
            <a:ext cx="1328738" cy="364331"/>
          </a:xfrm>
          <a:prstGeom prst="roundRect">
            <a:avLst>
              <a:gd name="adj" fmla="val 15994"/>
            </a:avLst>
          </a:prstGeom>
          <a:solidFill>
            <a:srgbClr val="C58A3B">
              <a:alpha val="900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3336131" y="2921794"/>
            <a:ext cx="120015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9A7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</a:t>
            </a:r>
            <a:endParaRPr lang="en-US" sz="500" dirty="0"/>
          </a:p>
        </p:txBody>
      </p:sp>
      <p:sp>
        <p:nvSpPr>
          <p:cNvPr id="31" name="Text 27"/>
          <p:cNvSpPr/>
          <p:nvPr/>
        </p:nvSpPr>
        <p:spPr>
          <a:xfrm>
            <a:off x="3336131" y="3050381"/>
            <a:ext cx="12001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600" b="1" dirty="0">
                <a:solidFill>
                  <a:srgbClr val="5946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零丢帧依赖前提</a:t>
            </a:r>
            <a:endParaRPr lang="en-US" sz="600" dirty="0"/>
          </a:p>
        </p:txBody>
      </p:sp>
      <p:sp>
        <p:nvSpPr>
          <p:cNvPr id="32" name="Shape 28"/>
          <p:cNvSpPr/>
          <p:nvPr/>
        </p:nvSpPr>
        <p:spPr>
          <a:xfrm>
            <a:off x="4822031" y="1478756"/>
            <a:ext cx="4157663" cy="1857375"/>
          </a:xfrm>
          <a:prstGeom prst="roundRect">
            <a:avLst>
              <a:gd name="adj" fmla="val 4544"/>
            </a:avLst>
          </a:prstGeom>
          <a:solidFill>
            <a:srgbClr val="FFFFFF">
              <a:alpha val="82000"/>
            </a:srgbClr>
          </a:solidFill>
          <a:ln/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4957763" y="1659806"/>
            <a:ext cx="385763" cy="185738"/>
          </a:xfrm>
          <a:prstGeom prst="roundRect">
            <a:avLst>
              <a:gd name="adj" fmla="val 61538"/>
            </a:avLst>
          </a:prstGeom>
          <a:solidFill>
            <a:srgbClr val="477BA9">
              <a:alpha val="13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96D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00" dirty="0"/>
          </a:p>
        </p:txBody>
      </p:sp>
      <p:sp>
        <p:nvSpPr>
          <p:cNvPr id="34" name="Text 30"/>
          <p:cNvSpPr/>
          <p:nvPr/>
        </p:nvSpPr>
        <p:spPr>
          <a:xfrm>
            <a:off x="5414404" y="1613371"/>
            <a:ext cx="90011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难题二 · NPU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5414404" y="1776561"/>
            <a:ext cx="900113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600" dirty="0">
                <a:solidFill>
                  <a:srgbClr val="7B87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算子匹配与量化闸门瓶颈</a:t>
            </a:r>
            <a:endParaRPr lang="en-US" sz="600" dirty="0"/>
          </a:p>
        </p:txBody>
      </p:sp>
      <p:sp>
        <p:nvSpPr>
          <p:cNvPr id="36" name="Text 32"/>
          <p:cNvSpPr/>
          <p:nvPr/>
        </p:nvSpPr>
        <p:spPr>
          <a:xfrm>
            <a:off x="8243888" y="1659806"/>
            <a:ext cx="600075" cy="185738"/>
          </a:xfrm>
          <a:prstGeom prst="roundRect">
            <a:avLst>
              <a:gd name="adj" fmla="val 61538"/>
            </a:avLst>
          </a:prstGeom>
          <a:solidFill>
            <a:srgbClr val="477BA9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96D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效率偏离直觉</a:t>
            </a:r>
            <a:endParaRPr lang="en-US" sz="600" dirty="0"/>
          </a:p>
        </p:txBody>
      </p:sp>
      <p:sp>
        <p:nvSpPr>
          <p:cNvPr id="37" name="Text 33"/>
          <p:cNvSpPr/>
          <p:nvPr/>
        </p:nvSpPr>
        <p:spPr>
          <a:xfrm>
            <a:off x="4958265" y="1998018"/>
            <a:ext cx="1092994" cy="471488"/>
          </a:xfrm>
          <a:prstGeom prst="roundRect">
            <a:avLst>
              <a:gd name="adj" fmla="val 11019"/>
            </a:avLst>
          </a:prstGeom>
          <a:solidFill>
            <a:srgbClr val="477BA9">
              <a:alpha val="8000"/>
            </a:srgbClr>
          </a:solidFill>
          <a:ln w="7144">
            <a:solidFill>
              <a:srgbClr val="477BA9">
                <a:alpha val="17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C82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模型侧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spcBef>
                <a:spcPts val="169"/>
              </a:spcBef>
              <a:buNone/>
            </a:pPr>
            <a:r>
              <a:rPr lang="en-US" sz="600" b="1" dirty="0">
                <a:solidFill>
                  <a:srgbClr val="294E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模型算子</a:t>
            </a:r>
            <a:endParaRPr lang="en-US" sz="50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3192" y="2155180"/>
            <a:ext cx="157163" cy="157163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266687" y="1998018"/>
            <a:ext cx="1092994" cy="471488"/>
          </a:xfrm>
          <a:prstGeom prst="roundRect">
            <a:avLst>
              <a:gd name="adj" fmla="val 11019"/>
            </a:avLst>
          </a:prstGeom>
          <a:solidFill>
            <a:srgbClr val="477BA9">
              <a:alpha val="8000"/>
            </a:srgbClr>
          </a:solidFill>
          <a:ln w="7144">
            <a:solidFill>
              <a:srgbClr val="477BA9">
                <a:alpha val="17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C82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硬件侧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spcBef>
                <a:spcPts val="169"/>
              </a:spcBef>
              <a:buNone/>
            </a:pPr>
            <a:r>
              <a:rPr lang="en-US" sz="600" b="1" dirty="0">
                <a:solidFill>
                  <a:srgbClr val="294E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匹配</a:t>
            </a:r>
            <a:endParaRPr lang="en-US" sz="50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1726" y="2155180"/>
            <a:ext cx="157163" cy="157163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7573435" y="1998018"/>
            <a:ext cx="1271588" cy="471488"/>
          </a:xfrm>
          <a:prstGeom prst="roundRect">
            <a:avLst>
              <a:gd name="adj" fmla="val 11019"/>
            </a:avLst>
          </a:prstGeom>
          <a:solidFill>
            <a:srgbClr val="B25A4D">
              <a:alpha val="8000"/>
            </a:srgbClr>
          </a:solidFill>
          <a:ln w="7144">
            <a:solidFill>
              <a:srgbClr val="B25A4D">
                <a:alpha val="58000"/>
              </a:srgbClr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A45D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隐蔽回退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spcBef>
                <a:spcPts val="169"/>
              </a:spcBef>
              <a:buNone/>
            </a:pPr>
            <a:r>
              <a:rPr lang="en-US" sz="600" b="1" dirty="0">
                <a:solidFill>
                  <a:srgbClr val="9D5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静默回退 CPU</a:t>
            </a:r>
            <a:endParaRPr lang="en-US" sz="500" dirty="0"/>
          </a:p>
        </p:txBody>
      </p:sp>
      <p:sp>
        <p:nvSpPr>
          <p:cNvPr id="42" name="Text 36"/>
          <p:cNvSpPr/>
          <p:nvPr/>
        </p:nvSpPr>
        <p:spPr>
          <a:xfrm>
            <a:off x="4957763" y="2555230"/>
            <a:ext cx="3886200" cy="192881"/>
          </a:xfrm>
          <a:prstGeom prst="roundRect">
            <a:avLst>
              <a:gd name="adj" fmla="val 52675"/>
            </a:avLst>
          </a:prstGeom>
          <a:solidFill>
            <a:srgbClr val="477BA9">
              <a:alpha val="7000"/>
            </a:srgbClr>
          </a:solidFill>
          <a:ln w="7144">
            <a:solidFill>
              <a:srgbClr val="477BA9">
                <a:alpha val="1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0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匹配不完美 → 执行路径偏离预期 → 推理效率低于直觉</a:t>
            </a:r>
            <a:endParaRPr lang="en-US" sz="600" dirty="0"/>
          </a:p>
        </p:txBody>
      </p:sp>
      <p:sp>
        <p:nvSpPr>
          <p:cNvPr id="43" name="Shape 37"/>
          <p:cNvSpPr/>
          <p:nvPr/>
        </p:nvSpPr>
        <p:spPr>
          <a:xfrm>
            <a:off x="4956479" y="2864644"/>
            <a:ext cx="1264444" cy="364331"/>
          </a:xfrm>
          <a:prstGeom prst="roundRect">
            <a:avLst>
              <a:gd name="adj" fmla="val 15994"/>
            </a:avLst>
          </a:prstGeom>
          <a:solidFill>
            <a:srgbClr val="477BA9">
              <a:alpha val="8000"/>
            </a:srgbClr>
          </a:solidFill>
          <a:ln/>
        </p:spPr>
      </p:sp>
      <p:sp>
        <p:nvSpPr>
          <p:cNvPr id="44" name="Text 38"/>
          <p:cNvSpPr/>
          <p:nvPr/>
        </p:nvSpPr>
        <p:spPr>
          <a:xfrm>
            <a:off x="5020773" y="2921794"/>
            <a:ext cx="113585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F87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执行路径</a:t>
            </a:r>
            <a:endParaRPr lang="en-US" sz="500" dirty="0"/>
          </a:p>
        </p:txBody>
      </p:sp>
      <p:sp>
        <p:nvSpPr>
          <p:cNvPr id="45" name="Text 39"/>
          <p:cNvSpPr/>
          <p:nvPr/>
        </p:nvSpPr>
        <p:spPr>
          <a:xfrm>
            <a:off x="5020773" y="3050381"/>
            <a:ext cx="113585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600" b="1" dirty="0">
                <a:solidFill>
                  <a:srgbClr val="315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静默回退 CPU</a:t>
            </a:r>
            <a:endParaRPr lang="en-US" sz="600" dirty="0"/>
          </a:p>
        </p:txBody>
      </p:sp>
      <p:sp>
        <p:nvSpPr>
          <p:cNvPr id="46" name="Shape 40"/>
          <p:cNvSpPr/>
          <p:nvPr/>
        </p:nvSpPr>
        <p:spPr>
          <a:xfrm>
            <a:off x="6268473" y="2864644"/>
            <a:ext cx="1264444" cy="364331"/>
          </a:xfrm>
          <a:prstGeom prst="roundRect">
            <a:avLst>
              <a:gd name="adj" fmla="val 15994"/>
            </a:avLst>
          </a:prstGeom>
          <a:solidFill>
            <a:srgbClr val="477BA9">
              <a:alpha val="8000"/>
            </a:srgbClr>
          </a:solidFill>
          <a:ln/>
        </p:spPr>
      </p:sp>
      <p:sp>
        <p:nvSpPr>
          <p:cNvPr id="47" name="Text 41"/>
          <p:cNvSpPr/>
          <p:nvPr/>
        </p:nvSpPr>
        <p:spPr>
          <a:xfrm>
            <a:off x="6332767" y="2921794"/>
            <a:ext cx="113585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F87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性能估算</a:t>
            </a:r>
            <a:endParaRPr lang="en-US" sz="500" dirty="0"/>
          </a:p>
        </p:txBody>
      </p:sp>
      <p:sp>
        <p:nvSpPr>
          <p:cNvPr id="48" name="Text 42"/>
          <p:cNvSpPr/>
          <p:nvPr/>
        </p:nvSpPr>
        <p:spPr>
          <a:xfrm>
            <a:off x="6332767" y="3050381"/>
            <a:ext cx="113585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600" b="1" dirty="0">
                <a:solidFill>
                  <a:srgbClr val="315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 外推失效</a:t>
            </a:r>
            <a:endParaRPr lang="en-US" sz="600" dirty="0"/>
          </a:p>
        </p:txBody>
      </p:sp>
      <p:sp>
        <p:nvSpPr>
          <p:cNvPr id="49" name="Shape 43"/>
          <p:cNvSpPr/>
          <p:nvPr/>
        </p:nvSpPr>
        <p:spPr>
          <a:xfrm>
            <a:off x="7580579" y="2864644"/>
            <a:ext cx="1264444" cy="364331"/>
          </a:xfrm>
          <a:prstGeom prst="roundRect">
            <a:avLst>
              <a:gd name="adj" fmla="val 15994"/>
            </a:avLst>
          </a:prstGeom>
          <a:solidFill>
            <a:srgbClr val="477BA9">
              <a:alpha val="8000"/>
            </a:srgbClr>
          </a:solidFill>
          <a:ln/>
        </p:spPr>
      </p:sp>
      <p:sp>
        <p:nvSpPr>
          <p:cNvPr id="50" name="Text 44"/>
          <p:cNvSpPr/>
          <p:nvPr/>
        </p:nvSpPr>
        <p:spPr>
          <a:xfrm>
            <a:off x="7644873" y="2921794"/>
            <a:ext cx="113585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F87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量化控制</a:t>
            </a:r>
            <a:endParaRPr lang="en-US" sz="500" dirty="0"/>
          </a:p>
        </p:txBody>
      </p:sp>
      <p:sp>
        <p:nvSpPr>
          <p:cNvPr id="51" name="Text 45"/>
          <p:cNvSpPr/>
          <p:nvPr/>
        </p:nvSpPr>
        <p:spPr>
          <a:xfrm>
            <a:off x="7644873" y="3050381"/>
            <a:ext cx="113585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600" b="1" dirty="0">
                <a:solidFill>
                  <a:srgbClr val="315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量化闸门未解</a:t>
            </a:r>
            <a:endParaRPr lang="en-US" sz="600" dirty="0"/>
          </a:p>
        </p:txBody>
      </p:sp>
      <p:sp>
        <p:nvSpPr>
          <p:cNvPr id="52" name="Shape 46"/>
          <p:cNvSpPr/>
          <p:nvPr/>
        </p:nvSpPr>
        <p:spPr>
          <a:xfrm>
            <a:off x="578644" y="3378994"/>
            <a:ext cx="8401050" cy="300038"/>
          </a:xfrm>
          <a:prstGeom prst="roundRect">
            <a:avLst>
              <a:gd name="adj" fmla="val 29025"/>
            </a:avLst>
          </a:prstGeom>
          <a:solidFill>
            <a:srgbClr val="122033"/>
          </a:solidFill>
          <a:ln/>
          <a:effectLst>
            <a:outerShdw sx="100000" sy="100000" kx="0" ky="0" algn="bl" rotWithShape="0" blurRad="185738" dist="71438" dir="5400000">
              <a:srgbClr val="0F172A">
                <a:alpha val="10000"/>
              </a:srgbClr>
            </a:outerShdw>
          </a:effectLst>
        </p:spPr>
      </p:sp>
      <p:sp>
        <p:nvSpPr>
          <p:cNvPr id="53" name="Text 47"/>
          <p:cNvSpPr/>
          <p:nvPr/>
        </p:nvSpPr>
        <p:spPr>
          <a:xfrm>
            <a:off x="692274" y="3486150"/>
            <a:ext cx="321469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CDB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500" dirty="0"/>
          </a:p>
        </p:txBody>
      </p:sp>
      <p:sp>
        <p:nvSpPr>
          <p:cNvPr id="54" name="Text 48"/>
          <p:cNvSpPr/>
          <p:nvPr/>
        </p:nvSpPr>
        <p:spPr>
          <a:xfrm>
            <a:off x="1098575" y="3457575"/>
            <a:ext cx="278606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两个难题都不是“算力不够”，而是 </a:t>
            </a:r>
            <a:pPr algn="l" indent="0" marL="0">
              <a:buNone/>
            </a:pPr>
            <a:r>
              <a:rPr lang="en-US" sz="700" b="1" dirty="0">
                <a:solidFill>
                  <a:srgbClr val="E2B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“重复做”</a:t>
            </a:r>
            <a:pPr algn="l" indent="0" marL="0"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 </a:t>
            </a:r>
            <a:pPr algn="l" indent="0" marL="0">
              <a:buNone/>
            </a:pPr>
            <a:r>
              <a:rPr lang="en-US" sz="700" b="1" dirty="0">
                <a:solidFill>
                  <a:srgbClr val="8EB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“算错账”</a:t>
            </a:r>
            <a:pPr algn="l" indent="0" marL="0"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 </a:t>
            </a:r>
            <a:pPr algn="l" indent="0" marL="0">
              <a:buNone/>
            </a:pPr>
            <a:r>
              <a:rPr lang="en-US" sz="700" b="1" dirty="0">
                <a:solidFill>
                  <a:srgbClr val="D7A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“藏得深”</a:t>
            </a:r>
            <a:endParaRPr lang="en-US" sz="700" dirty="0"/>
          </a:p>
        </p:txBody>
      </p:sp>
      <p:sp>
        <p:nvSpPr>
          <p:cNvPr id="55" name="Shape 49"/>
          <p:cNvSpPr/>
          <p:nvPr/>
        </p:nvSpPr>
        <p:spPr>
          <a:xfrm>
            <a:off x="7679420" y="3507581"/>
            <a:ext cx="42863" cy="42863"/>
          </a:xfrm>
          <a:prstGeom prst="ellipse">
            <a:avLst/>
          </a:prstGeom>
          <a:solidFill>
            <a:srgbClr val="D8A95F"/>
          </a:solidFill>
          <a:ln/>
        </p:spPr>
      </p:sp>
      <p:sp>
        <p:nvSpPr>
          <p:cNvPr id="56" name="Text 50"/>
          <p:cNvSpPr/>
          <p:nvPr/>
        </p:nvSpPr>
        <p:spPr>
          <a:xfrm>
            <a:off x="7772288" y="3496866"/>
            <a:ext cx="472269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EAB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重复计算</a:t>
            </a:r>
            <a:endParaRPr lang="en-US" sz="500" dirty="0"/>
          </a:p>
        </p:txBody>
      </p:sp>
      <p:sp>
        <p:nvSpPr>
          <p:cNvPr id="57" name="Shape 51"/>
          <p:cNvSpPr/>
          <p:nvPr/>
        </p:nvSpPr>
        <p:spPr>
          <a:xfrm>
            <a:off x="8315995" y="3507581"/>
            <a:ext cx="42863" cy="42863"/>
          </a:xfrm>
          <a:prstGeom prst="ellipse">
            <a:avLst/>
          </a:prstGeom>
          <a:solidFill>
            <a:srgbClr val="6F9BC4"/>
          </a:solidFill>
          <a:ln/>
        </p:spPr>
      </p:sp>
      <p:sp>
        <p:nvSpPr>
          <p:cNvPr id="58" name="Text 52"/>
          <p:cNvSpPr/>
          <p:nvPr/>
        </p:nvSpPr>
        <p:spPr>
          <a:xfrm>
            <a:off x="8408863" y="3496866"/>
            <a:ext cx="456530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EAB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隐性损耗</a:t>
            </a:r>
            <a:endParaRPr lang="en-US" sz="500" dirty="0"/>
          </a:p>
        </p:txBody>
      </p:sp>
      <p:sp>
        <p:nvSpPr>
          <p:cNvPr id="59" name="Shape 53"/>
          <p:cNvSpPr/>
          <p:nvPr/>
        </p:nvSpPr>
        <p:spPr>
          <a:xfrm>
            <a:off x="578644" y="3721894"/>
            <a:ext cx="8401050" cy="242888"/>
          </a:xfrm>
          <a:prstGeom prst="roundRect">
            <a:avLst>
              <a:gd name="adj" fmla="val 41522"/>
            </a:avLst>
          </a:prstGeom>
          <a:solidFill>
            <a:srgbClr val="FFFFFF">
              <a:alpha val="7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42875" dist="57150" dir="5400000">
              <a:srgbClr val="0F172A">
                <a:alpha val="5000"/>
              </a:srgbClr>
            </a:outerShdw>
          </a:effectLst>
        </p:spPr>
      </p:sp>
      <p:sp>
        <p:nvSpPr>
          <p:cNvPr id="60" name="Text 54"/>
          <p:cNvSpPr/>
          <p:nvPr/>
        </p:nvSpPr>
        <p:spPr>
          <a:xfrm>
            <a:off x="678656" y="3761184"/>
            <a:ext cx="221456" cy="164306"/>
          </a:xfrm>
          <a:prstGeom prst="roundRect">
            <a:avLst>
              <a:gd name="adj" fmla="val 48393"/>
            </a:avLst>
          </a:prstGeom>
          <a:solidFill>
            <a:srgbClr val="C9974D">
              <a:alpha val="13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600" dirty="0"/>
          </a:p>
        </p:txBody>
      </p:sp>
      <p:sp>
        <p:nvSpPr>
          <p:cNvPr id="61" name="Text 55"/>
          <p:cNvSpPr/>
          <p:nvPr/>
        </p:nvSpPr>
        <p:spPr>
          <a:xfrm>
            <a:off x="964406" y="3739753"/>
            <a:ext cx="6286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93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本阶段工作汇报点</a:t>
            </a:r>
            <a:endParaRPr lang="en-US" sz="600" dirty="0"/>
          </a:p>
        </p:txBody>
      </p:sp>
      <p:sp>
        <p:nvSpPr>
          <p:cNvPr id="62" name="Text 56"/>
          <p:cNvSpPr/>
          <p:nvPr/>
        </p:nvSpPr>
        <p:spPr>
          <a:xfrm>
            <a:off x="964406" y="3854053"/>
            <a:ext cx="628650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A95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逐一攻克两大难题</a:t>
            </a:r>
            <a:endParaRPr lang="en-US" sz="500" dirty="0"/>
          </a:p>
        </p:txBody>
      </p:sp>
      <p:sp>
        <p:nvSpPr>
          <p:cNvPr id="63" name="Shape 57"/>
          <p:cNvSpPr/>
          <p:nvPr/>
        </p:nvSpPr>
        <p:spPr>
          <a:xfrm>
            <a:off x="1721644" y="3839766"/>
            <a:ext cx="157163" cy="7144"/>
          </a:xfrm>
          <a:prstGeom prst="rect">
            <a:avLst/>
          </a:prstGeom>
          <a:solidFill>
            <a:srgbClr val="122033">
              <a:alpha val="10000"/>
            </a:srgbClr>
          </a:solidFill>
          <a:ln/>
        </p:spPr>
      </p:sp>
      <p:sp>
        <p:nvSpPr>
          <p:cNvPr id="64" name="Text 58"/>
          <p:cNvSpPr/>
          <p:nvPr/>
        </p:nvSpPr>
        <p:spPr>
          <a:xfrm>
            <a:off x="2007394" y="3761184"/>
            <a:ext cx="164306" cy="164306"/>
          </a:xfrm>
          <a:prstGeom prst="ellipse">
            <a:avLst/>
          </a:prstGeom>
          <a:solidFill>
            <a:srgbClr val="C9974F"/>
          </a:solidFill>
          <a:ln/>
          <a:effectLst>
            <a:outerShdw sx="100000" sy="100000" kx="0" ky="0" algn="bl" rotWithShape="0" blurRad="101600" dist="50800" dir="16200000">
              <a:srgbClr val="C9974D">
                <a:alpha val="1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500" dirty="0"/>
          </a:p>
        </p:txBody>
      </p:sp>
      <p:sp>
        <p:nvSpPr>
          <p:cNvPr id="65" name="Shape 59"/>
          <p:cNvSpPr/>
          <p:nvPr/>
        </p:nvSpPr>
        <p:spPr>
          <a:xfrm>
            <a:off x="2171700" y="3839766"/>
            <a:ext cx="128588" cy="7144"/>
          </a:xfrm>
          <a:prstGeom prst="rect">
            <a:avLst/>
          </a:prstGeom>
          <a:solidFill>
            <a:srgbClr val="C9974D">
              <a:alpha val="38000"/>
            </a:srgbClr>
          </a:solidFill>
          <a:ln/>
        </p:spPr>
      </p:sp>
      <p:sp>
        <p:nvSpPr>
          <p:cNvPr id="66" name="Text 60"/>
          <p:cNvSpPr/>
          <p:nvPr/>
        </p:nvSpPr>
        <p:spPr>
          <a:xfrm>
            <a:off x="2770882" y="3761184"/>
            <a:ext cx="164306" cy="164306"/>
          </a:xfrm>
          <a:prstGeom prst="ellipse">
            <a:avLst/>
          </a:prstGeom>
          <a:solidFill>
            <a:srgbClr val="C997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500" dirty="0"/>
          </a:p>
        </p:txBody>
      </p:sp>
      <p:sp>
        <p:nvSpPr>
          <p:cNvPr id="67" name="Shape 61"/>
          <p:cNvSpPr/>
          <p:nvPr/>
        </p:nvSpPr>
        <p:spPr>
          <a:xfrm>
            <a:off x="2935188" y="3839766"/>
            <a:ext cx="128588" cy="7144"/>
          </a:xfrm>
          <a:prstGeom prst="rect">
            <a:avLst/>
          </a:prstGeom>
          <a:solidFill>
            <a:srgbClr val="C9974D">
              <a:alpha val="38000"/>
            </a:srgbClr>
          </a:solidFill>
          <a:ln/>
        </p:spPr>
      </p:sp>
      <p:sp>
        <p:nvSpPr>
          <p:cNvPr id="68" name="Text 62"/>
          <p:cNvSpPr/>
          <p:nvPr/>
        </p:nvSpPr>
        <p:spPr>
          <a:xfrm>
            <a:off x="3534370" y="3761184"/>
            <a:ext cx="164306" cy="164306"/>
          </a:xfrm>
          <a:prstGeom prst="ellipse">
            <a:avLst/>
          </a:prstGeom>
          <a:solidFill>
            <a:srgbClr val="C997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500" dirty="0"/>
          </a:p>
        </p:txBody>
      </p:sp>
      <p:sp>
        <p:nvSpPr>
          <p:cNvPr id="69" name="Shape 63"/>
          <p:cNvSpPr/>
          <p:nvPr/>
        </p:nvSpPr>
        <p:spPr>
          <a:xfrm>
            <a:off x="3698677" y="3839766"/>
            <a:ext cx="128588" cy="7144"/>
          </a:xfrm>
          <a:prstGeom prst="rect">
            <a:avLst/>
          </a:prstGeom>
          <a:solidFill>
            <a:srgbClr val="C9974D">
              <a:alpha val="38000"/>
            </a:srgbClr>
          </a:solidFill>
          <a:ln/>
        </p:spPr>
      </p:sp>
      <p:sp>
        <p:nvSpPr>
          <p:cNvPr id="70" name="Text 64"/>
          <p:cNvSpPr/>
          <p:nvPr/>
        </p:nvSpPr>
        <p:spPr>
          <a:xfrm>
            <a:off x="4297859" y="3761184"/>
            <a:ext cx="164306" cy="164306"/>
          </a:xfrm>
          <a:prstGeom prst="ellipse">
            <a:avLst/>
          </a:prstGeom>
          <a:solidFill>
            <a:srgbClr val="C997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500" dirty="0"/>
          </a:p>
        </p:txBody>
      </p:sp>
      <p:sp>
        <p:nvSpPr>
          <p:cNvPr id="71" name="Shape 65"/>
          <p:cNvSpPr/>
          <p:nvPr/>
        </p:nvSpPr>
        <p:spPr>
          <a:xfrm>
            <a:off x="4462165" y="3839766"/>
            <a:ext cx="128588" cy="7144"/>
          </a:xfrm>
          <a:prstGeom prst="rect">
            <a:avLst/>
          </a:prstGeom>
          <a:solidFill>
            <a:srgbClr val="C9974D">
              <a:alpha val="38000"/>
            </a:srgbClr>
          </a:solidFill>
          <a:ln/>
        </p:spPr>
      </p:sp>
      <p:sp>
        <p:nvSpPr>
          <p:cNvPr id="72" name="Text 66"/>
          <p:cNvSpPr/>
          <p:nvPr/>
        </p:nvSpPr>
        <p:spPr>
          <a:xfrm>
            <a:off x="5061347" y="3761184"/>
            <a:ext cx="164306" cy="164306"/>
          </a:xfrm>
          <a:prstGeom prst="ellipse">
            <a:avLst/>
          </a:prstGeom>
          <a:solidFill>
            <a:srgbClr val="C997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500" dirty="0"/>
          </a:p>
        </p:txBody>
      </p:sp>
      <p:sp>
        <p:nvSpPr>
          <p:cNvPr id="73" name="Shape 67"/>
          <p:cNvSpPr/>
          <p:nvPr/>
        </p:nvSpPr>
        <p:spPr>
          <a:xfrm>
            <a:off x="5225653" y="3839766"/>
            <a:ext cx="128588" cy="7144"/>
          </a:xfrm>
          <a:prstGeom prst="rect">
            <a:avLst/>
          </a:prstGeom>
          <a:solidFill>
            <a:srgbClr val="C9974D">
              <a:alpha val="38000"/>
            </a:srgbClr>
          </a:solidFill>
          <a:ln/>
        </p:spPr>
      </p:sp>
      <p:sp>
        <p:nvSpPr>
          <p:cNvPr id="74" name="Text 68"/>
          <p:cNvSpPr/>
          <p:nvPr/>
        </p:nvSpPr>
        <p:spPr>
          <a:xfrm>
            <a:off x="5824835" y="3761184"/>
            <a:ext cx="164306" cy="164306"/>
          </a:xfrm>
          <a:prstGeom prst="ellipse">
            <a:avLst/>
          </a:prstGeom>
          <a:solidFill>
            <a:srgbClr val="C997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500" dirty="0"/>
          </a:p>
        </p:txBody>
      </p:sp>
      <p:sp>
        <p:nvSpPr>
          <p:cNvPr id="75" name="Shape 69"/>
          <p:cNvSpPr/>
          <p:nvPr/>
        </p:nvSpPr>
        <p:spPr>
          <a:xfrm>
            <a:off x="5989141" y="3839766"/>
            <a:ext cx="128588" cy="7144"/>
          </a:xfrm>
          <a:prstGeom prst="rect">
            <a:avLst/>
          </a:prstGeom>
          <a:solidFill>
            <a:srgbClr val="C9974D">
              <a:alpha val="38000"/>
            </a:srgbClr>
          </a:solidFill>
          <a:ln/>
        </p:spPr>
      </p:sp>
      <p:sp>
        <p:nvSpPr>
          <p:cNvPr id="76" name="Text 70"/>
          <p:cNvSpPr/>
          <p:nvPr/>
        </p:nvSpPr>
        <p:spPr>
          <a:xfrm>
            <a:off x="6588323" y="3761184"/>
            <a:ext cx="164306" cy="164306"/>
          </a:xfrm>
          <a:prstGeom prst="ellipse">
            <a:avLst/>
          </a:prstGeom>
          <a:solidFill>
            <a:srgbClr val="C997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500" dirty="0"/>
          </a:p>
        </p:txBody>
      </p:sp>
      <p:sp>
        <p:nvSpPr>
          <p:cNvPr id="77" name="Shape 71"/>
          <p:cNvSpPr/>
          <p:nvPr/>
        </p:nvSpPr>
        <p:spPr>
          <a:xfrm>
            <a:off x="6752630" y="3839766"/>
            <a:ext cx="128588" cy="7144"/>
          </a:xfrm>
          <a:prstGeom prst="rect">
            <a:avLst/>
          </a:prstGeom>
          <a:solidFill>
            <a:srgbClr val="C9974D">
              <a:alpha val="38000"/>
            </a:srgbClr>
          </a:solidFill>
          <a:ln/>
        </p:spPr>
      </p:sp>
      <p:sp>
        <p:nvSpPr>
          <p:cNvPr id="78" name="Text 72"/>
          <p:cNvSpPr/>
          <p:nvPr/>
        </p:nvSpPr>
        <p:spPr>
          <a:xfrm>
            <a:off x="7351812" y="3761184"/>
            <a:ext cx="164306" cy="164306"/>
          </a:xfrm>
          <a:prstGeom prst="ellipse">
            <a:avLst/>
          </a:prstGeom>
          <a:solidFill>
            <a:srgbClr val="C997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500" dirty="0"/>
          </a:p>
        </p:txBody>
      </p:sp>
      <p:sp>
        <p:nvSpPr>
          <p:cNvPr id="79" name="Shape 73"/>
          <p:cNvSpPr/>
          <p:nvPr/>
        </p:nvSpPr>
        <p:spPr>
          <a:xfrm>
            <a:off x="7516118" y="3839766"/>
            <a:ext cx="128588" cy="7144"/>
          </a:xfrm>
          <a:prstGeom prst="rect">
            <a:avLst/>
          </a:prstGeom>
          <a:solidFill>
            <a:srgbClr val="C9974D">
              <a:alpha val="38000"/>
            </a:srgbClr>
          </a:solidFill>
          <a:ln/>
        </p:spPr>
      </p:sp>
      <p:sp>
        <p:nvSpPr>
          <p:cNvPr id="80" name="Text 74"/>
          <p:cNvSpPr/>
          <p:nvPr/>
        </p:nvSpPr>
        <p:spPr>
          <a:xfrm>
            <a:off x="8115300" y="3761184"/>
            <a:ext cx="164306" cy="164306"/>
          </a:xfrm>
          <a:prstGeom prst="ellipse">
            <a:avLst/>
          </a:prstGeom>
          <a:solidFill>
            <a:srgbClr val="C9974F"/>
          </a:solidFill>
          <a:ln/>
          <a:effectLst>
            <a:outerShdw sx="100000" sy="100000" kx="0" ky="0" algn="bl" rotWithShape="0" blurRad="101600" dist="50800" dir="16200000">
              <a:srgbClr val="C9974D">
                <a:alpha val="1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500" dirty="0"/>
          </a:p>
        </p:txBody>
      </p:sp>
      <p:sp>
        <p:nvSpPr>
          <p:cNvPr id="81" name="Text 75"/>
          <p:cNvSpPr/>
          <p:nvPr/>
        </p:nvSpPr>
        <p:spPr>
          <a:xfrm>
            <a:off x="8408194" y="3811191"/>
            <a:ext cx="285750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788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推进节奏</a:t>
            </a:r>
            <a:endParaRPr lang="en-US" sz="500" dirty="0"/>
          </a:p>
        </p:txBody>
      </p:sp>
      <p:sp>
        <p:nvSpPr>
          <p:cNvPr id="82" name="Text 76"/>
          <p:cNvSpPr/>
          <p:nvPr/>
        </p:nvSpPr>
        <p:spPr>
          <a:xfrm>
            <a:off x="8736806" y="3771900"/>
            <a:ext cx="142875" cy="142875"/>
          </a:xfrm>
          <a:prstGeom prst="ellipse">
            <a:avLst/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600" dirty="0"/>
          </a:p>
        </p:txBody>
      </p:sp>
      <p:sp>
        <p:nvSpPr>
          <p:cNvPr id="83" name="Text 77"/>
          <p:cNvSpPr/>
          <p:nvPr/>
        </p:nvSpPr>
        <p:spPr>
          <a:xfrm>
            <a:off x="578644" y="4079081"/>
            <a:ext cx="8401050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600" dirty="0"/>
          </a:p>
        </p:txBody>
      </p:sp>
      <p:pic>
        <p:nvPicPr>
          <p:cNvPr id="84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8644" y="564356"/>
            <a:ext cx="8401050" cy="785813"/>
          </a:xfrm>
          <a:prstGeom prst="rect">
            <a:avLst/>
          </a:prstGeom>
        </p:spPr>
      </p:pic>
      <p:pic>
        <p:nvPicPr>
          <p:cNvPr id="85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8644" y="1478756"/>
            <a:ext cx="4157663" cy="1857375"/>
          </a:xfrm>
          <a:prstGeom prst="rect">
            <a:avLst/>
          </a:prstGeom>
        </p:spPr>
      </p:pic>
      <p:pic>
        <p:nvPicPr>
          <p:cNvPr id="86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4375" y="1976586"/>
            <a:ext cx="1357313" cy="514350"/>
          </a:xfrm>
          <a:prstGeom prst="rect">
            <a:avLst/>
          </a:prstGeom>
        </p:spPr>
      </p:pic>
      <p:pic>
        <p:nvPicPr>
          <p:cNvPr id="87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22031" y="1478756"/>
            <a:ext cx="4157663" cy="1857375"/>
          </a:xfrm>
          <a:prstGeom prst="rect">
            <a:avLst/>
          </a:prstGeom>
        </p:spPr>
      </p:pic>
      <p:pic>
        <p:nvPicPr>
          <p:cNvPr id="88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8644" y="4079081"/>
            <a:ext cx="8401050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7188" y="357188"/>
            <a:ext cx="8429625" cy="4429125"/>
          </a:xfrm>
          <a:prstGeom prst="roundRect">
            <a:avLst>
              <a:gd name="adj" fmla="val 932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78644" y="564356"/>
            <a:ext cx="8029575" cy="785813"/>
          </a:xfrm>
          <a:prstGeom prst="rect">
            <a:avLst/>
          </a:prstGeom>
          <a:ln/>
        </p:spPr>
      </p:sp>
      <p:sp>
        <p:nvSpPr>
          <p:cNvPr id="6" name="Text 3"/>
          <p:cNvSpPr/>
          <p:nvPr/>
        </p:nvSpPr>
        <p:spPr>
          <a:xfrm>
            <a:off x="578421" y="422932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78644" y="736532"/>
            <a:ext cx="702945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难题一 · GMC 账本：开销、延时、不稳定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8644" y="1092994"/>
            <a:ext cx="702945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占端到端墙钟延时 78.5%；零丢帧与有界延时构成新的性能硬约束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50994" y="564356"/>
            <a:ext cx="657225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4/18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580039" y="1478756"/>
            <a:ext cx="4564856" cy="1971675"/>
          </a:xfrm>
          <a:prstGeom prst="roundRect">
            <a:avLst>
              <a:gd name="adj" fmla="val 4033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5770" y="1614488"/>
            <a:ext cx="4293394" cy="728663"/>
          </a:xfrm>
          <a:prstGeom prst="rect">
            <a:avLst/>
          </a:prstGeom>
          <a:ln/>
        </p:spPr>
      </p:sp>
      <p:sp>
        <p:nvSpPr>
          <p:cNvPr id="12" name="Text 9"/>
          <p:cNvSpPr/>
          <p:nvPr/>
        </p:nvSpPr>
        <p:spPr>
          <a:xfrm>
            <a:off x="743843" y="1657350"/>
            <a:ext cx="2628900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00" b="1" dirty="0">
                <a:solidFill>
                  <a:srgbClr val="C6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78.5%</a:t>
            </a:r>
            <a:pPr algn="l"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C6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788"/>
              </a:lnSpc>
              <a:buNone/>
            </a:pPr>
            <a:r>
              <a:rPr lang="en-US" sz="700" b="1" dirty="0">
                <a:solidFill>
                  <a:srgbClr val="A94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首要瓶颈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743843" y="2085975"/>
            <a:ext cx="2628900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7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占端到端墙钟延时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500661" y="1721588"/>
            <a:ext cx="714375" cy="435769"/>
          </a:xfrm>
          <a:prstGeom prst="roundRect">
            <a:avLst>
              <a:gd name="adj" fmla="val 12040"/>
            </a:avLst>
          </a:prstGeom>
          <a:solidFill>
            <a:srgbClr val="F4F6F9">
              <a:alpha val="90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600" dirty="0">
                <a:solidFill>
                  <a:srgbClr val="69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耗时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13"/>
              </a:lnSpc>
              <a:spcBef>
                <a:spcPts val="281"/>
              </a:spcBef>
              <a:buNone/>
            </a:pPr>
            <a:r>
              <a:rPr lang="en-US" sz="1000" b="1" dirty="0">
                <a:solidFill>
                  <a:srgbClr val="C6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62.765 ms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4269060" y="1721588"/>
            <a:ext cx="714375" cy="435769"/>
          </a:xfrm>
          <a:prstGeom prst="roundRect">
            <a:avLst>
              <a:gd name="adj" fmla="val 12040"/>
            </a:avLst>
          </a:prstGeom>
          <a:solidFill>
            <a:srgbClr val="F4F6F9">
              <a:alpha val="90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600" dirty="0">
                <a:solidFill>
                  <a:srgbClr val="69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端到端墙钟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13"/>
              </a:lnSpc>
              <a:spcBef>
                <a:spcPts val="281"/>
              </a:spcBef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79.952 ms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714375" y="2427424"/>
            <a:ext cx="650081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700" b="1" dirty="0">
                <a:solidFill>
                  <a:srgbClr val="27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端到端延时构成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230942" y="2445283"/>
            <a:ext cx="778669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7180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62.765 / 79.952 = 78.5%</a:t>
            </a:r>
            <a:endParaRPr lang="en-US" sz="500" dirty="0"/>
          </a:p>
        </p:txBody>
      </p:sp>
      <p:sp>
        <p:nvSpPr>
          <p:cNvPr id="18" name="Shape 15"/>
          <p:cNvSpPr/>
          <p:nvPr/>
        </p:nvSpPr>
        <p:spPr>
          <a:xfrm>
            <a:off x="715770" y="2604567"/>
            <a:ext cx="4293394" cy="200025"/>
          </a:xfrm>
          <a:prstGeom prst="roundRect">
            <a:avLst>
              <a:gd name="adj" fmla="val 36735"/>
            </a:avLst>
          </a:prstGeom>
          <a:solidFill>
            <a:srgbClr val="E8ECF1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598" y="2604567"/>
            <a:ext cx="3371850" cy="20002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087732" y="2604567"/>
            <a:ext cx="921544" cy="200025"/>
          </a:xfrm>
          <a:prstGeom prst="rect">
            <a:avLst/>
          </a:prstGeom>
          <a:solidFill>
            <a:srgbClr val="AEB8C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17.187 ms</a:t>
            </a:r>
            <a:endParaRPr lang="en-US" sz="600" dirty="0"/>
          </a:p>
        </p:txBody>
      </p:sp>
      <p:sp>
        <p:nvSpPr>
          <p:cNvPr id="21" name="Text 17"/>
          <p:cNvSpPr/>
          <p:nvPr/>
        </p:nvSpPr>
        <p:spPr>
          <a:xfrm>
            <a:off x="715770" y="2847454"/>
            <a:ext cx="42933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9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GMC：主要延时来源</a:t>
            </a:r>
            <a:pPr algn="l" indent="0" marL="0">
              <a:spcBef>
                <a:spcPts val="338"/>
              </a:spcBef>
              <a:buNone/>
            </a:pPr>
            <a:r>
              <a:rPr lang="en-US" sz="500" dirty="0">
                <a:solidFill>
                  <a:srgbClr val="69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69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其余链路：21.5%</a:t>
            </a:r>
            <a:endParaRPr lang="en-US" sz="500" dirty="0"/>
          </a:p>
        </p:txBody>
      </p:sp>
      <p:sp>
        <p:nvSpPr>
          <p:cNvPr id="22" name="Text 18"/>
          <p:cNvSpPr/>
          <p:nvPr/>
        </p:nvSpPr>
        <p:spPr>
          <a:xfrm>
            <a:off x="713203" y="3170374"/>
            <a:ext cx="621506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700" b="1" dirty="0">
                <a:solidFill>
                  <a:srgbClr val="27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侧算力归因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4124958" y="3173946"/>
            <a:ext cx="885825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7180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warp 与 median 合计 77.4%</a:t>
            </a:r>
            <a:endParaRPr lang="en-US" sz="500" dirty="0"/>
          </a:p>
        </p:txBody>
      </p:sp>
      <p:sp>
        <p:nvSpPr>
          <p:cNvPr id="24" name="Shape 20"/>
          <p:cNvSpPr/>
          <p:nvPr/>
        </p:nvSpPr>
        <p:spPr>
          <a:xfrm>
            <a:off x="715770" y="3347517"/>
            <a:ext cx="4293394" cy="200025"/>
          </a:xfrm>
          <a:prstGeom prst="roundRect">
            <a:avLst>
              <a:gd name="adj" fmla="val 36735"/>
            </a:avLst>
          </a:prstGeom>
          <a:solidFill>
            <a:srgbClr val="E8ECF1"/>
          </a:solidFill>
          <a:ln/>
        </p:spPr>
      </p:sp>
      <p:sp>
        <p:nvSpPr>
          <p:cNvPr id="25" name="Text 21"/>
          <p:cNvSpPr/>
          <p:nvPr/>
        </p:nvSpPr>
        <p:spPr>
          <a:xfrm>
            <a:off x="713649" y="3347517"/>
            <a:ext cx="1878806" cy="200025"/>
          </a:xfrm>
          <a:prstGeom prst="rect">
            <a:avLst/>
          </a:prstGeom>
          <a:solidFill>
            <a:srgbClr val="316E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warp 43.7%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2590447" y="3347517"/>
            <a:ext cx="1450181" cy="200025"/>
          </a:xfrm>
          <a:prstGeom prst="rect">
            <a:avLst/>
          </a:prstGeom>
          <a:solidFill>
            <a:srgbClr val="5D91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median 33.7%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4038953" y="3347517"/>
            <a:ext cx="928688" cy="200025"/>
          </a:xfrm>
          <a:prstGeom prst="rect">
            <a:avLst/>
          </a:prstGeom>
          <a:solidFill>
            <a:srgbClr val="8EB1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拟合 21.6%</a:t>
            </a:r>
            <a:endParaRPr lang="en-US" sz="600" dirty="0"/>
          </a:p>
        </p:txBody>
      </p:sp>
      <p:sp>
        <p:nvSpPr>
          <p:cNvPr id="28" name="Shape 24"/>
          <p:cNvSpPr/>
          <p:nvPr/>
        </p:nvSpPr>
        <p:spPr>
          <a:xfrm>
            <a:off x="4967250" y="3347517"/>
            <a:ext cx="42863" cy="200025"/>
          </a:xfrm>
          <a:prstGeom prst="rect">
            <a:avLst/>
          </a:prstGeom>
          <a:solidFill>
            <a:srgbClr val="BCC5CF"/>
          </a:solidFill>
          <a:ln/>
        </p:spPr>
      </p:sp>
      <p:sp>
        <p:nvSpPr>
          <p:cNvPr id="29" name="Shape 25"/>
          <p:cNvSpPr/>
          <p:nvPr/>
        </p:nvSpPr>
        <p:spPr>
          <a:xfrm>
            <a:off x="714375" y="3633267"/>
            <a:ext cx="50006" cy="50006"/>
          </a:xfrm>
          <a:prstGeom prst="ellipse">
            <a:avLst/>
          </a:prstGeom>
          <a:solidFill>
            <a:srgbClr val="316EA8"/>
          </a:solidFill>
          <a:ln/>
        </p:spPr>
      </p:sp>
      <p:sp>
        <p:nvSpPr>
          <p:cNvPr id="30" name="Text 26"/>
          <p:cNvSpPr/>
          <p:nvPr/>
        </p:nvSpPr>
        <p:spPr>
          <a:xfrm>
            <a:off x="806574" y="3618979"/>
            <a:ext cx="378619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5666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warp </a:t>
            </a:r>
            <a:pPr algn="l" indent="0" marL="0">
              <a:buNone/>
            </a:pPr>
            <a:r>
              <a:rPr lang="en-US" sz="500" b="1" dirty="0">
                <a:solidFill>
                  <a:srgbClr val="27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43.7%</a:t>
            </a:r>
            <a:endParaRPr lang="en-US" sz="500" dirty="0"/>
          </a:p>
        </p:txBody>
      </p:sp>
      <p:sp>
        <p:nvSpPr>
          <p:cNvPr id="31" name="Shape 27"/>
          <p:cNvSpPr/>
          <p:nvPr/>
        </p:nvSpPr>
        <p:spPr>
          <a:xfrm>
            <a:off x="1802681" y="3633267"/>
            <a:ext cx="50006" cy="50006"/>
          </a:xfrm>
          <a:prstGeom prst="ellipse">
            <a:avLst/>
          </a:prstGeom>
          <a:solidFill>
            <a:srgbClr val="5D91C4"/>
          </a:solidFill>
          <a:ln/>
        </p:spPr>
      </p:sp>
      <p:sp>
        <p:nvSpPr>
          <p:cNvPr id="32" name="Text 28"/>
          <p:cNvSpPr/>
          <p:nvPr/>
        </p:nvSpPr>
        <p:spPr>
          <a:xfrm>
            <a:off x="1895326" y="3618979"/>
            <a:ext cx="457200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5666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median </a:t>
            </a:r>
            <a:pPr algn="l" indent="0" marL="0">
              <a:buNone/>
            </a:pPr>
            <a:r>
              <a:rPr lang="en-US" sz="500" b="1" dirty="0">
                <a:solidFill>
                  <a:srgbClr val="27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33.7%</a:t>
            </a:r>
            <a:endParaRPr lang="en-US" sz="500" dirty="0"/>
          </a:p>
        </p:txBody>
      </p:sp>
      <p:sp>
        <p:nvSpPr>
          <p:cNvPr id="33" name="Shape 29"/>
          <p:cNvSpPr/>
          <p:nvPr/>
        </p:nvSpPr>
        <p:spPr>
          <a:xfrm>
            <a:off x="2890986" y="3633267"/>
            <a:ext cx="50006" cy="50006"/>
          </a:xfrm>
          <a:prstGeom prst="ellipse">
            <a:avLst/>
          </a:prstGeom>
          <a:solidFill>
            <a:srgbClr val="8EB1D1"/>
          </a:solidFill>
          <a:ln/>
        </p:spPr>
      </p:sp>
      <p:sp>
        <p:nvSpPr>
          <p:cNvPr id="34" name="Text 30"/>
          <p:cNvSpPr/>
          <p:nvPr/>
        </p:nvSpPr>
        <p:spPr>
          <a:xfrm>
            <a:off x="2984302" y="3604692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5666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拟合 </a:t>
            </a:r>
            <a:pPr algn="l" indent="0" marL="0">
              <a:buNone/>
            </a:pPr>
            <a:r>
              <a:rPr lang="en-US" sz="500" b="1" dirty="0">
                <a:solidFill>
                  <a:srgbClr val="27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21.6%</a:t>
            </a:r>
            <a:endParaRPr lang="en-US" sz="500" dirty="0"/>
          </a:p>
        </p:txBody>
      </p:sp>
      <p:sp>
        <p:nvSpPr>
          <p:cNvPr id="35" name="Shape 31"/>
          <p:cNvSpPr/>
          <p:nvPr/>
        </p:nvSpPr>
        <p:spPr>
          <a:xfrm>
            <a:off x="3979292" y="3633267"/>
            <a:ext cx="50006" cy="50006"/>
          </a:xfrm>
          <a:prstGeom prst="ellipse">
            <a:avLst/>
          </a:prstGeom>
          <a:solidFill>
            <a:srgbClr val="BCC5CF"/>
          </a:solidFill>
          <a:ln/>
        </p:spPr>
      </p:sp>
      <p:sp>
        <p:nvSpPr>
          <p:cNvPr id="36" name="Text 32"/>
          <p:cNvSpPr/>
          <p:nvPr/>
        </p:nvSpPr>
        <p:spPr>
          <a:xfrm>
            <a:off x="4072998" y="3604692"/>
            <a:ext cx="264319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5666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读帧 </a:t>
            </a:r>
            <a:pPr algn="l" indent="0" marL="0">
              <a:buNone/>
            </a:pPr>
            <a:r>
              <a:rPr lang="en-US" sz="500" b="1" dirty="0">
                <a:solidFill>
                  <a:srgbClr val="27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1%</a:t>
            </a:r>
            <a:endParaRPr lang="en-US" sz="500" dirty="0"/>
          </a:p>
        </p:txBody>
      </p:sp>
      <p:sp>
        <p:nvSpPr>
          <p:cNvPr id="37" name="Shape 33"/>
          <p:cNvSpPr/>
          <p:nvPr/>
        </p:nvSpPr>
        <p:spPr>
          <a:xfrm>
            <a:off x="5230564" y="1478756"/>
            <a:ext cx="3378994" cy="1971675"/>
          </a:xfrm>
          <a:prstGeom prst="roundRect">
            <a:avLst>
              <a:gd name="adj" fmla="val 4033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5366296" y="1614488"/>
            <a:ext cx="3107531" cy="528638"/>
          </a:xfrm>
          <a:prstGeom prst="roundRect">
            <a:avLst>
              <a:gd name="adj" fmla="val 9350"/>
            </a:avLst>
          </a:prstGeom>
          <a:solidFill>
            <a:srgbClr val="F7F9FB">
              <a:alpha val="8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459164" y="1693069"/>
            <a:ext cx="2921794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94"/>
              </a:spcAft>
              <a:buNone/>
            </a:pPr>
            <a:r>
              <a:rPr lang="en-US" sz="600" b="1" dirty="0">
                <a:solidFill>
                  <a:srgbClr val="27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新硬约束 </a:t>
            </a:r>
            <a:pPr algn="l" indent="0" marL="0">
              <a:buNone/>
            </a:pPr>
            <a:r>
              <a:rPr lang="en-US" sz="500" b="1" dirty="0">
                <a:solidFill>
                  <a:srgbClr val="9B7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STANDARD</a:t>
            </a:r>
            <a:endParaRPr lang="en-US" sz="600" dirty="0"/>
          </a:p>
        </p:txBody>
      </p:sp>
      <p:sp>
        <p:nvSpPr>
          <p:cNvPr id="40" name="Text 36"/>
          <p:cNvSpPr/>
          <p:nvPr/>
        </p:nvSpPr>
        <p:spPr>
          <a:xfrm>
            <a:off x="5458997" y="1900238"/>
            <a:ext cx="6429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363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零丢帧 + 有界延时</a:t>
            </a:r>
            <a:endParaRPr lang="en-US" sz="600" dirty="0"/>
          </a:p>
        </p:txBody>
      </p:sp>
      <p:sp>
        <p:nvSpPr>
          <p:cNvPr id="41" name="Text 37"/>
          <p:cNvSpPr/>
          <p:nvPr/>
        </p:nvSpPr>
        <p:spPr>
          <a:xfrm>
            <a:off x="6149876" y="1864519"/>
            <a:ext cx="800100" cy="185738"/>
          </a:xfrm>
          <a:prstGeom prst="roundRect">
            <a:avLst>
              <a:gd name="adj" fmla="val 42603"/>
            </a:avLst>
          </a:prstGeom>
          <a:solidFill>
            <a:srgbClr val="C9974D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04F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吞吐 ≥ 相机率</a:t>
            </a:r>
            <a:endParaRPr lang="en-US" sz="600" dirty="0"/>
          </a:p>
        </p:txBody>
      </p:sp>
      <p:sp>
        <p:nvSpPr>
          <p:cNvPr id="42" name="Text 38"/>
          <p:cNvSpPr/>
          <p:nvPr/>
        </p:nvSpPr>
        <p:spPr>
          <a:xfrm>
            <a:off x="7514220" y="1864519"/>
            <a:ext cx="864394" cy="185738"/>
          </a:xfrm>
          <a:prstGeom prst="roundRect">
            <a:avLst>
              <a:gd name="adj" fmla="val 42603"/>
            </a:avLst>
          </a:prstGeom>
          <a:solidFill>
            <a:srgbClr val="2E8B57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47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fps ⇒ ≤ 40 ms/帧</a:t>
            </a:r>
            <a:endParaRPr lang="en-US" sz="600" dirty="0"/>
          </a:p>
        </p:txBody>
      </p:sp>
      <p:sp>
        <p:nvSpPr>
          <p:cNvPr id="43" name="Shape 39"/>
          <p:cNvSpPr/>
          <p:nvPr/>
        </p:nvSpPr>
        <p:spPr>
          <a:xfrm>
            <a:off x="5366296" y="2200275"/>
            <a:ext cx="3107531" cy="528638"/>
          </a:xfrm>
          <a:prstGeom prst="roundRect">
            <a:avLst>
              <a:gd name="adj" fmla="val 9350"/>
            </a:avLst>
          </a:prstGeom>
          <a:solidFill>
            <a:srgbClr val="F7F9FB">
              <a:alpha val="8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459164" y="2278856"/>
            <a:ext cx="2921794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94"/>
              </a:spcAft>
              <a:buNone/>
            </a:pPr>
            <a:r>
              <a:rPr lang="en-US" sz="600" b="1" dirty="0">
                <a:solidFill>
                  <a:srgbClr val="27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实测差距 </a:t>
            </a:r>
            <a:pPr algn="l" indent="0" marL="0">
              <a:buNone/>
            </a:pPr>
            <a:r>
              <a:rPr lang="en-US" sz="500" b="1" dirty="0">
                <a:solidFill>
                  <a:srgbClr val="9B7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BENCHMARK</a:t>
            </a:r>
            <a:endParaRPr lang="en-US" sz="600" dirty="0"/>
          </a:p>
        </p:txBody>
      </p:sp>
      <p:sp>
        <p:nvSpPr>
          <p:cNvPr id="45" name="Text 41"/>
          <p:cNvSpPr/>
          <p:nvPr/>
        </p:nvSpPr>
        <p:spPr>
          <a:xfrm>
            <a:off x="5460616" y="2486025"/>
            <a:ext cx="321469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step10</a:t>
            </a:r>
            <a:endParaRPr lang="en-US" sz="500" dirty="0"/>
          </a:p>
        </p:txBody>
      </p:sp>
      <p:sp>
        <p:nvSpPr>
          <p:cNvPr id="46" name="Shape 42"/>
          <p:cNvSpPr/>
          <p:nvPr/>
        </p:nvSpPr>
        <p:spPr>
          <a:xfrm>
            <a:off x="5802064" y="2478881"/>
            <a:ext cx="2578894" cy="85725"/>
          </a:xfrm>
          <a:prstGeom prst="roundRect">
            <a:avLst>
              <a:gd name="adj" fmla="val 133333"/>
            </a:avLst>
          </a:prstGeom>
          <a:solidFill>
            <a:srgbClr val="E3E8EE"/>
          </a:solidFill>
          <a:ln/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1730" y="2478881"/>
            <a:ext cx="1343025" cy="85725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7937599" y="2457450"/>
            <a:ext cx="442912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27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60.8–61.2 ms</a:t>
            </a:r>
            <a:endParaRPr lang="en-US" sz="500" dirty="0"/>
          </a:p>
        </p:txBody>
      </p:sp>
      <p:sp>
        <p:nvSpPr>
          <p:cNvPr id="49" name="Text 44"/>
          <p:cNvSpPr/>
          <p:nvPr/>
        </p:nvSpPr>
        <p:spPr>
          <a:xfrm>
            <a:off x="5460616" y="2678906"/>
            <a:ext cx="321469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step2</a:t>
            </a:r>
            <a:endParaRPr lang="en-US" sz="500" dirty="0"/>
          </a:p>
        </p:txBody>
      </p:sp>
      <p:sp>
        <p:nvSpPr>
          <p:cNvPr id="50" name="Shape 45"/>
          <p:cNvSpPr/>
          <p:nvPr/>
        </p:nvSpPr>
        <p:spPr>
          <a:xfrm>
            <a:off x="5802064" y="2671763"/>
            <a:ext cx="2578894" cy="85725"/>
          </a:xfrm>
          <a:prstGeom prst="roundRect">
            <a:avLst>
              <a:gd name="adj" fmla="val 133333"/>
            </a:avLst>
          </a:prstGeom>
          <a:solidFill>
            <a:srgbClr val="E3E8EE"/>
          </a:solidFill>
          <a:ln/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02064" y="2671763"/>
            <a:ext cx="2578894" cy="85725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7858571" y="2650331"/>
            <a:ext cx="521494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27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157.6–161.1 ms</a:t>
            </a:r>
            <a:endParaRPr lang="en-US" sz="500" dirty="0"/>
          </a:p>
        </p:txBody>
      </p:sp>
      <p:sp>
        <p:nvSpPr>
          <p:cNvPr id="53" name="Text 47"/>
          <p:cNvSpPr/>
          <p:nvPr/>
        </p:nvSpPr>
        <p:spPr>
          <a:xfrm>
            <a:off x="7986322" y="2714625"/>
            <a:ext cx="392906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247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目标线 40 ms</a:t>
            </a:r>
            <a:endParaRPr lang="en-US" sz="500" dirty="0"/>
          </a:p>
        </p:txBody>
      </p:sp>
      <p:sp>
        <p:nvSpPr>
          <p:cNvPr id="54" name="Shape 48"/>
          <p:cNvSpPr/>
          <p:nvPr/>
        </p:nvSpPr>
        <p:spPr>
          <a:xfrm>
            <a:off x="5366296" y="2786062"/>
            <a:ext cx="3107531" cy="528638"/>
          </a:xfrm>
          <a:prstGeom prst="roundRect">
            <a:avLst>
              <a:gd name="adj" fmla="val 9350"/>
            </a:avLst>
          </a:prstGeom>
          <a:solidFill>
            <a:srgbClr val="F7F9FB">
              <a:alpha val="8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5459164" y="2864644"/>
            <a:ext cx="2921794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94"/>
              </a:spcAft>
              <a:buNone/>
            </a:pPr>
            <a:r>
              <a:rPr lang="en-US" sz="600" b="1" dirty="0">
                <a:solidFill>
                  <a:srgbClr val="2738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锚定成立条件 </a:t>
            </a:r>
            <a:pPr algn="l" indent="0" marL="0">
              <a:buNone/>
            </a:pPr>
            <a:r>
              <a:rPr lang="en-US" sz="500" b="1" dirty="0">
                <a:solidFill>
                  <a:srgbClr val="9B7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GATE</a:t>
            </a:r>
            <a:endParaRPr lang="en-US" sz="600" dirty="0"/>
          </a:p>
        </p:txBody>
      </p:sp>
      <p:sp>
        <p:nvSpPr>
          <p:cNvPr id="56" name="Text 50"/>
          <p:cNvSpPr/>
          <p:nvPr/>
        </p:nvSpPr>
        <p:spPr>
          <a:xfrm>
            <a:off x="5461285" y="3039666"/>
            <a:ext cx="1385887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3344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物理帧号锚定</a:t>
            </a:r>
            <a:endParaRPr lang="en-US" sz="500" dirty="0"/>
          </a:p>
        </p:txBody>
      </p:sp>
      <p:sp>
        <p:nvSpPr>
          <p:cNvPr id="57" name="Text 51"/>
          <p:cNvSpPr/>
          <p:nvPr/>
        </p:nvSpPr>
        <p:spPr>
          <a:xfrm>
            <a:off x="6891319" y="3036094"/>
            <a:ext cx="571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7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700" dirty="0"/>
          </a:p>
        </p:txBody>
      </p:sp>
      <p:sp>
        <p:nvSpPr>
          <p:cNvPr id="58" name="Text 52"/>
          <p:cNvSpPr/>
          <p:nvPr/>
        </p:nvSpPr>
        <p:spPr>
          <a:xfrm>
            <a:off x="6992727" y="3039666"/>
            <a:ext cx="1385887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3344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消费计数锚定</a:t>
            </a:r>
            <a:endParaRPr lang="en-US" sz="500" dirty="0"/>
          </a:p>
        </p:txBody>
      </p:sp>
      <p:sp>
        <p:nvSpPr>
          <p:cNvPr id="59" name="Text 53"/>
          <p:cNvSpPr/>
          <p:nvPr/>
        </p:nvSpPr>
        <p:spPr>
          <a:xfrm>
            <a:off x="6577050" y="3200400"/>
            <a:ext cx="685800" cy="135731"/>
          </a:xfrm>
          <a:prstGeom prst="roundRect">
            <a:avLst>
              <a:gd name="adj" fmla="val 70914"/>
            </a:avLst>
          </a:prstGeom>
          <a:solidFill>
            <a:srgbClr val="2E8B57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56"/>
              </a:spcBef>
              <a:buNone/>
            </a:pPr>
            <a:r>
              <a:rPr lang="en-US" sz="500" b="1" dirty="0">
                <a:solidFill>
                  <a:srgbClr val="247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dropped == 0</a:t>
            </a:r>
            <a:endParaRPr lang="en-US" sz="500" dirty="0"/>
          </a:p>
        </p:txBody>
      </p:sp>
      <p:pic>
        <p:nvPicPr>
          <p:cNvPr id="6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8532" y="3536156"/>
            <a:ext cx="8029575" cy="414338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698357" y="3636169"/>
            <a:ext cx="814388" cy="214313"/>
          </a:xfrm>
          <a:prstGeom prst="roundRect">
            <a:avLst>
              <a:gd name="adj" fmla="val 53333"/>
            </a:avLst>
          </a:prstGeom>
          <a:solidFill>
            <a:srgbClr val="2E8B57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47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深缓冲｜0 帧 / 0 洞</a:t>
            </a:r>
            <a:endParaRPr lang="en-US" sz="600" dirty="0"/>
          </a:p>
        </p:txBody>
      </p:sp>
      <p:sp>
        <p:nvSpPr>
          <p:cNvPr id="62" name="Text 55"/>
          <p:cNvSpPr/>
          <p:nvPr/>
        </p:nvSpPr>
        <p:spPr>
          <a:xfrm>
            <a:off x="1619734" y="3678975"/>
            <a:ext cx="5900738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700" b="1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稳定性已被“深缓冲”解决一半——“零丢帧”从结果变成必须守住的前提</a:t>
            </a:r>
            <a:endParaRPr lang="en-US" sz="700" dirty="0"/>
          </a:p>
        </p:txBody>
      </p:sp>
      <p:sp>
        <p:nvSpPr>
          <p:cNvPr id="63" name="Text 56"/>
          <p:cNvSpPr/>
          <p:nvPr/>
        </p:nvSpPr>
        <p:spPr>
          <a:xfrm>
            <a:off x="7629190" y="3693319"/>
            <a:ext cx="857250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59"/>
              </a:lnSpc>
              <a:buNone/>
            </a:pPr>
            <a:r>
              <a:rPr lang="en-US" sz="500" dirty="0">
                <a:solidFill>
                  <a:srgbClr val="66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锚定等价不能由深缓冲替代</a:t>
            </a:r>
            <a:endParaRPr lang="en-US" sz="500" dirty="0"/>
          </a:p>
        </p:txBody>
      </p:sp>
      <p:sp>
        <p:nvSpPr>
          <p:cNvPr id="64" name="Text 57"/>
          <p:cNvSpPr/>
          <p:nvPr/>
        </p:nvSpPr>
        <p:spPr>
          <a:xfrm>
            <a:off x="578644" y="4079081"/>
            <a:ext cx="8029575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00" dirty="0"/>
          </a:p>
        </p:txBody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8644" y="564356"/>
            <a:ext cx="8029575" cy="785813"/>
          </a:xfrm>
          <a:prstGeom prst="rect">
            <a:avLst/>
          </a:prstGeom>
        </p:spPr>
      </p:pic>
      <p:pic>
        <p:nvPicPr>
          <p:cNvPr id="6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5770" y="1614488"/>
            <a:ext cx="4293394" cy="728663"/>
          </a:xfrm>
          <a:prstGeom prst="rect">
            <a:avLst/>
          </a:prstGeom>
        </p:spPr>
      </p:pic>
      <p:sp>
        <p:nvSpPr>
          <p:cNvPr id="67" name="Text 58"/>
          <p:cNvSpPr/>
          <p:nvPr/>
        </p:nvSpPr>
        <p:spPr>
          <a:xfrm>
            <a:off x="714598" y="2604567"/>
            <a:ext cx="3371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· 62.765 ms</a:t>
            </a:r>
            <a:endParaRPr lang="en-US" sz="600" dirty="0"/>
          </a:p>
        </p:txBody>
      </p:sp>
      <p:sp>
        <p:nvSpPr>
          <p:cNvPr id="68" name="Shape 59"/>
          <p:cNvSpPr/>
          <p:nvPr/>
        </p:nvSpPr>
        <p:spPr>
          <a:xfrm>
            <a:off x="6370104" y="2450306"/>
            <a:ext cx="7144" cy="357187"/>
          </a:xfrm>
          <a:prstGeom prst="rect">
            <a:avLst/>
          </a:prstGeom>
          <a:solidFill>
            <a:srgbClr val="2E8B57"/>
          </a:solidFill>
          <a:ln/>
        </p:spPr>
      </p:sp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8644" y="4079081"/>
            <a:ext cx="8029575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57188" y="357188"/>
            <a:ext cx="8779669" cy="785813"/>
          </a:xfrm>
          <a:prstGeom prst="rect">
            <a:avLst/>
          </a:prstGeom>
          <a:ln/>
        </p:spPr>
      </p:sp>
      <p:sp>
        <p:nvSpPr>
          <p:cNvPr id="6" name="Text 3"/>
          <p:cNvSpPr/>
          <p:nvPr/>
        </p:nvSpPr>
        <p:spPr>
          <a:xfrm>
            <a:off x="356964" y="215764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579519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难题二 · NPU 账本：算子匹配与效率反直觉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579519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问题不在算力，而在算子落点、计算路径与输入闸门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79606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05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57801" y="1271588"/>
            <a:ext cx="3286125" cy="2343150"/>
          </a:xfrm>
          <a:prstGeom prst="roundRect">
            <a:avLst>
              <a:gd name="adj" fmla="val 2855"/>
            </a:avLst>
          </a:prstGeom>
          <a:solidFill>
            <a:srgbClr val="122033"/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14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597" y="1421606"/>
            <a:ext cx="2214563" cy="15716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8881" y="1443037"/>
            <a:ext cx="1264444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D9B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PERFORMANCE LEDGER</a:t>
            </a:r>
            <a:endParaRPr lang="en-US" sz="500" dirty="0"/>
          </a:p>
        </p:txBody>
      </p:sp>
      <p:sp>
        <p:nvSpPr>
          <p:cNvPr id="13" name="Text 9"/>
          <p:cNvSpPr/>
          <p:nvPr/>
        </p:nvSpPr>
        <p:spPr>
          <a:xfrm>
            <a:off x="2953215" y="1407319"/>
            <a:ext cx="542925" cy="150019"/>
          </a:xfrm>
          <a:prstGeom prst="roundRect">
            <a:avLst>
              <a:gd name="adj" fmla="val 76190"/>
            </a:avLst>
          </a:prstGeom>
          <a:ln w="7144">
            <a:solidFill>
              <a:srgbClr val="C9974D">
                <a:alpha val="38000"/>
              </a:srgbClr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6C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笔真实成本</a:t>
            </a:r>
            <a:endParaRPr lang="en-US" sz="500" dirty="0"/>
          </a:p>
        </p:txBody>
      </p:sp>
      <p:sp>
        <p:nvSpPr>
          <p:cNvPr id="14" name="Text 10"/>
          <p:cNvSpPr/>
          <p:nvPr/>
        </p:nvSpPr>
        <p:spPr>
          <a:xfrm>
            <a:off x="507206" y="1620906"/>
            <a:ext cx="2607469" cy="7500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6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不是“算得慢”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lnSpc>
                <a:spcPts val="1966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pPr algn="l" indent="0" marL="0">
              <a:lnSpc>
                <a:spcPts val="1966"/>
              </a:lnSpc>
              <a:buNone/>
            </a:pPr>
            <a:r>
              <a:rPr lang="en-US" sz="1500" b="1" dirty="0">
                <a:solidFill>
                  <a:srgbClr val="E6B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“算的东西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lnSpc>
                <a:spcPts val="1966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pPr algn="l" indent="0" marL="0">
              <a:lnSpc>
                <a:spcPts val="1966"/>
              </a:lnSpc>
              <a:buNone/>
            </a:pPr>
            <a:r>
              <a:rPr lang="en-US" sz="1500" b="1" dirty="0">
                <a:solidFill>
                  <a:srgbClr val="E6B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算的方式</a:t>
            </a:r>
            <a:pPr algn="l" indent="0" marL="0">
              <a:lnSpc>
                <a:spcPts val="1966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都不对”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07820" y="2441711"/>
            <a:ext cx="2986087" cy="342900"/>
          </a:xfrm>
          <a:prstGeom prst="roundRect">
            <a:avLst>
              <a:gd name="adj" fmla="val 16667"/>
            </a:avLst>
          </a:prstGeom>
          <a:solidFill>
            <a:srgbClr val="FFFFFF">
              <a:alpha val="7000"/>
            </a:srgbClr>
          </a:solidFill>
          <a:ln w="7144">
            <a:solidFill>
              <a:srgbClr val="FFFFFF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D9B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731"/>
              </a:lnSpc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算子落错</a:t>
            </a:r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773"/>
              </a:lnSpc>
              <a:buNone/>
            </a:pPr>
            <a:r>
              <a:rPr lang="en-US" sz="600" dirty="0">
                <a:solidFill>
                  <a:srgbClr val="C8D1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静默回退</a:t>
            </a:r>
            <a:endParaRPr lang="en-US" sz="500" dirty="0"/>
          </a:p>
        </p:txBody>
      </p:sp>
      <p:sp>
        <p:nvSpPr>
          <p:cNvPr id="16" name="Text 12"/>
          <p:cNvSpPr/>
          <p:nvPr/>
        </p:nvSpPr>
        <p:spPr>
          <a:xfrm>
            <a:off x="507820" y="2834618"/>
            <a:ext cx="2986087" cy="342900"/>
          </a:xfrm>
          <a:prstGeom prst="roundRect">
            <a:avLst>
              <a:gd name="adj" fmla="val 16667"/>
            </a:avLst>
          </a:prstGeom>
          <a:solidFill>
            <a:srgbClr val="FFFFFF">
              <a:alpha val="7000"/>
            </a:srgbClr>
          </a:solidFill>
          <a:ln w="7144">
            <a:solidFill>
              <a:srgbClr val="FFFFFF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D9B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731"/>
              </a:lnSpc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路径重复</a:t>
            </a:r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773"/>
              </a:lnSpc>
              <a:buNone/>
            </a:pPr>
            <a:r>
              <a:rPr lang="en-US" sz="600" dirty="0">
                <a:solidFill>
                  <a:srgbClr val="C8D1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multi-scale × 3 次前向</a:t>
            </a:r>
            <a:endParaRPr lang="en-US" sz="500" dirty="0"/>
          </a:p>
        </p:txBody>
      </p:sp>
      <p:sp>
        <p:nvSpPr>
          <p:cNvPr id="17" name="Text 13"/>
          <p:cNvSpPr/>
          <p:nvPr/>
        </p:nvSpPr>
        <p:spPr>
          <a:xfrm>
            <a:off x="507820" y="3227524"/>
            <a:ext cx="2986087" cy="342900"/>
          </a:xfrm>
          <a:prstGeom prst="roundRect">
            <a:avLst>
              <a:gd name="adj" fmla="val 16667"/>
            </a:avLst>
          </a:prstGeom>
          <a:solidFill>
            <a:srgbClr val="FFFFFF">
              <a:alpha val="7000"/>
            </a:srgbClr>
          </a:solidFill>
          <a:ln w="7144">
            <a:solidFill>
              <a:srgbClr val="FFFFFF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D9B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731"/>
              </a:lnSpc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输入受限</a:t>
            </a:r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773"/>
              </a:lnSpc>
              <a:buNone/>
            </a:pPr>
            <a:r>
              <a:rPr lang="en-US" sz="600" dirty="0">
                <a:solidFill>
                  <a:srgbClr val="C8D1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dtype 成为硬闸门</a:t>
            </a:r>
            <a:endParaRPr lang="en-US" sz="500" dirty="0"/>
          </a:p>
        </p:txBody>
      </p:sp>
      <p:sp>
        <p:nvSpPr>
          <p:cNvPr id="18" name="Shape 14"/>
          <p:cNvSpPr/>
          <p:nvPr/>
        </p:nvSpPr>
        <p:spPr>
          <a:xfrm>
            <a:off x="3772458" y="1272704"/>
            <a:ext cx="5364956" cy="735806"/>
          </a:xfrm>
          <a:prstGeom prst="roundRect">
            <a:avLst>
              <a:gd name="adj" fmla="val 21717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85738" dist="71438" dir="5400000">
              <a:srgbClr val="0F172A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873140" y="1497732"/>
            <a:ext cx="285750" cy="285750"/>
          </a:xfrm>
          <a:prstGeom prst="roundRect">
            <a:avLst>
              <a:gd name="adj" fmla="val 26000"/>
            </a:avLst>
          </a:prstGeom>
          <a:solidFill>
            <a:srgbClr val="CA4B4B">
              <a:alpha val="9000"/>
            </a:srgbClr>
          </a:solidFill>
          <a:ln w="7144">
            <a:solidFill>
              <a:srgbClr val="CA4B4B">
                <a:alpha val="18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290" y="1554882"/>
            <a:ext cx="171450" cy="1714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250587" y="1448284"/>
            <a:ext cx="4786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28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算子匹配</a:t>
            </a:r>
            <a:endParaRPr lang="en-US" sz="500" dirty="0"/>
          </a:p>
        </p:txBody>
      </p:sp>
      <p:sp>
        <p:nvSpPr>
          <p:cNvPr id="22" name="Text 17"/>
          <p:cNvSpPr/>
          <p:nvPr/>
        </p:nvSpPr>
        <p:spPr>
          <a:xfrm>
            <a:off x="4785196" y="1441140"/>
            <a:ext cx="528638" cy="121444"/>
          </a:xfrm>
          <a:prstGeom prst="roundRect">
            <a:avLst>
              <a:gd name="adj" fmla="val 94117"/>
            </a:avLst>
          </a:prstGeom>
          <a:solidFill>
            <a:srgbClr val="CA4B4B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643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无异常 · 已偏离</a:t>
            </a:r>
            <a:endParaRPr lang="en-US" sz="500" dirty="0"/>
          </a:p>
        </p:txBody>
      </p:sp>
      <p:sp>
        <p:nvSpPr>
          <p:cNvPr id="23" name="Text 18"/>
          <p:cNvSpPr/>
          <p:nvPr/>
        </p:nvSpPr>
        <p:spPr>
          <a:xfrm>
            <a:off x="4251089" y="1584015"/>
            <a:ext cx="3979069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“编译通过” ≠ “全在 NPU 上”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4251089" y="1733476"/>
            <a:ext cx="3979069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spcBef>
                <a:spcPts val="169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有 1 个计算算子静默落到 CPU，不抛异常、不改指标。</a:t>
            </a:r>
            <a:endParaRPr lang="en-US" sz="600" dirty="0"/>
          </a:p>
        </p:txBody>
      </p:sp>
      <p:sp>
        <p:nvSpPr>
          <p:cNvPr id="25" name="Shape 20"/>
          <p:cNvSpPr/>
          <p:nvPr/>
        </p:nvSpPr>
        <p:spPr>
          <a:xfrm>
            <a:off x="8308070" y="1433438"/>
            <a:ext cx="728663" cy="414338"/>
          </a:xfrm>
          <a:prstGeom prst="roundRect">
            <a:avLst>
              <a:gd name="adj" fmla="val 12366"/>
            </a:avLst>
          </a:prstGeom>
          <a:solidFill>
            <a:srgbClr val="CA4B4B">
              <a:alpha val="7000"/>
            </a:srgbClr>
          </a:solidFill>
          <a:ln w="7144">
            <a:solidFill>
              <a:srgbClr val="CA4B4B">
                <a:alpha val="12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372363" y="1490588"/>
            <a:ext cx="600075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500" b="1" dirty="0">
                <a:solidFill>
                  <a:srgbClr val="B7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8372363" y="1712044"/>
            <a:ext cx="600075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A643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CPU</a:t>
            </a:r>
            <a:endParaRPr lang="en-US" sz="500" dirty="0"/>
          </a:p>
        </p:txBody>
      </p:sp>
      <p:sp>
        <p:nvSpPr>
          <p:cNvPr id="28" name="Shape 23"/>
          <p:cNvSpPr/>
          <p:nvPr/>
        </p:nvSpPr>
        <p:spPr>
          <a:xfrm>
            <a:off x="3772458" y="2075036"/>
            <a:ext cx="5364956" cy="735806"/>
          </a:xfrm>
          <a:prstGeom prst="roundRect">
            <a:avLst>
              <a:gd name="adj" fmla="val 21717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85738" dist="71438" dir="5400000">
              <a:srgbClr val="0F172A">
                <a:alpha val="6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3873140" y="2145357"/>
            <a:ext cx="1071563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500" b="1" dirty="0">
                <a:solidFill>
                  <a:srgbClr val="A28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效率路径</a:t>
            </a:r>
            <a:endParaRPr lang="en-US" sz="500" dirty="0"/>
          </a:p>
        </p:txBody>
      </p:sp>
      <p:sp>
        <p:nvSpPr>
          <p:cNvPr id="30" name="Text 25"/>
          <p:cNvSpPr/>
          <p:nvPr/>
        </p:nvSpPr>
        <p:spPr>
          <a:xfrm>
            <a:off x="3873140" y="2281089"/>
            <a:ext cx="1071563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收益不与计算量线性相关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3873810" y="2581126"/>
            <a:ext cx="592931" cy="121444"/>
          </a:xfrm>
          <a:prstGeom prst="roundRect">
            <a:avLst>
              <a:gd name="adj" fmla="val 94117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multi-scale × 3</a:t>
            </a:r>
            <a:endParaRPr lang="en-US" sz="500" dirty="0"/>
          </a:p>
        </p:txBody>
      </p:sp>
      <p:sp>
        <p:nvSpPr>
          <p:cNvPr id="32" name="Text 27"/>
          <p:cNvSpPr/>
          <p:nvPr/>
        </p:nvSpPr>
        <p:spPr>
          <a:xfrm>
            <a:off x="3872861" y="2745432"/>
            <a:ext cx="578644" cy="121444"/>
          </a:xfrm>
          <a:prstGeom prst="roundRect">
            <a:avLst>
              <a:gd name="adj" fmla="val 94117"/>
            </a:avLst>
          </a:prstGeom>
          <a:solidFill>
            <a:srgbClr val="122033">
              <a:alpha val="6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× W ≤ 16384</a:t>
            </a:r>
            <a:endParaRPr lang="en-US" sz="500" dirty="0"/>
          </a:p>
        </p:txBody>
      </p:sp>
      <p:sp>
        <p:nvSpPr>
          <p:cNvPr id="33" name="Shape 28"/>
          <p:cNvSpPr/>
          <p:nvPr/>
        </p:nvSpPr>
        <p:spPr>
          <a:xfrm>
            <a:off x="5045943" y="2320323"/>
            <a:ext cx="1743075" cy="371475"/>
          </a:xfrm>
          <a:prstGeom prst="roundRect">
            <a:avLst>
              <a:gd name="adj" fmla="val 15385"/>
            </a:avLst>
          </a:prstGeom>
          <a:solidFill>
            <a:srgbClr val="122033">
              <a:alpha val="50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124524" y="2376413"/>
            <a:ext cx="1585913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</a:t>
            </a:r>
            <a:endParaRPr lang="en-US" sz="500" dirty="0"/>
          </a:p>
        </p:txBody>
      </p:sp>
      <p:sp>
        <p:nvSpPr>
          <p:cNvPr id="35" name="Text 30"/>
          <p:cNvSpPr/>
          <p:nvPr/>
        </p:nvSpPr>
        <p:spPr>
          <a:xfrm>
            <a:off x="5124524" y="2456055"/>
            <a:ext cx="1585913" cy="178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00" b="1" dirty="0">
                <a:solidFill>
                  <a:srgbClr val="5264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6.8%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6856214" y="2281089"/>
            <a:ext cx="2178844" cy="450056"/>
          </a:xfrm>
          <a:prstGeom prst="roundRect">
            <a:avLst>
              <a:gd name="adj" fmla="val 10481"/>
            </a:avLst>
          </a:prstGeom>
          <a:solidFill>
            <a:srgbClr val="C9974D">
              <a:alpha val="13000"/>
            </a:srgbClr>
          </a:solidFill>
          <a:ln w="7144">
            <a:solidFill>
              <a:srgbClr val="C9974D">
                <a:alpha val="1800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949083" y="2340025"/>
            <a:ext cx="199310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真实时延</a:t>
            </a:r>
            <a:endParaRPr lang="en-US" sz="500" dirty="0"/>
          </a:p>
        </p:txBody>
      </p:sp>
      <p:sp>
        <p:nvSpPr>
          <p:cNvPr id="38" name="Text 33"/>
          <p:cNvSpPr/>
          <p:nvPr/>
        </p:nvSpPr>
        <p:spPr>
          <a:xfrm>
            <a:off x="6949083" y="2445395"/>
            <a:ext cx="1993106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600" b="1" dirty="0">
                <a:solidFill>
                  <a:srgbClr val="9A6C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46.5%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8715263" y="2332881"/>
            <a:ext cx="257175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9A6C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非线性感</a:t>
            </a:r>
            <a:endParaRPr lang="en-US" sz="500" dirty="0"/>
          </a:p>
        </p:txBody>
      </p:sp>
      <p:sp>
        <p:nvSpPr>
          <p:cNvPr id="40" name="Shape 35"/>
          <p:cNvSpPr/>
          <p:nvPr/>
        </p:nvSpPr>
        <p:spPr>
          <a:xfrm>
            <a:off x="3772458" y="2877480"/>
            <a:ext cx="5364956" cy="735806"/>
          </a:xfrm>
          <a:prstGeom prst="roundRect">
            <a:avLst>
              <a:gd name="adj" fmla="val 21717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85738" dist="71438" dir="5400000">
              <a:srgbClr val="0F172A">
                <a:alpha val="6000"/>
              </a:srgbClr>
            </a:outerShdw>
          </a:effectLst>
        </p:spPr>
      </p:sp>
      <p:sp>
        <p:nvSpPr>
          <p:cNvPr id="41" name="Text 36"/>
          <p:cNvSpPr/>
          <p:nvPr/>
        </p:nvSpPr>
        <p:spPr>
          <a:xfrm>
            <a:off x="3871968" y="2954834"/>
            <a:ext cx="4786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28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量化闸门</a:t>
            </a:r>
            <a:endParaRPr lang="en-US" sz="500" dirty="0"/>
          </a:p>
        </p:txBody>
      </p:sp>
      <p:sp>
        <p:nvSpPr>
          <p:cNvPr id="42" name="Text 37"/>
          <p:cNvSpPr/>
          <p:nvPr/>
        </p:nvSpPr>
        <p:spPr>
          <a:xfrm>
            <a:off x="4404792" y="2947690"/>
            <a:ext cx="471488" cy="121444"/>
          </a:xfrm>
          <a:prstGeom prst="roundRect">
            <a:avLst>
              <a:gd name="adj" fmla="val 94117"/>
            </a:avLst>
          </a:prstGeom>
          <a:solidFill>
            <a:srgbClr val="CA4B4B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643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dtype 硬约束</a:t>
            </a:r>
            <a:endParaRPr lang="en-US" sz="500" dirty="0"/>
          </a:p>
        </p:txBody>
      </p:sp>
      <p:sp>
        <p:nvSpPr>
          <p:cNvPr id="43" name="Text 38"/>
          <p:cNvSpPr/>
          <p:nvPr/>
        </p:nvSpPr>
        <p:spPr>
          <a:xfrm>
            <a:off x="3872471" y="3097709"/>
            <a:ext cx="4171950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f16 展宽路径 → int8 高效路径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3872136" y="3269159"/>
            <a:ext cx="650081" cy="157163"/>
          </a:xfrm>
          <a:prstGeom prst="roundRect">
            <a:avLst>
              <a:gd name="adj" fmla="val 59504"/>
            </a:avLst>
          </a:prstGeom>
          <a:solidFill>
            <a:srgbClr val="122033">
              <a:alpha val="6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264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f16 45.41 ms</a:t>
            </a:r>
            <a:endParaRPr lang="en-US" sz="600" dirty="0"/>
          </a:p>
        </p:txBody>
      </p:sp>
      <p:sp>
        <p:nvSpPr>
          <p:cNvPr id="45" name="Text 40"/>
          <p:cNvSpPr/>
          <p:nvPr/>
        </p:nvSpPr>
        <p:spPr>
          <a:xfrm>
            <a:off x="4578362" y="3287018"/>
            <a:ext cx="10715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28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4742836" y="3269159"/>
            <a:ext cx="628650" cy="157163"/>
          </a:xfrm>
          <a:prstGeom prst="roundRect">
            <a:avLst>
              <a:gd name="adj" fmla="val 59504"/>
            </a:avLst>
          </a:prstGeom>
          <a:solidFill>
            <a:srgbClr val="C9974D">
              <a:alpha val="13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62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int8 0.34 ms</a:t>
            </a:r>
            <a:endParaRPr lang="en-US" sz="600" dirty="0"/>
          </a:p>
        </p:txBody>
      </p:sp>
      <p:sp>
        <p:nvSpPr>
          <p:cNvPr id="47" name="Text 42"/>
          <p:cNvSpPr/>
          <p:nvPr/>
        </p:nvSpPr>
        <p:spPr>
          <a:xfrm>
            <a:off x="3872471" y="3454896"/>
            <a:ext cx="4171950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spcBef>
                <a:spcPts val="225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配置轴封死；QAT 难兼得精度与 INT8 输入时延。</a:t>
            </a:r>
            <a:endParaRPr lang="en-US" sz="500" dirty="0"/>
          </a:p>
        </p:txBody>
      </p:sp>
      <p:sp>
        <p:nvSpPr>
          <p:cNvPr id="48" name="Shape 43"/>
          <p:cNvSpPr/>
          <p:nvPr/>
        </p:nvSpPr>
        <p:spPr>
          <a:xfrm>
            <a:off x="8143763" y="3040559"/>
            <a:ext cx="892969" cy="414338"/>
          </a:xfrm>
          <a:prstGeom prst="roundRect">
            <a:avLst>
              <a:gd name="adj" fmla="val 14269"/>
            </a:avLst>
          </a:prstGeom>
          <a:solidFill>
            <a:srgbClr val="122033"/>
          </a:solidFill>
          <a:ln/>
        </p:spPr>
      </p:sp>
      <p:sp>
        <p:nvSpPr>
          <p:cNvPr id="49" name="Shape 44"/>
          <p:cNvSpPr/>
          <p:nvPr/>
        </p:nvSpPr>
        <p:spPr>
          <a:xfrm>
            <a:off x="8268779" y="2926259"/>
            <a:ext cx="642938" cy="642938"/>
          </a:xfrm>
          <a:prstGeom prst="ellipse">
            <a:avLst/>
          </a:prstGeom>
          <a:ln w="7144">
            <a:solidFill>
              <a:srgbClr val="C9974D">
                <a:alpha val="2500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8375935" y="3033415"/>
            <a:ext cx="428625" cy="428625"/>
          </a:xfrm>
          <a:prstGeom prst="ellipse">
            <a:avLst/>
          </a:prstGeom>
          <a:ln w="7144">
            <a:solidFill>
              <a:srgbClr val="C9974D">
                <a:alpha val="36000"/>
              </a:srgbClr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329501" y="3086993"/>
            <a:ext cx="521494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31"/>
              </a:lnSpc>
              <a:buNone/>
            </a:pPr>
            <a:r>
              <a:rPr lang="en-US" sz="1600" b="1" dirty="0">
                <a:solidFill>
                  <a:srgbClr val="E6B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≈133×</a:t>
            </a:r>
            <a:endParaRPr lang="en-US" sz="1600" dirty="0"/>
          </a:p>
        </p:txBody>
      </p:sp>
      <p:sp>
        <p:nvSpPr>
          <p:cNvPr id="52" name="Text 47"/>
          <p:cNvSpPr/>
          <p:nvPr/>
        </p:nvSpPr>
        <p:spPr>
          <a:xfrm>
            <a:off x="8329501" y="3315593"/>
            <a:ext cx="521494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C8D1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时延差</a:t>
            </a:r>
            <a:endParaRPr lang="en-US" sz="500" dirty="0"/>
          </a:p>
        </p:txBody>
      </p:sp>
      <p:sp>
        <p:nvSpPr>
          <p:cNvPr id="53" name="Shape 48"/>
          <p:cNvSpPr/>
          <p:nvPr/>
        </p:nvSpPr>
        <p:spPr>
          <a:xfrm>
            <a:off x="357188" y="3700463"/>
            <a:ext cx="8779669" cy="457200"/>
          </a:xfrm>
          <a:prstGeom prst="roundRect">
            <a:avLst>
              <a:gd name="adj" fmla="val 14063"/>
            </a:avLst>
          </a:prstGeom>
          <a:solidFill>
            <a:srgbClr val="122033"/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14313" dist="85725" dir="5400000">
              <a:srgbClr val="0F172A">
                <a:alpha val="13000"/>
              </a:srgbClr>
            </a:outerShdw>
          </a:effectLst>
        </p:spPr>
      </p:sp>
      <p:sp>
        <p:nvSpPr>
          <p:cNvPr id="54" name="Shape 49"/>
          <p:cNvSpPr/>
          <p:nvPr/>
        </p:nvSpPr>
        <p:spPr>
          <a:xfrm>
            <a:off x="521494" y="3800475"/>
            <a:ext cx="257175" cy="257175"/>
          </a:xfrm>
          <a:prstGeom prst="roundRect">
            <a:avLst>
              <a:gd name="adj" fmla="val 27160"/>
            </a:avLst>
          </a:prstGeom>
          <a:solidFill>
            <a:srgbClr val="C9974D">
              <a:alpha val="14000"/>
            </a:srgbClr>
          </a:solidFill>
          <a:ln w="7144">
            <a:solidFill>
              <a:srgbClr val="C9974D">
                <a:alpha val="24000"/>
              </a:srgbClr>
            </a:solidFill>
            <a:prstDash val="solid"/>
          </a:ln>
        </p:spPr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216" y="3861197"/>
            <a:ext cx="135731" cy="135731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892969" y="3843338"/>
            <a:ext cx="7072313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6"/>
              </a:lnSpc>
              <a:buNone/>
            </a:pPr>
            <a:r>
              <a:rPr lang="en-US" sz="1000" b="1" dirty="0">
                <a:solidFill>
                  <a:srgbClr val="C8D1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FLOPs 外推失效</a:t>
            </a:r>
            <a:pPr algn="l" indent="0" marL="0">
              <a:lnSpc>
                <a:spcPts val="1336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336"/>
              </a:lnSpc>
              <a:buNone/>
            </a:pPr>
            <a:r>
              <a:rPr lang="en-US" sz="1000" b="1" dirty="0">
                <a:solidFill>
                  <a:srgbClr val="E6B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⇒</a:t>
            </a:r>
            <a:pPr algn="l" indent="0" marL="0">
              <a:lnSpc>
                <a:spcPts val="1336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用 </a:t>
            </a:r>
            <a:pPr algn="l" indent="0" marL="0">
              <a:lnSpc>
                <a:spcPts val="1336"/>
              </a:lnSpc>
              <a:buNone/>
            </a:pPr>
            <a:r>
              <a:rPr lang="en-US" sz="1000" b="1" dirty="0">
                <a:solidFill>
                  <a:srgbClr val="E6B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RKNN 算子表</a:t>
            </a:r>
            <a:pPr algn="l" indent="0" marL="0">
              <a:lnSpc>
                <a:spcPts val="1336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定位真正的代价项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8079581" y="3818334"/>
            <a:ext cx="892969" cy="221456"/>
          </a:xfrm>
          <a:prstGeom prst="roundRect">
            <a:avLst>
              <a:gd name="adj" fmla="val 51613"/>
            </a:avLst>
          </a:prstGeom>
          <a:solidFill>
            <a:srgbClr val="FFFFFF">
              <a:alpha val="8000"/>
            </a:srgbClr>
          </a:solidFill>
          <a:ln w="7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8158163" y="3907631"/>
            <a:ext cx="42863" cy="42863"/>
          </a:xfrm>
          <a:prstGeom prst="ellipse">
            <a:avLst/>
          </a:prstGeom>
          <a:solidFill>
            <a:srgbClr val="E6BF76"/>
          </a:solidFill>
          <a:ln/>
        </p:spPr>
      </p:sp>
      <p:sp>
        <p:nvSpPr>
          <p:cNvPr id="59" name="Text 53"/>
          <p:cNvSpPr/>
          <p:nvPr/>
        </p:nvSpPr>
        <p:spPr>
          <a:xfrm>
            <a:off x="8251031" y="3896916"/>
            <a:ext cx="642938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D8E0E9"/>
                </a:solidFill>
                <a:highlight>
                  <a:srgbClr val="FFFFFF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从估算转向逐项对账</a:t>
            </a:r>
            <a:endParaRPr lang="en-US" sz="500" dirty="0"/>
          </a:p>
        </p:txBody>
      </p:sp>
      <p:sp>
        <p:nvSpPr>
          <p:cNvPr id="60" name="Text 54"/>
          <p:cNvSpPr/>
          <p:nvPr/>
        </p:nvSpPr>
        <p:spPr>
          <a:xfrm>
            <a:off x="357188" y="4286250"/>
            <a:ext cx="8779669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00" dirty="0"/>
          </a:p>
        </p:txBody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7188" y="357188"/>
            <a:ext cx="8779669" cy="785813"/>
          </a:xfrm>
          <a:prstGeom prst="rect">
            <a:avLst/>
          </a:prstGeom>
        </p:spPr>
      </p:pic>
      <p:pic>
        <p:nvPicPr>
          <p:cNvPr id="62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7188" y="4286250"/>
            <a:ext cx="8779669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57188" y="357188"/>
            <a:ext cx="8843963" cy="785813"/>
          </a:xfrm>
          <a:prstGeom prst="rect">
            <a:avLst/>
          </a:prstGeom>
          <a:ln/>
        </p:spPr>
      </p:sp>
      <p:sp>
        <p:nvSpPr>
          <p:cNvPr id="6" name="Text 3"/>
          <p:cNvSpPr/>
          <p:nvPr/>
        </p:nvSpPr>
        <p:spPr>
          <a:xfrm>
            <a:off x="356964" y="215764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战果 A1｜GMC Tree 锚点级联：拟合 22 → 6.19 次/帧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6438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节省的是拟合次数；warp 仍为 22 次/帧，不等同于整帧计算提速 71.9%。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6/18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55402" y="1271588"/>
            <a:ext cx="5014913" cy="2886075"/>
          </a:xfrm>
          <a:prstGeom prst="roundRect">
            <a:avLst>
              <a:gd name="adj" fmla="val 1882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2833" y="1434108"/>
            <a:ext cx="2421731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树状锚点级联机制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22833" y="1626543"/>
            <a:ext cx="242173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 lag 描述同一段相机运动，22 次长基线拟合存在高度冗余。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347195" y="1435894"/>
            <a:ext cx="857250" cy="200025"/>
          </a:xfrm>
          <a:prstGeom prst="roundRect">
            <a:avLst>
              <a:gd name="adj" fmla="val 5714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锚点 + 16 推导 lag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521996" y="1840743"/>
            <a:ext cx="1378744" cy="1078706"/>
          </a:xfrm>
          <a:prstGeom prst="roundRect">
            <a:avLst>
              <a:gd name="adj" fmla="val 10105"/>
            </a:avLst>
          </a:prstGeom>
          <a:solidFill>
            <a:srgbClr val="C9974D">
              <a:alpha val="8000"/>
            </a:srgbClr>
          </a:solidFill>
          <a:ln w="7144">
            <a:solidFill>
              <a:srgbClr val="C9974D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4865" y="1949351"/>
            <a:ext cx="1193006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 FIT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14865" y="2070795"/>
            <a:ext cx="1193006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锚点直接拟合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14362" y="2332211"/>
            <a:ext cx="221456" cy="221456"/>
          </a:xfrm>
          <a:prstGeom prst="ellipse">
            <a:avLst/>
          </a:prstGeom>
          <a:solidFill>
            <a:srgbClr val="C9974D"/>
          </a:solidFill>
          <a:ln/>
          <a:effectLst>
            <a:outerShdw sx="100000" sy="100000" kx="0" ky="0" algn="bl" rotWithShape="0" blurRad="85725" dist="35719" dir="5400000">
              <a:srgbClr val="C9974D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871538" y="2332211"/>
            <a:ext cx="221456" cy="221456"/>
          </a:xfrm>
          <a:prstGeom prst="ellipse">
            <a:avLst/>
          </a:prstGeom>
          <a:solidFill>
            <a:srgbClr val="C9974D"/>
          </a:solidFill>
          <a:ln/>
          <a:effectLst>
            <a:outerShdw sx="100000" sy="100000" kx="0" ky="0" algn="bl" rotWithShape="0" blurRad="85725" dist="35719" dir="5400000">
              <a:srgbClr val="C9974D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1128713" y="2332211"/>
            <a:ext cx="221456" cy="221456"/>
          </a:xfrm>
          <a:prstGeom prst="ellipse">
            <a:avLst/>
          </a:prstGeom>
          <a:solidFill>
            <a:srgbClr val="C9974D"/>
          </a:solidFill>
          <a:ln/>
          <a:effectLst>
            <a:outerShdw sx="100000" sy="100000" kx="0" ky="0" algn="bl" rotWithShape="0" blurRad="85725" dist="35719" dir="5400000">
              <a:srgbClr val="C9974D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1385888" y="2332211"/>
            <a:ext cx="221456" cy="221456"/>
          </a:xfrm>
          <a:prstGeom prst="ellipse">
            <a:avLst/>
          </a:prstGeom>
          <a:solidFill>
            <a:srgbClr val="C9974D"/>
          </a:solidFill>
          <a:ln/>
          <a:effectLst>
            <a:outerShdw sx="100000" sy="100000" kx="0" ky="0" algn="bl" rotWithShape="0" blurRad="85725" dist="35719" dir="5400000">
              <a:srgbClr val="C9974D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614362" y="2589386"/>
            <a:ext cx="221456" cy="221456"/>
          </a:xfrm>
          <a:prstGeom prst="ellipse">
            <a:avLst/>
          </a:prstGeom>
          <a:solidFill>
            <a:srgbClr val="C9974D"/>
          </a:solidFill>
          <a:ln/>
          <a:effectLst>
            <a:outerShdw sx="100000" sy="100000" kx="0" ky="0" algn="bl" rotWithShape="0" blurRad="85725" dist="35719" dir="5400000">
              <a:srgbClr val="C9974D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1936961" y="1840743"/>
            <a:ext cx="200025" cy="107870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58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173319" y="1840743"/>
            <a:ext cx="1378744" cy="1078706"/>
          </a:xfrm>
          <a:prstGeom prst="roundRect">
            <a:avLst>
              <a:gd name="adj" fmla="val 10105"/>
            </a:avLst>
          </a:prstGeom>
          <a:solidFill>
            <a:srgbClr val="F4F6F9">
              <a:alpha val="92000"/>
            </a:srgbClr>
          </a:solidFill>
          <a:ln w="7144">
            <a:solidFill>
              <a:srgbClr val="122033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266187" y="1949351"/>
            <a:ext cx="1193006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 STEP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2266187" y="2070795"/>
            <a:ext cx="1193006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缓存步连乘推导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265573" y="2476202"/>
            <a:ext cx="178594" cy="178594"/>
          </a:xfrm>
          <a:prstGeom prst="ellipse">
            <a:avLst/>
          </a:prstGeom>
          <a:solidFill>
            <a:srgbClr val="D7AA6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</a:t>
            </a:r>
            <a:endParaRPr lang="en-US" sz="500" dirty="0"/>
          </a:p>
        </p:txBody>
      </p:sp>
      <p:sp>
        <p:nvSpPr>
          <p:cNvPr id="27" name="Text 24"/>
          <p:cNvSpPr/>
          <p:nvPr/>
        </p:nvSpPr>
        <p:spPr>
          <a:xfrm>
            <a:off x="2479886" y="2476202"/>
            <a:ext cx="178594" cy="178594"/>
          </a:xfrm>
          <a:prstGeom prst="ellipse">
            <a:avLst/>
          </a:prstGeom>
          <a:solidFill>
            <a:srgbClr val="DCB7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D2</a:t>
            </a:r>
            <a:endParaRPr lang="en-US" sz="500" dirty="0"/>
          </a:p>
        </p:txBody>
      </p:sp>
      <p:sp>
        <p:nvSpPr>
          <p:cNvPr id="28" name="Text 25"/>
          <p:cNvSpPr/>
          <p:nvPr/>
        </p:nvSpPr>
        <p:spPr>
          <a:xfrm>
            <a:off x="2694198" y="2476202"/>
            <a:ext cx="178594" cy="178594"/>
          </a:xfrm>
          <a:prstGeom prst="ellipse">
            <a:avLst/>
          </a:prstGeom>
          <a:solidFill>
            <a:srgbClr val="E7C99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D3</a:t>
            </a:r>
            <a:endParaRPr lang="en-US" sz="500" dirty="0"/>
          </a:p>
        </p:txBody>
      </p:sp>
      <p:sp>
        <p:nvSpPr>
          <p:cNvPr id="29" name="Text 26"/>
          <p:cNvSpPr/>
          <p:nvPr/>
        </p:nvSpPr>
        <p:spPr>
          <a:xfrm>
            <a:off x="2908511" y="2476202"/>
            <a:ext cx="178594" cy="178594"/>
          </a:xfrm>
          <a:prstGeom prst="ellipse">
            <a:avLst/>
          </a:prstGeom>
          <a:solidFill>
            <a:srgbClr val="F1DD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D4</a:t>
            </a:r>
            <a:endParaRPr lang="en-US" sz="500" dirty="0"/>
          </a:p>
        </p:txBody>
      </p:sp>
      <p:sp>
        <p:nvSpPr>
          <p:cNvPr id="30" name="Text 27"/>
          <p:cNvSpPr/>
          <p:nvPr/>
        </p:nvSpPr>
        <p:spPr>
          <a:xfrm>
            <a:off x="2266187" y="2704244"/>
            <a:ext cx="119300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spcBef>
                <a:spcPts val="394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16 个 lag · 最大深度 4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3588395" y="1840743"/>
            <a:ext cx="200025" cy="107870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58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3824753" y="1840743"/>
            <a:ext cx="1378744" cy="1078706"/>
          </a:xfrm>
          <a:prstGeom prst="roundRect">
            <a:avLst>
              <a:gd name="adj" fmla="val 10105"/>
            </a:avLst>
          </a:prstGeom>
          <a:solidFill>
            <a:srgbClr val="122033"/>
          </a:solidFill>
          <a:ln/>
          <a:effectLst>
            <a:outerShdw sx="100000" sy="100000" kx="0" ky="0" algn="bl" rotWithShape="0" blurRad="178594" dist="85725" dir="5400000">
              <a:srgbClr val="122033">
                <a:alpha val="16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910478" y="2157413"/>
            <a:ext cx="1207294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DC1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OUTPUT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3910478" y="2284214"/>
            <a:ext cx="1207294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Bef>
                <a:spcPts val="338"/>
              </a:spcBef>
              <a:buNone/>
            </a:pPr>
            <a:r>
              <a:rPr lang="en-US" sz="1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22-lag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910478" y="2496183"/>
            <a:ext cx="12072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spcBef>
                <a:spcPts val="394"/>
              </a:spcBef>
              <a:buNone/>
            </a:pPr>
            <a:r>
              <a:rPr lang="en-US" sz="600" dirty="0">
                <a:solidFill>
                  <a:srgbClr val="F8FAFC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保持完整时间基线输出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521494" y="3078733"/>
            <a:ext cx="557213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</a:t>
            </a:r>
            <a:endParaRPr lang="en-US" sz="600" dirty="0"/>
          </a:p>
        </p:txBody>
      </p:sp>
      <p:sp>
        <p:nvSpPr>
          <p:cNvPr id="37" name="Shape 34"/>
          <p:cNvSpPr/>
          <p:nvPr/>
        </p:nvSpPr>
        <p:spPr>
          <a:xfrm>
            <a:off x="1141214" y="3057302"/>
            <a:ext cx="2336006" cy="128588"/>
          </a:xfrm>
          <a:prstGeom prst="roundRect">
            <a:avLst>
              <a:gd name="adj" fmla="val 88889"/>
            </a:avLst>
          </a:prstGeom>
          <a:solidFill>
            <a:srgbClr val="DFE4EA"/>
          </a:solidFill>
          <a:ln/>
        </p:spPr>
      </p:sp>
      <p:sp>
        <p:nvSpPr>
          <p:cNvPr id="38" name="Shape 35"/>
          <p:cNvSpPr/>
          <p:nvPr/>
        </p:nvSpPr>
        <p:spPr>
          <a:xfrm>
            <a:off x="1141214" y="3057302"/>
            <a:ext cx="2336006" cy="128588"/>
          </a:xfrm>
          <a:prstGeom prst="roundRect">
            <a:avLst>
              <a:gd name="adj" fmla="val 88889"/>
            </a:avLst>
          </a:prstGeom>
          <a:solidFill>
            <a:srgbClr val="718096"/>
          </a:solidFill>
          <a:ln/>
        </p:spPr>
      </p:sp>
      <p:sp>
        <p:nvSpPr>
          <p:cNvPr id="39" name="Text 36"/>
          <p:cNvSpPr/>
          <p:nvPr/>
        </p:nvSpPr>
        <p:spPr>
          <a:xfrm>
            <a:off x="3539728" y="3068017"/>
            <a:ext cx="34290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521494" y="3271614"/>
            <a:ext cx="557213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Tree</a:t>
            </a:r>
            <a:endParaRPr lang="en-US" sz="600" dirty="0"/>
          </a:p>
        </p:txBody>
      </p:sp>
      <p:sp>
        <p:nvSpPr>
          <p:cNvPr id="41" name="Shape 38"/>
          <p:cNvSpPr/>
          <p:nvPr/>
        </p:nvSpPr>
        <p:spPr>
          <a:xfrm>
            <a:off x="1141214" y="3250183"/>
            <a:ext cx="2336006" cy="128588"/>
          </a:xfrm>
          <a:prstGeom prst="roundRect">
            <a:avLst>
              <a:gd name="adj" fmla="val 88889"/>
            </a:avLst>
          </a:prstGeom>
          <a:solidFill>
            <a:srgbClr val="C9974D">
              <a:alpha val="13000"/>
            </a:srgbClr>
          </a:solidFill>
          <a:ln/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554" y="3250183"/>
            <a:ext cx="657225" cy="128588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3539728" y="3260899"/>
            <a:ext cx="34290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6.19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522833" y="3443064"/>
            <a:ext cx="785813" cy="192881"/>
          </a:xfrm>
          <a:prstGeom prst="roundRect">
            <a:avLst>
              <a:gd name="adj" fmla="val 59259"/>
            </a:avLst>
          </a:prstGeom>
          <a:solidFill>
            <a:srgbClr val="C9974D">
              <a:alpha val="14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直接拟合 −71.9%</a:t>
            </a:r>
            <a:endParaRPr lang="en-US" sz="600" dirty="0"/>
          </a:p>
        </p:txBody>
      </p:sp>
      <p:sp>
        <p:nvSpPr>
          <p:cNvPr id="45" name="Text 41"/>
          <p:cNvSpPr/>
          <p:nvPr/>
        </p:nvSpPr>
        <p:spPr>
          <a:xfrm>
            <a:off x="1358261" y="3482355"/>
            <a:ext cx="357187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6.19 次/帧</a:t>
            </a:r>
            <a:endParaRPr lang="en-US" sz="600" dirty="0"/>
          </a:p>
        </p:txBody>
      </p:sp>
      <p:sp>
        <p:nvSpPr>
          <p:cNvPr id="46" name="Shape 42"/>
          <p:cNvSpPr/>
          <p:nvPr/>
        </p:nvSpPr>
        <p:spPr>
          <a:xfrm>
            <a:off x="3989784" y="3016225"/>
            <a:ext cx="1214438" cy="621506"/>
          </a:xfrm>
          <a:prstGeom prst="roundRect">
            <a:avLst>
              <a:gd name="adj" fmla="val 5919"/>
            </a:avLst>
          </a:prstGeom>
          <a:solidFill>
            <a:srgbClr val="5F6C7D">
              <a:alpha val="8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082653" y="3103736"/>
            <a:ext cx="10287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CALCULATION BOUNDARY</a:t>
            </a:r>
            <a:endParaRPr lang="en-US" sz="500" dirty="0"/>
          </a:p>
        </p:txBody>
      </p:sp>
      <p:sp>
        <p:nvSpPr>
          <p:cNvPr id="48" name="Text 44"/>
          <p:cNvSpPr/>
          <p:nvPr/>
        </p:nvSpPr>
        <p:spPr>
          <a:xfrm>
            <a:off x="4082653" y="3289474"/>
            <a:ext cx="10287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5"/>
              </a:spcBef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warp 22 次/帧</a:t>
            </a:r>
            <a:endParaRPr lang="en-US" sz="700" dirty="0"/>
          </a:p>
        </p:txBody>
      </p:sp>
      <p:sp>
        <p:nvSpPr>
          <p:cNvPr id="49" name="Text 45"/>
          <p:cNvSpPr/>
          <p:nvPr/>
        </p:nvSpPr>
        <p:spPr>
          <a:xfrm>
            <a:off x="4082653" y="3451994"/>
            <a:ext cx="1028700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不计入本次拟合节省</a:t>
            </a:r>
            <a:endParaRPr lang="en-US" sz="500" dirty="0"/>
          </a:p>
        </p:txBody>
      </p:sp>
      <p:sp>
        <p:nvSpPr>
          <p:cNvPr id="50" name="Shape 46"/>
          <p:cNvSpPr/>
          <p:nvPr/>
        </p:nvSpPr>
        <p:spPr>
          <a:xfrm>
            <a:off x="519708" y="3728814"/>
            <a:ext cx="4686300" cy="264319"/>
          </a:xfrm>
          <a:prstGeom prst="rect">
            <a:avLst/>
          </a:prstGeom>
          <a:ln/>
        </p:spPr>
      </p:sp>
      <p:sp>
        <p:nvSpPr>
          <p:cNvPr id="51" name="Text 47"/>
          <p:cNvSpPr/>
          <p:nvPr/>
        </p:nvSpPr>
        <p:spPr>
          <a:xfrm>
            <a:off x="521829" y="3846686"/>
            <a:ext cx="206454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方法本质：用缓存变换恢复其余 lag，避免 22 次逐一拟合。</a:t>
            </a:r>
            <a:endParaRPr lang="en-US" sz="600" dirty="0"/>
          </a:p>
        </p:txBody>
      </p:sp>
      <p:sp>
        <p:nvSpPr>
          <p:cNvPr id="52" name="Text 48"/>
          <p:cNvSpPr/>
          <p:nvPr/>
        </p:nvSpPr>
        <p:spPr>
          <a:xfrm>
            <a:off x="4282511" y="3814539"/>
            <a:ext cx="921544" cy="178594"/>
          </a:xfrm>
          <a:prstGeom prst="roundRect">
            <a:avLst>
              <a:gd name="adj" fmla="val 64000"/>
            </a:avLst>
          </a:prstGeom>
          <a:solidFill>
            <a:srgbClr val="C9974D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代数等价性 ≠ 估计量等价</a:t>
            </a:r>
            <a:endParaRPr lang="en-US" sz="500" dirty="0"/>
          </a:p>
        </p:txBody>
      </p:sp>
      <p:sp>
        <p:nvSpPr>
          <p:cNvPr id="53" name="Shape 49"/>
          <p:cNvSpPr/>
          <p:nvPr/>
        </p:nvSpPr>
        <p:spPr>
          <a:xfrm>
            <a:off x="5495330" y="1271588"/>
            <a:ext cx="3707606" cy="2886075"/>
          </a:xfrm>
          <a:prstGeom prst="roundRect">
            <a:avLst>
              <a:gd name="adj" fmla="val 1882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54" name="Text 50"/>
          <p:cNvSpPr/>
          <p:nvPr/>
        </p:nvSpPr>
        <p:spPr>
          <a:xfrm>
            <a:off x="5661422" y="1434108"/>
            <a:ext cx="1628775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精度判决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5661422" y="1624478"/>
            <a:ext cx="1628775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计算量显著下降，精度差异接近噪声下限。</a:t>
            </a:r>
            <a:endParaRPr lang="en-US" sz="600" dirty="0"/>
          </a:p>
        </p:txBody>
      </p:sp>
      <p:sp>
        <p:nvSpPr>
          <p:cNvPr id="56" name="Text 52"/>
          <p:cNvSpPr/>
          <p:nvPr/>
        </p:nvSpPr>
        <p:spPr>
          <a:xfrm>
            <a:off x="8645054" y="1435894"/>
            <a:ext cx="392906" cy="192881"/>
          </a:xfrm>
          <a:prstGeom prst="roundRect">
            <a:avLst>
              <a:gd name="adj" fmla="val 43896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val</a:t>
            </a:r>
            <a:endParaRPr lang="en-US" sz="500" dirty="0"/>
          </a:p>
        </p:txBody>
      </p:sp>
      <p:sp>
        <p:nvSpPr>
          <p:cNvPr id="57" name="Shape 53"/>
          <p:cNvSpPr/>
          <p:nvPr/>
        </p:nvSpPr>
        <p:spPr>
          <a:xfrm>
            <a:off x="5659636" y="1823777"/>
            <a:ext cx="3378994" cy="264319"/>
          </a:xfrm>
          <a:prstGeom prst="roundRect">
            <a:avLst>
              <a:gd name="adj" fmla="val 32725"/>
            </a:avLst>
          </a:prstGeom>
          <a:solidFill>
            <a:srgbClr val="F4F6F9">
              <a:alpha val="8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5747147" y="1898786"/>
            <a:ext cx="3143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验证范围</a:t>
            </a:r>
            <a:endParaRPr lang="en-US" sz="600" dirty="0"/>
          </a:p>
        </p:txBody>
      </p:sp>
      <p:sp>
        <p:nvSpPr>
          <p:cNvPr id="59" name="Text 55"/>
          <p:cNvSpPr/>
          <p:nvPr/>
        </p:nvSpPr>
        <p:spPr>
          <a:xfrm>
            <a:off x="6766638" y="1895215"/>
            <a:ext cx="371475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31,613 帧</a:t>
            </a:r>
            <a:endParaRPr lang="en-US" sz="600" dirty="0"/>
          </a:p>
        </p:txBody>
      </p:sp>
      <p:sp>
        <p:nvSpPr>
          <p:cNvPr id="60" name="Shape 56"/>
          <p:cNvSpPr/>
          <p:nvPr/>
        </p:nvSpPr>
        <p:spPr>
          <a:xfrm>
            <a:off x="7843391" y="1909502"/>
            <a:ext cx="7144" cy="92869"/>
          </a:xfrm>
          <a:prstGeom prst="rect">
            <a:avLst/>
          </a:prstGeom>
          <a:solidFill>
            <a:srgbClr val="122033">
              <a:alpha val="12000"/>
            </a:srgbClr>
          </a:solidFill>
          <a:ln/>
        </p:spPr>
      </p:sp>
      <p:sp>
        <p:nvSpPr>
          <p:cNvPr id="61" name="Text 57"/>
          <p:cNvSpPr/>
          <p:nvPr/>
        </p:nvSpPr>
        <p:spPr>
          <a:xfrm>
            <a:off x="8556873" y="1905930"/>
            <a:ext cx="392906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25,111 GT</a:t>
            </a:r>
            <a:endParaRPr lang="en-US" sz="600" dirty="0"/>
          </a:p>
        </p:txBody>
      </p:sp>
      <p:sp>
        <p:nvSpPr>
          <p:cNvPr id="62" name="Shape 58"/>
          <p:cNvSpPr/>
          <p:nvPr/>
        </p:nvSpPr>
        <p:spPr>
          <a:xfrm>
            <a:off x="5659636" y="2166677"/>
            <a:ext cx="3378994" cy="392906"/>
          </a:xfrm>
          <a:prstGeom prst="roundRect">
            <a:avLst>
              <a:gd name="adj" fmla="val 14810"/>
            </a:avLst>
          </a:prstGeom>
          <a:solidFill>
            <a:srgbClr val="2E7D58">
              <a:alpha val="5500"/>
            </a:srgbClr>
          </a:solidFill>
          <a:ln w="7144">
            <a:solidFill>
              <a:srgbClr val="2E7D58">
                <a:alpha val="1600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5747147" y="2245258"/>
            <a:ext cx="750094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 空对照臂</a:t>
            </a:r>
            <a:endParaRPr lang="en-US" sz="600" dirty="0"/>
          </a:p>
        </p:txBody>
      </p:sp>
      <p:sp>
        <p:nvSpPr>
          <p:cNvPr id="64" name="Text 60"/>
          <p:cNvSpPr/>
          <p:nvPr/>
        </p:nvSpPr>
        <p:spPr>
          <a:xfrm>
            <a:off x="5747147" y="2388133"/>
            <a:ext cx="750094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门限 / 24 序列</a:t>
            </a:r>
            <a:endParaRPr lang="en-US" sz="500" dirty="0"/>
          </a:p>
        </p:txBody>
      </p:sp>
      <p:sp>
        <p:nvSpPr>
          <p:cNvPr id="65" name="Text 61"/>
          <p:cNvSpPr/>
          <p:nvPr/>
        </p:nvSpPr>
        <p:spPr>
          <a:xfrm>
            <a:off x="6567674" y="2291693"/>
            <a:ext cx="707231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7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ΔF1 +0.0000</a:t>
            </a:r>
            <a:endParaRPr lang="en-US" sz="900" dirty="0"/>
          </a:p>
        </p:txBody>
      </p:sp>
      <p:sp>
        <p:nvSpPr>
          <p:cNvPr id="66" name="Text 62"/>
          <p:cNvSpPr/>
          <p:nvPr/>
        </p:nvSpPr>
        <p:spPr>
          <a:xfrm>
            <a:off x="8657611" y="2280977"/>
            <a:ext cx="292894" cy="164306"/>
          </a:xfrm>
          <a:prstGeom prst="roundRect">
            <a:avLst>
              <a:gd name="adj" fmla="val 69565"/>
            </a:avLst>
          </a:prstGeom>
          <a:solidFill>
            <a:srgbClr val="2E7D58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2F7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全 0</a:t>
            </a:r>
            <a:endParaRPr lang="en-US" sz="500" dirty="0"/>
          </a:p>
        </p:txBody>
      </p:sp>
      <p:sp>
        <p:nvSpPr>
          <p:cNvPr id="67" name="Shape 63"/>
          <p:cNvSpPr/>
          <p:nvPr/>
        </p:nvSpPr>
        <p:spPr>
          <a:xfrm>
            <a:off x="5659636" y="2616733"/>
            <a:ext cx="3378994" cy="385763"/>
          </a:xfrm>
          <a:prstGeom prst="roundRect">
            <a:avLst>
              <a:gd name="adj" fmla="val 15363"/>
            </a:avLst>
          </a:prstGeom>
          <a:solidFill>
            <a:srgbClr val="C9974D">
              <a:alpha val="6700"/>
            </a:srgbClr>
          </a:solidFill>
          <a:ln w="7144">
            <a:solidFill>
              <a:srgbClr val="C9974D">
                <a:alpha val="19000"/>
              </a:srgbClr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5747147" y="2695315"/>
            <a:ext cx="750094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tree vs GMC</a:t>
            </a:r>
            <a:endParaRPr lang="en-US" sz="600" dirty="0"/>
          </a:p>
        </p:txBody>
      </p:sp>
      <p:sp>
        <p:nvSpPr>
          <p:cNvPr id="69" name="Text 65"/>
          <p:cNvSpPr/>
          <p:nvPr/>
        </p:nvSpPr>
        <p:spPr>
          <a:xfrm>
            <a:off x="5747147" y="2816758"/>
            <a:ext cx="7500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精度主判决</a:t>
            </a:r>
            <a:endParaRPr lang="en-US" sz="500" dirty="0"/>
          </a:p>
        </p:txBody>
      </p:sp>
      <p:sp>
        <p:nvSpPr>
          <p:cNvPr id="70" name="Text 66"/>
          <p:cNvSpPr/>
          <p:nvPr/>
        </p:nvSpPr>
        <p:spPr>
          <a:xfrm>
            <a:off x="6566892" y="2745321"/>
            <a:ext cx="2386013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0.9060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9A5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ΔF1 −0.0003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5659636" y="3059646"/>
            <a:ext cx="3378994" cy="407194"/>
          </a:xfrm>
          <a:prstGeom prst="roundRect">
            <a:avLst>
              <a:gd name="adj" fmla="val 13789"/>
            </a:avLst>
          </a:prstGeom>
          <a:solidFill>
            <a:srgbClr val="F4F6F9">
              <a:alpha val="82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5747147" y="3138227"/>
            <a:ext cx="750094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板端三臂</a:t>
            </a:r>
            <a:endParaRPr lang="en-US" sz="600" dirty="0"/>
          </a:p>
        </p:txBody>
      </p:sp>
      <p:sp>
        <p:nvSpPr>
          <p:cNvPr id="73" name="Text 69"/>
          <p:cNvSpPr/>
          <p:nvPr/>
        </p:nvSpPr>
        <p:spPr>
          <a:xfrm>
            <a:off x="5747147" y="3281102"/>
            <a:ext cx="7500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窄带内差异</a:t>
            </a:r>
            <a:endParaRPr lang="en-US" sz="500" dirty="0"/>
          </a:p>
        </p:txBody>
      </p:sp>
      <p:sp>
        <p:nvSpPr>
          <p:cNvPr id="74" name="Text 70"/>
          <p:cNvSpPr/>
          <p:nvPr/>
        </p:nvSpPr>
        <p:spPr>
          <a:xfrm>
            <a:off x="6566892" y="3145371"/>
            <a:ext cx="2386013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0.9021–0.9025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 ±0.0002</a:t>
            </a:r>
            <a:endParaRPr lang="en-US" sz="800" dirty="0"/>
          </a:p>
        </p:txBody>
      </p:sp>
      <p:pic>
        <p:nvPicPr>
          <p:cNvPr id="7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6892" y="3323965"/>
            <a:ext cx="2386013" cy="57150"/>
          </a:xfrm>
          <a:prstGeom prst="rect">
            <a:avLst/>
          </a:prstGeom>
        </p:spPr>
      </p:pic>
      <p:sp>
        <p:nvSpPr>
          <p:cNvPr id="76" name="Shape 71"/>
          <p:cNvSpPr/>
          <p:nvPr/>
        </p:nvSpPr>
        <p:spPr>
          <a:xfrm>
            <a:off x="7045077" y="3323965"/>
            <a:ext cx="42863" cy="57150"/>
          </a:xfrm>
          <a:prstGeom prst="ellipse">
            <a:avLst/>
          </a:prstGeom>
          <a:solidFill>
            <a:srgbClr val="7D8A9A"/>
          </a:solidFill>
          <a:ln/>
        </p:spPr>
      </p:sp>
      <p:sp>
        <p:nvSpPr>
          <p:cNvPr id="77" name="Shape 72"/>
          <p:cNvSpPr/>
          <p:nvPr/>
        </p:nvSpPr>
        <p:spPr>
          <a:xfrm>
            <a:off x="7712125" y="3323965"/>
            <a:ext cx="42863" cy="57150"/>
          </a:xfrm>
          <a:prstGeom prst="ellipse">
            <a:avLst/>
          </a:prstGeom>
          <a:solidFill>
            <a:srgbClr val="C9974D"/>
          </a:solidFill>
          <a:ln/>
        </p:spPr>
      </p:sp>
      <p:sp>
        <p:nvSpPr>
          <p:cNvPr id="78" name="Shape 73"/>
          <p:cNvSpPr/>
          <p:nvPr/>
        </p:nvSpPr>
        <p:spPr>
          <a:xfrm>
            <a:off x="8455633" y="3323965"/>
            <a:ext cx="42863" cy="57150"/>
          </a:xfrm>
          <a:prstGeom prst="ellipse">
            <a:avLst/>
          </a:prstGeom>
          <a:solidFill>
            <a:srgbClr val="68778A"/>
          </a:solidFill>
          <a:ln/>
        </p:spPr>
      </p:sp>
      <p:pic>
        <p:nvPicPr>
          <p:cNvPr id="7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59636" y="3330662"/>
            <a:ext cx="3378994" cy="664369"/>
          </a:xfrm>
          <a:prstGeom prst="rect">
            <a:avLst/>
          </a:prstGeom>
        </p:spPr>
      </p:pic>
      <p:sp>
        <p:nvSpPr>
          <p:cNvPr id="80" name="Text 74"/>
          <p:cNvSpPr/>
          <p:nvPr/>
        </p:nvSpPr>
        <p:spPr>
          <a:xfrm>
            <a:off x="5761434" y="3498540"/>
            <a:ext cx="828675" cy="1928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500" b="1" dirty="0">
                <a:solidFill>
                  <a:srgbClr val="2F7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99.6%</a:t>
            </a:r>
            <a:endParaRPr lang="en-US" sz="1500" dirty="0"/>
          </a:p>
        </p:txBody>
      </p:sp>
      <p:sp>
        <p:nvSpPr>
          <p:cNvPr id="81" name="Text 75"/>
          <p:cNvSpPr/>
          <p:nvPr/>
        </p:nvSpPr>
        <p:spPr>
          <a:xfrm>
            <a:off x="5761434" y="3719996"/>
            <a:ext cx="828675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5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精度保持</a:t>
            </a:r>
            <a:endParaRPr lang="en-US" sz="500" dirty="0"/>
          </a:p>
        </p:txBody>
      </p:sp>
      <p:sp>
        <p:nvSpPr>
          <p:cNvPr id="82" name="Text 76"/>
          <p:cNvSpPr/>
          <p:nvPr/>
        </p:nvSpPr>
        <p:spPr>
          <a:xfrm>
            <a:off x="6674048" y="3425317"/>
            <a:ext cx="226456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ΔF1 分量拆解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8F5E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主要来自 FP</a:t>
            </a:r>
            <a:endParaRPr lang="en-US" sz="600" dirty="0"/>
          </a:p>
        </p:txBody>
      </p:sp>
      <p:sp>
        <p:nvSpPr>
          <p:cNvPr id="83" name="Text 77"/>
          <p:cNvSpPr/>
          <p:nvPr/>
        </p:nvSpPr>
        <p:spPr>
          <a:xfrm>
            <a:off x="6675444" y="3589623"/>
            <a:ext cx="921544" cy="164306"/>
          </a:xfrm>
          <a:prstGeom prst="roundRect">
            <a:avLst>
              <a:gd name="adj" fmla="val 54442"/>
            </a:avLst>
          </a:prstGeom>
          <a:solidFill>
            <a:srgbClr val="FFFFFF">
              <a:alpha val="7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 −1 → −0.00002</a:t>
            </a:r>
            <a:endParaRPr lang="en-US" sz="500" dirty="0"/>
          </a:p>
        </p:txBody>
      </p:sp>
      <p:sp>
        <p:nvSpPr>
          <p:cNvPr id="84" name="Text 78"/>
          <p:cNvSpPr/>
          <p:nvPr/>
        </p:nvSpPr>
        <p:spPr>
          <a:xfrm>
            <a:off x="7645208" y="3589623"/>
            <a:ext cx="1293019" cy="164306"/>
          </a:xfrm>
          <a:prstGeom prst="roundRect">
            <a:avLst>
              <a:gd name="adj" fmla="val 54442"/>
            </a:avLst>
          </a:prstGeom>
          <a:solidFill>
            <a:srgbClr val="9A5D43">
              <a:alpha val="9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8F5E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 +13 → −0.00025</a:t>
            </a:r>
            <a:endParaRPr lang="en-US" sz="500" dirty="0"/>
          </a:p>
        </p:txBody>
      </p:sp>
      <p:sp>
        <p:nvSpPr>
          <p:cNvPr id="85" name="Text 79"/>
          <p:cNvSpPr/>
          <p:nvPr/>
        </p:nvSpPr>
        <p:spPr>
          <a:xfrm>
            <a:off x="6674048" y="3802149"/>
            <a:ext cx="2264569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spcBef>
                <a:spcPts val="394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微降主要来自 FP 增量，而非锚点级联本身失效。</a:t>
            </a:r>
            <a:endParaRPr lang="en-US" sz="500" dirty="0"/>
          </a:p>
        </p:txBody>
      </p:sp>
      <p:sp>
        <p:nvSpPr>
          <p:cNvPr id="86" name="Text 80"/>
          <p:cNvSpPr/>
          <p:nvPr/>
        </p:nvSpPr>
        <p:spPr>
          <a:xfrm>
            <a:off x="357188" y="4286250"/>
            <a:ext cx="884396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00" dirty="0"/>
          </a:p>
        </p:txBody>
      </p:sp>
      <p:pic>
        <p:nvPicPr>
          <p:cNvPr id="8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7188" y="357188"/>
            <a:ext cx="8843963" cy="785813"/>
          </a:xfrm>
          <a:prstGeom prst="rect">
            <a:avLst/>
          </a:prstGeom>
        </p:spPr>
      </p:pic>
      <p:pic>
        <p:nvPicPr>
          <p:cNvPr id="8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9708" y="3728814"/>
            <a:ext cx="4686300" cy="264319"/>
          </a:xfrm>
          <a:prstGeom prst="rect">
            <a:avLst/>
          </a:prstGeom>
        </p:spPr>
      </p:pic>
      <p:pic>
        <p:nvPicPr>
          <p:cNvPr id="8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7188" y="4286250"/>
            <a:ext cx="884396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9802" y="3125725"/>
            <a:ext cx="3186113" cy="1428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357188" y="357188"/>
            <a:ext cx="8843963" cy="785813"/>
          </a:xfrm>
          <a:prstGeom prst="rect">
            <a:avLst/>
          </a:prstGeom>
          <a:ln/>
        </p:spPr>
      </p:sp>
      <p:sp>
        <p:nvSpPr>
          <p:cNvPr id="7" name="Text 3"/>
          <p:cNvSpPr/>
          <p:nvPr/>
        </p:nvSpPr>
        <p:spPr>
          <a:xfrm>
            <a:off x="356964" y="215764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8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战果 A2｜纯函数缓存：fit 18.46 → 3.94 ms，位精确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357188" y="885825"/>
            <a:ext cx="76438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真正瓶颈是角点检测，而非金字塔；三项统一缓存实现 4.68× 加速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07/18</a:t>
            </a:r>
            <a:endParaRPr lang="en-US" sz="600" dirty="0"/>
          </a:p>
        </p:txBody>
      </p:sp>
      <p:sp>
        <p:nvSpPr>
          <p:cNvPr id="11" name="Shape 7"/>
          <p:cNvSpPr/>
          <p:nvPr/>
        </p:nvSpPr>
        <p:spPr>
          <a:xfrm>
            <a:off x="355402" y="1271588"/>
            <a:ext cx="5014913" cy="2886075"/>
          </a:xfrm>
          <a:prstGeom prst="roundRect">
            <a:avLst>
              <a:gd name="adj" fmla="val 1882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21494" y="1435894"/>
            <a:ext cx="199310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 / 耗时归因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521494" y="1584127"/>
            <a:ext cx="1993106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Bef>
                <a:spcPts val="225"/>
              </a:spcBef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 fit 耗时构成｜瓶颈不在金字塔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5572" y="1491258"/>
            <a:ext cx="628650" cy="200025"/>
          </a:xfrm>
          <a:prstGeom prst="roundRect">
            <a:avLst>
              <a:gd name="adj" fmla="val 57143"/>
            </a:avLst>
          </a:prstGeom>
          <a:solidFill>
            <a:srgbClr val="C9974D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4647009" y="1569839"/>
            <a:ext cx="42863" cy="42863"/>
          </a:xfrm>
          <a:prstGeom prst="ellipse">
            <a:avLst/>
          </a:prstGeom>
          <a:solidFill>
            <a:srgbClr val="BC9348"/>
          </a:solidFill>
          <a:ln/>
        </p:spPr>
      </p:sp>
      <p:sp>
        <p:nvSpPr>
          <p:cNvPr id="16" name="Text 12"/>
          <p:cNvSpPr/>
          <p:nvPr/>
        </p:nvSpPr>
        <p:spPr>
          <a:xfrm>
            <a:off x="4739878" y="1555552"/>
            <a:ext cx="3929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D5A22"/>
                </a:solidFill>
                <a:highlight>
                  <a:srgbClr val="C9974D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假设被推翻</a:t>
            </a:r>
            <a:endParaRPr lang="en-US" sz="6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494" y="1775222"/>
            <a:ext cx="4682728" cy="471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1494" y="2348508"/>
            <a:ext cx="1807369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重复计算 → 三项统一缓存 → fit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296463" y="2373511"/>
            <a:ext cx="907256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同一输入帧，约 3.25 次 fit</a:t>
            </a:r>
            <a:endParaRPr lang="en-US" sz="600" dirty="0"/>
          </a:p>
        </p:txBody>
      </p:sp>
      <p:sp>
        <p:nvSpPr>
          <p:cNvPr id="20" name="Shape 15"/>
          <p:cNvSpPr/>
          <p:nvPr/>
        </p:nvSpPr>
        <p:spPr>
          <a:xfrm>
            <a:off x="519708" y="2597088"/>
            <a:ext cx="1364456" cy="1057275"/>
          </a:xfrm>
          <a:prstGeom prst="roundRect">
            <a:avLst>
              <a:gd name="adj" fmla="val 10519"/>
            </a:avLst>
          </a:prstGeom>
          <a:solidFill>
            <a:srgbClr val="F4F6F9">
              <a:alpha val="9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12577" y="2696766"/>
            <a:ext cx="1178719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REPEAT</a:t>
            </a:r>
            <a:endParaRPr lang="en-US" sz="600" dirty="0"/>
          </a:p>
        </p:txBody>
      </p:sp>
      <p:sp>
        <p:nvSpPr>
          <p:cNvPr id="22" name="Text 17"/>
          <p:cNvSpPr/>
          <p:nvPr/>
        </p:nvSpPr>
        <p:spPr>
          <a:xfrm>
            <a:off x="612577" y="2818209"/>
            <a:ext cx="1178719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同一输入帧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12577" y="3011091"/>
            <a:ext cx="1178719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 × 3.25</a:t>
            </a:r>
            <a:endParaRPr lang="en-US" sz="600" dirty="0"/>
          </a:p>
        </p:txBody>
      </p:sp>
      <p:sp>
        <p:nvSpPr>
          <p:cNvPr id="24" name="Text 19"/>
          <p:cNvSpPr/>
          <p:nvPr/>
        </p:nvSpPr>
        <p:spPr>
          <a:xfrm>
            <a:off x="613246" y="3376092"/>
            <a:ext cx="307181" cy="178594"/>
          </a:xfrm>
          <a:prstGeom prst="roundRect">
            <a:avLst>
              <a:gd name="adj" fmla="val 40960"/>
            </a:avLst>
          </a:prstGeom>
          <a:solidFill>
            <a:srgbClr val="FFFFFF"/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resize</a:t>
            </a:r>
            <a:endParaRPr lang="en-US" sz="500" dirty="0"/>
          </a:p>
        </p:txBody>
      </p:sp>
      <p:sp>
        <p:nvSpPr>
          <p:cNvPr id="25" name="Text 20"/>
          <p:cNvSpPr/>
          <p:nvPr/>
        </p:nvSpPr>
        <p:spPr>
          <a:xfrm>
            <a:off x="955365" y="3376092"/>
            <a:ext cx="457200" cy="178594"/>
          </a:xfrm>
          <a:prstGeom prst="roundRect">
            <a:avLst>
              <a:gd name="adj" fmla="val 40960"/>
            </a:avLst>
          </a:prstGeom>
          <a:solidFill>
            <a:srgbClr val="C9974D">
              <a:alpha val="14000"/>
            </a:srgbClr>
          </a:solidFill>
          <a:ln w="7144">
            <a:solidFill>
              <a:srgbClr val="C9974D">
                <a:alpha val="24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角点 ×3.25</a:t>
            </a:r>
            <a:endParaRPr lang="en-US" sz="500" dirty="0"/>
          </a:p>
        </p:txBody>
      </p:sp>
      <p:sp>
        <p:nvSpPr>
          <p:cNvPr id="26" name="Text 21"/>
          <p:cNvSpPr/>
          <p:nvPr/>
        </p:nvSpPr>
        <p:spPr>
          <a:xfrm>
            <a:off x="1448619" y="3376092"/>
            <a:ext cx="328613" cy="178594"/>
          </a:xfrm>
          <a:prstGeom prst="roundRect">
            <a:avLst>
              <a:gd name="adj" fmla="val 40960"/>
            </a:avLst>
          </a:prstGeom>
          <a:solidFill>
            <a:srgbClr val="FFFFFF"/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</a:t>
            </a:r>
            <a:endParaRPr lang="en-US" sz="500" dirty="0"/>
          </a:p>
        </p:txBody>
      </p:sp>
      <p:sp>
        <p:nvSpPr>
          <p:cNvPr id="27" name="Shape 22"/>
          <p:cNvSpPr/>
          <p:nvPr/>
        </p:nvSpPr>
        <p:spPr>
          <a:xfrm>
            <a:off x="2183030" y="2597088"/>
            <a:ext cx="1835944" cy="1057275"/>
          </a:xfrm>
          <a:prstGeom prst="roundRect">
            <a:avLst>
              <a:gd name="adj" fmla="val 10519"/>
            </a:avLst>
          </a:prstGeom>
          <a:solidFill>
            <a:srgbClr val="C9974D">
              <a:alpha val="9000"/>
            </a:srgbClr>
          </a:solidFill>
          <a:ln w="7144">
            <a:solidFill>
              <a:srgbClr val="BC9348">
                <a:alpha val="38000"/>
              </a:srgbClr>
            </a:solidFill>
            <a:prstDash val="solid"/>
          </a:ln>
          <a:effectLst>
            <a:outerShdw sx="100000" sy="100000" kx="0" ky="0" algn="bl" rotWithShape="0" blurRad="171450" dist="71438" dir="5400000">
              <a:srgbClr val="BC9348">
                <a:alpha val="8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2275731" y="2862076"/>
            <a:ext cx="478631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CACHE</a:t>
            </a:r>
            <a:endParaRPr lang="en-US" sz="600" dirty="0"/>
          </a:p>
        </p:txBody>
      </p:sp>
      <p:sp>
        <p:nvSpPr>
          <p:cNvPr id="29" name="Text 24"/>
          <p:cNvSpPr/>
          <p:nvPr/>
        </p:nvSpPr>
        <p:spPr>
          <a:xfrm>
            <a:off x="3569531" y="2837073"/>
            <a:ext cx="357187" cy="135731"/>
          </a:xfrm>
          <a:prstGeom prst="roundRect">
            <a:avLst>
              <a:gd name="adj" fmla="val 84211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绝对帧号</a:t>
            </a:r>
            <a:endParaRPr lang="en-US" sz="500" dirty="0"/>
          </a:p>
        </p:txBody>
      </p:sp>
      <p:sp>
        <p:nvSpPr>
          <p:cNvPr id="30" name="Shape 25"/>
          <p:cNvSpPr/>
          <p:nvPr/>
        </p:nvSpPr>
        <p:spPr>
          <a:xfrm>
            <a:off x="2275898" y="3022085"/>
            <a:ext cx="1650206" cy="392906"/>
          </a:xfrm>
          <a:prstGeom prst="roundRect">
            <a:avLst>
              <a:gd name="adj" fmla="val 12694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BC9348">
                <a:alpha val="2400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333048" y="3093523"/>
            <a:ext cx="153590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resize + 角点 + 金字塔</a:t>
            </a:r>
            <a:endParaRPr lang="en-US" sz="600" dirty="0"/>
          </a:p>
        </p:txBody>
      </p:sp>
      <p:sp>
        <p:nvSpPr>
          <p:cNvPr id="32" name="Text 27"/>
          <p:cNvSpPr/>
          <p:nvPr/>
        </p:nvSpPr>
        <p:spPr>
          <a:xfrm>
            <a:off x="2333048" y="3235672"/>
            <a:ext cx="153590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统一缓存，不是只缓存金字塔</a:t>
            </a:r>
            <a:endParaRPr lang="en-US" sz="500" dirty="0"/>
          </a:p>
        </p:txBody>
      </p:sp>
      <p:sp>
        <p:nvSpPr>
          <p:cNvPr id="33" name="Shape 28"/>
          <p:cNvSpPr/>
          <p:nvPr/>
        </p:nvSpPr>
        <p:spPr>
          <a:xfrm>
            <a:off x="4318955" y="2597088"/>
            <a:ext cx="885825" cy="1057275"/>
          </a:xfrm>
          <a:prstGeom prst="roundRect">
            <a:avLst>
              <a:gd name="adj" fmla="val 14984"/>
            </a:avLst>
          </a:prstGeom>
          <a:solidFill>
            <a:srgbClr val="122033"/>
          </a:solidFill>
          <a:ln/>
        </p:spPr>
      </p:sp>
      <p:sp>
        <p:nvSpPr>
          <p:cNvPr id="34" name="Text 29"/>
          <p:cNvSpPr/>
          <p:nvPr/>
        </p:nvSpPr>
        <p:spPr>
          <a:xfrm>
            <a:off x="4515408" y="2897125"/>
            <a:ext cx="492919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8FAFC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OUTPUT</a:t>
            </a:r>
            <a:endParaRPr lang="en-US" sz="500" dirty="0"/>
          </a:p>
        </p:txBody>
      </p:sp>
      <p:sp>
        <p:nvSpPr>
          <p:cNvPr id="35" name="Text 30"/>
          <p:cNvSpPr/>
          <p:nvPr/>
        </p:nvSpPr>
        <p:spPr>
          <a:xfrm>
            <a:off x="4686858" y="3025713"/>
            <a:ext cx="150019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94"/>
              </a:spcBef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4618992" y="3247169"/>
            <a:ext cx="28575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1"/>
              </a:spcBef>
              <a:buNone/>
            </a:pPr>
            <a:r>
              <a:rPr lang="en-US" sz="500" dirty="0">
                <a:solidFill>
                  <a:srgbClr val="F8FAFC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缓存命中</a:t>
            </a:r>
            <a:endParaRPr lang="en-US" sz="500" dirty="0"/>
          </a:p>
        </p:txBody>
      </p:sp>
      <p:sp>
        <p:nvSpPr>
          <p:cNvPr id="37" name="Text 32"/>
          <p:cNvSpPr/>
          <p:nvPr/>
        </p:nvSpPr>
        <p:spPr>
          <a:xfrm>
            <a:off x="519708" y="3741986"/>
            <a:ext cx="4686300" cy="250031"/>
          </a:xfrm>
          <a:prstGeom prst="roundRect">
            <a:avLst>
              <a:gd name="adj" fmla="val 33959"/>
            </a:avLst>
          </a:prstGeom>
          <a:solidFill>
            <a:srgbClr val="F4F6F9">
              <a:alpha val="8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决策：</a:t>
            </a:r>
            <a:pPr algn="l" indent="0" marL="0">
              <a:lnSpc>
                <a:spcPts val="979"/>
              </a:lnSpc>
              <a:spcBef>
                <a:spcPts val="675"/>
              </a:spcBef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resize、角点、金字塔均是单张输入图的纯函数，应按绝对帧号统一缓存。</a:t>
            </a:r>
            <a:endParaRPr lang="en-US" sz="600" dirty="0"/>
          </a:p>
        </p:txBody>
      </p:sp>
      <p:sp>
        <p:nvSpPr>
          <p:cNvPr id="38" name="Shape 33"/>
          <p:cNvSpPr/>
          <p:nvPr/>
        </p:nvSpPr>
        <p:spPr>
          <a:xfrm>
            <a:off x="5495330" y="1271588"/>
            <a:ext cx="3707606" cy="2886075"/>
          </a:xfrm>
          <a:prstGeom prst="roundRect">
            <a:avLst>
              <a:gd name="adj" fmla="val 1882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9636" y="1435894"/>
            <a:ext cx="3378994" cy="978694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798716" y="1564481"/>
            <a:ext cx="1593056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/ FIT 延迟</a:t>
            </a:r>
            <a:endParaRPr lang="en-US" sz="600" dirty="0"/>
          </a:p>
        </p:txBody>
      </p:sp>
      <p:sp>
        <p:nvSpPr>
          <p:cNvPr id="41" name="Text 35"/>
          <p:cNvSpPr/>
          <p:nvPr/>
        </p:nvSpPr>
        <p:spPr>
          <a:xfrm>
            <a:off x="5798716" y="1735931"/>
            <a:ext cx="1593056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F8B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18.46</a:t>
            </a:r>
            <a:pPr algn="l" indent="0" marL="0">
              <a:spcBef>
                <a:spcPts val="450"/>
              </a:spcBef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</a:t>
            </a:r>
            <a:pPr algn="l" indent="0" marL="0">
              <a:spcBef>
                <a:spcPts val="450"/>
              </a:spcBef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BC9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spcBef>
                <a:spcPts val="450"/>
              </a:spcBef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2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3.94</a:t>
            </a:r>
            <a:pPr algn="l" indent="0" marL="0">
              <a:spcBef>
                <a:spcPts val="450"/>
              </a:spcBef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8443913" y="1564481"/>
            <a:ext cx="457200" cy="457200"/>
          </a:xfrm>
          <a:prstGeom prst="ellipse">
            <a:avLst/>
          </a:prstGeom>
          <a:solidFill>
            <a:srgbClr val="122033"/>
          </a:solidFill>
          <a:ln/>
          <a:effectLst>
            <a:outerShdw sx="100000" sy="100000" kx="0" ky="0" algn="bl" rotWithShape="0" blurRad="171450" dist="71438" dir="5400000">
              <a:srgbClr val="0F172A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4.68×</a:t>
            </a:r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F8FAFC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5795367" y="2100263"/>
            <a:ext cx="3107531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6"/>
              </a:spcBef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端到端：</a:t>
            </a:r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49.5 → 117.6 fps</a:t>
            </a:r>
            <a:endParaRPr lang="en-US" sz="600" dirty="0"/>
          </a:p>
        </p:txBody>
      </p:sp>
      <p:sp>
        <p:nvSpPr>
          <p:cNvPr id="44" name="Shape 38"/>
          <p:cNvSpPr/>
          <p:nvPr/>
        </p:nvSpPr>
        <p:spPr>
          <a:xfrm>
            <a:off x="5659636" y="2500313"/>
            <a:ext cx="3378994" cy="414338"/>
          </a:xfrm>
          <a:prstGeom prst="roundRect">
            <a:avLst>
              <a:gd name="adj" fmla="val 13317"/>
            </a:avLst>
          </a:prstGeom>
          <a:solidFill>
            <a:srgbClr val="2B8E5C">
              <a:alpha val="8000"/>
            </a:srgbClr>
          </a:solidFill>
          <a:ln w="7144">
            <a:solidFill>
              <a:srgbClr val="2B8E5C">
                <a:alpha val="18000"/>
              </a:srgbClr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761434" y="2618184"/>
            <a:ext cx="178594" cy="178594"/>
          </a:xfrm>
          <a:prstGeom prst="ellipse">
            <a:avLst/>
          </a:prstGeom>
          <a:solidFill>
            <a:srgbClr val="2B8E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700" dirty="0"/>
          </a:p>
        </p:txBody>
      </p:sp>
      <p:sp>
        <p:nvSpPr>
          <p:cNvPr id="46" name="Text 40"/>
          <p:cNvSpPr/>
          <p:nvPr/>
        </p:nvSpPr>
        <p:spPr>
          <a:xfrm>
            <a:off x="6004489" y="2578894"/>
            <a:ext cx="871538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26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MD5 与基线逐位相同</a:t>
            </a:r>
            <a:endParaRPr lang="en-US" sz="700" dirty="0"/>
          </a:p>
        </p:txBody>
      </p:sp>
      <p:sp>
        <p:nvSpPr>
          <p:cNvPr id="47" name="Text 41"/>
          <p:cNvSpPr/>
          <p:nvPr/>
        </p:nvSpPr>
        <p:spPr>
          <a:xfrm>
            <a:off x="6004489" y="2728912"/>
            <a:ext cx="871538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位精确一致 · 生产序列验证</a:t>
            </a:r>
            <a:endParaRPr lang="en-US" sz="500" dirty="0"/>
          </a:p>
        </p:txBody>
      </p:sp>
      <p:sp>
        <p:nvSpPr>
          <p:cNvPr id="48" name="Text 42"/>
          <p:cNvSpPr/>
          <p:nvPr/>
        </p:nvSpPr>
        <p:spPr>
          <a:xfrm>
            <a:off x="8559050" y="2668191"/>
            <a:ext cx="378619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2B8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BIT-EXACT</a:t>
            </a:r>
            <a:endParaRPr lang="en-US" sz="500" dirty="0"/>
          </a:p>
        </p:txBody>
      </p:sp>
      <p:sp>
        <p:nvSpPr>
          <p:cNvPr id="49" name="Shape 43"/>
          <p:cNvSpPr/>
          <p:nvPr/>
        </p:nvSpPr>
        <p:spPr>
          <a:xfrm>
            <a:off x="5662315" y="3000375"/>
            <a:ext cx="1650206" cy="457200"/>
          </a:xfrm>
          <a:prstGeom prst="roundRect">
            <a:avLst>
              <a:gd name="adj" fmla="val 10938"/>
            </a:avLst>
          </a:prstGeom>
          <a:solidFill>
            <a:srgbClr val="F4F6F9">
              <a:alpha val="7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755184" y="3078956"/>
            <a:ext cx="1464469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消融｜角点单项</a:t>
            </a:r>
            <a:endParaRPr lang="en-US" sz="500" dirty="0"/>
          </a:p>
        </p:txBody>
      </p:sp>
      <p:sp>
        <p:nvSpPr>
          <p:cNvPr id="51" name="Text 45"/>
          <p:cNvSpPr/>
          <p:nvPr/>
        </p:nvSpPr>
        <p:spPr>
          <a:xfrm>
            <a:off x="5755184" y="3207544"/>
            <a:ext cx="1464469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2.14×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7385745" y="3000375"/>
            <a:ext cx="1650206" cy="457200"/>
          </a:xfrm>
          <a:prstGeom prst="roundRect">
            <a:avLst>
              <a:gd name="adj" fmla="val 10938"/>
            </a:avLst>
          </a:prstGeom>
          <a:solidFill>
            <a:srgbClr val="C9974D">
              <a:alpha val="10000"/>
            </a:srgbClr>
          </a:solidFill>
          <a:ln w="7144">
            <a:solidFill>
              <a:srgbClr val="BC9348">
                <a:alpha val="20000"/>
              </a:srgbClr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7478613" y="3078956"/>
            <a:ext cx="1464469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消融｜三项全开</a:t>
            </a:r>
            <a:endParaRPr lang="en-US" sz="500" dirty="0"/>
          </a:p>
        </p:txBody>
      </p:sp>
      <p:sp>
        <p:nvSpPr>
          <p:cNvPr id="54" name="Text 48"/>
          <p:cNvSpPr/>
          <p:nvPr/>
        </p:nvSpPr>
        <p:spPr>
          <a:xfrm>
            <a:off x="7478613" y="3207544"/>
            <a:ext cx="1464469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11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5.15×</a:t>
            </a:r>
            <a:endParaRPr lang="en-US" sz="1100" dirty="0"/>
          </a:p>
        </p:txBody>
      </p:sp>
      <p:sp>
        <p:nvSpPr>
          <p:cNvPr id="55" name="Shape 49"/>
          <p:cNvSpPr/>
          <p:nvPr/>
        </p:nvSpPr>
        <p:spPr>
          <a:xfrm>
            <a:off x="5659636" y="3543300"/>
            <a:ext cx="3378994" cy="450056"/>
          </a:xfrm>
          <a:prstGeom prst="roundRect">
            <a:avLst>
              <a:gd name="adj" fmla="val 13706"/>
            </a:avLst>
          </a:prstGeom>
          <a:solidFill>
            <a:srgbClr val="E88F42">
              <a:alpha val="8000"/>
            </a:srgbClr>
          </a:solidFill>
          <a:ln w="7144">
            <a:solidFill>
              <a:srgbClr val="E88F42">
                <a:alpha val="18000"/>
              </a:srgbClr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5769080" y="3400425"/>
            <a:ext cx="115014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A5C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PRECISION COST / 精度代价</a:t>
            </a:r>
            <a:endParaRPr lang="en-US" sz="600" dirty="0"/>
          </a:p>
        </p:txBody>
      </p:sp>
      <p:sp>
        <p:nvSpPr>
          <p:cNvPr id="57" name="Text 51"/>
          <p:cNvSpPr/>
          <p:nvPr/>
        </p:nvSpPr>
        <p:spPr>
          <a:xfrm>
            <a:off x="5769080" y="3557588"/>
            <a:ext cx="1150144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38"/>
              </a:spcBef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平移误差</a:t>
            </a:r>
            <a:endParaRPr lang="en-US" sz="800" dirty="0"/>
          </a:p>
        </p:txBody>
      </p:sp>
      <p:sp>
        <p:nvSpPr>
          <p:cNvPr id="58" name="Text 52"/>
          <p:cNvSpPr/>
          <p:nvPr/>
        </p:nvSpPr>
        <p:spPr>
          <a:xfrm>
            <a:off x="7993968" y="3475434"/>
            <a:ext cx="935831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56D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 → 5.44 px</a:t>
            </a:r>
            <a:endParaRPr lang="en-US" sz="1000" dirty="0"/>
          </a:p>
        </p:txBody>
      </p:sp>
      <p:sp>
        <p:nvSpPr>
          <p:cNvPr id="59" name="Text 53"/>
          <p:cNvSpPr/>
          <p:nvPr/>
        </p:nvSpPr>
        <p:spPr>
          <a:xfrm>
            <a:off x="5766792" y="3757613"/>
            <a:ext cx="3164681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94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旋转 / 缩放几乎不变；必须配套运行时自检。</a:t>
            </a:r>
            <a:endParaRPr lang="en-US" sz="600" dirty="0"/>
          </a:p>
        </p:txBody>
      </p:sp>
      <p:sp>
        <p:nvSpPr>
          <p:cNvPr id="60" name="Text 54"/>
          <p:cNvSpPr/>
          <p:nvPr/>
        </p:nvSpPr>
        <p:spPr>
          <a:xfrm>
            <a:off x="5767853" y="3943350"/>
            <a:ext cx="807244" cy="192881"/>
          </a:xfrm>
          <a:prstGeom prst="roundRect">
            <a:avLst>
              <a:gd name="adj" fmla="val 59259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C9974D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 = 占比 × 命中率</a:t>
            </a:r>
            <a:endParaRPr lang="en-US" sz="500" dirty="0"/>
          </a:p>
        </p:txBody>
      </p:sp>
      <p:sp>
        <p:nvSpPr>
          <p:cNvPr id="61" name="Text 55"/>
          <p:cNvSpPr/>
          <p:nvPr/>
        </p:nvSpPr>
        <p:spPr>
          <a:xfrm>
            <a:off x="6617233" y="3943350"/>
            <a:ext cx="857250" cy="192881"/>
          </a:xfrm>
          <a:prstGeom prst="roundRect">
            <a:avLst>
              <a:gd name="adj" fmla="val 59259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E88F42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9A5C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缓存必须带运行时自检</a:t>
            </a:r>
            <a:endParaRPr lang="en-US" sz="500" dirty="0"/>
          </a:p>
        </p:txBody>
      </p:sp>
      <p:sp>
        <p:nvSpPr>
          <p:cNvPr id="62" name="Text 56"/>
          <p:cNvSpPr/>
          <p:nvPr/>
        </p:nvSpPr>
        <p:spPr>
          <a:xfrm>
            <a:off x="357188" y="4286250"/>
            <a:ext cx="884396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600" dirty="0"/>
          </a:p>
        </p:txBody>
      </p:sp>
      <p:pic>
        <p:nvPicPr>
          <p:cNvPr id="6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7188" y="357188"/>
            <a:ext cx="8843963" cy="785813"/>
          </a:xfrm>
          <a:prstGeom prst="rect">
            <a:avLst/>
          </a:prstGeom>
        </p:spPr>
      </p:pic>
      <p:sp>
        <p:nvSpPr>
          <p:cNvPr id="64" name="Text 57"/>
          <p:cNvSpPr/>
          <p:nvPr/>
        </p:nvSpPr>
        <p:spPr>
          <a:xfrm>
            <a:off x="1925241" y="2597088"/>
            <a:ext cx="214313" cy="10572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C9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65" name="Text 58"/>
          <p:cNvSpPr/>
          <p:nvPr/>
        </p:nvSpPr>
        <p:spPr>
          <a:xfrm>
            <a:off x="4062450" y="2597088"/>
            <a:ext cx="214313" cy="10572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C9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9708" y="3741986"/>
            <a:ext cx="4686300" cy="250031"/>
          </a:xfrm>
          <a:prstGeom prst="rect">
            <a:avLst/>
          </a:prstGeom>
        </p:spPr>
      </p:pic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95367" y="2100263"/>
            <a:ext cx="3107531" cy="185738"/>
          </a:xfrm>
          <a:prstGeom prst="rect">
            <a:avLst/>
          </a:prstGeom>
        </p:spPr>
      </p:pic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7188" y="4286250"/>
            <a:ext cx="884396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57188" y="357188"/>
            <a:ext cx="8843963" cy="785813"/>
          </a:xfrm>
          <a:prstGeom prst="rect">
            <a:avLst/>
          </a:prstGeom>
          <a:ln/>
        </p:spPr>
      </p:sp>
      <p:sp>
        <p:nvSpPr>
          <p:cNvPr id="6" name="Text 3"/>
          <p:cNvSpPr/>
          <p:nvPr/>
        </p:nvSpPr>
        <p:spPr>
          <a:xfrm>
            <a:off x="358583" y="215764"/>
            <a:ext cx="1243013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DELIVERY HARD GATE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战果 B1｜算子回退清零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6438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静默失效的交付硬闸门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08/18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55402" y="1271588"/>
            <a:ext cx="5014913" cy="2300288"/>
          </a:xfrm>
          <a:prstGeom prst="roundRect">
            <a:avLst>
              <a:gd name="adj" fmla="val 2963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0322" y="1435894"/>
            <a:ext cx="1850231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端侧第一敌人：静默失效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20322" y="1591270"/>
            <a:ext cx="1850231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3"/>
              </a:lnSpc>
              <a:spcBef>
                <a:spcPts val="169"/>
              </a:spcBef>
              <a:buNone/>
            </a:pPr>
            <a:r>
              <a:rPr lang="en-US" sz="600" dirty="0">
                <a:solidFill>
                  <a:srgbClr val="6A7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不崩溃、不改指标，却让算子悄悄掉出 NPU 路径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4240541" y="1473398"/>
            <a:ext cx="964406" cy="192881"/>
          </a:xfrm>
          <a:prstGeom prst="roundRect">
            <a:avLst>
              <a:gd name="adj" fmla="val 59259"/>
            </a:avLst>
          </a:prstGeom>
          <a:solidFill>
            <a:srgbClr val="C9974D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312704" y="1548408"/>
            <a:ext cx="42863" cy="42863"/>
          </a:xfrm>
          <a:prstGeom prst="ellipse">
            <a:avLst/>
          </a:prstGeom>
          <a:solidFill>
            <a:srgbClr val="C9974D"/>
          </a:solidFill>
          <a:ln/>
        </p:spPr>
      </p:sp>
      <p:sp>
        <p:nvSpPr>
          <p:cNvPr id="15" name="Text 12"/>
          <p:cNvSpPr/>
          <p:nvPr/>
        </p:nvSpPr>
        <p:spPr>
          <a:xfrm>
            <a:off x="4405573" y="1530548"/>
            <a:ext cx="7272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7D5A22"/>
                </a:solidFill>
                <a:highlight>
                  <a:srgbClr val="C9974D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trial_0474 · 板卡实测</a:t>
            </a:r>
            <a:endParaRPr lang="en-US" sz="5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824" y="1776896"/>
            <a:ext cx="1514475" cy="1257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16093" y="1882378"/>
            <a:ext cx="45720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45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故障定位</a:t>
            </a:r>
            <a:endParaRPr lang="en-US" sz="500" dirty="0"/>
          </a:p>
        </p:txBody>
      </p:sp>
      <p:sp>
        <p:nvSpPr>
          <p:cNvPr id="18" name="Text 14"/>
          <p:cNvSpPr/>
          <p:nvPr/>
        </p:nvSpPr>
        <p:spPr>
          <a:xfrm>
            <a:off x="1691283" y="1868091"/>
            <a:ext cx="250031" cy="135731"/>
          </a:xfrm>
          <a:prstGeom prst="roundRect">
            <a:avLst>
              <a:gd name="adj" fmla="val 70914"/>
            </a:avLst>
          </a:prstGeom>
          <a:solidFill>
            <a:srgbClr val="C2554D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45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</a:t>
            </a:r>
            <a:endParaRPr lang="en-US" sz="500" dirty="0"/>
          </a:p>
        </p:txBody>
      </p:sp>
      <p:sp>
        <p:nvSpPr>
          <p:cNvPr id="19" name="Text 15"/>
          <p:cNvSpPr/>
          <p:nvPr/>
        </p:nvSpPr>
        <p:spPr>
          <a:xfrm>
            <a:off x="613693" y="2073473"/>
            <a:ext cx="1328738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spcBef>
                <a:spcPts val="563"/>
              </a:spcBef>
              <a:spcAft>
                <a:spcPts val="394"/>
              </a:spcAft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算子悄悄掉队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613693" y="2248998"/>
            <a:ext cx="1328738" cy="457200"/>
          </a:xfrm>
          <a:prstGeom prst="roundRect">
            <a:avLst>
              <a:gd name="adj" fmla="val 8594"/>
            </a:avLst>
          </a:prstGeom>
          <a:solidFill>
            <a:srgbClr val="FFFFFF">
              <a:alpha val="72000"/>
            </a:srgbClr>
          </a:solidFill>
          <a:ln w="7144">
            <a:solidFill>
              <a:srgbClr val="C2554D">
                <a:alpha val="1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trial_0474 v1</a:t>
            </a:r>
            <a:pPr algn="l" indent="0" marL="0">
              <a:buNone/>
            </a:pPr>
            <a:endParaRPr lang="en-US" sz="500" dirty="0"/>
          </a:p>
          <a:p>
            <a:pPr algn="l" indent="0" marL="0">
              <a:lnSpc>
                <a:spcPts val="856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p0_highway / pool</a:t>
            </a:r>
            <a:pPr algn="l" indent="0" marL="0">
              <a:buNone/>
            </a:pPr>
            <a:endParaRPr lang="en-US" sz="500" dirty="0"/>
          </a:p>
          <a:p>
            <a:pPr algn="l" indent="0" marL="0">
              <a:lnSpc>
                <a:spcPts val="856"/>
              </a:lnSpc>
              <a:buNone/>
            </a:pPr>
            <a:r>
              <a:rPr lang="en-US" sz="500" b="1" dirty="0">
                <a:solidFill>
                  <a:srgbClr val="A454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Reshape</a:t>
            </a:r>
            <a:endParaRPr lang="en-US" sz="500" dirty="0"/>
          </a:p>
        </p:txBody>
      </p:sp>
      <p:sp>
        <p:nvSpPr>
          <p:cNvPr id="21" name="Shape 17"/>
          <p:cNvSpPr/>
          <p:nvPr/>
        </p:nvSpPr>
        <p:spPr>
          <a:xfrm>
            <a:off x="614363" y="2861630"/>
            <a:ext cx="42863" cy="42863"/>
          </a:xfrm>
          <a:prstGeom prst="ellipse">
            <a:avLst/>
          </a:prstGeom>
          <a:solidFill>
            <a:srgbClr val="C2554E"/>
          </a:solidFill>
          <a:ln/>
        </p:spPr>
      </p:sp>
      <p:sp>
        <p:nvSpPr>
          <p:cNvPr id="22" name="Text 18"/>
          <p:cNvSpPr/>
          <p:nvPr/>
        </p:nvSpPr>
        <p:spPr>
          <a:xfrm>
            <a:off x="692944" y="2840199"/>
            <a:ext cx="8252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66"/>
              </a:lnSpc>
              <a:spcBef>
                <a:spcPts val="559"/>
              </a:spcBef>
              <a:buNone/>
            </a:pPr>
            <a:r>
              <a:rPr lang="en-US" sz="600" dirty="0">
                <a:solidFill>
                  <a:srgbClr val="6A7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个计算算子回落 CPU</a:t>
            </a:r>
            <a:endParaRPr lang="en-US" sz="6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05397" y="1776896"/>
            <a:ext cx="1514475" cy="12573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200666" y="1893094"/>
            <a:ext cx="45720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等价替换</a:t>
            </a:r>
            <a:endParaRPr lang="en-US" sz="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9171" y="1868091"/>
            <a:ext cx="157163" cy="15716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198266" y="2094905"/>
            <a:ext cx="1328738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spcBef>
                <a:spcPts val="563"/>
              </a:spcBef>
              <a:spcAft>
                <a:spcPts val="394"/>
              </a:spcAft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布局变换算术化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2198266" y="2270429"/>
            <a:ext cx="1328738" cy="457200"/>
          </a:xfrm>
          <a:prstGeom prst="roundRect">
            <a:avLst>
              <a:gd name="adj" fmla="val 8594"/>
            </a:avLst>
          </a:prstGeom>
          <a:solidFill>
            <a:srgbClr val="FFFFFF">
              <a:alpha val="76000"/>
            </a:srgbClr>
          </a:solidFill>
          <a:ln w="7144">
            <a:solidFill>
              <a:srgbClr val="C9974D">
                <a:alpha val="1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500" dirty="0">
                <a:solidFill>
                  <a:srgbClr val="A454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Reshape</a:t>
            </a:r>
            <a:pPr algn="l" indent="0" marL="0">
              <a:buNone/>
            </a:pPr>
            <a:endParaRPr lang="en-US" sz="500" dirty="0"/>
          </a:p>
          <a:p>
            <a:pPr algn="l" indent="0" marL="0">
              <a:lnSpc>
                <a:spcPts val="856"/>
              </a:lnSpc>
              <a:buNone/>
            </a:pPr>
            <a:r>
              <a:rPr lang="en-US" sz="500" dirty="0">
                <a:solidFill>
                  <a:srgbClr val="7D5A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stride-2</a:t>
            </a:r>
            <a:pPr algn="l" indent="0" marL="0">
              <a:buNone/>
            </a:pPr>
            <a:endParaRPr lang="en-US" sz="500" dirty="0"/>
          </a:p>
          <a:p>
            <a:pPr algn="l" indent="0" marL="0">
              <a:lnSpc>
                <a:spcPts val="856"/>
              </a:lnSpc>
              <a:buNone/>
            </a:pPr>
            <a:r>
              <a:rPr lang="en-US" sz="500" b="1" dirty="0">
                <a:solidFill>
                  <a:srgbClr val="12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depthwise conv</a:t>
            </a:r>
            <a:endParaRPr lang="en-US" sz="500" dirty="0"/>
          </a:p>
        </p:txBody>
      </p:sp>
      <p:sp>
        <p:nvSpPr>
          <p:cNvPr id="28" name="Text 22"/>
          <p:cNvSpPr/>
          <p:nvPr/>
        </p:nvSpPr>
        <p:spPr>
          <a:xfrm>
            <a:off x="2453655" y="2783495"/>
            <a:ext cx="321469" cy="164306"/>
          </a:xfrm>
          <a:prstGeom prst="roundRect">
            <a:avLst>
              <a:gd name="adj" fmla="val 42344"/>
            </a:avLst>
          </a:prstGeom>
          <a:solidFill>
            <a:srgbClr val="C9974D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读窗口</a:t>
            </a:r>
            <a:endParaRPr lang="en-US" sz="500" dirty="0"/>
          </a:p>
        </p:txBody>
      </p:sp>
      <p:sp>
        <p:nvSpPr>
          <p:cNvPr id="29" name="Text 23"/>
          <p:cNvSpPr/>
          <p:nvPr/>
        </p:nvSpPr>
        <p:spPr>
          <a:xfrm>
            <a:off x="2823344" y="2822786"/>
            <a:ext cx="78581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878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500" dirty="0"/>
          </a:p>
        </p:txBody>
      </p:sp>
      <p:sp>
        <p:nvSpPr>
          <p:cNvPr id="30" name="Text 24"/>
          <p:cNvSpPr/>
          <p:nvPr/>
        </p:nvSpPr>
        <p:spPr>
          <a:xfrm>
            <a:off x="2950146" y="2783495"/>
            <a:ext cx="321469" cy="164306"/>
          </a:xfrm>
          <a:prstGeom prst="roundRect">
            <a:avLst>
              <a:gd name="adj" fmla="val 42344"/>
            </a:avLst>
          </a:prstGeom>
          <a:solidFill>
            <a:srgbClr val="C9974D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写小图</a:t>
            </a:r>
            <a:endParaRPr lang="en-US" sz="5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89970" y="1776896"/>
            <a:ext cx="1514475" cy="12573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785239" y="1882378"/>
            <a:ext cx="45720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97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路径恢复</a:t>
            </a:r>
            <a:endParaRPr lang="en-US" sz="500" dirty="0"/>
          </a:p>
        </p:txBody>
      </p:sp>
      <p:sp>
        <p:nvSpPr>
          <p:cNvPr id="33" name="Text 26"/>
          <p:cNvSpPr/>
          <p:nvPr/>
        </p:nvSpPr>
        <p:spPr>
          <a:xfrm>
            <a:off x="4860429" y="1868091"/>
            <a:ext cx="250031" cy="135731"/>
          </a:xfrm>
          <a:prstGeom prst="roundRect">
            <a:avLst>
              <a:gd name="adj" fmla="val 70914"/>
            </a:avLst>
          </a:prstGeom>
          <a:solidFill>
            <a:srgbClr val="308462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97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</a:t>
            </a:r>
            <a:endParaRPr lang="en-US" sz="500" dirty="0"/>
          </a:p>
        </p:txBody>
      </p:sp>
      <p:sp>
        <p:nvSpPr>
          <p:cNvPr id="34" name="Text 27"/>
          <p:cNvSpPr/>
          <p:nvPr/>
        </p:nvSpPr>
        <p:spPr>
          <a:xfrm>
            <a:off x="3782839" y="2073473"/>
            <a:ext cx="1328738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spcBef>
                <a:spcPts val="563"/>
              </a:spcBef>
              <a:spcAft>
                <a:spcPts val="394"/>
              </a:spcAft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计算真正上板</a:t>
            </a:r>
            <a:endParaRPr lang="en-US" sz="700" dirty="0"/>
          </a:p>
        </p:txBody>
      </p:sp>
      <p:sp>
        <p:nvSpPr>
          <p:cNvPr id="35" name="Shape 28"/>
          <p:cNvSpPr/>
          <p:nvPr/>
        </p:nvSpPr>
        <p:spPr>
          <a:xfrm>
            <a:off x="3782839" y="2250281"/>
            <a:ext cx="1328738" cy="428625"/>
          </a:xfrm>
          <a:prstGeom prst="roundRect">
            <a:avLst>
              <a:gd name="adj" fmla="val 10667"/>
            </a:avLst>
          </a:prstGeom>
          <a:solidFill>
            <a:srgbClr val="FFFFFF">
              <a:alpha val="76000"/>
            </a:srgbClr>
          </a:solidFill>
          <a:ln w="7144">
            <a:solidFill>
              <a:srgbClr val="308462">
                <a:alpha val="12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89995" y="2450306"/>
            <a:ext cx="1114425" cy="28575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4115023" y="2350294"/>
            <a:ext cx="664369" cy="228600"/>
          </a:xfrm>
          <a:prstGeom prst="roundRect">
            <a:avLst>
              <a:gd name="adj" fmla="val 31250"/>
            </a:avLst>
          </a:prstGeom>
          <a:solidFill>
            <a:srgbClr val="122033"/>
          </a:solidFill>
          <a:ln/>
          <a:effectLst>
            <a:outerShdw sx="100000" sy="100000" kx="0" ky="0" algn="bl" rotWithShape="0" blurRad="128588" dist="50006" dir="5400000">
              <a:srgbClr val="122033">
                <a:alpha val="14000"/>
              </a:srgbClr>
            </a:outerShdw>
          </a:effectLst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87800" y="2407444"/>
            <a:ext cx="114300" cy="1143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352106" y="2425303"/>
            <a:ext cx="354620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F8FAFC"/>
                </a:solidFill>
                <a:highlight>
                  <a:srgbClr val="122033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PATH</a:t>
            </a:r>
            <a:endParaRPr lang="en-US" sz="500" dirty="0"/>
          </a:p>
        </p:txBody>
      </p:sp>
      <p:sp>
        <p:nvSpPr>
          <p:cNvPr id="40" name="Text 31"/>
          <p:cNvSpPr/>
          <p:nvPr/>
        </p:nvSpPr>
        <p:spPr>
          <a:xfrm>
            <a:off x="3782839" y="2777356"/>
            <a:ext cx="1328738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Bef>
                <a:spcPts val="765"/>
              </a:spcBef>
              <a:buNone/>
            </a:pPr>
            <a:r>
              <a:rPr lang="en-US" sz="600" b="1" dirty="0">
                <a:solidFill>
                  <a:srgbClr val="397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计算路径恢复 NPU</a:t>
            </a:r>
            <a:endParaRPr lang="en-US" sz="600" dirty="0"/>
          </a:p>
        </p:txBody>
      </p:sp>
      <p:sp>
        <p:nvSpPr>
          <p:cNvPr id="41" name="Shape 32"/>
          <p:cNvSpPr/>
          <p:nvPr/>
        </p:nvSpPr>
        <p:spPr>
          <a:xfrm>
            <a:off x="519708" y="3107531"/>
            <a:ext cx="4686300" cy="300038"/>
          </a:xfrm>
          <a:prstGeom prst="roundRect">
            <a:avLst>
              <a:gd name="adj" fmla="val 21769"/>
            </a:avLst>
          </a:prstGeom>
          <a:solidFill>
            <a:srgbClr val="122033">
              <a:alpha val="4300"/>
            </a:srgbClr>
          </a:solidFill>
          <a:ln w="7144">
            <a:solidFill>
              <a:srgbClr val="122033">
                <a:alpha val="6000"/>
              </a:srgbClr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614362" y="3200400"/>
            <a:ext cx="392906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治理动作：</a:t>
            </a:r>
            <a:endParaRPr lang="en-US" sz="600" dirty="0"/>
          </a:p>
        </p:txBody>
      </p:sp>
      <p:sp>
        <p:nvSpPr>
          <p:cNvPr id="43" name="Text 34"/>
          <p:cNvSpPr/>
          <p:nvPr/>
        </p:nvSpPr>
        <p:spPr>
          <a:xfrm>
            <a:off x="1091208" y="3200400"/>
            <a:ext cx="34290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stride-2 depthwise conv 替代 Reshape，完成算术等价改写</a:t>
            </a:r>
            <a:endParaRPr lang="en-US" sz="600" dirty="0"/>
          </a:p>
        </p:txBody>
      </p:sp>
      <p:sp>
        <p:nvSpPr>
          <p:cNvPr id="44" name="Text 35"/>
          <p:cNvSpPr/>
          <p:nvPr/>
        </p:nvSpPr>
        <p:spPr>
          <a:xfrm>
            <a:off x="4604147" y="3171825"/>
            <a:ext cx="507206" cy="171450"/>
          </a:xfrm>
          <a:prstGeom prst="roundRect">
            <a:avLst>
              <a:gd name="adj" fmla="val 66667"/>
            </a:avLst>
          </a:prstGeom>
          <a:solidFill>
            <a:srgbClr val="308462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97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位精确等价</a:t>
            </a:r>
            <a:endParaRPr lang="en-US" sz="600" dirty="0"/>
          </a:p>
        </p:txBody>
      </p:sp>
      <p:sp>
        <p:nvSpPr>
          <p:cNvPr id="45" name="Shape 36"/>
          <p:cNvSpPr/>
          <p:nvPr/>
        </p:nvSpPr>
        <p:spPr>
          <a:xfrm>
            <a:off x="5495330" y="1271588"/>
            <a:ext cx="3707606" cy="2300288"/>
          </a:xfrm>
          <a:prstGeom prst="roundRect">
            <a:avLst>
              <a:gd name="adj" fmla="val 2963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59636" y="1435894"/>
            <a:ext cx="3378994" cy="614363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5763165" y="1614488"/>
            <a:ext cx="535781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A7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计算算子</a:t>
            </a:r>
            <a:endParaRPr lang="en-US" sz="600" dirty="0"/>
          </a:p>
        </p:txBody>
      </p:sp>
      <p:sp>
        <p:nvSpPr>
          <p:cNvPr id="48" name="Text 38"/>
          <p:cNvSpPr/>
          <p:nvPr/>
        </p:nvSpPr>
        <p:spPr>
          <a:xfrm>
            <a:off x="5763165" y="1764506"/>
            <a:ext cx="53578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1"/>
              </a:spcBef>
              <a:buNone/>
            </a:pPr>
            <a:r>
              <a:rPr lang="en-US" sz="500" dirty="0">
                <a:solidFill>
                  <a:srgbClr val="8A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回退项已清零</a:t>
            </a:r>
            <a:endParaRPr lang="en-US" sz="500" dirty="0"/>
          </a:p>
        </p:txBody>
      </p:sp>
      <p:sp>
        <p:nvSpPr>
          <p:cNvPr id="49" name="Text 39"/>
          <p:cNvSpPr/>
          <p:nvPr/>
        </p:nvSpPr>
        <p:spPr>
          <a:xfrm>
            <a:off x="8464674" y="1607344"/>
            <a:ext cx="471488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00" b="1" dirty="0">
                <a:solidFill>
                  <a:srgbClr val="B75A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A9A2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2138"/>
              </a:lnSpc>
              <a:buNone/>
            </a:pPr>
            <a:r>
              <a:rPr lang="en-US" sz="2100" b="1" dirty="0">
                <a:solidFill>
                  <a:srgbClr val="397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59636" y="2114550"/>
            <a:ext cx="3378994" cy="614363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5759648" y="2220590"/>
            <a:ext cx="3178969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A7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rknn_run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实测耗时</a:t>
            </a:r>
            <a:endParaRPr lang="en-US" sz="600" dirty="0"/>
          </a:p>
        </p:txBody>
      </p:sp>
      <p:sp>
        <p:nvSpPr>
          <p:cNvPr id="52" name="Text 41"/>
          <p:cNvSpPr/>
          <p:nvPr/>
        </p:nvSpPr>
        <p:spPr>
          <a:xfrm>
            <a:off x="5759648" y="2357382"/>
            <a:ext cx="3178969" cy="178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929D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151.2</a:t>
            </a:r>
            <a:pPr algn="l" indent="0" marL="0">
              <a:lnSpc>
                <a:spcPts val="1423"/>
              </a:lnSpc>
              <a:spcBef>
                <a:spcPts val="225"/>
              </a:spcBef>
              <a:buNone/>
            </a:pPr>
            <a:r>
              <a:rPr lang="en-US" sz="12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423"/>
              </a:lnSpc>
              <a:buNone/>
            </a:pPr>
            <a:r>
              <a:rPr lang="en-US" sz="1200" b="1" dirty="0">
                <a:solidFill>
                  <a:srgbClr val="B7A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lnSpc>
                <a:spcPts val="1423"/>
              </a:lnSpc>
              <a:spcBef>
                <a:spcPts val="225"/>
              </a:spcBef>
              <a:buNone/>
            </a:pPr>
            <a:r>
              <a:rPr lang="en-US" sz="12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423"/>
              </a:lnSpc>
              <a:buNone/>
            </a:pPr>
            <a:r>
              <a:rPr lang="en-US" sz="12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103.7 ms</a:t>
            </a:r>
            <a:endParaRPr lang="en-US" sz="800" dirty="0"/>
          </a:p>
        </p:txBody>
      </p:sp>
      <p:sp>
        <p:nvSpPr>
          <p:cNvPr id="53" name="Shape 42"/>
          <p:cNvSpPr/>
          <p:nvPr/>
        </p:nvSpPr>
        <p:spPr>
          <a:xfrm>
            <a:off x="5760988" y="2587042"/>
            <a:ext cx="1871663" cy="35719"/>
          </a:xfrm>
          <a:prstGeom prst="roundRect">
            <a:avLst>
              <a:gd name="adj" fmla="val 319998"/>
            </a:avLst>
          </a:prstGeom>
          <a:solidFill>
            <a:srgbClr val="C2554D">
              <a:alpha val="34000"/>
            </a:srgbClr>
          </a:solidFill>
          <a:ln/>
        </p:spPr>
      </p:sp>
      <p:sp>
        <p:nvSpPr>
          <p:cNvPr id="54" name="Shape 43"/>
          <p:cNvSpPr/>
          <p:nvPr/>
        </p:nvSpPr>
        <p:spPr>
          <a:xfrm>
            <a:off x="7652296" y="2587042"/>
            <a:ext cx="1285875" cy="35719"/>
          </a:xfrm>
          <a:prstGeom prst="roundRect">
            <a:avLst>
              <a:gd name="adj" fmla="val 319998"/>
            </a:avLst>
          </a:prstGeom>
          <a:solidFill>
            <a:srgbClr val="39775E"/>
          </a:solidFill>
          <a:ln/>
        </p:spPr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659636" y="2793206"/>
            <a:ext cx="3378994" cy="614363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5760430" y="2928937"/>
            <a:ext cx="26289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A7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推理加速</a:t>
            </a:r>
            <a:endParaRPr lang="en-US" sz="600" dirty="0"/>
          </a:p>
        </p:txBody>
      </p:sp>
      <p:sp>
        <p:nvSpPr>
          <p:cNvPr id="57" name="Text 45"/>
          <p:cNvSpPr/>
          <p:nvPr/>
        </p:nvSpPr>
        <p:spPr>
          <a:xfrm>
            <a:off x="5760430" y="3057525"/>
            <a:ext cx="2628900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113"/>
              </a:spcBef>
              <a:buNone/>
            </a:pPr>
            <a:r>
              <a:rPr lang="en-US" sz="1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1.46×</a:t>
            </a:r>
            <a:endParaRPr lang="en-US" sz="1600" dirty="0"/>
          </a:p>
        </p:txBody>
      </p:sp>
      <p:sp>
        <p:nvSpPr>
          <p:cNvPr id="58" name="Text 46"/>
          <p:cNvSpPr/>
          <p:nvPr/>
        </p:nvSpPr>
        <p:spPr>
          <a:xfrm>
            <a:off x="8444582" y="2943225"/>
            <a:ext cx="492919" cy="178594"/>
          </a:xfrm>
          <a:prstGeom prst="roundRect">
            <a:avLst>
              <a:gd name="adj" fmla="val 46080"/>
            </a:avLst>
          </a:prstGeom>
          <a:solidFill>
            <a:srgbClr val="308462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b="1" dirty="0">
                <a:solidFill>
                  <a:srgbClr val="3977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精度代价 0</a:t>
            </a:r>
            <a:endParaRPr lang="en-US" sz="500" dirty="0"/>
          </a:p>
        </p:txBody>
      </p:sp>
      <p:sp>
        <p:nvSpPr>
          <p:cNvPr id="59" name="Text 47"/>
          <p:cNvSpPr/>
          <p:nvPr/>
        </p:nvSpPr>
        <p:spPr>
          <a:xfrm>
            <a:off x="8444582" y="3150394"/>
            <a:ext cx="492919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225"/>
              </a:spcBef>
              <a:buNone/>
            </a:pPr>
            <a:r>
              <a:rPr lang="en-US" sz="500" dirty="0">
                <a:solidFill>
                  <a:srgbClr val="7B87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逐字节相同</a:t>
            </a:r>
            <a:endParaRPr lang="en-US" sz="500" dirty="0"/>
          </a:p>
        </p:txBody>
      </p:sp>
      <p:sp>
        <p:nvSpPr>
          <p:cNvPr id="60" name="Shape 48"/>
          <p:cNvSpPr/>
          <p:nvPr/>
        </p:nvSpPr>
        <p:spPr>
          <a:xfrm>
            <a:off x="357188" y="3671888"/>
            <a:ext cx="8843963" cy="485775"/>
          </a:xfrm>
          <a:prstGeom prst="roundRect">
            <a:avLst>
              <a:gd name="adj" fmla="val 12457"/>
            </a:avLst>
          </a:prstGeom>
          <a:solidFill>
            <a:srgbClr val="122033"/>
          </a:solidFill>
          <a:ln/>
          <a:effectLst>
            <a:outerShdw sx="100000" sy="100000" kx="0" ky="0" algn="bl" rotWithShape="0" blurRad="200025" dist="85725" dir="5400000">
              <a:srgbClr val="0F172A">
                <a:alpha val="14000"/>
              </a:srgbClr>
            </a:outerShdw>
          </a:effectLst>
        </p:spPr>
      </p:sp>
      <p:sp>
        <p:nvSpPr>
          <p:cNvPr id="61" name="Shape 49"/>
          <p:cNvSpPr/>
          <p:nvPr/>
        </p:nvSpPr>
        <p:spPr>
          <a:xfrm>
            <a:off x="485775" y="3793331"/>
            <a:ext cx="242888" cy="242888"/>
          </a:xfrm>
          <a:prstGeom prst="roundRect">
            <a:avLst>
              <a:gd name="adj" fmla="val 30450"/>
            </a:avLst>
          </a:prstGeom>
          <a:solidFill>
            <a:srgbClr val="C9974D">
              <a:alpha val="18000"/>
            </a:srgbClr>
          </a:solidFill>
          <a:ln/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5781" y="3843338"/>
            <a:ext cx="142875" cy="142875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814108" y="3802261"/>
            <a:ext cx="3178969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500" b="1" dirty="0">
                <a:solidFill>
                  <a:srgbClr val="D6AD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DELIVERY HARD GATE</a:t>
            </a:r>
            <a:endParaRPr lang="en-US" sz="500" dirty="0"/>
          </a:p>
        </p:txBody>
      </p:sp>
      <p:sp>
        <p:nvSpPr>
          <p:cNvPr id="64" name="Text 51"/>
          <p:cNvSpPr/>
          <p:nvPr/>
        </p:nvSpPr>
        <p:spPr>
          <a:xfrm>
            <a:off x="814108" y="3900488"/>
            <a:ext cx="3178969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spcBef>
                <a:spcPts val="225"/>
              </a:spcBef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交付前硬闸门：NPU 上板模型必须 </a:t>
            </a:r>
            <a:pPr algn="l" indent="0" marL="0">
              <a:lnSpc>
                <a:spcPts val="984"/>
              </a:lnSpc>
              <a:buNone/>
            </a:pPr>
            <a:r>
              <a:rPr lang="en-US" sz="700" b="1" dirty="0">
                <a:solidFill>
                  <a:srgbClr val="F0C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个 CPU 计算算子</a:t>
            </a:r>
            <a:pPr algn="l" indent="0" marL="0">
              <a:lnSpc>
                <a:spcPts val="984"/>
              </a:lnSpc>
              <a:spcBef>
                <a:spcPts val="225"/>
              </a:spcBef>
              <a:buNone/>
            </a:pPr>
            <a:r>
              <a:rPr lang="en-US" sz="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，I/O 边界除外。</a:t>
            </a:r>
            <a:endParaRPr lang="en-US" sz="700" dirty="0"/>
          </a:p>
        </p:txBody>
      </p:sp>
      <p:sp>
        <p:nvSpPr>
          <p:cNvPr id="65" name="Shape 52"/>
          <p:cNvSpPr/>
          <p:nvPr/>
        </p:nvSpPr>
        <p:spPr>
          <a:xfrm>
            <a:off x="7336631" y="3804047"/>
            <a:ext cx="450056" cy="221456"/>
          </a:xfrm>
          <a:prstGeom prst="roundRect">
            <a:avLst>
              <a:gd name="adj" fmla="val 33299"/>
            </a:avLst>
          </a:prstGeom>
          <a:solidFill>
            <a:srgbClr val="FFFFFF">
              <a:alpha val="8000"/>
            </a:srgbClr>
          </a:solidFill>
          <a:ln w="7144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08069" y="3861197"/>
            <a:ext cx="107156" cy="107156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7558088" y="3875484"/>
            <a:ext cx="1571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D9E1EA"/>
                </a:solidFill>
                <a:highlight>
                  <a:srgbClr val="FFFFFF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</a:t>
            </a:r>
            <a:endParaRPr lang="en-US" sz="500" dirty="0"/>
          </a:p>
        </p:txBody>
      </p:sp>
      <p:pic>
        <p:nvPicPr>
          <p:cNvPr id="68" name="Image 12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36694" y="3868341"/>
            <a:ext cx="92869" cy="92869"/>
          </a:xfrm>
          <a:prstGeom prst="rect">
            <a:avLst/>
          </a:prstGeom>
        </p:spPr>
      </p:pic>
      <p:sp>
        <p:nvSpPr>
          <p:cNvPr id="69" name="Shape 54"/>
          <p:cNvSpPr/>
          <p:nvPr/>
        </p:nvSpPr>
        <p:spPr>
          <a:xfrm>
            <a:off x="7979569" y="3804047"/>
            <a:ext cx="450056" cy="221456"/>
          </a:xfrm>
          <a:prstGeom prst="roundRect">
            <a:avLst>
              <a:gd name="adj" fmla="val 33299"/>
            </a:avLst>
          </a:prstGeom>
          <a:solidFill>
            <a:srgbClr val="C9974D">
              <a:alpha val="13000"/>
            </a:srgbClr>
          </a:solidFill>
          <a:ln w="7144">
            <a:solidFill>
              <a:srgbClr val="C9974D">
                <a:alpha val="18000"/>
              </a:srgbClr>
            </a:solidFill>
            <a:prstDash val="solid"/>
          </a:ln>
        </p:spPr>
      </p:sp>
      <p:pic>
        <p:nvPicPr>
          <p:cNvPr id="70" name="Image 13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51006" y="3861197"/>
            <a:ext cx="107156" cy="107156"/>
          </a:xfrm>
          <a:prstGeom prst="rect">
            <a:avLst/>
          </a:prstGeom>
        </p:spPr>
      </p:pic>
      <p:sp>
        <p:nvSpPr>
          <p:cNvPr id="71" name="Text 55"/>
          <p:cNvSpPr/>
          <p:nvPr/>
        </p:nvSpPr>
        <p:spPr>
          <a:xfrm>
            <a:off x="8201025" y="3875484"/>
            <a:ext cx="1571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F0C77F"/>
                </a:solidFill>
                <a:highlight>
                  <a:srgbClr val="C9974D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</a:t>
            </a:r>
            <a:endParaRPr lang="en-US" sz="500" dirty="0"/>
          </a:p>
        </p:txBody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79631" y="3868341"/>
            <a:ext cx="92869" cy="92869"/>
          </a:xfrm>
          <a:prstGeom prst="rect">
            <a:avLst/>
          </a:prstGeom>
        </p:spPr>
      </p:pic>
      <p:sp>
        <p:nvSpPr>
          <p:cNvPr id="73" name="Shape 56"/>
          <p:cNvSpPr/>
          <p:nvPr/>
        </p:nvSpPr>
        <p:spPr>
          <a:xfrm>
            <a:off x="8622506" y="3804047"/>
            <a:ext cx="450056" cy="221456"/>
          </a:xfrm>
          <a:prstGeom prst="roundRect">
            <a:avLst>
              <a:gd name="adj" fmla="val 33299"/>
            </a:avLst>
          </a:prstGeom>
          <a:solidFill>
            <a:srgbClr val="49A477">
              <a:alpha val="15000"/>
            </a:srgbClr>
          </a:solidFill>
          <a:ln w="7144">
            <a:solidFill>
              <a:srgbClr val="49A477">
                <a:alpha val="18000"/>
              </a:srgbClr>
            </a:solidFill>
            <a:prstDash val="solid"/>
          </a:ln>
        </p:spPr>
      </p:sp>
      <p:pic>
        <p:nvPicPr>
          <p:cNvPr id="74" name="Image 15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93944" y="3861197"/>
            <a:ext cx="107156" cy="107156"/>
          </a:xfrm>
          <a:prstGeom prst="rect">
            <a:avLst/>
          </a:prstGeom>
        </p:spPr>
      </p:pic>
      <p:sp>
        <p:nvSpPr>
          <p:cNvPr id="75" name="Text 57"/>
          <p:cNvSpPr/>
          <p:nvPr/>
        </p:nvSpPr>
        <p:spPr>
          <a:xfrm>
            <a:off x="8843963" y="3875484"/>
            <a:ext cx="1571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8ED1AE"/>
                </a:solidFill>
                <a:highlight>
                  <a:srgbClr val="49A477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放行</a:t>
            </a:r>
            <a:endParaRPr lang="en-US" sz="500" dirty="0"/>
          </a:p>
        </p:txBody>
      </p:sp>
      <p:sp>
        <p:nvSpPr>
          <p:cNvPr id="76" name="Text 58"/>
          <p:cNvSpPr/>
          <p:nvPr/>
        </p:nvSpPr>
        <p:spPr>
          <a:xfrm>
            <a:off x="357188" y="4286250"/>
            <a:ext cx="884396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600" dirty="0"/>
          </a:p>
        </p:txBody>
      </p:sp>
      <p:pic>
        <p:nvPicPr>
          <p:cNvPr id="77" name="Image 16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57188" y="357188"/>
            <a:ext cx="8843963" cy="785813"/>
          </a:xfrm>
          <a:prstGeom prst="rect">
            <a:avLst/>
          </a:prstGeom>
        </p:spPr>
      </p:pic>
      <p:pic>
        <p:nvPicPr>
          <p:cNvPr id="78" name="Image 17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57188" y="4286250"/>
            <a:ext cx="884396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8429625" cy="4429125"/>
          </a:xfrm>
          <a:prstGeom prst="roundRect">
            <a:avLst>
              <a:gd name="adj" fmla="val 932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221456" y="207169"/>
            <a:ext cx="8401050" cy="785813"/>
          </a:xfrm>
          <a:prstGeom prst="rect">
            <a:avLst/>
          </a:prstGeom>
          <a:ln/>
        </p:spPr>
      </p:sp>
      <p:sp>
        <p:nvSpPr>
          <p:cNvPr id="6" name="Text 3"/>
          <p:cNvSpPr/>
          <p:nvPr/>
        </p:nvSpPr>
        <p:spPr>
          <a:xfrm>
            <a:off x="222405" y="44314"/>
            <a:ext cx="971550" cy="235744"/>
          </a:xfrm>
          <a:prstGeom prst="roundRect">
            <a:avLst>
              <a:gd name="adj" fmla="val 48485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战果 B2｜性能归因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221456" y="379344"/>
            <a:ext cx="7200900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战果 B2｜NPU 时延不能靠 FLOPs 外推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21456" y="735806"/>
            <a:ext cx="72009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 P0 Highway：MAC −6.8%，rknn_run 实测时延 −46.5%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65256" y="207169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18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222517" y="1121569"/>
            <a:ext cx="5036344" cy="2043113"/>
          </a:xfrm>
          <a:prstGeom prst="roundRect">
            <a:avLst>
              <a:gd name="adj" fmla="val 3756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70359" y="1275159"/>
            <a:ext cx="7429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同起点反直觉对照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281953" y="1250156"/>
            <a:ext cx="828675" cy="171450"/>
          </a:xfrm>
          <a:prstGeom prst="roundRect">
            <a:avLst>
              <a:gd name="adj" fmla="val 66667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Highway 已删除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71475" y="1507331"/>
            <a:ext cx="5429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986898" y="1521619"/>
            <a:ext cx="3493294" cy="85725"/>
          </a:xfrm>
          <a:prstGeom prst="roundRect">
            <a:avLst>
              <a:gd name="adj" fmla="val 133333"/>
            </a:avLst>
          </a:prstGeom>
          <a:solidFill>
            <a:srgbClr val="122033">
              <a:alpha val="7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987400" y="1521619"/>
            <a:ext cx="507206" cy="85725"/>
          </a:xfrm>
          <a:prstGeom prst="roundRect">
            <a:avLst>
              <a:gd name="adj" fmla="val 133333"/>
            </a:avLst>
          </a:prstGeom>
          <a:solidFill>
            <a:srgbClr val="9AA6B5"/>
          </a:solidFill>
          <a:ln/>
        </p:spPr>
      </p:sp>
      <p:sp>
        <p:nvSpPr>
          <p:cNvPr id="16" name="Text 13"/>
          <p:cNvSpPr/>
          <p:nvPr/>
        </p:nvSpPr>
        <p:spPr>
          <a:xfrm>
            <a:off x="4552690" y="1478756"/>
            <a:ext cx="557213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−6.8%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71475" y="1739503"/>
            <a:ext cx="5429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实测时延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986898" y="1746647"/>
            <a:ext cx="3493294" cy="128588"/>
          </a:xfrm>
          <a:prstGeom prst="roundRect">
            <a:avLst>
              <a:gd name="adj" fmla="val 88889"/>
            </a:avLst>
          </a:prstGeom>
          <a:solidFill>
            <a:srgbClr val="C9974D">
              <a:alpha val="11000"/>
            </a:srgb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6898" y="1746647"/>
            <a:ext cx="3493294" cy="1285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52690" y="1700213"/>
            <a:ext cx="557213" cy="2214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44"/>
              </a:lnSpc>
              <a:buNone/>
            </a:pPr>
            <a:r>
              <a:rPr lang="en-US" sz="1700" b="1" dirty="0">
                <a:solidFill>
                  <a:srgbClr val="A66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−46.5%</a:t>
            </a:r>
            <a:endParaRPr lang="en-US" sz="17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2535" y="2150269"/>
            <a:ext cx="4736306" cy="8858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8966" y="2243138"/>
            <a:ext cx="2543175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最劣形状</a:t>
            </a:r>
            <a:pPr algn="l" indent="0" marL="0">
              <a:spcAft>
                <a:spcPts val="450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逼近硬件约束</a:t>
            </a:r>
            <a:endParaRPr lang="en-US" sz="6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8966" y="2421731"/>
            <a:ext cx="2543175" cy="50006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89794" y="2586038"/>
            <a:ext cx="721519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640 × 640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77639" y="2721769"/>
            <a:ext cx="350044" cy="128588"/>
          </a:xfrm>
          <a:prstGeom prst="roundRect">
            <a:avLst>
              <a:gd name="adj" fmla="val 88889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= 16</a:t>
            </a:r>
            <a:endParaRPr lang="en-US" sz="6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8966" y="2978944"/>
            <a:ext cx="2543175" cy="14288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2943895" y="2943225"/>
            <a:ext cx="78581" cy="78581"/>
          </a:xfrm>
          <a:prstGeom prst="ellipse">
            <a:avLst/>
          </a:prstGeom>
          <a:solidFill>
            <a:srgbClr val="B7792D"/>
          </a:solidFill>
          <a:ln/>
          <a:effectLst>
            <a:outerShdw sx="100000" sy="100000" kx="0" ky="0" algn="bl" rotWithShape="0" blurRad="101600" dist="50800" dir="16200000">
              <a:srgbClr val="C9974D">
                <a:alpha val="14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478966" y="3036094"/>
            <a:ext cx="25431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空间乘积成为瓶颈</a:t>
            </a:r>
            <a:pPr algn="l" indent="0" marL="0">
              <a:spcBef>
                <a:spcPts val="338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H×W ≤ 16384</a:t>
            </a:r>
            <a:endParaRPr lang="en-US" sz="600" dirty="0"/>
          </a:p>
        </p:txBody>
      </p:sp>
      <p:sp>
        <p:nvSpPr>
          <p:cNvPr id="29" name="Shape 22"/>
          <p:cNvSpPr/>
          <p:nvPr/>
        </p:nvSpPr>
        <p:spPr>
          <a:xfrm>
            <a:off x="3123270" y="2243138"/>
            <a:ext cx="1878806" cy="907256"/>
          </a:xfrm>
          <a:prstGeom prst="rect">
            <a:avLst/>
          </a:prstGeom>
          <a:ln/>
        </p:spPr>
      </p:sp>
      <p:sp>
        <p:nvSpPr>
          <p:cNvPr id="30" name="Text 23"/>
          <p:cNvSpPr/>
          <p:nvPr/>
        </p:nvSpPr>
        <p:spPr>
          <a:xfrm>
            <a:off x="3230426" y="2280642"/>
            <a:ext cx="17716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94"/>
              </a:spcAft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瓶颈结论</a:t>
            </a:r>
            <a:endParaRPr lang="en-US" sz="600" dirty="0"/>
          </a:p>
        </p:txBody>
      </p:sp>
      <p:sp>
        <p:nvSpPr>
          <p:cNvPr id="31" name="Text 24"/>
          <p:cNvSpPr/>
          <p:nvPr/>
        </p:nvSpPr>
        <p:spPr>
          <a:xfrm>
            <a:off x="3230426" y="2444948"/>
            <a:ext cx="1771650" cy="1928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上限卡在“空间乘积”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3230426" y="2693194"/>
            <a:ext cx="17716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spcBef>
                <a:spcPts val="450"/>
              </a:spcBef>
              <a:buNone/>
            </a:pPr>
            <a:r>
              <a:rPr lang="en-US" sz="7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与张量怎么拼无关</a:t>
            </a:r>
            <a:endParaRPr lang="en-US" sz="700" dirty="0"/>
          </a:p>
        </p:txBody>
      </p:sp>
      <p:sp>
        <p:nvSpPr>
          <p:cNvPr id="33" name="Text 26"/>
          <p:cNvSpPr/>
          <p:nvPr/>
        </p:nvSpPr>
        <p:spPr>
          <a:xfrm>
            <a:off x="3231319" y="2912864"/>
            <a:ext cx="550069" cy="200025"/>
          </a:xfrm>
          <a:prstGeom prst="roundRect">
            <a:avLst>
              <a:gd name="adj" fmla="val 57143"/>
            </a:avLst>
          </a:prstGeom>
          <a:solidFill>
            <a:srgbClr val="FFFFFF">
              <a:alpha val="88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算子 0</a:t>
            </a:r>
            <a:endParaRPr lang="en-US" sz="600" dirty="0"/>
          </a:p>
        </p:txBody>
      </p:sp>
      <p:sp>
        <p:nvSpPr>
          <p:cNvPr id="34" name="Text 27"/>
          <p:cNvSpPr/>
          <p:nvPr/>
        </p:nvSpPr>
        <p:spPr>
          <a:xfrm>
            <a:off x="3826594" y="2912864"/>
            <a:ext cx="364331" cy="200025"/>
          </a:xfrm>
          <a:prstGeom prst="roundRect">
            <a:avLst>
              <a:gd name="adj" fmla="val 57143"/>
            </a:avLst>
          </a:prstGeom>
          <a:solidFill>
            <a:srgbClr val="FFFFFF">
              <a:alpha val="88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警告 0</a:t>
            </a:r>
            <a:endParaRPr lang="en-US" sz="600" dirty="0"/>
          </a:p>
        </p:txBody>
      </p:sp>
      <p:sp>
        <p:nvSpPr>
          <p:cNvPr id="35" name="Shape 28"/>
          <p:cNvSpPr/>
          <p:nvPr/>
        </p:nvSpPr>
        <p:spPr>
          <a:xfrm>
            <a:off x="5387392" y="1121569"/>
            <a:ext cx="3236119" cy="2043113"/>
          </a:xfrm>
          <a:prstGeom prst="roundRect">
            <a:avLst>
              <a:gd name="adj" fmla="val 3756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5524240" y="1289391"/>
            <a:ext cx="600075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关键实测指标</a:t>
            </a:r>
            <a:endParaRPr lang="en-US" sz="700" dirty="0"/>
          </a:p>
        </p:txBody>
      </p:sp>
      <p:sp>
        <p:nvSpPr>
          <p:cNvPr id="37" name="Text 30"/>
          <p:cNvSpPr/>
          <p:nvPr/>
        </p:nvSpPr>
        <p:spPr>
          <a:xfrm>
            <a:off x="7893286" y="1293019"/>
            <a:ext cx="592931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优化前 → 优化后</a:t>
            </a:r>
            <a:endParaRPr lang="en-US" sz="6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23123" y="1508447"/>
            <a:ext cx="2964656" cy="364331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602821" y="1607344"/>
            <a:ext cx="500063" cy="2214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rknn_run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算子执行</a:t>
            </a:r>
            <a:endParaRPr lang="en-US" sz="600" dirty="0"/>
          </a:p>
        </p:txBody>
      </p:sp>
      <p:sp>
        <p:nvSpPr>
          <p:cNvPr id="40" name="Text 32"/>
          <p:cNvSpPr/>
          <p:nvPr/>
        </p:nvSpPr>
        <p:spPr>
          <a:xfrm>
            <a:off x="6158917" y="1571625"/>
            <a:ext cx="2250281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103.7 → 55.5 </a:t>
            </a:r>
            <a:pPr algn="r" indent="0" marL="0">
              <a:lnSpc>
                <a:spcPts val="681"/>
              </a:lnSpc>
              <a:buNone/>
            </a:pPr>
            <a:r>
              <a:rPr lang="en-US" sz="6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6158917" y="1750219"/>
            <a:ext cx="2250281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69"/>
              </a:spcBef>
              <a:buNone/>
            </a:pPr>
            <a:r>
              <a:rPr lang="en-US" sz="600" b="1" dirty="0">
                <a:solidFill>
                  <a:srgbClr val="A66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−46.5% ｜ 1.87×</a:t>
            </a:r>
            <a:endParaRPr lang="en-US" sz="600" dirty="0"/>
          </a:p>
        </p:txBody>
      </p:sp>
      <p:sp>
        <p:nvSpPr>
          <p:cNvPr id="42" name="Shape 34"/>
          <p:cNvSpPr/>
          <p:nvPr/>
        </p:nvSpPr>
        <p:spPr>
          <a:xfrm>
            <a:off x="5523123" y="1932161"/>
            <a:ext cx="2964656" cy="364331"/>
          </a:xfrm>
          <a:prstGeom prst="roundRect">
            <a:avLst>
              <a:gd name="adj" fmla="val 17224"/>
            </a:avLst>
          </a:prstGeom>
          <a:solidFill>
            <a:srgbClr val="F7F9FB">
              <a:alpha val="7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5602821" y="2016323"/>
            <a:ext cx="500063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</a:t>
            </a:r>
            <a:endParaRPr lang="en-US" sz="600" dirty="0"/>
          </a:p>
        </p:txBody>
      </p:sp>
      <p:sp>
        <p:nvSpPr>
          <p:cNvPr id="44" name="Text 36"/>
          <p:cNvSpPr/>
          <p:nvPr/>
        </p:nvSpPr>
        <p:spPr>
          <a:xfrm>
            <a:off x="6158917" y="1994892"/>
            <a:ext cx="2250281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76"/>
              </a:lnSpc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9.5 → 17.7 </a:t>
            </a:r>
            <a:pPr algn="r" indent="0" marL="0">
              <a:lnSpc>
                <a:spcPts val="681"/>
              </a:lnSpc>
              <a:buNone/>
            </a:pPr>
            <a:r>
              <a:rPr lang="en-US" sz="6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6158917" y="2165896"/>
            <a:ext cx="2250281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69"/>
              </a:spcBef>
              <a:buNone/>
            </a:pPr>
            <a:r>
              <a:rPr lang="en-US" sz="600" b="1" dirty="0">
                <a:solidFill>
                  <a:srgbClr val="4B7D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1.86×</a:t>
            </a:r>
            <a:endParaRPr lang="en-US" sz="600" dirty="0"/>
          </a:p>
        </p:txBody>
      </p:sp>
      <p:sp>
        <p:nvSpPr>
          <p:cNvPr id="46" name="Shape 38"/>
          <p:cNvSpPr/>
          <p:nvPr/>
        </p:nvSpPr>
        <p:spPr>
          <a:xfrm>
            <a:off x="5523123" y="2355875"/>
            <a:ext cx="2964656" cy="364331"/>
          </a:xfrm>
          <a:prstGeom prst="roundRect">
            <a:avLst>
              <a:gd name="adj" fmla="val 17224"/>
            </a:avLst>
          </a:prstGeom>
          <a:solidFill>
            <a:srgbClr val="F7F9FB">
              <a:alpha val="7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5602821" y="2428652"/>
            <a:ext cx="500063" cy="2214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精度代价</a:t>
            </a:r>
            <a:endParaRPr lang="en-US" sz="600" dirty="0"/>
          </a:p>
        </p:txBody>
      </p:sp>
      <p:sp>
        <p:nvSpPr>
          <p:cNvPr id="48" name="Text 40"/>
          <p:cNvSpPr/>
          <p:nvPr/>
        </p:nvSpPr>
        <p:spPr>
          <a:xfrm>
            <a:off x="6158917" y="2417936"/>
            <a:ext cx="2250281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2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0.906361 → 0.905736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6158917" y="2573982"/>
            <a:ext cx="2250281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69"/>
              </a:spcBef>
              <a:buNone/>
            </a:pPr>
            <a:r>
              <a:rPr lang="en-US" sz="600" b="1" dirty="0">
                <a:solidFill>
                  <a:srgbClr val="A66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−0.000625</a:t>
            </a:r>
            <a:endParaRPr lang="en-US" sz="600" dirty="0"/>
          </a:p>
        </p:txBody>
      </p:sp>
      <p:sp>
        <p:nvSpPr>
          <p:cNvPr id="50" name="Shape 42"/>
          <p:cNvSpPr/>
          <p:nvPr/>
        </p:nvSpPr>
        <p:spPr>
          <a:xfrm>
            <a:off x="5523123" y="2778472"/>
            <a:ext cx="2964656" cy="257175"/>
          </a:xfrm>
          <a:prstGeom prst="roundRect">
            <a:avLst>
              <a:gd name="adj" fmla="val 29630"/>
            </a:avLst>
          </a:prstGeom>
          <a:solidFill>
            <a:srgbClr val="122033"/>
          </a:solidFill>
          <a:ln/>
        </p:spPr>
      </p:sp>
      <p:sp>
        <p:nvSpPr>
          <p:cNvPr id="51" name="Text 43"/>
          <p:cNvSpPr/>
          <p:nvPr/>
        </p:nvSpPr>
        <p:spPr>
          <a:xfrm>
            <a:off x="6629735" y="2849910"/>
            <a:ext cx="40719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算子 0</a:t>
            </a:r>
            <a:endParaRPr lang="en-US" sz="600" dirty="0"/>
          </a:p>
        </p:txBody>
      </p:sp>
      <p:sp>
        <p:nvSpPr>
          <p:cNvPr id="52" name="Shape 44"/>
          <p:cNvSpPr/>
          <p:nvPr/>
        </p:nvSpPr>
        <p:spPr>
          <a:xfrm>
            <a:off x="7095753" y="2857054"/>
            <a:ext cx="7144" cy="100012"/>
          </a:xfrm>
          <a:prstGeom prst="rect">
            <a:avLst/>
          </a:prstGeom>
          <a:solidFill>
            <a:srgbClr val="F8FAFC">
              <a:alpha val="28000"/>
            </a:srgbClr>
          </a:solidFill>
          <a:ln/>
        </p:spPr>
      </p:sp>
      <p:sp>
        <p:nvSpPr>
          <p:cNvPr id="53" name="Text 45"/>
          <p:cNvSpPr/>
          <p:nvPr/>
        </p:nvSpPr>
        <p:spPr>
          <a:xfrm>
            <a:off x="7160716" y="2849910"/>
            <a:ext cx="221456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警告 0</a:t>
            </a:r>
            <a:endParaRPr lang="en-US" sz="600" dirty="0"/>
          </a:p>
        </p:txBody>
      </p:sp>
      <p:sp>
        <p:nvSpPr>
          <p:cNvPr id="54" name="Shape 46"/>
          <p:cNvSpPr/>
          <p:nvPr/>
        </p:nvSpPr>
        <p:spPr>
          <a:xfrm>
            <a:off x="221456" y="3250406"/>
            <a:ext cx="8401050" cy="342900"/>
          </a:xfrm>
          <a:prstGeom prst="roundRect">
            <a:avLst>
              <a:gd name="adj" fmla="val 25000"/>
            </a:avLst>
          </a:prstGeom>
          <a:solidFill>
            <a:srgbClr val="122033"/>
          </a:solidFill>
          <a:ln/>
          <a:effectLst>
            <a:outerShdw sx="100000" sy="100000" kx="0" ky="0" algn="bl" rotWithShape="0" blurRad="214313" dist="85725" dir="5400000">
              <a:srgbClr val="0F172A">
                <a:alpha val="12000"/>
              </a:srgbClr>
            </a:outerShdw>
          </a:effectLst>
        </p:spPr>
      </p:sp>
      <p:sp>
        <p:nvSpPr>
          <p:cNvPr id="55" name="Shape 47"/>
          <p:cNvSpPr/>
          <p:nvPr/>
        </p:nvSpPr>
        <p:spPr>
          <a:xfrm>
            <a:off x="321469" y="3333452"/>
            <a:ext cx="35719" cy="200025"/>
          </a:xfrm>
          <a:prstGeom prst="roundRect">
            <a:avLst>
              <a:gd name="adj" fmla="val 319998"/>
            </a:avLst>
          </a:prstGeom>
          <a:solidFill>
            <a:srgbClr val="C9974D"/>
          </a:solidFill>
          <a:ln/>
        </p:spPr>
      </p:sp>
      <p:sp>
        <p:nvSpPr>
          <p:cNvPr id="56" name="Text 48"/>
          <p:cNvSpPr/>
          <p:nvPr/>
        </p:nvSpPr>
        <p:spPr>
          <a:xfrm>
            <a:off x="450056" y="3313807"/>
            <a:ext cx="7550944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新铁律：禁止用 MAC / FLOPs 外推 NPU 时延，必须使用 RKNN 算子表与实测结果。</a:t>
            </a:r>
            <a:endParaRPr lang="en-US" sz="800" dirty="0"/>
          </a:p>
        </p:txBody>
      </p:sp>
      <p:sp>
        <p:nvSpPr>
          <p:cNvPr id="57" name="Text 49"/>
          <p:cNvSpPr/>
          <p:nvPr/>
        </p:nvSpPr>
        <p:spPr>
          <a:xfrm>
            <a:off x="450056" y="3461147"/>
            <a:ext cx="7550944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3"/>
              </a:lnSpc>
              <a:spcBef>
                <a:spcPts val="113"/>
              </a:spcBef>
              <a:buNone/>
            </a:pPr>
            <a:r>
              <a:rPr lang="en-US" sz="500" dirty="0">
                <a:solidFill>
                  <a:srgbClr val="F8FAFC">
                    <a:alpha val="6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宁可牺牲 0.0006 F1 换 1.87× rknn_run 时延，但精度代价必须全量实测钉死。</a:t>
            </a:r>
            <a:endParaRPr lang="en-US" sz="500" dirty="0"/>
          </a:p>
        </p:txBody>
      </p:sp>
      <p:sp>
        <p:nvSpPr>
          <p:cNvPr id="58" name="Text 50"/>
          <p:cNvSpPr/>
          <p:nvPr/>
        </p:nvSpPr>
        <p:spPr>
          <a:xfrm>
            <a:off x="8093869" y="3337024"/>
            <a:ext cx="428625" cy="192881"/>
          </a:xfrm>
          <a:prstGeom prst="roundRect">
            <a:avLst>
              <a:gd name="adj" fmla="val 59259"/>
            </a:avLst>
          </a:prstGeom>
          <a:solidFill>
            <a:srgbClr val="C9974D">
              <a:alpha val="1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3D5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形状优先</a:t>
            </a:r>
            <a:endParaRPr lang="en-US" sz="500" dirty="0"/>
          </a:p>
        </p:txBody>
      </p:sp>
      <p:sp>
        <p:nvSpPr>
          <p:cNvPr id="59" name="Text 51"/>
          <p:cNvSpPr/>
          <p:nvPr/>
        </p:nvSpPr>
        <p:spPr>
          <a:xfrm>
            <a:off x="221456" y="3721894"/>
            <a:ext cx="8401050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600" dirty="0"/>
          </a:p>
        </p:txBody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1456" y="207169"/>
            <a:ext cx="8401050" cy="785813"/>
          </a:xfrm>
          <a:prstGeom prst="rect">
            <a:avLst/>
          </a:prstGeom>
        </p:spPr>
      </p:pic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23270" y="2243138"/>
            <a:ext cx="1878806" cy="907256"/>
          </a:xfrm>
          <a:prstGeom prst="rect">
            <a:avLst/>
          </a:prstGeom>
        </p:spPr>
      </p:pic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1456" y="3721894"/>
            <a:ext cx="8401050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7188" y="357188"/>
            <a:ext cx="8429625" cy="4429125"/>
          </a:xfrm>
          <a:prstGeom prst="roundRect">
            <a:avLst>
              <a:gd name="adj" fmla="val 932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78644" y="564356"/>
            <a:ext cx="8401050" cy="785813"/>
          </a:xfrm>
          <a:prstGeom prst="rect">
            <a:avLst/>
          </a:prstGeom>
          <a:ln/>
        </p:spPr>
      </p:sp>
      <p:sp>
        <p:nvSpPr>
          <p:cNvPr id="6" name="Text 3"/>
          <p:cNvSpPr/>
          <p:nvPr/>
        </p:nvSpPr>
        <p:spPr>
          <a:xfrm>
            <a:off x="578086" y="102915"/>
            <a:ext cx="978694" cy="235744"/>
          </a:xfrm>
          <a:prstGeom prst="roundRect">
            <a:avLst>
              <a:gd name="adj" fmla="val 48485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战果 B3 · 架构优化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78644" y="437220"/>
            <a:ext cx="7200900" cy="600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战果 B3｜640×640 拼图 × RGA 硬件画布：3 次前向压成 1 次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8644" y="1092994"/>
            <a:ext cx="7200900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静态输入形状 + RGA 硬件画布，将 3 次 NPU 前向压缩为 1 次。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122444" y="564356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10/18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578644" y="1478756"/>
            <a:ext cx="1571625" cy="2085975"/>
          </a:xfrm>
          <a:prstGeom prst="roundRect">
            <a:avLst>
              <a:gd name="adj" fmla="val 6347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0088" y="1600200"/>
            <a:ext cx="132873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方案成立的前提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700088" y="1798495"/>
            <a:ext cx="1328738" cy="750094"/>
          </a:xfrm>
          <a:prstGeom prst="roundRect">
            <a:avLst>
              <a:gd name="adj" fmla="val 20898"/>
            </a:avLst>
          </a:prstGeom>
          <a:solidFill>
            <a:srgbClr val="122033"/>
          </a:solidFill>
          <a:ln/>
          <a:effectLst>
            <a:outerShdw sx="100000" sy="100000" kx="0" ky="0" algn="bl" rotWithShape="0" blurRad="185738" dist="85725" dir="5400000">
              <a:srgbClr val="122033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0100" y="1921669"/>
            <a:ext cx="1128713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8FAFC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STATIC SHAPE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800100" y="2055949"/>
            <a:ext cx="1128713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spcBef>
                <a:spcPts val="450"/>
              </a:spcBef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[1,3,640,640]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0100" y="2311450"/>
            <a:ext cx="1128713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Bef>
                <a:spcPts val="450"/>
              </a:spcBef>
              <a:buNone/>
            </a:pPr>
            <a:r>
              <a:rPr lang="en-US" sz="600" dirty="0">
                <a:solidFill>
                  <a:srgbClr val="F8FAFC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每次前向输入形状一致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700087" y="2661158"/>
            <a:ext cx="50006" cy="50006"/>
          </a:xfrm>
          <a:prstGeom prst="ellipse">
            <a:avLst/>
          </a:prstGeom>
          <a:solidFill>
            <a:srgbClr val="C9974D"/>
          </a:solidFill>
          <a:ln/>
        </p:spPr>
      </p:sp>
      <p:sp>
        <p:nvSpPr>
          <p:cNvPr id="17" name="Text 14"/>
          <p:cNvSpPr/>
          <p:nvPr/>
        </p:nvSpPr>
        <p:spPr>
          <a:xfrm>
            <a:off x="814388" y="2633253"/>
            <a:ext cx="514350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00" dirty="0">
                <a:solidFill>
                  <a:srgbClr val="344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卷积代价由</a:t>
            </a:r>
            <a:pPr algn="l" indent="0" marL="0">
              <a:buNone/>
            </a:pPr>
            <a:endParaRPr lang="en-US" sz="6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输入形状决定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700087" y="2991110"/>
            <a:ext cx="50006" cy="50006"/>
          </a:xfrm>
          <a:prstGeom prst="ellipse">
            <a:avLst/>
          </a:prstGeom>
          <a:solidFill>
            <a:srgbClr val="2F7D78"/>
          </a:solidFill>
          <a:ln/>
        </p:spPr>
      </p:sp>
      <p:sp>
        <p:nvSpPr>
          <p:cNvPr id="19" name="Text 16"/>
          <p:cNvSpPr/>
          <p:nvPr/>
        </p:nvSpPr>
        <p:spPr>
          <a:xfrm>
            <a:off x="814388" y="2963205"/>
            <a:ext cx="514350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00" dirty="0">
                <a:solidFill>
                  <a:srgbClr val="344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与画布内的</a:t>
            </a:r>
            <a:pPr algn="l" indent="0" marL="0">
              <a:buNone/>
            </a:pPr>
            <a:endParaRPr lang="en-US" sz="600" dirty="0"/>
          </a:p>
          <a:p>
            <a:pPr algn="l" indent="0" marL="0">
              <a:lnSpc>
                <a:spcPts val="1046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有效像素无关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700088" y="3312133"/>
            <a:ext cx="1328738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时间与单尺度完全相同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2250281" y="1478756"/>
            <a:ext cx="5057775" cy="2085975"/>
          </a:xfrm>
          <a:prstGeom prst="roundRect">
            <a:avLst>
              <a:gd name="adj" fmla="val 3603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357438" y="1585913"/>
            <a:ext cx="4843463" cy="714375"/>
          </a:xfrm>
          <a:prstGeom prst="roundRect">
            <a:avLst>
              <a:gd name="adj" fmla="val 23040"/>
            </a:avLst>
          </a:prstGeom>
          <a:solidFill>
            <a:srgbClr val="B45E50">
              <a:alpha val="4300"/>
            </a:srgbClr>
          </a:solidFill>
          <a:ln w="7144">
            <a:solidFill>
              <a:srgbClr val="B45E50">
                <a:alpha val="22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450474" y="1664494"/>
            <a:ext cx="9429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E4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侧原方案 · 逐尺度前向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693024" y="1657350"/>
            <a:ext cx="414338" cy="12858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45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7F55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3 fps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450306" y="1835944"/>
            <a:ext cx="692944" cy="192881"/>
          </a:xfrm>
          <a:prstGeom prst="roundRect">
            <a:avLst>
              <a:gd name="adj" fmla="val 39506"/>
            </a:avLst>
          </a:prstGeom>
          <a:solidFill>
            <a:srgbClr val="FFFFFF"/>
          </a:solidFill>
          <a:ln w="7144">
            <a:solidFill>
              <a:srgbClr val="122033">
                <a:alpha val="1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Native</a:t>
            </a:r>
            <a:endParaRPr lang="en-US" sz="500" dirty="0"/>
          </a:p>
        </p:txBody>
      </p:sp>
      <p:sp>
        <p:nvSpPr>
          <p:cNvPr id="26" name="Text 23"/>
          <p:cNvSpPr/>
          <p:nvPr/>
        </p:nvSpPr>
        <p:spPr>
          <a:xfrm>
            <a:off x="3186112" y="1835944"/>
            <a:ext cx="692944" cy="192881"/>
          </a:xfrm>
          <a:prstGeom prst="roundRect">
            <a:avLst>
              <a:gd name="adj" fmla="val 39506"/>
            </a:avLst>
          </a:prstGeom>
          <a:solidFill>
            <a:srgbClr val="FFFFFF"/>
          </a:solidFill>
          <a:ln w="7144">
            <a:solidFill>
              <a:srgbClr val="122033">
                <a:alpha val="1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Thumb 160</a:t>
            </a:r>
            <a:endParaRPr lang="en-US" sz="500" dirty="0"/>
          </a:p>
        </p:txBody>
      </p:sp>
      <p:sp>
        <p:nvSpPr>
          <p:cNvPr id="27" name="Text 24"/>
          <p:cNvSpPr/>
          <p:nvPr/>
        </p:nvSpPr>
        <p:spPr>
          <a:xfrm>
            <a:off x="3921919" y="1835944"/>
            <a:ext cx="692944" cy="192881"/>
          </a:xfrm>
          <a:prstGeom prst="roundRect">
            <a:avLst>
              <a:gd name="adj" fmla="val 39506"/>
            </a:avLst>
          </a:prstGeom>
          <a:solidFill>
            <a:srgbClr val="FFFFFF"/>
          </a:solidFill>
          <a:ln w="7144">
            <a:solidFill>
              <a:srgbClr val="122033">
                <a:alpha val="1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Thumb 80</a:t>
            </a:r>
            <a:endParaRPr lang="en-US" sz="500" dirty="0"/>
          </a:p>
        </p:txBody>
      </p:sp>
      <p:sp>
        <p:nvSpPr>
          <p:cNvPr id="28" name="Text 25"/>
          <p:cNvSpPr/>
          <p:nvPr/>
        </p:nvSpPr>
        <p:spPr>
          <a:xfrm>
            <a:off x="4664869" y="1850231"/>
            <a:ext cx="228600" cy="16430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943475" y="1846659"/>
            <a:ext cx="692944" cy="171450"/>
          </a:xfrm>
          <a:prstGeom prst="roundRect">
            <a:avLst>
              <a:gd name="adj" fmla="val 50000"/>
            </a:avLst>
          </a:prstGeom>
          <a:solidFill>
            <a:srgbClr val="B45E50">
              <a:alpha val="13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8E4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</a:t>
            </a:r>
            <a:endParaRPr lang="en-US" sz="500" dirty="0"/>
          </a:p>
        </p:txBody>
      </p:sp>
      <p:sp>
        <p:nvSpPr>
          <p:cNvPr id="30" name="Text 27"/>
          <p:cNvSpPr/>
          <p:nvPr/>
        </p:nvSpPr>
        <p:spPr>
          <a:xfrm>
            <a:off x="5679281" y="1846659"/>
            <a:ext cx="692944" cy="171450"/>
          </a:xfrm>
          <a:prstGeom prst="roundRect">
            <a:avLst>
              <a:gd name="adj" fmla="val 50000"/>
            </a:avLst>
          </a:prstGeom>
          <a:solidFill>
            <a:srgbClr val="B45E50">
              <a:alpha val="13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8E4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6415088" y="1846659"/>
            <a:ext cx="692944" cy="171450"/>
          </a:xfrm>
          <a:prstGeom prst="roundRect">
            <a:avLst>
              <a:gd name="adj" fmla="val 50000"/>
            </a:avLst>
          </a:prstGeom>
          <a:solidFill>
            <a:srgbClr val="B45E50">
              <a:alpha val="13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8E4C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</a:t>
            </a:r>
            <a:endParaRPr lang="en-US" sz="5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7438" y="2371725"/>
            <a:ext cx="4843463" cy="108585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2450809" y="2457450"/>
            <a:ext cx="149304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769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RGA 硬件画布方案 · 一次装配、一次前向</a:t>
            </a:r>
            <a:endParaRPr lang="en-US" sz="600" dirty="0"/>
          </a:p>
        </p:txBody>
      </p:sp>
      <p:sp>
        <p:nvSpPr>
          <p:cNvPr id="34" name="Text 30"/>
          <p:cNvSpPr/>
          <p:nvPr/>
        </p:nvSpPr>
        <p:spPr>
          <a:xfrm>
            <a:off x="6106790" y="2450306"/>
            <a:ext cx="1000125" cy="12858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657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900" b="1" dirty="0">
                <a:solidFill>
                  <a:srgbClr val="C99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900" b="1" dirty="0">
                <a:solidFill>
                  <a:srgbClr val="2F7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1×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2773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逐帧零 CPU 拷贝</a:t>
            </a:r>
            <a:endParaRPr lang="en-US" sz="500" dirty="0"/>
          </a:p>
        </p:txBody>
      </p:sp>
      <p:sp>
        <p:nvSpPr>
          <p:cNvPr id="35" name="Text 31"/>
          <p:cNvSpPr/>
          <p:nvPr/>
        </p:nvSpPr>
        <p:spPr>
          <a:xfrm>
            <a:off x="3286125" y="2896791"/>
            <a:ext cx="557213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>
            <a:solidFill>
              <a:srgbClr val="122033">
                <a:alpha val="1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Native</a:t>
            </a:r>
            <a:endParaRPr lang="en-US" sz="500" dirty="0"/>
          </a:p>
        </p:txBody>
      </p:sp>
      <p:sp>
        <p:nvSpPr>
          <p:cNvPr id="36" name="Text 32"/>
          <p:cNvSpPr/>
          <p:nvPr/>
        </p:nvSpPr>
        <p:spPr>
          <a:xfrm>
            <a:off x="3286125" y="3111103"/>
            <a:ext cx="557213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>
            <a:solidFill>
              <a:srgbClr val="122033">
                <a:alpha val="1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Thumb 160</a:t>
            </a:r>
            <a:endParaRPr lang="en-US" sz="500" dirty="0"/>
          </a:p>
        </p:txBody>
      </p:sp>
      <p:sp>
        <p:nvSpPr>
          <p:cNvPr id="37" name="Text 33"/>
          <p:cNvSpPr/>
          <p:nvPr/>
        </p:nvSpPr>
        <p:spPr>
          <a:xfrm>
            <a:off x="3286125" y="3325416"/>
            <a:ext cx="557213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>
            <a:solidFill>
              <a:srgbClr val="122033">
                <a:alpha val="1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Thumb 80</a:t>
            </a:r>
            <a:endParaRPr lang="en-US" sz="500" dirty="0"/>
          </a:p>
        </p:txBody>
      </p:sp>
      <p:sp>
        <p:nvSpPr>
          <p:cNvPr id="38" name="Text 34"/>
          <p:cNvSpPr/>
          <p:nvPr/>
        </p:nvSpPr>
        <p:spPr>
          <a:xfrm>
            <a:off x="4164806" y="2914650"/>
            <a:ext cx="128588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7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3857625" y="3093244"/>
            <a:ext cx="742950" cy="278606"/>
          </a:xfrm>
          <a:prstGeom prst="roundRect">
            <a:avLst>
              <a:gd name="adj" fmla="val 25247"/>
            </a:avLst>
          </a:prstGeom>
          <a:solidFill>
            <a:srgbClr val="122033"/>
          </a:solidFill>
          <a:ln/>
          <a:effectLst>
            <a:outerShdw sx="100000" sy="100000" kx="0" ky="0" algn="bl" rotWithShape="0" blurRad="128588" dist="57150" dir="5400000">
              <a:srgbClr val="122033">
                <a:alpha val="16000"/>
              </a:srgbClr>
            </a:outerShdw>
          </a:effectLst>
        </p:spPr>
      </p:sp>
      <p:sp>
        <p:nvSpPr>
          <p:cNvPr id="40" name="Text 36"/>
          <p:cNvSpPr/>
          <p:nvPr/>
        </p:nvSpPr>
        <p:spPr>
          <a:xfrm>
            <a:off x="3900488" y="3150394"/>
            <a:ext cx="657225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RGA 3×</a:t>
            </a:r>
            <a:endParaRPr lang="en-US" sz="500" dirty="0"/>
          </a:p>
        </p:txBody>
      </p:sp>
      <p:sp>
        <p:nvSpPr>
          <p:cNvPr id="41" name="Text 37"/>
          <p:cNvSpPr/>
          <p:nvPr/>
        </p:nvSpPr>
        <p:spPr>
          <a:xfrm>
            <a:off x="3900488" y="3243263"/>
            <a:ext cx="657225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3"/>
              </a:spcBef>
              <a:buNone/>
            </a:pPr>
            <a:r>
              <a:rPr lang="en-US" sz="500" dirty="0">
                <a:solidFill>
                  <a:srgbClr val="F8FAFC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improcess</a:t>
            </a:r>
            <a:endParaRPr lang="en-US" sz="500" dirty="0"/>
          </a:p>
        </p:txBody>
      </p:sp>
      <p:sp>
        <p:nvSpPr>
          <p:cNvPr id="42" name="Text 38"/>
          <p:cNvSpPr/>
          <p:nvPr/>
        </p:nvSpPr>
        <p:spPr>
          <a:xfrm>
            <a:off x="4082653" y="3400425"/>
            <a:ext cx="292894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" dirty="0">
                <a:solidFill>
                  <a:srgbClr val="657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缩放 + 落位</a:t>
            </a:r>
            <a:endParaRPr lang="en-US" sz="400" dirty="0"/>
          </a:p>
        </p:txBody>
      </p:sp>
      <p:sp>
        <p:nvSpPr>
          <p:cNvPr id="43" name="Text 39"/>
          <p:cNvSpPr/>
          <p:nvPr/>
        </p:nvSpPr>
        <p:spPr>
          <a:xfrm>
            <a:off x="4614863" y="2628900"/>
            <a:ext cx="1128713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5"/>
              </a:spcAft>
              <a:buNone/>
            </a:pPr>
            <a:r>
              <a:rPr lang="en-US" sz="500" b="1" dirty="0">
                <a:solidFill>
                  <a:srgbClr val="344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640×640 硬件画布</a:t>
            </a:r>
            <a:endParaRPr lang="en-US" sz="500" dirty="0"/>
          </a:p>
        </p:txBody>
      </p:sp>
      <p:sp>
        <p:nvSpPr>
          <p:cNvPr id="44" name="Shape 40"/>
          <p:cNvSpPr/>
          <p:nvPr/>
        </p:nvSpPr>
        <p:spPr>
          <a:xfrm>
            <a:off x="4672013" y="2750344"/>
            <a:ext cx="1014413" cy="1014413"/>
          </a:xfrm>
          <a:prstGeom prst="roundRect">
            <a:avLst>
              <a:gd name="adj" fmla="val 5078"/>
            </a:avLst>
          </a:prstGeom>
          <a:solidFill>
            <a:srgbClr val="F8FAFC"/>
          </a:solidFill>
          <a:ln w="14288">
            <a:solidFill>
              <a:srgbClr val="122033"/>
            </a:solidFill>
            <a:prstDash val="solid"/>
          </a:ln>
          <a:effectLst>
            <a:outerShdw sx="100000" sy="100000" kx="0" ky="0" algn="bl" rotWithShape="0" blurRad="128588" dist="57150" dir="5400000">
              <a:srgbClr val="122033">
                <a:alpha val="13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4686300" y="2766027"/>
            <a:ext cx="985838" cy="785813"/>
          </a:xfrm>
          <a:prstGeom prst="rect">
            <a:avLst/>
          </a:prstGeom>
          <a:solidFill>
            <a:srgbClr val="2F7D78">
              <a:alpha val="20000"/>
            </a:srgbClr>
          </a:solidFill>
          <a:ln/>
        </p:spPr>
      </p:sp>
      <p:sp>
        <p:nvSpPr>
          <p:cNvPr id="46" name="Text 42"/>
          <p:cNvSpPr/>
          <p:nvPr/>
        </p:nvSpPr>
        <p:spPr>
          <a:xfrm>
            <a:off x="4743450" y="2814638"/>
            <a:ext cx="871538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225F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Native</a:t>
            </a:r>
            <a:endParaRPr lang="en-US" sz="500" dirty="0"/>
          </a:p>
        </p:txBody>
      </p:sp>
      <p:sp>
        <p:nvSpPr>
          <p:cNvPr id="47" name="Text 43"/>
          <p:cNvSpPr/>
          <p:nvPr/>
        </p:nvSpPr>
        <p:spPr>
          <a:xfrm>
            <a:off x="4743450" y="2907506"/>
            <a:ext cx="871538" cy="642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3"/>
              </a:spcBef>
              <a:buNone/>
            </a:pPr>
            <a:r>
              <a:rPr lang="en-US" sz="400" dirty="0">
                <a:solidFill>
                  <a:srgbClr val="5266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640×512</a:t>
            </a:r>
            <a:endParaRPr lang="en-US" sz="400" dirty="0"/>
          </a:p>
        </p:txBody>
      </p:sp>
      <p:sp>
        <p:nvSpPr>
          <p:cNvPr id="48" name="Text 44"/>
          <p:cNvSpPr/>
          <p:nvPr/>
        </p:nvSpPr>
        <p:spPr>
          <a:xfrm>
            <a:off x="5330410" y="3460254"/>
            <a:ext cx="300038" cy="500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" dirty="0">
                <a:solidFill>
                  <a:srgbClr val="657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(0,0,640,512)</a:t>
            </a:r>
            <a:endParaRPr lang="en-US" sz="300" dirty="0"/>
          </a:p>
        </p:txBody>
      </p:sp>
      <p:sp>
        <p:nvSpPr>
          <p:cNvPr id="49" name="Shape 45"/>
          <p:cNvSpPr/>
          <p:nvPr/>
        </p:nvSpPr>
        <p:spPr>
          <a:xfrm>
            <a:off x="4684514" y="3551783"/>
            <a:ext cx="250031" cy="200025"/>
          </a:xfrm>
          <a:prstGeom prst="rect">
            <a:avLst/>
          </a:prstGeom>
          <a:solidFill>
            <a:srgbClr val="C9974D">
              <a:alpha val="48000"/>
            </a:srgbClr>
          </a:solidFill>
          <a:ln/>
        </p:spPr>
      </p:sp>
      <p:sp>
        <p:nvSpPr>
          <p:cNvPr id="50" name="Text 46"/>
          <p:cNvSpPr/>
          <p:nvPr/>
        </p:nvSpPr>
        <p:spPr>
          <a:xfrm>
            <a:off x="4705945" y="3574666"/>
            <a:ext cx="200025" cy="428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" b="1" dirty="0">
                <a:solidFill>
                  <a:srgbClr val="5F4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Thumb160</a:t>
            </a:r>
            <a:endParaRPr lang="en-US" sz="300" dirty="0"/>
          </a:p>
        </p:txBody>
      </p:sp>
      <p:sp>
        <p:nvSpPr>
          <p:cNvPr id="51" name="Text 47"/>
          <p:cNvSpPr/>
          <p:nvPr/>
        </p:nvSpPr>
        <p:spPr>
          <a:xfrm>
            <a:off x="4705945" y="3617528"/>
            <a:ext cx="200025" cy="428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" dirty="0">
                <a:solidFill>
                  <a:srgbClr val="705A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160×128</a:t>
            </a:r>
            <a:endParaRPr lang="en-US" sz="200" dirty="0"/>
          </a:p>
        </p:txBody>
      </p:sp>
      <p:sp>
        <p:nvSpPr>
          <p:cNvPr id="52" name="Shape 48"/>
          <p:cNvSpPr/>
          <p:nvPr/>
        </p:nvSpPr>
        <p:spPr>
          <a:xfrm>
            <a:off x="4933652" y="3551783"/>
            <a:ext cx="121444" cy="200025"/>
          </a:xfrm>
          <a:prstGeom prst="rect">
            <a:avLst/>
          </a:prstGeom>
          <a:solidFill>
            <a:srgbClr val="2F7D78">
              <a:alpha val="34000"/>
            </a:srgbClr>
          </a:solidFill>
          <a:ln/>
        </p:spPr>
      </p:sp>
      <p:sp>
        <p:nvSpPr>
          <p:cNvPr id="53" name="Text 49"/>
          <p:cNvSpPr/>
          <p:nvPr/>
        </p:nvSpPr>
        <p:spPr>
          <a:xfrm>
            <a:off x="4947940" y="3574666"/>
            <a:ext cx="92869" cy="428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" b="1" dirty="0">
                <a:solidFill>
                  <a:srgbClr val="225F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T80</a:t>
            </a:r>
            <a:endParaRPr lang="en-US" sz="200" dirty="0"/>
          </a:p>
        </p:txBody>
      </p:sp>
      <p:sp>
        <p:nvSpPr>
          <p:cNvPr id="54" name="Text 50"/>
          <p:cNvSpPr/>
          <p:nvPr/>
        </p:nvSpPr>
        <p:spPr>
          <a:xfrm>
            <a:off x="4947940" y="3617528"/>
            <a:ext cx="92869" cy="357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" dirty="0">
                <a:solidFill>
                  <a:srgbClr val="4667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80×64</a:t>
            </a:r>
            <a:endParaRPr lang="en-US" sz="200" dirty="0"/>
          </a:p>
        </p:txBody>
      </p:sp>
      <p:sp>
        <p:nvSpPr>
          <p:cNvPr id="55" name="Text 51"/>
          <p:cNvSpPr/>
          <p:nvPr/>
        </p:nvSpPr>
        <p:spPr>
          <a:xfrm>
            <a:off x="5423111" y="3664744"/>
            <a:ext cx="228600" cy="642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" dirty="0">
                <a:solidFill>
                  <a:srgbClr val="657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 px 分界</a:t>
            </a:r>
            <a:endParaRPr lang="en-US" sz="300" dirty="0"/>
          </a:p>
        </p:txBody>
      </p:sp>
      <p:sp>
        <p:nvSpPr>
          <p:cNvPr id="56" name="Text 52"/>
          <p:cNvSpPr/>
          <p:nvPr/>
        </p:nvSpPr>
        <p:spPr>
          <a:xfrm>
            <a:off x="5972175" y="2950369"/>
            <a:ext cx="128588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7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5854247" y="3128962"/>
            <a:ext cx="364331" cy="207169"/>
          </a:xfrm>
          <a:prstGeom prst="roundRect">
            <a:avLst>
              <a:gd name="adj" fmla="val 41855"/>
            </a:avLst>
          </a:prstGeom>
          <a:solidFill>
            <a:srgbClr val="2F7D78"/>
          </a:solidFill>
          <a:ln/>
          <a:effectLst>
            <a:outerShdw sx="100000" sy="100000" kx="0" ky="0" algn="bl" rotWithShape="0" blurRad="128588" dist="57150" dir="5400000">
              <a:srgbClr val="2F7D78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1× NPU</a:t>
            </a:r>
            <a:endParaRPr lang="en-US" sz="500" dirty="0"/>
          </a:p>
        </p:txBody>
      </p:sp>
      <p:sp>
        <p:nvSpPr>
          <p:cNvPr id="58" name="Text 54"/>
          <p:cNvSpPr/>
          <p:nvPr/>
        </p:nvSpPr>
        <p:spPr>
          <a:xfrm>
            <a:off x="5922169" y="3364706"/>
            <a:ext cx="228600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" dirty="0">
                <a:solidFill>
                  <a:srgbClr val="657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形状不变</a:t>
            </a:r>
            <a:endParaRPr lang="en-US" sz="400" dirty="0"/>
          </a:p>
        </p:txBody>
      </p:sp>
      <p:sp>
        <p:nvSpPr>
          <p:cNvPr id="59" name="Shape 55"/>
          <p:cNvSpPr/>
          <p:nvPr/>
        </p:nvSpPr>
        <p:spPr>
          <a:xfrm>
            <a:off x="7408069" y="1478756"/>
            <a:ext cx="1571625" cy="2085975"/>
          </a:xfrm>
          <a:prstGeom prst="roundRect">
            <a:avLst>
              <a:gd name="adj" fmla="val 6347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60" name="Shape 56"/>
          <p:cNvSpPr/>
          <p:nvPr/>
        </p:nvSpPr>
        <p:spPr>
          <a:xfrm>
            <a:off x="7515225" y="1584127"/>
            <a:ext cx="1357313" cy="764381"/>
          </a:xfrm>
          <a:prstGeom prst="roundRect">
            <a:avLst>
              <a:gd name="adj" fmla="val 17888"/>
            </a:avLst>
          </a:prstGeom>
          <a:solidFill>
            <a:srgbClr val="C9974D">
              <a:alpha val="7500"/>
            </a:srgbClr>
          </a:solidFill>
          <a:ln w="7144">
            <a:solidFill>
              <a:srgbClr val="C9974D">
                <a:alpha val="24000"/>
              </a:srgbClr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7608094" y="1678781"/>
            <a:ext cx="1171575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拼图装配开销</a:t>
            </a:r>
            <a:endParaRPr lang="en-US" sz="500" dirty="0"/>
          </a:p>
        </p:txBody>
      </p:sp>
      <p:sp>
        <p:nvSpPr>
          <p:cNvPr id="62" name="Text 58"/>
          <p:cNvSpPr/>
          <p:nvPr/>
        </p:nvSpPr>
        <p:spPr>
          <a:xfrm>
            <a:off x="7608094" y="1821656"/>
            <a:ext cx="1171575" cy="1928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spcBef>
                <a:spcPts val="281"/>
              </a:spcBef>
              <a:buNone/>
            </a:pPr>
            <a:r>
              <a:rPr lang="en-US" sz="1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0.943 </a:t>
            </a:r>
            <a:pPr algn="l" indent="0" marL="0">
              <a:lnSpc>
                <a:spcPts val="675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ms/帧</a:t>
            </a:r>
            <a:endParaRPr lang="en-US" sz="1500" dirty="0"/>
          </a:p>
        </p:txBody>
      </p:sp>
      <p:sp>
        <p:nvSpPr>
          <p:cNvPr id="63" name="Text 59"/>
          <p:cNvSpPr/>
          <p:nvPr/>
        </p:nvSpPr>
        <p:spPr>
          <a:xfrm>
            <a:off x="7608094" y="2062758"/>
            <a:ext cx="1171575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spcBef>
                <a:spcPts val="394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 102 ms 前向可忽略</a:t>
            </a:r>
            <a:endParaRPr lang="en-US" sz="500" dirty="0"/>
          </a:p>
        </p:txBody>
      </p:sp>
      <p:sp>
        <p:nvSpPr>
          <p:cNvPr id="64" name="Shape 60"/>
          <p:cNvSpPr/>
          <p:nvPr/>
        </p:nvSpPr>
        <p:spPr>
          <a:xfrm>
            <a:off x="7608094" y="2232422"/>
            <a:ext cx="1171575" cy="21431"/>
          </a:xfrm>
          <a:prstGeom prst="roundRect">
            <a:avLst>
              <a:gd name="adj" fmla="val 533340"/>
            </a:avLst>
          </a:prstGeom>
          <a:solidFill>
            <a:srgbClr val="C9974D">
              <a:alpha val="16000"/>
            </a:srgbClr>
          </a:solidFill>
          <a:ln/>
        </p:spPr>
      </p:sp>
      <p:sp>
        <p:nvSpPr>
          <p:cNvPr id="65" name="Shape 61"/>
          <p:cNvSpPr/>
          <p:nvPr/>
        </p:nvSpPr>
        <p:spPr>
          <a:xfrm>
            <a:off x="7609768" y="2232422"/>
            <a:ext cx="78581" cy="21431"/>
          </a:xfrm>
          <a:prstGeom prst="roundRect">
            <a:avLst>
              <a:gd name="adj" fmla="val 533340"/>
            </a:avLst>
          </a:prstGeom>
          <a:solidFill>
            <a:srgbClr val="C9974D"/>
          </a:solidFill>
          <a:ln/>
        </p:spPr>
      </p:sp>
      <p:sp>
        <p:nvSpPr>
          <p:cNvPr id="66" name="Shape 62"/>
          <p:cNvSpPr/>
          <p:nvPr/>
        </p:nvSpPr>
        <p:spPr>
          <a:xfrm>
            <a:off x="7515225" y="2418159"/>
            <a:ext cx="1357313" cy="785813"/>
          </a:xfrm>
          <a:prstGeom prst="roundRect">
            <a:avLst>
              <a:gd name="adj" fmla="val 16926"/>
            </a:avLst>
          </a:prstGeom>
          <a:solidFill>
            <a:srgbClr val="2F7D78">
              <a:alpha val="6700"/>
            </a:srgbClr>
          </a:solidFill>
          <a:ln w="7144">
            <a:solidFill>
              <a:srgbClr val="2F7D78">
                <a:alpha val="2300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7608094" y="2511028"/>
            <a:ext cx="1171575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2769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画布一致性</a:t>
            </a:r>
            <a:endParaRPr lang="en-US" sz="500" dirty="0"/>
          </a:p>
        </p:txBody>
      </p:sp>
      <p:sp>
        <p:nvSpPr>
          <p:cNvPr id="68" name="Text 64"/>
          <p:cNvSpPr/>
          <p:nvPr/>
        </p:nvSpPr>
        <p:spPr>
          <a:xfrm>
            <a:off x="7608094" y="2653903"/>
            <a:ext cx="1171575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281"/>
              </a:spcBef>
              <a:buNone/>
            </a:pPr>
            <a:r>
              <a:rPr lang="en-US" sz="1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= 0</a:t>
            </a:r>
            <a:endParaRPr lang="en-US" sz="1500" dirty="0"/>
          </a:p>
        </p:txBody>
      </p:sp>
      <p:sp>
        <p:nvSpPr>
          <p:cNvPr id="69" name="Text 65"/>
          <p:cNvSpPr/>
          <p:nvPr/>
        </p:nvSpPr>
        <p:spPr>
          <a:xfrm>
            <a:off x="7608094" y="2903934"/>
            <a:ext cx="1171575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spcBef>
                <a:spcPts val="394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native 区与 CPU 参考</a:t>
            </a:r>
            <a:pPr algn="l" indent="0" marL="0">
              <a:buNone/>
            </a:pPr>
            <a:endParaRPr lang="en-US" sz="500" dirty="0"/>
          </a:p>
          <a:p>
            <a:pPr algn="l" indent="0" marL="0">
              <a:lnSpc>
                <a:spcPts val="816"/>
              </a:lnSpc>
              <a:spcBef>
                <a:spcPts val="394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字节级一致</a:t>
            </a:r>
            <a:endParaRPr lang="en-US" sz="500" dirty="0"/>
          </a:p>
        </p:txBody>
      </p:sp>
      <p:sp>
        <p:nvSpPr>
          <p:cNvPr id="70" name="Shape 66"/>
          <p:cNvSpPr/>
          <p:nvPr/>
        </p:nvSpPr>
        <p:spPr>
          <a:xfrm>
            <a:off x="7515225" y="3275409"/>
            <a:ext cx="1357313" cy="664369"/>
          </a:xfrm>
          <a:prstGeom prst="roundRect">
            <a:avLst>
              <a:gd name="adj" fmla="val 5920"/>
            </a:avLst>
          </a:prstGeom>
          <a:solidFill>
            <a:srgbClr val="122033">
              <a:alpha val="4300"/>
            </a:srgbClr>
          </a:solidFill>
          <a:ln w="7144">
            <a:solidFill>
              <a:srgbClr val="122033">
                <a:alpha val="11000"/>
              </a:srgbClr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7608094" y="3368278"/>
            <a:ext cx="1171575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服务吞吐</a:t>
            </a:r>
            <a:endParaRPr lang="en-US" sz="500" dirty="0"/>
          </a:p>
        </p:txBody>
      </p:sp>
      <p:sp>
        <p:nvSpPr>
          <p:cNvPr id="72" name="Text 68"/>
          <p:cNvSpPr/>
          <p:nvPr/>
        </p:nvSpPr>
        <p:spPr>
          <a:xfrm>
            <a:off x="7608094" y="3511153"/>
            <a:ext cx="1171575" cy="1928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spcBef>
                <a:spcPts val="281"/>
              </a:spcBef>
              <a:buNone/>
            </a:pPr>
            <a:r>
              <a:rPr lang="en-US" sz="1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14.951 </a:t>
            </a:r>
            <a:pPr algn="l" indent="0" marL="0">
              <a:lnSpc>
                <a:spcPts val="675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</a:t>
            </a:r>
            <a:endParaRPr lang="en-US" sz="1500" dirty="0"/>
          </a:p>
        </p:txBody>
      </p:sp>
      <p:sp>
        <p:nvSpPr>
          <p:cNvPr id="73" name="Text 69"/>
          <p:cNvSpPr/>
          <p:nvPr/>
        </p:nvSpPr>
        <p:spPr>
          <a:xfrm>
            <a:off x="7608094" y="3754041"/>
            <a:ext cx="1171575" cy="9286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 15.60 fps</a:t>
            </a:r>
            <a:pPr algn="l" indent="0" marL="0">
              <a:spcBef>
                <a:spcPts val="394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b="1" dirty="0">
                <a:solidFill>
                  <a:srgbClr val="2F7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损耗 4.1%</a:t>
            </a:r>
            <a:endParaRPr lang="en-US" sz="500" dirty="0"/>
          </a:p>
        </p:txBody>
      </p:sp>
      <p:sp>
        <p:nvSpPr>
          <p:cNvPr id="74" name="Shape 70"/>
          <p:cNvSpPr/>
          <p:nvPr/>
        </p:nvSpPr>
        <p:spPr>
          <a:xfrm>
            <a:off x="578644" y="3650456"/>
            <a:ext cx="8401050" cy="300038"/>
          </a:xfrm>
          <a:prstGeom prst="roundRect">
            <a:avLst>
              <a:gd name="adj" fmla="val 29025"/>
            </a:avLst>
          </a:prstGeom>
          <a:solidFill>
            <a:srgbClr val="122033"/>
          </a:solidFill>
          <a:ln/>
          <a:effectLst>
            <a:outerShdw sx="100000" sy="100000" kx="0" ky="0" algn="bl" rotWithShape="0" blurRad="171450" dist="71438" dir="5400000">
              <a:srgbClr val="122033">
                <a:alpha val="15000"/>
              </a:srgbClr>
            </a:outerShdw>
          </a:effectLst>
        </p:spPr>
      </p:sp>
      <p:sp>
        <p:nvSpPr>
          <p:cNvPr id="75" name="Shape 71"/>
          <p:cNvSpPr/>
          <p:nvPr/>
        </p:nvSpPr>
        <p:spPr>
          <a:xfrm>
            <a:off x="685800" y="3775472"/>
            <a:ext cx="50006" cy="50006"/>
          </a:xfrm>
          <a:prstGeom prst="ellipse">
            <a:avLst/>
          </a:prstGeom>
          <a:solidFill>
            <a:srgbClr val="C9974D"/>
          </a:solidFill>
          <a:ln/>
        </p:spPr>
      </p:sp>
      <p:sp>
        <p:nvSpPr>
          <p:cNvPr id="76" name="Text 72"/>
          <p:cNvSpPr/>
          <p:nvPr/>
        </p:nvSpPr>
        <p:spPr>
          <a:xfrm>
            <a:off x="798928" y="3739753"/>
            <a:ext cx="2178844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时间与单尺度完全相同——这是整个方案成立的前提</a:t>
            </a:r>
            <a:endParaRPr lang="en-US" sz="600" dirty="0"/>
          </a:p>
        </p:txBody>
      </p:sp>
      <p:sp>
        <p:nvSpPr>
          <p:cNvPr id="77" name="Text 73"/>
          <p:cNvSpPr/>
          <p:nvPr/>
        </p:nvSpPr>
        <p:spPr>
          <a:xfrm>
            <a:off x="7106692" y="3711178"/>
            <a:ext cx="514350" cy="178594"/>
          </a:xfrm>
          <a:prstGeom prst="roundRect">
            <a:avLst>
              <a:gd name="adj" fmla="val 64000"/>
            </a:avLst>
          </a:prstGeom>
          <a:solidFill>
            <a:srgbClr val="C9974D">
              <a:alpha val="12000"/>
            </a:srgbClr>
          </a:solidFill>
          <a:ln w="7144">
            <a:solidFill>
              <a:srgbClr val="C9974D">
                <a:alpha val="4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8C9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形状决定代价</a:t>
            </a:r>
            <a:endParaRPr lang="en-US" sz="500" dirty="0"/>
          </a:p>
        </p:txBody>
      </p:sp>
      <p:sp>
        <p:nvSpPr>
          <p:cNvPr id="78" name="Text 74"/>
          <p:cNvSpPr/>
          <p:nvPr/>
        </p:nvSpPr>
        <p:spPr>
          <a:xfrm>
            <a:off x="7664518" y="3711178"/>
            <a:ext cx="542925" cy="178594"/>
          </a:xfrm>
          <a:prstGeom prst="roundRect">
            <a:avLst>
              <a:gd name="adj" fmla="val 64000"/>
            </a:avLst>
          </a:prstGeom>
          <a:solidFill>
            <a:srgbClr val="C9974D">
              <a:alpha val="12000"/>
            </a:srgbClr>
          </a:solidFill>
          <a:ln w="7144">
            <a:solidFill>
              <a:srgbClr val="C9974D">
                <a:alpha val="4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8C9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RGA 硬件画布</a:t>
            </a:r>
            <a:endParaRPr lang="en-US" sz="500" dirty="0"/>
          </a:p>
        </p:txBody>
      </p:sp>
      <p:sp>
        <p:nvSpPr>
          <p:cNvPr id="79" name="Text 75"/>
          <p:cNvSpPr/>
          <p:nvPr/>
        </p:nvSpPr>
        <p:spPr>
          <a:xfrm>
            <a:off x="8250920" y="3711178"/>
            <a:ext cx="621506" cy="178594"/>
          </a:xfrm>
          <a:prstGeom prst="roundRect">
            <a:avLst>
              <a:gd name="adj" fmla="val 64000"/>
            </a:avLst>
          </a:prstGeom>
          <a:solidFill>
            <a:srgbClr val="C9974D">
              <a:alpha val="12000"/>
            </a:srgbClr>
          </a:solidFill>
          <a:ln w="7144">
            <a:solidFill>
              <a:srgbClr val="C9974D">
                <a:alpha val="4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8C9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逐帧零 CPU 拷贝</a:t>
            </a:r>
            <a:endParaRPr lang="en-US" sz="500" dirty="0"/>
          </a:p>
        </p:txBody>
      </p:sp>
      <p:sp>
        <p:nvSpPr>
          <p:cNvPr id="80" name="Text 76"/>
          <p:cNvSpPr/>
          <p:nvPr/>
        </p:nvSpPr>
        <p:spPr>
          <a:xfrm>
            <a:off x="578644" y="4079081"/>
            <a:ext cx="8401050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600" dirty="0"/>
          </a:p>
        </p:txBody>
      </p:sp>
      <p:pic>
        <p:nvPicPr>
          <p:cNvPr id="8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8644" y="564356"/>
            <a:ext cx="8401050" cy="785813"/>
          </a:xfrm>
          <a:prstGeom prst="rect">
            <a:avLst/>
          </a:prstGeom>
        </p:spPr>
      </p:pic>
      <p:pic>
        <p:nvPicPr>
          <p:cNvPr id="8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0088" y="3312133"/>
            <a:ext cx="1328738" cy="200025"/>
          </a:xfrm>
          <a:prstGeom prst="rect">
            <a:avLst/>
          </a:prstGeom>
        </p:spPr>
      </p:pic>
      <p:pic>
        <p:nvPicPr>
          <p:cNvPr id="8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86300" y="2766027"/>
            <a:ext cx="985838" cy="785813"/>
          </a:xfrm>
          <a:prstGeom prst="rect">
            <a:avLst/>
          </a:prstGeom>
        </p:spPr>
      </p:pic>
      <p:pic>
        <p:nvPicPr>
          <p:cNvPr id="8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84514" y="3551783"/>
            <a:ext cx="250031" cy="200025"/>
          </a:xfrm>
          <a:prstGeom prst="rect">
            <a:avLst/>
          </a:prstGeom>
        </p:spPr>
      </p:pic>
      <p:pic>
        <p:nvPicPr>
          <p:cNvPr id="8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8644" y="4079081"/>
            <a:ext cx="8401050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57188" y="357188"/>
            <a:ext cx="8843963" cy="785813"/>
          </a:xfrm>
          <a:prstGeom prst="rect">
            <a:avLst/>
          </a:prstGeom>
          <a:ln/>
        </p:spPr>
      </p:sp>
      <p:sp>
        <p:nvSpPr>
          <p:cNvPr id="6" name="Text 3"/>
          <p:cNvSpPr/>
          <p:nvPr/>
        </p:nvSpPr>
        <p:spPr>
          <a:xfrm>
            <a:off x="356964" y="215764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战果 B4｜精度账：f16 代价 ≈ 0，打包的账单独算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11/18</a:t>
            </a:r>
            <a:endParaRPr lang="en-US" sz="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188" y="1271587"/>
            <a:ext cx="8843963" cy="442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8631" y="1335881"/>
            <a:ext cx="8601075" cy="12858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口径修正</a:t>
            </a:r>
            <a:pPr algn="l" indent="0" marL="0">
              <a:lnSpc>
                <a:spcPts val="591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591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原记录无 B 臂；7 个 arm 使用同一打分器、同图、同一画布、同一次前向重算，补齐 B 臂。</a:t>
            </a:r>
            <a:endParaRPr lang="en-US" sz="500" dirty="0"/>
          </a:p>
        </p:txBody>
      </p:sp>
      <p:sp>
        <p:nvSpPr>
          <p:cNvPr id="11" name="Text 7"/>
          <p:cNvSpPr/>
          <p:nvPr/>
        </p:nvSpPr>
        <p:spPr>
          <a:xfrm>
            <a:off x="479747" y="1485900"/>
            <a:ext cx="2864644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2F7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+0.000529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f16 量化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46624" y="1485900"/>
            <a:ext cx="2864644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9A51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−0.002668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打包变化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213611" y="1485900"/>
            <a:ext cx="2864644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−0.002139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交付净账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55402" y="1771650"/>
            <a:ext cx="5422106" cy="1500188"/>
          </a:xfrm>
          <a:prstGeom prst="roundRect">
            <a:avLst>
              <a:gd name="adj" fmla="val 5805"/>
            </a:avLst>
          </a:prstGeom>
          <a:solidFill>
            <a:srgbClr val="FFFFFF">
              <a:alpha val="8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14313" dist="85725" dir="5400000">
              <a:srgbClr val="0F172A">
                <a:alpha val="7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65293" y="1882378"/>
            <a:ext cx="1164431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 盲测｜真实交付总账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216947" y="1860947"/>
            <a:ext cx="450056" cy="178594"/>
          </a:xfrm>
          <a:prstGeom prst="roundRect">
            <a:avLst>
              <a:gd name="adj" fmla="val 64000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11,810 帧</a:t>
            </a:r>
            <a:endParaRPr lang="en-US" sz="500" dirty="0"/>
          </a:p>
        </p:txBody>
      </p:sp>
      <p:sp>
        <p:nvSpPr>
          <p:cNvPr id="17" name="Shape 13"/>
          <p:cNvSpPr/>
          <p:nvPr/>
        </p:nvSpPr>
        <p:spPr>
          <a:xfrm>
            <a:off x="464344" y="2082403"/>
            <a:ext cx="35719" cy="35719"/>
          </a:xfrm>
          <a:prstGeom prst="ellipse">
            <a:avLst/>
          </a:prstGeom>
          <a:solidFill>
            <a:srgbClr val="C9974D"/>
          </a:solidFill>
          <a:ln/>
        </p:spPr>
      </p:sp>
      <p:sp>
        <p:nvSpPr>
          <p:cNvPr id="18" name="Text 14"/>
          <p:cNvSpPr/>
          <p:nvPr/>
        </p:nvSpPr>
        <p:spPr>
          <a:xfrm>
            <a:off x="571500" y="2046684"/>
            <a:ext cx="19645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A78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同图、同画布、同一次前向；增量以原始未舍入结果计算</a:t>
            </a:r>
            <a:endParaRPr lang="en-US" sz="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2558" y="2200275"/>
          <a:ext cx="5207794" cy="914400"/>
        </p:xfrm>
        <a:graphic>
          <a:graphicData uri="http://schemas.openxmlformats.org/drawingml/2006/table">
            <a:tbl>
              <a:tblPr/>
              <a:tblGrid>
                <a:gridCol w="385763"/>
                <a:gridCol w="3189684"/>
                <a:gridCol w="742950"/>
                <a:gridCol w="88582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6A78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臂</a:t>
                      </a:r>
                      <a:endParaRPr lang="en-US" sz="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42863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6A78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计算方式</a:t>
                      </a:r>
                      <a:endParaRPr lang="en-US" sz="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42863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00" b="1" dirty="0">
                          <a:solidFill>
                            <a:srgbClr val="6A78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F1</a:t>
                      </a:r>
                      <a:endParaRPr lang="en-US" sz="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42863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00" b="1" dirty="0">
                          <a:solidFill>
                            <a:srgbClr val="6A78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42863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2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42863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344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 f32 ｜ 逐尺度 3 次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42863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2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0.897694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42863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2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冻结基准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42863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2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42863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344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 f32 ｜ 拼图 1 次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42863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2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0.895025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42863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2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隔离打包损失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42863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2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42863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3444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板端 f16 ｜ 拼图 1 次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42863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7D5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0.895555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42863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2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交付产物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42863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0" name="Text 15"/>
          <p:cNvSpPr/>
          <p:nvPr/>
        </p:nvSpPr>
        <p:spPr>
          <a:xfrm>
            <a:off x="462558" y="3221831"/>
            <a:ext cx="5207794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→ C：量化后 F1 回升</a:t>
            </a:r>
            <a:pPr algn="l" indent="0" marL="0">
              <a:spcBef>
                <a:spcPts val="169"/>
              </a:spcBef>
              <a:buNone/>
            </a:pPr>
            <a:r>
              <a:rPr lang="en-US" sz="500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2F7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+0.000529</a:t>
            </a:r>
            <a:endParaRPr lang="en-US" sz="500" dirty="0"/>
          </a:p>
        </p:txBody>
      </p:sp>
      <p:sp>
        <p:nvSpPr>
          <p:cNvPr id="21" name="Shape 16"/>
          <p:cNvSpPr/>
          <p:nvPr/>
        </p:nvSpPr>
        <p:spPr>
          <a:xfrm>
            <a:off x="5831086" y="1771650"/>
            <a:ext cx="3371850" cy="1500188"/>
          </a:xfrm>
          <a:prstGeom prst="roundRect">
            <a:avLst>
              <a:gd name="adj" fmla="val 5805"/>
            </a:avLst>
          </a:prstGeom>
          <a:solidFill>
            <a:srgbClr val="FFFFFF">
              <a:alpha val="8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14313" dist="85725" dir="5400000">
              <a:srgbClr val="0F172A">
                <a:alpha val="7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940698" y="1825228"/>
            <a:ext cx="492919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 黄金池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5940698" y="1976586"/>
            <a:ext cx="492919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500" dirty="0">
                <a:solidFill>
                  <a:srgbClr val="6A78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量化对照</a:t>
            </a:r>
            <a:endParaRPr lang="en-US" sz="500" dirty="0"/>
          </a:p>
        </p:txBody>
      </p:sp>
      <p:sp>
        <p:nvSpPr>
          <p:cNvPr id="24" name="Text 19"/>
          <p:cNvSpPr/>
          <p:nvPr/>
        </p:nvSpPr>
        <p:spPr>
          <a:xfrm>
            <a:off x="8485938" y="1864519"/>
            <a:ext cx="607219" cy="178594"/>
          </a:xfrm>
          <a:prstGeom prst="roundRect">
            <a:avLst>
              <a:gd name="adj" fmla="val 64000"/>
            </a:avLst>
          </a:prstGeom>
          <a:solidFill>
            <a:srgbClr val="2F7568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2F7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f16 无可见损失</a:t>
            </a:r>
            <a:endParaRPr lang="en-US" sz="500" dirty="0"/>
          </a:p>
        </p:txBody>
      </p:sp>
      <p:sp>
        <p:nvSpPr>
          <p:cNvPr id="25" name="Shape 20"/>
          <p:cNvSpPr/>
          <p:nvPr/>
        </p:nvSpPr>
        <p:spPr>
          <a:xfrm>
            <a:off x="5938242" y="2093119"/>
            <a:ext cx="3157537" cy="278606"/>
          </a:xfrm>
          <a:prstGeom prst="roundRect">
            <a:avLst>
              <a:gd name="adj" fmla="val 25247"/>
            </a:avLst>
          </a:prstGeom>
          <a:solidFill>
            <a:srgbClr val="122033">
              <a:alpha val="43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011466" y="2150269"/>
            <a:ext cx="164306" cy="164306"/>
          </a:xfrm>
          <a:prstGeom prst="roundRect">
            <a:avLst>
              <a:gd name="adj" fmla="val 42344"/>
            </a:avLst>
          </a:prstGeom>
          <a:solidFill>
            <a:srgbClr val="122033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600" dirty="0"/>
          </a:p>
        </p:txBody>
      </p:sp>
      <p:sp>
        <p:nvSpPr>
          <p:cNvPr id="27" name="Text 22"/>
          <p:cNvSpPr/>
          <p:nvPr/>
        </p:nvSpPr>
        <p:spPr>
          <a:xfrm>
            <a:off x="6252567" y="2178844"/>
            <a:ext cx="2214563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4555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f32｜逐尺度 3 次</a:t>
            </a:r>
            <a:endParaRPr lang="en-US" sz="500" dirty="0"/>
          </a:p>
        </p:txBody>
      </p:sp>
      <p:sp>
        <p:nvSpPr>
          <p:cNvPr id="28" name="Text 23"/>
          <p:cNvSpPr/>
          <p:nvPr/>
        </p:nvSpPr>
        <p:spPr>
          <a:xfrm>
            <a:off x="8465344" y="2171700"/>
            <a:ext cx="557213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0.998949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939135" y="2428875"/>
            <a:ext cx="1471612" cy="642938"/>
          </a:xfrm>
          <a:prstGeom prst="roundRect">
            <a:avLst>
              <a:gd name="adj" fmla="val 4741"/>
            </a:avLst>
          </a:prstGeom>
          <a:solidFill>
            <a:srgbClr val="C9974D">
              <a:alpha val="8000"/>
            </a:srgbClr>
          </a:solidFill>
          <a:ln w="7144">
            <a:solidFill>
              <a:srgbClr val="C9974D">
                <a:alpha val="18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004322" y="2668191"/>
            <a:ext cx="164306" cy="164306"/>
          </a:xfrm>
          <a:prstGeom prst="roundRect">
            <a:avLst>
              <a:gd name="adj" fmla="val 42344"/>
            </a:avLst>
          </a:prstGeom>
          <a:solidFill>
            <a:srgbClr val="C9974D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600" dirty="0"/>
          </a:p>
        </p:txBody>
      </p:sp>
      <p:sp>
        <p:nvSpPr>
          <p:cNvPr id="31" name="Text 26"/>
          <p:cNvSpPr/>
          <p:nvPr/>
        </p:nvSpPr>
        <p:spPr>
          <a:xfrm>
            <a:off x="6217741" y="2564606"/>
            <a:ext cx="1128713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500" dirty="0">
                <a:solidFill>
                  <a:srgbClr val="4555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f32｜拼图</a:t>
            </a:r>
            <a:endParaRPr lang="en-US" sz="500" dirty="0"/>
          </a:p>
        </p:txBody>
      </p:sp>
      <p:sp>
        <p:nvSpPr>
          <p:cNvPr id="32" name="Text 27"/>
          <p:cNvSpPr/>
          <p:nvPr/>
        </p:nvSpPr>
        <p:spPr>
          <a:xfrm>
            <a:off x="6217741" y="2800350"/>
            <a:ext cx="112871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0.999790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7438430" y="2750344"/>
            <a:ext cx="157163" cy="7144"/>
          </a:xfrm>
          <a:prstGeom prst="rect">
            <a:avLst/>
          </a:prstGeom>
          <a:solidFill>
            <a:srgbClr val="C9974D">
              <a:alpha val="42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7456289" y="2646759"/>
            <a:ext cx="121444" cy="207169"/>
          </a:xfrm>
          <a:prstGeom prst="rect">
            <a:avLst/>
          </a:prstGeom>
          <a:solidFill>
            <a:srgbClr val="FFFFFF">
              <a:alpha val="96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＝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7623274" y="2428875"/>
            <a:ext cx="1471612" cy="642938"/>
          </a:xfrm>
          <a:prstGeom prst="roundRect">
            <a:avLst>
              <a:gd name="adj" fmla="val 4741"/>
            </a:avLst>
          </a:prstGeom>
          <a:solidFill>
            <a:srgbClr val="2F7568">
              <a:alpha val="7000"/>
            </a:srgbClr>
          </a:solidFill>
          <a:ln w="7144">
            <a:solidFill>
              <a:srgbClr val="2F7568">
                <a:alpha val="1600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688461" y="2668191"/>
            <a:ext cx="164306" cy="164306"/>
          </a:xfrm>
          <a:prstGeom prst="roundRect">
            <a:avLst>
              <a:gd name="adj" fmla="val 42344"/>
            </a:avLst>
          </a:prstGeom>
          <a:solidFill>
            <a:srgbClr val="2F7568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F7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600" dirty="0"/>
          </a:p>
        </p:txBody>
      </p:sp>
      <p:sp>
        <p:nvSpPr>
          <p:cNvPr id="37" name="Text 32"/>
          <p:cNvSpPr/>
          <p:nvPr/>
        </p:nvSpPr>
        <p:spPr>
          <a:xfrm>
            <a:off x="7901880" y="2564606"/>
            <a:ext cx="1128713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500" dirty="0">
                <a:solidFill>
                  <a:srgbClr val="4555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板端 f16｜拼图</a:t>
            </a:r>
            <a:endParaRPr lang="en-US" sz="500" dirty="0"/>
          </a:p>
        </p:txBody>
      </p:sp>
      <p:sp>
        <p:nvSpPr>
          <p:cNvPr id="38" name="Text 33"/>
          <p:cNvSpPr/>
          <p:nvPr/>
        </p:nvSpPr>
        <p:spPr>
          <a:xfrm>
            <a:off x="7901880" y="2800350"/>
            <a:ext cx="112871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F7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0.999790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5940028" y="3168253"/>
            <a:ext cx="128588" cy="7144"/>
          </a:xfrm>
          <a:prstGeom prst="rect">
            <a:avLst/>
          </a:prstGeom>
          <a:solidFill>
            <a:srgbClr val="C9974D">
              <a:alpha val="60000"/>
            </a:srgbClr>
          </a:solidFill>
          <a:ln/>
        </p:spPr>
      </p:sp>
      <p:sp>
        <p:nvSpPr>
          <p:cNvPr id="40" name="Text 35"/>
          <p:cNvSpPr/>
          <p:nvPr/>
        </p:nvSpPr>
        <p:spPr>
          <a:xfrm>
            <a:off x="6111478" y="3128963"/>
            <a:ext cx="1014078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75"/>
              </a:lnSpc>
              <a:spcBef>
                <a:spcPts val="281"/>
              </a:spcBef>
              <a:buNone/>
            </a:pPr>
            <a:r>
              <a:rPr lang="en-US" sz="500" dirty="0">
                <a:solidFill>
                  <a:srgbClr val="6A78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C：同值直接支撑“量化无损”</a:t>
            </a:r>
            <a:endParaRPr lang="en-US" sz="500" dirty="0"/>
          </a:p>
        </p:txBody>
      </p:sp>
      <p:sp>
        <p:nvSpPr>
          <p:cNvPr id="41" name="Shape 36"/>
          <p:cNvSpPr/>
          <p:nvPr/>
        </p:nvSpPr>
        <p:spPr>
          <a:xfrm>
            <a:off x="355625" y="3328988"/>
            <a:ext cx="6193631" cy="828675"/>
          </a:xfrm>
          <a:prstGeom prst="roundRect">
            <a:avLst>
              <a:gd name="adj" fmla="val 17122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00025" dist="71438" dir="5400000">
              <a:srgbClr val="0F172A">
                <a:alpha val="6000"/>
              </a:srgbClr>
            </a:outerShdw>
          </a:effectLst>
        </p:spPr>
      </p:sp>
      <p:sp>
        <p:nvSpPr>
          <p:cNvPr id="42" name="Text 37"/>
          <p:cNvSpPr/>
          <p:nvPr/>
        </p:nvSpPr>
        <p:spPr>
          <a:xfrm>
            <a:off x="462781" y="3407569"/>
            <a:ext cx="5979319" cy="12858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 A 基准的 F1 变化｜局部尺度</a:t>
            </a:r>
            <a:pPr algn="l" indent="0" marL="0">
              <a:buNone/>
            </a:pPr>
            <a:r>
              <a:rPr lang="en-US" sz="5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交付拆账</a:t>
            </a:r>
            <a:endParaRPr lang="en-US" sz="500" dirty="0"/>
          </a:p>
        </p:txBody>
      </p:sp>
      <p:sp>
        <p:nvSpPr>
          <p:cNvPr id="43" name="Shape 38"/>
          <p:cNvSpPr/>
          <p:nvPr/>
        </p:nvSpPr>
        <p:spPr>
          <a:xfrm>
            <a:off x="463618" y="3600450"/>
            <a:ext cx="1335881" cy="385763"/>
          </a:xfrm>
          <a:prstGeom prst="roundRect">
            <a:avLst>
              <a:gd name="adj" fmla="val 12071"/>
            </a:avLst>
          </a:prstGeom>
          <a:solidFill>
            <a:srgbClr val="122033">
              <a:alpha val="7000"/>
            </a:srgbClr>
          </a:solidFill>
          <a:ln w="7144">
            <a:solidFill>
              <a:srgbClr val="122033">
                <a:alpha val="10000"/>
              </a:srgbClr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542199" y="3664744"/>
            <a:ext cx="1178719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8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 A</a:t>
            </a:r>
            <a:endParaRPr lang="en-US" sz="500" dirty="0"/>
          </a:p>
        </p:txBody>
      </p:sp>
      <p:sp>
        <p:nvSpPr>
          <p:cNvPr id="45" name="Text 40"/>
          <p:cNvSpPr/>
          <p:nvPr/>
        </p:nvSpPr>
        <p:spPr>
          <a:xfrm>
            <a:off x="542199" y="3793331"/>
            <a:ext cx="1178719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0.897694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1857598" y="3536156"/>
            <a:ext cx="1464469" cy="514350"/>
          </a:xfrm>
          <a:prstGeom prst="roundRect">
            <a:avLst>
              <a:gd name="adj" fmla="val 6790"/>
            </a:avLst>
          </a:prstGeom>
          <a:solidFill>
            <a:srgbClr val="9A514C">
              <a:alpha val="8000"/>
            </a:srgbClr>
          </a:solidFill>
          <a:ln w="7144">
            <a:solidFill>
              <a:srgbClr val="9A514C">
                <a:alpha val="16000"/>
              </a:srgbClr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3188010" y="3593306"/>
            <a:ext cx="64294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51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1936179" y="3600450"/>
            <a:ext cx="130730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75F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拼图打包</a:t>
            </a:r>
            <a:endParaRPr lang="en-US" sz="500" dirty="0"/>
          </a:p>
        </p:txBody>
      </p:sp>
      <p:sp>
        <p:nvSpPr>
          <p:cNvPr id="49" name="Text 44"/>
          <p:cNvSpPr/>
          <p:nvPr/>
        </p:nvSpPr>
        <p:spPr>
          <a:xfrm>
            <a:off x="1936179" y="3729038"/>
            <a:ext cx="1307306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900" b="1" dirty="0">
                <a:solidFill>
                  <a:srgbClr val="9A51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−0.002668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3382566" y="3536156"/>
            <a:ext cx="1464469" cy="514350"/>
          </a:xfrm>
          <a:prstGeom prst="roundRect">
            <a:avLst>
              <a:gd name="adj" fmla="val 6790"/>
            </a:avLst>
          </a:prstGeom>
          <a:solidFill>
            <a:srgbClr val="2F7568">
              <a:alpha val="7000"/>
            </a:srgbClr>
          </a:solidFill>
          <a:ln w="7144">
            <a:solidFill>
              <a:srgbClr val="2F7568">
                <a:alpha val="15000"/>
              </a:srgbClr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4712977" y="3593306"/>
            <a:ext cx="64294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7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3461147" y="3600450"/>
            <a:ext cx="130730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470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f16 量化</a:t>
            </a:r>
            <a:endParaRPr lang="en-US" sz="500" dirty="0"/>
          </a:p>
        </p:txBody>
      </p:sp>
      <p:sp>
        <p:nvSpPr>
          <p:cNvPr id="53" name="Text 48"/>
          <p:cNvSpPr/>
          <p:nvPr/>
        </p:nvSpPr>
        <p:spPr>
          <a:xfrm>
            <a:off x="3461147" y="3729038"/>
            <a:ext cx="1307306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900" b="1" dirty="0">
                <a:solidFill>
                  <a:srgbClr val="2F7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+0.000529</a:t>
            </a:r>
            <a:endParaRPr lang="en-US" sz="900" dirty="0"/>
          </a:p>
        </p:txBody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5189" y="3600450"/>
            <a:ext cx="1535906" cy="385763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4983770" y="3664744"/>
            <a:ext cx="137874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终点 C · 交付产物</a:t>
            </a:r>
            <a:endParaRPr lang="en-US" sz="500" dirty="0"/>
          </a:p>
        </p:txBody>
      </p:sp>
      <p:sp>
        <p:nvSpPr>
          <p:cNvPr id="56" name="Text 50"/>
          <p:cNvSpPr/>
          <p:nvPr/>
        </p:nvSpPr>
        <p:spPr>
          <a:xfrm>
            <a:off x="4983770" y="3793331"/>
            <a:ext cx="1378744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"/>
              </a:spcBef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0.895555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6240400" y="3657600"/>
            <a:ext cx="128588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000" dirty="0"/>
          </a:p>
        </p:txBody>
      </p:sp>
      <p:sp>
        <p:nvSpPr>
          <p:cNvPr id="58" name="Text 52"/>
          <p:cNvSpPr/>
          <p:nvPr/>
        </p:nvSpPr>
        <p:spPr>
          <a:xfrm>
            <a:off x="462781" y="3979069"/>
            <a:ext cx="5979319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4"/>
              </a:lnSpc>
              <a:buNone/>
            </a:pPr>
            <a:r>
              <a:rPr lang="en-US" sz="500" dirty="0">
                <a:solidFill>
                  <a:srgbClr val="7B87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口径：B → C 为量化增量；显示差值按原始未舍入结果统一核算，避免六位小数舍入误差。</a:t>
            </a:r>
            <a:endParaRPr lang="en-US" sz="500" dirty="0"/>
          </a:p>
        </p:txBody>
      </p:sp>
      <p:sp>
        <p:nvSpPr>
          <p:cNvPr id="59" name="Shape 53"/>
          <p:cNvSpPr/>
          <p:nvPr/>
        </p:nvSpPr>
        <p:spPr>
          <a:xfrm>
            <a:off x="6606350" y="3328988"/>
            <a:ext cx="2593181" cy="828675"/>
          </a:xfrm>
          <a:prstGeom prst="roundRect">
            <a:avLst>
              <a:gd name="adj" fmla="val 17122"/>
            </a:avLst>
          </a:prstGeom>
          <a:solidFill>
            <a:srgbClr val="122033"/>
          </a:solidFill>
          <a:ln/>
          <a:effectLst>
            <a:outerShdw sx="100000" sy="100000" kx="0" ky="0" algn="bl" rotWithShape="0" blurRad="214313" dist="85725" dir="5400000">
              <a:srgbClr val="0F172A">
                <a:alpha val="12000"/>
              </a:srgbClr>
            </a:outerShdw>
          </a:effectLst>
        </p:spPr>
      </p:sp>
      <p:sp>
        <p:nvSpPr>
          <p:cNvPr id="60" name="Text 54"/>
          <p:cNvSpPr/>
          <p:nvPr/>
        </p:nvSpPr>
        <p:spPr>
          <a:xfrm>
            <a:off x="6720650" y="3492401"/>
            <a:ext cx="236458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1"/>
              </a:spcAft>
              <a:buNone/>
            </a:pPr>
            <a:r>
              <a:rPr lang="en-US" sz="500" b="1" dirty="0">
                <a:solidFill>
                  <a:srgbClr val="F8FAFC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交付结论</a:t>
            </a:r>
            <a:endParaRPr lang="en-US" sz="500" dirty="0"/>
          </a:p>
        </p:txBody>
      </p:sp>
      <p:sp>
        <p:nvSpPr>
          <p:cNvPr id="61" name="Text 55"/>
          <p:cNvSpPr/>
          <p:nvPr/>
        </p:nvSpPr>
        <p:spPr>
          <a:xfrm>
            <a:off x="6720650" y="3634383"/>
            <a:ext cx="2364581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净损失主要来自</a:t>
            </a:r>
            <a:pPr algn="l" indent="0" marL="0">
              <a:lnSpc>
                <a:spcPts val="1223"/>
              </a:lnSpc>
              <a:buNone/>
            </a:pPr>
            <a:r>
              <a:rPr lang="en-US" sz="800" b="1" dirty="0">
                <a:solidFill>
                  <a:srgbClr val="EF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</a:t>
            </a:r>
            <a:pPr algn="l" indent="0" marL="0">
              <a:lnSpc>
                <a:spcPts val="1223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，而非 </a:t>
            </a:r>
            <a:pPr algn="l" indent="0" marL="0">
              <a:lnSpc>
                <a:spcPts val="1223"/>
              </a:lnSpc>
              <a:buNone/>
            </a:pPr>
            <a:r>
              <a:rPr lang="en-US" sz="800" b="1" dirty="0">
                <a:solidFill>
                  <a:srgbClr val="8FD0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f16</a:t>
            </a:r>
            <a:pPr algn="l" indent="0" marL="0">
              <a:lnSpc>
                <a:spcPts val="1223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800" dirty="0"/>
          </a:p>
        </p:txBody>
      </p:sp>
      <p:sp>
        <p:nvSpPr>
          <p:cNvPr id="62" name="Text 56"/>
          <p:cNvSpPr/>
          <p:nvPr/>
        </p:nvSpPr>
        <p:spPr>
          <a:xfrm>
            <a:off x="6720650" y="3838873"/>
            <a:ext cx="2364581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spcBef>
                <a:spcPts val="394"/>
              </a:spcBef>
              <a:buNone/>
            </a:pPr>
            <a:r>
              <a:rPr lang="en-US" sz="500" dirty="0">
                <a:solidFill>
                  <a:srgbClr val="F8FAFC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f16 把精度打掉了，而是打包方式单独产生损失。</a:t>
            </a:r>
            <a:endParaRPr lang="en-US" sz="500" dirty="0"/>
          </a:p>
        </p:txBody>
      </p:sp>
      <p:sp>
        <p:nvSpPr>
          <p:cNvPr id="63" name="Text 57"/>
          <p:cNvSpPr/>
          <p:nvPr/>
        </p:nvSpPr>
        <p:spPr>
          <a:xfrm>
            <a:off x="357188" y="4286250"/>
            <a:ext cx="884396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600" dirty="0"/>
          </a:p>
        </p:txBody>
      </p:sp>
      <p:pic>
        <p:nvPicPr>
          <p:cNvPr id="6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7188" y="357188"/>
            <a:ext cx="8843963" cy="785813"/>
          </a:xfrm>
          <a:prstGeom prst="rect">
            <a:avLst/>
          </a:prstGeom>
        </p:spPr>
      </p:pic>
      <p:pic>
        <p:nvPicPr>
          <p:cNvPr id="6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9747" y="1485900"/>
            <a:ext cx="2864644" cy="171450"/>
          </a:xfrm>
          <a:prstGeom prst="rect">
            <a:avLst/>
          </a:prstGeom>
        </p:spPr>
      </p:pic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46624" y="1485900"/>
            <a:ext cx="2864644" cy="171450"/>
          </a:xfrm>
          <a:prstGeom prst="rect">
            <a:avLst/>
          </a:prstGeom>
        </p:spPr>
      </p:pic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20650" y="3838873"/>
            <a:ext cx="2364581" cy="157163"/>
          </a:xfrm>
          <a:prstGeom prst="rect">
            <a:avLst/>
          </a:prstGeom>
        </p:spPr>
      </p:pic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7188" y="4286250"/>
            <a:ext cx="884396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57188" y="357188"/>
            <a:ext cx="8843963" cy="785813"/>
          </a:xfrm>
          <a:prstGeom prst="rect">
            <a:avLst/>
          </a:prstGeom>
          <a:ln/>
        </p:spPr>
      </p:sp>
      <p:sp>
        <p:nvSpPr>
          <p:cNvPr id="6" name="Text 3"/>
          <p:cNvSpPr/>
          <p:nvPr/>
        </p:nvSpPr>
        <p:spPr>
          <a:xfrm>
            <a:off x="356964" y="215764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 1｜并行结构：先分清「算法慢」还是「被抢慢」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6438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先归因，再并行：真正硬件计算仅 59.96 ms。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12/18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55904" y="1271588"/>
            <a:ext cx="5086350" cy="1643062"/>
          </a:xfrm>
          <a:prstGeom prst="roundRect">
            <a:avLst>
              <a:gd name="adj" fmla="val 5807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1635" y="1385888"/>
            <a:ext cx="4814888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线程耗时构成</a:t>
            </a:r>
            <a:pPr algn="l" indent="0" marL="0">
              <a:spcAft>
                <a:spcPts val="563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563"/>
              </a:lnSpc>
              <a:buNone/>
            </a:pPr>
            <a:r>
              <a:rPr lang="en-US" sz="500" b="1" dirty="0">
                <a:solidFill>
                  <a:srgbClr val="122033">
                    <a:alpha val="3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ATTRIBUTION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91803" y="1580108"/>
            <a:ext cx="528638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b="1" dirty="0">
                <a:solidFill>
                  <a:srgbClr val="355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59.96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91989" y="1681460"/>
            <a:ext cx="121444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3"/>
              </a:spcAft>
              <a:buNone/>
            </a:pPr>
            <a:r>
              <a:rPr lang="en-US" sz="6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4790945" y="1667173"/>
            <a:ext cx="514350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真正硬件计算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491635" y="1874341"/>
            <a:ext cx="4814888" cy="242888"/>
          </a:xfrm>
          <a:prstGeom prst="roundRect">
            <a:avLst>
              <a:gd name="adj" fmla="val 33218"/>
            </a:avLst>
          </a:prstGeom>
          <a:solidFill>
            <a:srgbClr val="122033">
              <a:alpha val="6000"/>
            </a:srgbClr>
          </a:solidFill>
          <a:ln/>
          <a:effectLst>
            <a:outerShdw sx="100000" sy="100000" kx="0" ky="0" algn="bl" rotWithShape="0" blurRad="101600" dist="50800" dir="16200000">
              <a:srgbClr val="122033">
                <a:alpha val="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1747" y="1874341"/>
            <a:ext cx="3200400" cy="242888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90863" y="1874341"/>
            <a:ext cx="1614488" cy="242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1635" y="2174379"/>
            <a:ext cx="4814888" cy="1143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线程占用 88.56 ms</a:t>
            </a:r>
            <a:pPr algn="l" indent="0" marL="0">
              <a:spcBef>
                <a:spcPts val="450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等待，无有效计算</a:t>
            </a:r>
            <a:endParaRPr lang="en-US" sz="600" dirty="0"/>
          </a:p>
        </p:txBody>
      </p:sp>
      <p:sp>
        <p:nvSpPr>
          <p:cNvPr id="19" name="Text 14"/>
          <p:cNvSpPr/>
          <p:nvPr/>
        </p:nvSpPr>
        <p:spPr>
          <a:xfrm>
            <a:off x="491635" y="2360786"/>
            <a:ext cx="4814888" cy="242888"/>
          </a:xfrm>
          <a:prstGeom prst="roundRect">
            <a:avLst>
              <a:gd name="adj" fmla="val 35986"/>
            </a:avLst>
          </a:prstGeom>
          <a:solidFill>
            <a:srgbClr val="35556F">
              <a:alpha val="7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先做归因：</a:t>
            </a:r>
            <a:pPr algn="l" indent="0" marL="0">
              <a:lnSpc>
                <a:spcPts val="911"/>
              </a:lnSpc>
              <a:spcBef>
                <a:spcPts val="563"/>
              </a:spcBef>
              <a:buNone/>
            </a:pPr>
            <a:r>
              <a:rPr lang="en-US" sz="600" dirty="0">
                <a:solidFill>
                  <a:srgbClr val="3447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911"/>
              </a:lnSpc>
              <a:buNone/>
            </a:pPr>
            <a:r>
              <a:rPr lang="en-US" sz="600" dirty="0">
                <a:solidFill>
                  <a:srgbClr val="3447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28.60 ms 是挤在同一线程上的 CPU letterbox。</a:t>
            </a:r>
            <a:endParaRPr lang="en-US" sz="600" dirty="0"/>
          </a:p>
        </p:txBody>
      </p:sp>
      <p:sp>
        <p:nvSpPr>
          <p:cNvPr id="20" name="Shape 15"/>
          <p:cNvSpPr/>
          <p:nvPr/>
        </p:nvSpPr>
        <p:spPr>
          <a:xfrm>
            <a:off x="5570674" y="1271588"/>
            <a:ext cx="3629025" cy="1643062"/>
          </a:xfrm>
          <a:prstGeom prst="roundRect">
            <a:avLst>
              <a:gd name="adj" fmla="val 5807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5706405" y="1385888"/>
            <a:ext cx="3357563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letterbox，不同线程</a:t>
            </a:r>
            <a:pPr algn="l" indent="0" marL="0">
              <a:spcAft>
                <a:spcPts val="563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563"/>
              </a:lnSpc>
              <a:buNone/>
            </a:pPr>
            <a:r>
              <a:rPr lang="en-US" sz="500" b="1" dirty="0">
                <a:solidFill>
                  <a:srgbClr val="122033">
                    <a:alpha val="3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COMPARE</a:t>
            </a:r>
            <a:endParaRPr lang="en-US" sz="600" dirty="0"/>
          </a:p>
        </p:txBody>
      </p:sp>
      <p:sp>
        <p:nvSpPr>
          <p:cNvPr id="22" name="Shape 17"/>
          <p:cNvSpPr/>
          <p:nvPr/>
        </p:nvSpPr>
        <p:spPr>
          <a:xfrm>
            <a:off x="5706405" y="1600200"/>
            <a:ext cx="2471738" cy="1050131"/>
          </a:xfrm>
          <a:prstGeom prst="rect">
            <a:avLst/>
          </a:prstGeom>
          <a:ln/>
        </p:spPr>
      </p:sp>
      <p:sp>
        <p:nvSpPr>
          <p:cNvPr id="23" name="Text 18"/>
          <p:cNvSpPr/>
          <p:nvPr/>
        </p:nvSpPr>
        <p:spPr>
          <a:xfrm>
            <a:off x="6116501" y="1971675"/>
            <a:ext cx="39290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1"/>
              </a:spcAft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12.23 ms</a:t>
            </a:r>
            <a:endParaRPr lang="en-US" sz="7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0073" y="2114550"/>
            <a:ext cx="385763" cy="27860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170079" y="2436019"/>
            <a:ext cx="28575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38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独占线程</a:t>
            </a:r>
            <a:endParaRPr lang="en-US" sz="500" dirty="0"/>
          </a:p>
        </p:txBody>
      </p:sp>
      <p:sp>
        <p:nvSpPr>
          <p:cNvPr id="26" name="Text 20"/>
          <p:cNvSpPr/>
          <p:nvPr/>
        </p:nvSpPr>
        <p:spPr>
          <a:xfrm>
            <a:off x="7374917" y="1600200"/>
            <a:ext cx="39290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1"/>
              </a:spcAft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28.60 ms</a:t>
            </a:r>
            <a:endParaRPr lang="en-US" sz="7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78489" y="1743075"/>
            <a:ext cx="385763" cy="65008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32111" y="2436019"/>
            <a:ext cx="4786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38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挂在 NPU 线程</a:t>
            </a:r>
            <a:endParaRPr lang="en-US" sz="500" dirty="0"/>
          </a:p>
        </p:txBody>
      </p:sp>
      <p:sp>
        <p:nvSpPr>
          <p:cNvPr id="29" name="Text 22"/>
          <p:cNvSpPr/>
          <p:nvPr/>
        </p:nvSpPr>
        <p:spPr>
          <a:xfrm>
            <a:off x="8264984" y="1725216"/>
            <a:ext cx="800100" cy="800100"/>
          </a:xfrm>
          <a:prstGeom prst="roundRect">
            <a:avLst>
              <a:gd name="adj" fmla="val 18367"/>
            </a:avLst>
          </a:prstGeom>
          <a:solidFill>
            <a:srgbClr val="122033"/>
          </a:solidFill>
          <a:ln/>
          <a:effectLst>
            <a:outerShdw sx="100000" sy="100000" kx="0" ky="0" algn="bl" rotWithShape="0" blurRad="185738" dist="85725" dir="5400000">
              <a:srgbClr val="122033">
                <a:alpha val="17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2.3×</a:t>
            </a:r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816"/>
              </a:lnSpc>
              <a:spcBef>
                <a:spcPts val="394"/>
              </a:spcBef>
              <a:buNone/>
            </a:pPr>
            <a:r>
              <a:rPr lang="en-US" sz="500" dirty="0">
                <a:solidFill>
                  <a:srgbClr val="F8FAFC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争抢损耗不是算法慢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5706405" y="2693752"/>
            <a:ext cx="3357563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同任务、同输入；差别只在 </a:t>
            </a:r>
            <a:pPr algn="l" indent="0" marL="0">
              <a:lnSpc>
                <a:spcPts val="835"/>
              </a:lnSpc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线程归属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6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7188" y="2993231"/>
            <a:ext cx="8843963" cy="428625"/>
          </a:xfrm>
          <a:prstGeom prst="rect">
            <a:avLst/>
          </a:prstGeom>
        </p:spPr>
      </p:pic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2919" y="3193926"/>
            <a:ext cx="242888" cy="24288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15615" y="3179638"/>
            <a:ext cx="1557337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355F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等价性白送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759"/>
              </a:lnSpc>
              <a:spcBef>
                <a:spcPts val="225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纯搬运 / 纯计算的无状态阶段迁移后，输出不变。</a:t>
            </a:r>
            <a:endParaRPr lang="en-US" sz="800" dirty="0"/>
          </a:p>
        </p:txBody>
      </p:sp>
      <p:sp>
        <p:nvSpPr>
          <p:cNvPr id="34" name="Text 25"/>
          <p:cNvSpPr/>
          <p:nvPr/>
        </p:nvSpPr>
        <p:spPr>
          <a:xfrm>
            <a:off x="2629681" y="3108201"/>
            <a:ext cx="2507456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1070 / 1070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731"/>
              </a:lnSpc>
              <a:spcBef>
                <a:spcPts val="281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heatmap + offset 逐字节一致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5139035" y="3108201"/>
            <a:ext cx="1743075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行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731"/>
              </a:lnSpc>
              <a:spcBef>
                <a:spcPts val="281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检出 TSV 无差异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6884789" y="3108201"/>
            <a:ext cx="2178844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档 d5e81977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731"/>
              </a:lnSpc>
              <a:spcBef>
                <a:spcPts val="281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结果哈希全部一致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357188" y="3500438"/>
            <a:ext cx="8843963" cy="657225"/>
          </a:xfrm>
          <a:prstGeom prst="roundRect">
            <a:avLst>
              <a:gd name="adj" fmla="val 9074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38" name="Text 29"/>
          <p:cNvSpPr/>
          <p:nvPr/>
        </p:nvSpPr>
        <p:spPr>
          <a:xfrm>
            <a:off x="492919" y="3593306"/>
            <a:ext cx="1357313" cy="13573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三级流水线</a:t>
            </a:r>
            <a:endParaRPr lang="en-US" sz="700" dirty="0"/>
          </a:p>
        </p:txBody>
      </p:sp>
      <p:sp>
        <p:nvSpPr>
          <p:cNvPr id="39" name="Shape 30"/>
          <p:cNvSpPr/>
          <p:nvPr/>
        </p:nvSpPr>
        <p:spPr>
          <a:xfrm>
            <a:off x="492919" y="3593306"/>
            <a:ext cx="128588" cy="21431"/>
          </a:xfrm>
          <a:prstGeom prst="rect">
            <a:avLst/>
          </a:prstGeom>
          <a:solidFill>
            <a:srgbClr val="BC9348"/>
          </a:solidFill>
          <a:ln/>
        </p:spPr>
      </p:sp>
      <p:sp>
        <p:nvSpPr>
          <p:cNvPr id="40" name="Text 31"/>
          <p:cNvSpPr/>
          <p:nvPr/>
        </p:nvSpPr>
        <p:spPr>
          <a:xfrm>
            <a:off x="1980158" y="3596878"/>
            <a:ext cx="364331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14.07 fps</a:t>
            </a:r>
            <a:endParaRPr lang="en-US" sz="600" dirty="0"/>
          </a:p>
        </p:txBody>
      </p:sp>
      <p:sp>
        <p:nvSpPr>
          <p:cNvPr id="41" name="Shape 32"/>
          <p:cNvSpPr/>
          <p:nvPr/>
        </p:nvSpPr>
        <p:spPr>
          <a:xfrm>
            <a:off x="2409397" y="3621881"/>
            <a:ext cx="4121944" cy="50006"/>
          </a:xfrm>
          <a:prstGeom prst="roundRect">
            <a:avLst>
              <a:gd name="adj" fmla="val 228573"/>
            </a:avLst>
          </a:prstGeom>
          <a:solidFill>
            <a:srgbClr val="122033">
              <a:alpha val="8000"/>
            </a:srgbClr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11350" y="3621881"/>
            <a:ext cx="3879056" cy="50006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6516328" y="3600450"/>
            <a:ext cx="14288" cy="92869"/>
          </a:xfrm>
          <a:prstGeom prst="rect">
            <a:avLst/>
          </a:prstGeom>
          <a:solidFill>
            <a:srgbClr val="BC9348"/>
          </a:solidFill>
          <a:ln/>
        </p:spPr>
      </p:sp>
      <p:sp>
        <p:nvSpPr>
          <p:cNvPr id="44" name="Text 34"/>
          <p:cNvSpPr/>
          <p:nvPr/>
        </p:nvSpPr>
        <p:spPr>
          <a:xfrm>
            <a:off x="6594239" y="3593306"/>
            <a:ext cx="414338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 14.93</a:t>
            </a:r>
            <a:endParaRPr lang="en-US" sz="500" dirty="0"/>
          </a:p>
        </p:txBody>
      </p:sp>
      <p:sp>
        <p:nvSpPr>
          <p:cNvPr id="45" name="Text 35"/>
          <p:cNvSpPr/>
          <p:nvPr/>
        </p:nvSpPr>
        <p:spPr>
          <a:xfrm>
            <a:off x="7136606" y="3591520"/>
            <a:ext cx="1928813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59"/>
              </a:lnSpc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硬地板</a:t>
            </a:r>
            <a:pPr algn="r" indent="0" marL="0">
              <a:lnSpc>
                <a:spcPts val="759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　rknn 60.77 + dequant 2.75 + peaks 0.35</a:t>
            </a:r>
            <a:endParaRPr lang="en-US" sz="500" dirty="0"/>
          </a:p>
        </p:txBody>
      </p:sp>
      <p:sp>
        <p:nvSpPr>
          <p:cNvPr id="46" name="Shape 36"/>
          <p:cNvSpPr/>
          <p:nvPr/>
        </p:nvSpPr>
        <p:spPr>
          <a:xfrm>
            <a:off x="492919" y="3843338"/>
            <a:ext cx="914400" cy="457200"/>
          </a:xfrm>
          <a:prstGeom prst="roundRect">
            <a:avLst>
              <a:gd name="adj" fmla="val 10156"/>
            </a:avLst>
          </a:prstGeom>
          <a:solidFill>
            <a:srgbClr val="FFFFFF">
              <a:alpha val="58000"/>
            </a:srgbClr>
          </a:solidFill>
          <a:ln w="7144">
            <a:solidFill>
              <a:srgbClr val="122033">
                <a:alpha val="8000"/>
              </a:srgbClr>
            </a:solidFill>
            <a:prstDash val="dash"/>
          </a:ln>
          <a:effectLst>
            <a:outerShdw sx="100000" sy="100000" kx="0" ky="0" algn="bl" rotWithShape="0" blurRad="142875" dist="57150" dir="5400000">
              <a:srgbClr val="0F172A">
                <a:alpha val="6000"/>
              </a:srgbClr>
            </a:outerShdw>
          </a:effectLst>
        </p:spPr>
      </p:sp>
      <p:sp>
        <p:nvSpPr>
          <p:cNvPr id="47" name="Text 37"/>
          <p:cNvSpPr/>
          <p:nvPr/>
        </p:nvSpPr>
        <p:spPr>
          <a:xfrm>
            <a:off x="578644" y="3900488"/>
            <a:ext cx="742950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原始基线</a:t>
            </a:r>
            <a:endParaRPr lang="en-US" sz="500" dirty="0"/>
          </a:p>
        </p:txBody>
      </p:sp>
      <p:sp>
        <p:nvSpPr>
          <p:cNvPr id="48" name="Text 38"/>
          <p:cNvSpPr/>
          <p:nvPr/>
        </p:nvSpPr>
        <p:spPr>
          <a:xfrm>
            <a:off x="578644" y="4007644"/>
            <a:ext cx="7429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spcBef>
                <a:spcPts val="225"/>
              </a:spcBef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5.74 </a:t>
            </a:r>
            <a:pPr algn="l" indent="0" marL="0">
              <a:lnSpc>
                <a:spcPts val="506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1435894" y="4014788"/>
            <a:ext cx="242888" cy="14288"/>
          </a:xfrm>
          <a:prstGeom prst="rect">
            <a:avLst/>
          </a:prstGeom>
          <a:solidFill>
            <a:srgbClr val="122033">
              <a:alpha val="24000"/>
            </a:srgbClr>
          </a:solidFill>
          <a:ln/>
        </p:spPr>
      </p:sp>
      <p:sp>
        <p:nvSpPr>
          <p:cNvPr id="50" name="Shape 40"/>
          <p:cNvSpPr/>
          <p:nvPr/>
        </p:nvSpPr>
        <p:spPr>
          <a:xfrm>
            <a:off x="1707356" y="3807619"/>
            <a:ext cx="1028700" cy="457200"/>
          </a:xfrm>
          <a:prstGeom prst="roundRect">
            <a:avLst>
              <a:gd name="adj" fmla="val 10156"/>
            </a:avLst>
          </a:prstGeom>
          <a:solidFill>
            <a:srgbClr val="FFFFFF">
              <a:alpha val="8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42875" dist="57150" dir="5400000">
              <a:srgbClr val="0F172A">
                <a:alpha val="6000"/>
              </a:srgbClr>
            </a:outerShdw>
          </a:effectLst>
        </p:spPr>
      </p:sp>
      <p:sp>
        <p:nvSpPr>
          <p:cNvPr id="51" name="Text 41"/>
          <p:cNvSpPr/>
          <p:nvPr/>
        </p:nvSpPr>
        <p:spPr>
          <a:xfrm>
            <a:off x="1793081" y="3864769"/>
            <a:ext cx="857250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去落盘</a:t>
            </a:r>
            <a:endParaRPr lang="en-US" sz="500" dirty="0"/>
          </a:p>
        </p:txBody>
      </p:sp>
      <p:sp>
        <p:nvSpPr>
          <p:cNvPr id="52" name="Text 42"/>
          <p:cNvSpPr/>
          <p:nvPr/>
        </p:nvSpPr>
        <p:spPr>
          <a:xfrm>
            <a:off x="1793081" y="3971925"/>
            <a:ext cx="8572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spcBef>
                <a:spcPts val="225"/>
              </a:spcBef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8.16 </a:t>
            </a:r>
            <a:pPr algn="l" indent="0" marL="0">
              <a:lnSpc>
                <a:spcPts val="506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</a:t>
            </a:r>
            <a:endParaRPr lang="en-US" sz="900" dirty="0"/>
          </a:p>
        </p:txBody>
      </p:sp>
      <p:sp>
        <p:nvSpPr>
          <p:cNvPr id="53" name="Text 43"/>
          <p:cNvSpPr/>
          <p:nvPr/>
        </p:nvSpPr>
        <p:spPr>
          <a:xfrm>
            <a:off x="2506396" y="3864769"/>
            <a:ext cx="164306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+42%</a:t>
            </a:r>
            <a:endParaRPr lang="en-US" sz="500" dirty="0"/>
          </a:p>
        </p:txBody>
      </p:sp>
      <p:sp>
        <p:nvSpPr>
          <p:cNvPr id="54" name="Shape 44"/>
          <p:cNvSpPr/>
          <p:nvPr/>
        </p:nvSpPr>
        <p:spPr>
          <a:xfrm>
            <a:off x="2764631" y="4014788"/>
            <a:ext cx="242888" cy="14288"/>
          </a:xfrm>
          <a:prstGeom prst="rect">
            <a:avLst/>
          </a:prstGeom>
          <a:solidFill>
            <a:srgbClr val="122033">
              <a:alpha val="24000"/>
            </a:srgbClr>
          </a:solidFill>
          <a:ln/>
        </p:spPr>
      </p:sp>
      <p:sp>
        <p:nvSpPr>
          <p:cNvPr id="55" name="Shape 45"/>
          <p:cNvSpPr/>
          <p:nvPr/>
        </p:nvSpPr>
        <p:spPr>
          <a:xfrm>
            <a:off x="3036094" y="3771900"/>
            <a:ext cx="1114425" cy="457200"/>
          </a:xfrm>
          <a:prstGeom prst="roundRect">
            <a:avLst>
              <a:gd name="adj" fmla="val 10156"/>
            </a:avLst>
          </a:prstGeom>
          <a:solidFill>
            <a:srgbClr val="FFFFFF">
              <a:alpha val="8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42875" dist="57150" dir="5400000">
              <a:srgbClr val="0F172A">
                <a:alpha val="6000"/>
              </a:srgbClr>
            </a:outerShdw>
          </a:effectLst>
        </p:spPr>
      </p:sp>
      <p:sp>
        <p:nvSpPr>
          <p:cNvPr id="56" name="Text 46"/>
          <p:cNvSpPr/>
          <p:nvPr/>
        </p:nvSpPr>
        <p:spPr>
          <a:xfrm>
            <a:off x="3121819" y="3829050"/>
            <a:ext cx="942975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 2 级</a:t>
            </a:r>
            <a:endParaRPr lang="en-US" sz="500" dirty="0"/>
          </a:p>
        </p:txBody>
      </p:sp>
      <p:sp>
        <p:nvSpPr>
          <p:cNvPr id="57" name="Text 47"/>
          <p:cNvSpPr/>
          <p:nvPr/>
        </p:nvSpPr>
        <p:spPr>
          <a:xfrm>
            <a:off x="3121819" y="3936206"/>
            <a:ext cx="942975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spcBef>
                <a:spcPts val="225"/>
              </a:spcBef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10.15 </a:t>
            </a:r>
            <a:pPr algn="l" indent="0" marL="0">
              <a:lnSpc>
                <a:spcPts val="506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4179094" y="4014788"/>
            <a:ext cx="242888" cy="14288"/>
          </a:xfrm>
          <a:prstGeom prst="rect">
            <a:avLst/>
          </a:prstGeom>
          <a:solidFill>
            <a:srgbClr val="122033">
              <a:alpha val="24000"/>
            </a:srgbClr>
          </a:solidFill>
          <a:ln/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50556" y="3736181"/>
            <a:ext cx="1214438" cy="457200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4536281" y="3793331"/>
            <a:ext cx="1042988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 3 级</a:t>
            </a:r>
            <a:endParaRPr lang="en-US" sz="500" dirty="0"/>
          </a:p>
        </p:txBody>
      </p:sp>
      <p:sp>
        <p:nvSpPr>
          <p:cNvPr id="61" name="Text 50"/>
          <p:cNvSpPr/>
          <p:nvPr/>
        </p:nvSpPr>
        <p:spPr>
          <a:xfrm>
            <a:off x="4536281" y="3900488"/>
            <a:ext cx="1042988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spcBef>
                <a:spcPts val="225"/>
              </a:spcBef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14.07 </a:t>
            </a:r>
            <a:pPr algn="l" indent="0" marL="0">
              <a:lnSpc>
                <a:spcPts val="506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</a:t>
            </a:r>
            <a:endParaRPr lang="en-US" sz="900" dirty="0"/>
          </a:p>
        </p:txBody>
      </p:sp>
      <p:sp>
        <p:nvSpPr>
          <p:cNvPr id="62" name="Text 51"/>
          <p:cNvSpPr/>
          <p:nvPr/>
        </p:nvSpPr>
        <p:spPr>
          <a:xfrm>
            <a:off x="5292458" y="3793331"/>
            <a:ext cx="307181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 2.45×</a:t>
            </a:r>
            <a:endParaRPr lang="en-US" sz="500" dirty="0"/>
          </a:p>
        </p:txBody>
      </p:sp>
      <p:sp>
        <p:nvSpPr>
          <p:cNvPr id="63" name="Text 52"/>
          <p:cNvSpPr/>
          <p:nvPr/>
        </p:nvSpPr>
        <p:spPr>
          <a:xfrm>
            <a:off x="357188" y="4286250"/>
            <a:ext cx="884396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600" dirty="0"/>
          </a:p>
        </p:txBody>
      </p:sp>
      <p:pic>
        <p:nvPicPr>
          <p:cNvPr id="64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7188" y="357188"/>
            <a:ext cx="8843963" cy="785813"/>
          </a:xfrm>
          <a:prstGeom prst="rect">
            <a:avLst/>
          </a:prstGeom>
        </p:spPr>
      </p:pic>
      <p:sp>
        <p:nvSpPr>
          <p:cNvPr id="65" name="Text 53"/>
          <p:cNvSpPr/>
          <p:nvPr/>
        </p:nvSpPr>
        <p:spPr>
          <a:xfrm>
            <a:off x="491747" y="1874341"/>
            <a:ext cx="32004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59.96 ms｜硬件计算</a:t>
            </a:r>
            <a:endParaRPr lang="en-US" sz="600" dirty="0"/>
          </a:p>
        </p:txBody>
      </p:sp>
      <p:sp>
        <p:nvSpPr>
          <p:cNvPr id="66" name="Text 54"/>
          <p:cNvSpPr/>
          <p:nvPr/>
        </p:nvSpPr>
        <p:spPr>
          <a:xfrm>
            <a:off x="3690863" y="1874341"/>
            <a:ext cx="16144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13A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28.60 ms｜争抢</a:t>
            </a:r>
            <a:endParaRPr lang="en-US" sz="600" dirty="0"/>
          </a:p>
        </p:txBody>
      </p:sp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06405" y="1600200"/>
            <a:ext cx="2471738" cy="1050131"/>
          </a:xfrm>
          <a:prstGeom prst="rect">
            <a:avLst/>
          </a:prstGeom>
        </p:spPr>
      </p:pic>
      <p:pic>
        <p:nvPicPr>
          <p:cNvPr id="68" name="Image 11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629681" y="3108201"/>
            <a:ext cx="2507456" cy="385763"/>
          </a:xfrm>
          <a:prstGeom prst="rect">
            <a:avLst/>
          </a:prstGeom>
        </p:spPr>
      </p:pic>
      <p:pic>
        <p:nvPicPr>
          <p:cNvPr id="69" name="Image 12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139035" y="3108201"/>
            <a:ext cx="1743075" cy="385763"/>
          </a:xfrm>
          <a:prstGeom prst="rect">
            <a:avLst/>
          </a:prstGeom>
        </p:spPr>
      </p:pic>
      <p:pic>
        <p:nvPicPr>
          <p:cNvPr id="70" name="Image 13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84789" y="3108201"/>
            <a:ext cx="2178844" cy="385763"/>
          </a:xfrm>
          <a:prstGeom prst="rect">
            <a:avLst/>
          </a:prstGeom>
        </p:spPr>
      </p:pic>
      <p:pic>
        <p:nvPicPr>
          <p:cNvPr id="71" name="Image 14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57188" y="4286250"/>
            <a:ext cx="884396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57188" y="357188"/>
            <a:ext cx="8843963" cy="785813"/>
          </a:xfrm>
          <a:prstGeom prst="rect">
            <a:avLst/>
          </a:prstGeom>
          <a:ln/>
        </p:spPr>
      </p:sp>
      <p:sp>
        <p:nvSpPr>
          <p:cNvPr id="6" name="Text 3"/>
          <p:cNvSpPr/>
          <p:nvPr/>
        </p:nvSpPr>
        <p:spPr>
          <a:xfrm>
            <a:off x="356964" y="215764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 2｜OpenCL 融合内核：完备证明 + 逐位精确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6438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warp、21 帧 median 与三通道组装整体迁移至 GPU（Mali-G610）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13/18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55402" y="1271588"/>
            <a:ext cx="5014913" cy="2886075"/>
          </a:xfrm>
          <a:prstGeom prst="roundRect">
            <a:avLst>
              <a:gd name="adj" fmla="val 1882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19931" y="1435168"/>
            <a:ext cx="112156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融合链路 · 完备证明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789759" y="1438684"/>
            <a:ext cx="1414463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9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排序网络验证不是抽样，而是全输入覆盖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519708" y="1627994"/>
            <a:ext cx="4686300" cy="350044"/>
          </a:xfrm>
          <a:prstGeom prst="roundRect">
            <a:avLst>
              <a:gd name="adj" fmla="val 19992"/>
            </a:avLst>
          </a:prstGeom>
          <a:solidFill>
            <a:srgbClr val="F4F6F9">
              <a:alpha val="7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1805" y="1699431"/>
            <a:ext cx="678656" cy="207169"/>
          </a:xfrm>
          <a:prstGeom prst="roundRect">
            <a:avLst>
              <a:gd name="adj" fmla="val 38050"/>
            </a:avLst>
          </a:prstGeom>
          <a:solidFill>
            <a:srgbClr val="FFFFFF">
              <a:alpha val="90000"/>
            </a:srgbClr>
          </a:solidFill>
          <a:ln w="7144">
            <a:solidFill>
              <a:srgbClr val="122033">
                <a:alpha val="9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42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warp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1310767" y="1731578"/>
            <a:ext cx="12858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468710" y="1699431"/>
            <a:ext cx="1121569" cy="207169"/>
          </a:xfrm>
          <a:prstGeom prst="roundRect">
            <a:avLst>
              <a:gd name="adj" fmla="val 38050"/>
            </a:avLst>
          </a:prstGeom>
          <a:solidFill>
            <a:srgbClr val="FFFFFF">
              <a:alpha val="90000"/>
            </a:srgbClr>
          </a:solidFill>
          <a:ln w="7144">
            <a:solidFill>
              <a:srgbClr val="122033">
                <a:alpha val="9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42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帧 median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2619635" y="1731578"/>
            <a:ext cx="12858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777579" y="1699431"/>
            <a:ext cx="1121569" cy="207169"/>
          </a:xfrm>
          <a:prstGeom prst="roundRect">
            <a:avLst>
              <a:gd name="adj" fmla="val 38050"/>
            </a:avLst>
          </a:prstGeom>
          <a:solidFill>
            <a:srgbClr val="FFFFFF">
              <a:alpha val="90000"/>
            </a:srgbClr>
          </a:solidFill>
          <a:ln w="7144">
            <a:solidFill>
              <a:srgbClr val="122033">
                <a:alpha val="9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42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三通道组装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3928504" y="1731578"/>
            <a:ext cx="12858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084048" y="1699431"/>
            <a:ext cx="1042988" cy="207169"/>
          </a:xfrm>
          <a:prstGeom prst="roundRect">
            <a:avLst>
              <a:gd name="adj" fmla="val 38050"/>
            </a:avLst>
          </a:prstGeom>
          <a:solidFill>
            <a:srgbClr val="C9974D">
              <a:alpha val="8000"/>
            </a:srgbClr>
          </a:solidFill>
          <a:ln w="7144">
            <a:solidFill>
              <a:srgbClr val="C9974D">
                <a:alpha val="3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42"/>
              </a:lnSpc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Mali-G610 输出</a:t>
            </a:r>
            <a:endParaRPr lang="en-US" sz="6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708" y="2050145"/>
            <a:ext cx="4686300" cy="95011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37022" y="2175160"/>
            <a:ext cx="70008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2²¹ 输入空间全枚举</a:t>
            </a:r>
            <a:endParaRPr lang="en-US" sz="600" dirty="0"/>
          </a:p>
        </p:txBody>
      </p:sp>
      <p:sp>
        <p:nvSpPr>
          <p:cNvPr id="23" name="Text 19"/>
          <p:cNvSpPr/>
          <p:nvPr/>
        </p:nvSpPr>
        <p:spPr>
          <a:xfrm>
            <a:off x="4397425" y="2150157"/>
            <a:ext cx="692944" cy="164306"/>
          </a:xfrm>
          <a:prstGeom prst="roundRect">
            <a:avLst>
              <a:gd name="adj" fmla="val 69565"/>
            </a:avLst>
          </a:prstGeom>
          <a:solidFill>
            <a:srgbClr val="137A68">
              <a:alpha val="9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137A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全枚举 · 非抽样</a:t>
            </a:r>
            <a:endParaRPr lang="en-US" sz="500" dirty="0"/>
          </a:p>
        </p:txBody>
      </p:sp>
      <p:sp>
        <p:nvSpPr>
          <p:cNvPr id="24" name="Shape 20"/>
          <p:cNvSpPr/>
          <p:nvPr/>
        </p:nvSpPr>
        <p:spPr>
          <a:xfrm>
            <a:off x="4397425" y="2150157"/>
            <a:ext cx="42751" cy="42863"/>
          </a:xfrm>
          <a:prstGeom prst="rect">
            <a:avLst/>
          </a:prstGeom>
          <a:solidFill>
            <a:srgbClr val="137A68"/>
          </a:solidFill>
          <a:ln/>
        </p:spPr>
      </p:sp>
      <p:sp>
        <p:nvSpPr>
          <p:cNvPr id="25" name="Text 21"/>
          <p:cNvSpPr/>
          <p:nvPr/>
        </p:nvSpPr>
        <p:spPr>
          <a:xfrm>
            <a:off x="634008" y="2408895"/>
            <a:ext cx="3757613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7"/>
              </a:lnSpc>
              <a:buNone/>
            </a:pPr>
            <a:r>
              <a:rPr lang="en-US" sz="1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2,097,152 </a:t>
            </a:r>
            <a:pPr algn="l" indent="0" marL="0">
              <a:lnSpc>
                <a:spcPts val="995"/>
              </a:lnSpc>
              <a:buNone/>
            </a:pPr>
            <a:r>
              <a:rPr lang="en-US" sz="900" b="1" dirty="0">
                <a:solidFill>
                  <a:srgbClr val="137A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2,097,152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518422" y="2343038"/>
            <a:ext cx="571500" cy="2928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109</a:t>
            </a:r>
            <a:pPr algn="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r" indent="0" marL="0">
              <a:buNone/>
            </a:pPr>
            <a:r>
              <a:rPr lang="en-US" sz="500" dirty="0">
                <a:solidFill>
                  <a:srgbClr val="69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个比较器全部覆盖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34008" y="2707370"/>
            <a:ext cx="4457700" cy="50006"/>
          </a:xfrm>
          <a:prstGeom prst="roundRect">
            <a:avLst>
              <a:gd name="adj" fmla="val 228573"/>
            </a:avLst>
          </a:prstGeom>
          <a:solidFill>
            <a:srgbClr val="122033">
              <a:alpha val="8000"/>
            </a:srgbClr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854" y="2707370"/>
            <a:ext cx="328613" cy="5000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34008" y="2800238"/>
            <a:ext cx="4457700" cy="10715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输入覆盖率 100%</a:t>
            </a:r>
            <a:pPr algn="l" indent="0" marL="0">
              <a:spcBef>
                <a:spcPts val="338"/>
              </a:spcBef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完备验证结果：2097152 / 2097152</a:t>
            </a:r>
            <a:endParaRPr lang="en-US" sz="500" dirty="0"/>
          </a:p>
        </p:txBody>
      </p:sp>
      <p:sp>
        <p:nvSpPr>
          <p:cNvPr id="30" name="Shape 25"/>
          <p:cNvSpPr/>
          <p:nvPr/>
        </p:nvSpPr>
        <p:spPr>
          <a:xfrm>
            <a:off x="519875" y="3071757"/>
            <a:ext cx="1985963" cy="921544"/>
          </a:xfrm>
          <a:prstGeom prst="roundRect">
            <a:avLst>
              <a:gd name="adj" fmla="val 11538"/>
            </a:avLst>
          </a:prstGeom>
          <a:solidFill>
            <a:srgbClr val="B9583F">
              <a:alpha val="7000"/>
            </a:srgbClr>
          </a:solidFill>
          <a:ln w="7144">
            <a:solidFill>
              <a:srgbClr val="B9583F">
                <a:alpha val="2200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12744" y="3157426"/>
            <a:ext cx="1800225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spcAft>
                <a:spcPts val="394"/>
              </a:spcAft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公开伪码证伪</a:t>
            </a:r>
            <a:endParaRPr lang="en-US" sz="600" dirty="0"/>
          </a:p>
        </p:txBody>
      </p:sp>
      <p:sp>
        <p:nvSpPr>
          <p:cNvPr id="32" name="Text 27"/>
          <p:cNvSpPr/>
          <p:nvPr/>
        </p:nvSpPr>
        <p:spPr>
          <a:xfrm>
            <a:off x="614362" y="3314588"/>
            <a:ext cx="371475" cy="178594"/>
          </a:xfrm>
          <a:prstGeom prst="roundRect">
            <a:avLst>
              <a:gd name="adj" fmla="val 40960"/>
            </a:avLst>
          </a:prstGeom>
          <a:solidFill>
            <a:srgbClr val="B9583F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958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奇数</a:t>
            </a:r>
            <a:endParaRPr lang="en-US" sz="600" dirty="0"/>
          </a:p>
        </p:txBody>
      </p:sp>
      <p:sp>
        <p:nvSpPr>
          <p:cNvPr id="33" name="Text 28"/>
          <p:cNvSpPr/>
          <p:nvPr/>
        </p:nvSpPr>
        <p:spPr>
          <a:xfrm>
            <a:off x="1042988" y="3343163"/>
            <a:ext cx="428625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B95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静默越界写</a:t>
            </a:r>
            <a:endParaRPr lang="en-US" sz="600" dirty="0"/>
          </a:p>
        </p:txBody>
      </p:sp>
      <p:sp>
        <p:nvSpPr>
          <p:cNvPr id="34" name="Text 29"/>
          <p:cNvSpPr/>
          <p:nvPr/>
        </p:nvSpPr>
        <p:spPr>
          <a:xfrm>
            <a:off x="612744" y="3528901"/>
            <a:ext cx="1800225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发现公开 Batchers 奇偶归并伪码在奇数 n 时存在未受控写入风险。</a:t>
            </a:r>
            <a:endParaRPr lang="en-US" sz="500" dirty="0"/>
          </a:p>
        </p:txBody>
      </p:sp>
      <p:sp>
        <p:nvSpPr>
          <p:cNvPr id="35" name="Shape 30"/>
          <p:cNvSpPr/>
          <p:nvPr/>
        </p:nvSpPr>
        <p:spPr>
          <a:xfrm>
            <a:off x="2575433" y="3071757"/>
            <a:ext cx="2628900" cy="921544"/>
          </a:xfrm>
          <a:prstGeom prst="roundRect">
            <a:avLst>
              <a:gd name="adj" fmla="val 11538"/>
            </a:avLst>
          </a:prstGeom>
          <a:solidFill>
            <a:srgbClr val="B9583F">
              <a:alpha val="7000"/>
            </a:srgbClr>
          </a:solidFill>
          <a:ln w="7144">
            <a:solidFill>
              <a:srgbClr val="B9583F">
                <a:alpha val="2200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2668302" y="3157426"/>
            <a:ext cx="2443163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spcAft>
                <a:spcPts val="394"/>
              </a:spcAft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完备验证捕获 3 个真缺陷</a:t>
            </a:r>
            <a:endParaRPr lang="en-US" sz="600" dirty="0"/>
          </a:p>
        </p:txBody>
      </p:sp>
      <p:sp>
        <p:nvSpPr>
          <p:cNvPr id="37" name="Text 32"/>
          <p:cNvSpPr/>
          <p:nvPr/>
        </p:nvSpPr>
        <p:spPr>
          <a:xfrm>
            <a:off x="2668302" y="3312802"/>
            <a:ext cx="2443163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测试工具自身的问题同样需要被当作内核风险处理，而非忽略。</a:t>
            </a:r>
            <a:endParaRPr lang="en-US" sz="500" dirty="0"/>
          </a:p>
        </p:txBody>
      </p:sp>
      <p:sp>
        <p:nvSpPr>
          <p:cNvPr id="38" name="Text 33"/>
          <p:cNvSpPr/>
          <p:nvPr/>
        </p:nvSpPr>
        <p:spPr>
          <a:xfrm>
            <a:off x="2668414" y="3474207"/>
            <a:ext cx="785813" cy="307181"/>
          </a:xfrm>
          <a:prstGeom prst="roundRect">
            <a:avLst>
              <a:gd name="adj" fmla="val 15576"/>
            </a:avLst>
          </a:prstGeom>
          <a:solidFill>
            <a:srgbClr val="FFFFFF">
              <a:alpha val="74000"/>
            </a:srgbClr>
          </a:solidFill>
          <a:ln w="7144">
            <a:solidFill>
              <a:srgbClr val="B9583F">
                <a:alpha val="14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31"/>
              </a:lnSpc>
              <a:spcAft>
                <a:spcPts val="113"/>
              </a:spcAft>
              <a:buNone/>
            </a:pPr>
            <a:r>
              <a:rPr lang="en-US" sz="500" b="1" dirty="0">
                <a:solidFill>
                  <a:srgbClr val="B95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pPr algn="ctr" indent="0" marL="0">
              <a:lnSpc>
                <a:spcPts val="658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共享数组</a:t>
            </a:r>
            <a:endParaRPr lang="en-US" sz="500" dirty="0"/>
          </a:p>
        </p:txBody>
      </p:sp>
      <p:sp>
        <p:nvSpPr>
          <p:cNvPr id="39" name="Text 34"/>
          <p:cNvSpPr/>
          <p:nvPr/>
        </p:nvSpPr>
        <p:spPr>
          <a:xfrm>
            <a:off x="3496921" y="3474207"/>
            <a:ext cx="785813" cy="307181"/>
          </a:xfrm>
          <a:prstGeom prst="roundRect">
            <a:avLst>
              <a:gd name="adj" fmla="val 15576"/>
            </a:avLst>
          </a:prstGeom>
          <a:solidFill>
            <a:srgbClr val="FFFFFF">
              <a:alpha val="74000"/>
            </a:srgbClr>
          </a:solidFill>
          <a:ln w="7144">
            <a:solidFill>
              <a:srgbClr val="B9583F">
                <a:alpha val="14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31"/>
              </a:lnSpc>
              <a:spcAft>
                <a:spcPts val="113"/>
              </a:spcAft>
              <a:buNone/>
            </a:pPr>
            <a:r>
              <a:rPr lang="en-US" sz="500" b="1" dirty="0">
                <a:solidFill>
                  <a:srgbClr val="B95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pPr algn="ctr" indent="0" marL="0">
              <a:lnSpc>
                <a:spcPts val="658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1/200 假 FAIL</a:t>
            </a:r>
            <a:endParaRPr lang="en-US" sz="500" dirty="0"/>
          </a:p>
        </p:txBody>
      </p:sp>
      <p:sp>
        <p:nvSpPr>
          <p:cNvPr id="40" name="Text 35"/>
          <p:cNvSpPr/>
          <p:nvPr/>
        </p:nvSpPr>
        <p:spPr>
          <a:xfrm>
            <a:off x="4325317" y="3474207"/>
            <a:ext cx="785813" cy="307181"/>
          </a:xfrm>
          <a:prstGeom prst="roundRect">
            <a:avLst>
              <a:gd name="adj" fmla="val 15576"/>
            </a:avLst>
          </a:prstGeom>
          <a:solidFill>
            <a:srgbClr val="FFFFFF">
              <a:alpha val="74000"/>
            </a:srgbClr>
          </a:solidFill>
          <a:ln w="7144">
            <a:solidFill>
              <a:srgbClr val="B9583F">
                <a:alpha val="14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31"/>
              </a:lnSpc>
              <a:spcAft>
                <a:spcPts val="113"/>
              </a:spcAft>
              <a:buNone/>
            </a:pPr>
            <a:r>
              <a:rPr lang="en-US" sz="500" b="1" dirty="0">
                <a:solidFill>
                  <a:srgbClr val="B95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pPr algn="ctr" indent="0" marL="0">
              <a:lnSpc>
                <a:spcPts val="658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剪枝恢复非真 undo</a:t>
            </a:r>
            <a:endParaRPr lang="en-US" sz="500" dirty="0"/>
          </a:p>
        </p:txBody>
      </p:sp>
      <p:sp>
        <p:nvSpPr>
          <p:cNvPr id="41" name="Shape 36"/>
          <p:cNvSpPr/>
          <p:nvPr/>
        </p:nvSpPr>
        <p:spPr>
          <a:xfrm>
            <a:off x="5495330" y="1271588"/>
            <a:ext cx="3707606" cy="2886075"/>
          </a:xfrm>
          <a:prstGeom prst="roundRect">
            <a:avLst>
              <a:gd name="adj" fmla="val 1882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5616773" y="1391692"/>
            <a:ext cx="3464719" cy="1328738"/>
          </a:xfrm>
          <a:prstGeom prst="roundRect">
            <a:avLst>
              <a:gd name="adj" fmla="val 5920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726330" y="1492318"/>
            <a:ext cx="59293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逐位精度验证</a:t>
            </a:r>
            <a:endParaRPr lang="en-US" sz="700" dirty="0"/>
          </a:p>
        </p:txBody>
      </p:sp>
      <p:sp>
        <p:nvSpPr>
          <p:cNvPr id="44" name="Text 39"/>
          <p:cNvSpPr/>
          <p:nvPr/>
        </p:nvSpPr>
        <p:spPr>
          <a:xfrm>
            <a:off x="8028626" y="1499406"/>
            <a:ext cx="942975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9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序列 / 136 帧 / 4,345 万像素</a:t>
            </a:r>
            <a:endParaRPr lang="en-US" sz="500" dirty="0"/>
          </a:p>
        </p:txBody>
      </p:sp>
      <p:sp>
        <p:nvSpPr>
          <p:cNvPr id="45" name="Shape 40"/>
          <p:cNvSpPr/>
          <p:nvPr/>
        </p:nvSpPr>
        <p:spPr>
          <a:xfrm>
            <a:off x="5723930" y="1677330"/>
            <a:ext cx="3250406" cy="307181"/>
          </a:xfrm>
          <a:prstGeom prst="roundRect">
            <a:avLst>
              <a:gd name="adj" fmla="val 20768"/>
            </a:avLst>
          </a:prstGeom>
          <a:solidFill>
            <a:srgbClr val="137A68">
              <a:alpha val="9000"/>
            </a:srgbClr>
          </a:solidFill>
          <a:ln w="7144">
            <a:solidFill>
              <a:srgbClr val="137A68">
                <a:alpha val="23000"/>
              </a:srgbClr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5802511" y="1752340"/>
            <a:ext cx="2693194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8"/>
              </a:lnSpc>
              <a:buNone/>
            </a:pPr>
            <a:r>
              <a:rPr lang="en-US" sz="1100" b="1" dirty="0">
                <a:solidFill>
                  <a:srgbClr val="137A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Ch0 </a:t>
            </a:r>
            <a:pPr algn="l" indent="0" marL="0">
              <a:lnSpc>
                <a:spcPts val="1007"/>
              </a:lnSpc>
              <a:buNone/>
            </a:pPr>
            <a:r>
              <a:rPr lang="en-US" sz="900" b="1" dirty="0">
                <a:solidFill>
                  <a:srgbClr val="137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Max|Diff| = 0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8565356" y="1748768"/>
            <a:ext cx="328613" cy="164306"/>
          </a:xfrm>
          <a:prstGeom prst="roundRect">
            <a:avLst>
              <a:gd name="adj" fmla="val 69565"/>
            </a:avLst>
          </a:prstGeom>
          <a:solidFill>
            <a:srgbClr val="137A68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承重门</a:t>
            </a:r>
            <a:endParaRPr lang="en-US" sz="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23930" y="2034518"/>
          <a:ext cx="3250406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8963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12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Ch0</a:t>
                      </a:r>
                      <a:endParaRPr lang="en-US" sz="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1431" marR="21431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00" dirty="0">
                          <a:solidFill>
                            <a:srgbClr val="4B5B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Max|Diff| = 0 · 一次性验证 6 类坐标与通道错误</a:t>
                      </a:r>
                      <a:endParaRPr lang="en-US" sz="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1431" marR="21431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12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Ch1</a:t>
                      </a:r>
                      <a:endParaRPr lang="en-US" sz="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1431" marR="21431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00" dirty="0">
                          <a:solidFill>
                            <a:srgbClr val="4B5B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MAE 0.00073</a:t>
                      </a:r>
                      <a:endParaRPr lang="en-US" sz="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1431" marR="21431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12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Ch2</a:t>
                      </a:r>
                      <a:endParaRPr lang="en-US" sz="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1431" marR="21431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00" dirty="0">
                          <a:solidFill>
                            <a:srgbClr val="4B5B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MAE 0.00033</a:t>
                      </a:r>
                      <a:endParaRPr lang="en-US" sz="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1431" marR="21431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12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残余</a:t>
                      </a:r>
                      <a:endParaRPr lang="en-US" sz="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1431" marR="21431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00" dirty="0">
                          <a:solidFill>
                            <a:srgbClr val="4B5B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600 像素 · 1.4e−7</a:t>
                      </a:r>
                      <a:endParaRPr lang="en-US" sz="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1431" marR="21431" marT="35719" marB="35719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9" name="Shape 43"/>
          <p:cNvSpPr/>
          <p:nvPr/>
        </p:nvSpPr>
        <p:spPr>
          <a:xfrm>
            <a:off x="5616773" y="2784723"/>
            <a:ext cx="3464719" cy="792956"/>
          </a:xfrm>
          <a:prstGeom prst="roundRect">
            <a:avLst>
              <a:gd name="adj" fmla="val 16622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726999" y="2882671"/>
            <a:ext cx="68580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Mali-G610 适配</a:t>
            </a:r>
            <a:endParaRPr lang="en-US" sz="700" dirty="0"/>
          </a:p>
        </p:txBody>
      </p:sp>
      <p:sp>
        <p:nvSpPr>
          <p:cNvPr id="51" name="Text 45"/>
          <p:cNvSpPr/>
          <p:nvPr/>
        </p:nvSpPr>
        <p:spPr>
          <a:xfrm>
            <a:off x="8556985" y="2889758"/>
            <a:ext cx="414338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条平台约束</a:t>
            </a:r>
            <a:endParaRPr lang="en-US" sz="500" dirty="0"/>
          </a:p>
        </p:txBody>
      </p:sp>
      <p:sp>
        <p:nvSpPr>
          <p:cNvPr id="52" name="Text 46"/>
          <p:cNvSpPr/>
          <p:nvPr/>
        </p:nvSpPr>
        <p:spPr>
          <a:xfrm>
            <a:off x="5726609" y="3061432"/>
            <a:ext cx="1600200" cy="292894"/>
          </a:xfrm>
          <a:prstGeom prst="roundRect">
            <a:avLst>
              <a:gd name="adj" fmla="val 19036"/>
            </a:avLst>
          </a:prstGeom>
          <a:solidFill>
            <a:srgbClr val="F4F6F9">
              <a:alpha val="7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具名标量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633"/>
              </a:lnSpc>
              <a:spcBef>
                <a:spcPts val="113"/>
              </a:spcBef>
              <a:buNone/>
            </a:pPr>
            <a:r>
              <a:rPr lang="en-US" sz="500" dirty="0">
                <a:solidFill>
                  <a:srgbClr val="69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消除隐式寻址歧义</a:t>
            </a:r>
            <a:endParaRPr lang="en-US" sz="500" dirty="0"/>
          </a:p>
        </p:txBody>
      </p:sp>
      <p:sp>
        <p:nvSpPr>
          <p:cNvPr id="53" name="Text 47"/>
          <p:cNvSpPr/>
          <p:nvPr/>
        </p:nvSpPr>
        <p:spPr>
          <a:xfrm>
            <a:off x="7371457" y="3061432"/>
            <a:ext cx="1600200" cy="292894"/>
          </a:xfrm>
          <a:prstGeom prst="roundRect">
            <a:avLst>
              <a:gd name="adj" fmla="val 19036"/>
            </a:avLst>
          </a:prstGeom>
          <a:solidFill>
            <a:srgbClr val="F4F6F9">
              <a:alpha val="7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FP64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633"/>
              </a:lnSpc>
              <a:spcBef>
                <a:spcPts val="113"/>
              </a:spcBef>
              <a:buNone/>
            </a:pPr>
            <a:r>
              <a:rPr lang="en-US" sz="500" dirty="0">
                <a:solidFill>
                  <a:srgbClr val="69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重构数值计算路径</a:t>
            </a:r>
            <a:endParaRPr lang="en-US" sz="500" dirty="0"/>
          </a:p>
        </p:txBody>
      </p:sp>
      <p:sp>
        <p:nvSpPr>
          <p:cNvPr id="54" name="Text 48"/>
          <p:cNvSpPr/>
          <p:nvPr/>
        </p:nvSpPr>
        <p:spPr>
          <a:xfrm>
            <a:off x="5726609" y="3398974"/>
            <a:ext cx="1600200" cy="292894"/>
          </a:xfrm>
          <a:prstGeom prst="roundRect">
            <a:avLst>
              <a:gd name="adj" fmla="val 19036"/>
            </a:avLst>
          </a:prstGeom>
          <a:solidFill>
            <a:srgbClr val="F4F6F9">
              <a:alpha val="7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× image2d_t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633"/>
              </a:lnSpc>
              <a:spcBef>
                <a:spcPts val="113"/>
              </a:spcBef>
              <a:buNone/>
            </a:pPr>
            <a:r>
              <a:rPr lang="en-US" sz="500" dirty="0">
                <a:solidFill>
                  <a:srgbClr val="69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独立图像对象</a:t>
            </a:r>
            <a:endParaRPr lang="en-US" sz="500" dirty="0"/>
          </a:p>
        </p:txBody>
      </p:sp>
      <p:sp>
        <p:nvSpPr>
          <p:cNvPr id="55" name="Text 49"/>
          <p:cNvSpPr/>
          <p:nvPr/>
        </p:nvSpPr>
        <p:spPr>
          <a:xfrm>
            <a:off x="7371457" y="3398974"/>
            <a:ext cx="1600200" cy="292894"/>
          </a:xfrm>
          <a:prstGeom prst="roundRect">
            <a:avLst>
              <a:gd name="adj" fmla="val 19036"/>
            </a:avLst>
          </a:prstGeom>
          <a:solidFill>
            <a:srgbClr val="F4F6F9">
              <a:alpha val="7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CL_R8 · 4×</a:t>
            </a:r>
            <a:pPr algn="l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633"/>
              </a:lnSpc>
              <a:spcBef>
                <a:spcPts val="113"/>
              </a:spcBef>
              <a:buNone/>
            </a:pPr>
            <a:r>
              <a:rPr lang="en-US" sz="500" dirty="0">
                <a:solidFill>
                  <a:srgbClr val="69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 4 倍带宽</a:t>
            </a:r>
            <a:endParaRPr lang="en-US" sz="500" dirty="0"/>
          </a:p>
        </p:txBody>
      </p:sp>
      <p:sp>
        <p:nvSpPr>
          <p:cNvPr id="56" name="Text 50"/>
          <p:cNvSpPr/>
          <p:nvPr/>
        </p:nvSpPr>
        <p:spPr>
          <a:xfrm>
            <a:off x="5723930" y="3736516"/>
            <a:ext cx="3250406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33"/>
              </a:lnSpc>
              <a:spcBef>
                <a:spcPts val="338"/>
              </a:spcBef>
              <a:buNone/>
            </a:pPr>
            <a:r>
              <a:rPr lang="en-US" sz="500" dirty="0">
                <a:solidFill>
                  <a:srgbClr val="69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 3 条平台约束已完成内核适配</a:t>
            </a:r>
            <a:endParaRPr lang="en-US" sz="500" dirty="0"/>
          </a:p>
        </p:txBody>
      </p:sp>
      <p:sp>
        <p:nvSpPr>
          <p:cNvPr id="57" name="Shape 51"/>
          <p:cNvSpPr/>
          <p:nvPr/>
        </p:nvSpPr>
        <p:spPr>
          <a:xfrm>
            <a:off x="5616773" y="3643313"/>
            <a:ext cx="3464719" cy="392906"/>
          </a:xfrm>
          <a:prstGeom prst="roundRect">
            <a:avLst>
              <a:gd name="adj" fmla="val 13752"/>
            </a:avLst>
          </a:prstGeom>
          <a:solidFill>
            <a:srgbClr val="122033"/>
          </a:solidFill>
          <a:ln/>
        </p:spPr>
      </p:sp>
      <p:sp>
        <p:nvSpPr>
          <p:cNvPr id="58" name="Shape 52"/>
          <p:cNvSpPr/>
          <p:nvPr/>
        </p:nvSpPr>
        <p:spPr>
          <a:xfrm>
            <a:off x="5689997" y="3754041"/>
            <a:ext cx="171450" cy="171450"/>
          </a:xfrm>
          <a:prstGeom prst="roundRect">
            <a:avLst>
              <a:gd name="adj" fmla="val 44444"/>
            </a:avLst>
          </a:prstGeom>
          <a:solidFill>
            <a:srgbClr val="C9974D">
              <a:alpha val="18000"/>
            </a:srgbClr>
          </a:solidFill>
          <a:ln/>
        </p:spPr>
      </p:sp>
      <p:pic>
        <p:nvPicPr>
          <p:cNvPr id="5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2144" y="3786188"/>
            <a:ext cx="107156" cy="107156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5923955" y="3789759"/>
            <a:ext cx="3086100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500" b="1" dirty="0">
                <a:solidFill>
                  <a:srgbClr val="F3D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工具给内核背书时，工具本身间歇性失败，比工具报错更危险。</a:t>
            </a:r>
            <a:endParaRPr lang="en-US" sz="500" dirty="0"/>
          </a:p>
        </p:txBody>
      </p:sp>
      <p:sp>
        <p:nvSpPr>
          <p:cNvPr id="61" name="Text 54"/>
          <p:cNvSpPr/>
          <p:nvPr/>
        </p:nvSpPr>
        <p:spPr>
          <a:xfrm>
            <a:off x="357188" y="4286250"/>
            <a:ext cx="884396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600" dirty="0"/>
          </a:p>
        </p:txBody>
      </p:sp>
      <p:pic>
        <p:nvPicPr>
          <p:cNvPr id="6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7188" y="357188"/>
            <a:ext cx="8843963" cy="785813"/>
          </a:xfrm>
          <a:prstGeom prst="rect">
            <a:avLst/>
          </a:prstGeom>
        </p:spPr>
      </p:pic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7188" y="4286250"/>
            <a:ext cx="884396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57188" y="357188"/>
            <a:ext cx="8843963" cy="785813"/>
          </a:xfrm>
          <a:prstGeom prst="rect">
            <a:avLst/>
          </a:prstGeom>
          <a:ln/>
        </p:spPr>
      </p:sp>
      <p:sp>
        <p:nvSpPr>
          <p:cNvPr id="6" name="Text 3"/>
          <p:cNvSpPr/>
          <p:nvPr/>
        </p:nvSpPr>
        <p:spPr>
          <a:xfrm>
            <a:off x="356015" y="194332"/>
            <a:ext cx="2107406" cy="235744"/>
          </a:xfrm>
          <a:prstGeom prst="roundRect">
            <a:avLst>
              <a:gd name="adj" fmla="val 48485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 3 / END-TO-END LIBRARY DELIVERY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 3｜从 demo 到“契约成立”：端到端库交付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6438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C ABI 交付，不只验证正常路径，更验证错误路径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14/18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55402" y="1271588"/>
            <a:ext cx="5014913" cy="2886075"/>
          </a:xfrm>
          <a:prstGeom prst="roundRect">
            <a:avLst>
              <a:gd name="adj" fmla="val 1882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0027" y="1393701"/>
            <a:ext cx="1128713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端到端链路与丢帧边界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390839" y="1411505"/>
            <a:ext cx="857250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04"/>
              </a:lnSpc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跑通 ≠ 库契约成立</a:t>
            </a:r>
            <a:endParaRPr lang="en-US" sz="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845" y="1594396"/>
            <a:ext cx="4772025" cy="264319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845" y="1930152"/>
            <a:ext cx="4772025" cy="592931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44376" y="1994446"/>
            <a:ext cx="621506" cy="357187"/>
          </a:xfrm>
          <a:prstGeom prst="roundRect">
            <a:avLst>
              <a:gd name="adj" fmla="val 15360"/>
            </a:avLst>
          </a:prstGeom>
          <a:solidFill>
            <a:srgbClr val="FFFFFF">
              <a:alpha val="92000"/>
            </a:srgbClr>
          </a:solidFill>
          <a:ln w="7144">
            <a:solidFill>
              <a:srgbClr val="122033">
                <a:alpha val="13000"/>
              </a:srgbClr>
            </a:solidFill>
            <a:prstDash val="solid"/>
          </a:ln>
          <a:effectLst>
            <a:outerShdw sx="100000" sy="100000" kx="0" ky="0" algn="bl" rotWithShape="0" blurRad="100013" dist="35719" dir="5400000">
              <a:srgbClr val="0F172A">
                <a:alpha val="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835" y="2056507"/>
            <a:ext cx="128588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7967" y="2198043"/>
            <a:ext cx="314325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12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相机队列</a:t>
            </a:r>
            <a:endParaRPr lang="en-US" sz="600" dirty="0"/>
          </a:p>
        </p:txBody>
      </p:sp>
      <p:sp>
        <p:nvSpPr>
          <p:cNvPr id="18" name="Text 12"/>
          <p:cNvSpPr/>
          <p:nvPr/>
        </p:nvSpPr>
        <p:spPr>
          <a:xfrm>
            <a:off x="1203052" y="2119461"/>
            <a:ext cx="10715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8A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8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47434" y="1994446"/>
            <a:ext cx="621506" cy="357187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93838" y="2056507"/>
            <a:ext cx="128588" cy="12858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476022" y="2198043"/>
            <a:ext cx="364331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12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服务</a:t>
            </a:r>
            <a:endParaRPr lang="en-US" sz="600" dirty="0"/>
          </a:p>
        </p:txBody>
      </p:sp>
      <p:sp>
        <p:nvSpPr>
          <p:cNvPr id="22" name="Text 14"/>
          <p:cNvSpPr/>
          <p:nvPr/>
        </p:nvSpPr>
        <p:spPr>
          <a:xfrm>
            <a:off x="2006166" y="2119461"/>
            <a:ext cx="10715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8A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800" dirty="0"/>
          </a:p>
        </p:txBody>
      </p:sp>
      <p:sp>
        <p:nvSpPr>
          <p:cNvPr id="23" name="Shape 15"/>
          <p:cNvSpPr/>
          <p:nvPr/>
        </p:nvSpPr>
        <p:spPr>
          <a:xfrm>
            <a:off x="2150492" y="1994446"/>
            <a:ext cx="621506" cy="357187"/>
          </a:xfrm>
          <a:prstGeom prst="roundRect">
            <a:avLst>
              <a:gd name="adj" fmla="val 15360"/>
            </a:avLst>
          </a:prstGeom>
          <a:solidFill>
            <a:srgbClr val="FFFFFF">
              <a:alpha val="92000"/>
            </a:srgbClr>
          </a:solidFill>
          <a:ln w="7144">
            <a:solidFill>
              <a:srgbClr val="122033">
                <a:alpha val="13000"/>
              </a:srgbClr>
            </a:solidFill>
            <a:prstDash val="solid"/>
          </a:ln>
          <a:effectLst>
            <a:outerShdw sx="100000" sy="100000" kx="0" ky="0" algn="bl" rotWithShape="0" blurRad="100013" dist="35719" dir="5400000">
              <a:srgbClr val="0F172A">
                <a:alpha val="6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96951" y="2056507"/>
            <a:ext cx="128588" cy="1285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304083" y="2198043"/>
            <a:ext cx="314325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12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特征缓冲</a:t>
            </a:r>
            <a:endParaRPr lang="en-US" sz="600" dirty="0"/>
          </a:p>
        </p:txBody>
      </p:sp>
      <p:sp>
        <p:nvSpPr>
          <p:cNvPr id="26" name="Text 17"/>
          <p:cNvSpPr/>
          <p:nvPr/>
        </p:nvSpPr>
        <p:spPr>
          <a:xfrm>
            <a:off x="2809168" y="2119461"/>
            <a:ext cx="10715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8A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8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53550" y="1994446"/>
            <a:ext cx="621506" cy="357187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3199954" y="2056507"/>
            <a:ext cx="128588" cy="128588"/>
          </a:xfrm>
          <a:prstGeom prst="roundRect">
            <a:avLst>
              <a:gd name="adj" fmla="val 59259"/>
            </a:avLst>
          </a:prstGeom>
          <a:solidFill>
            <a:srgbClr val="307E89">
              <a:alpha val="12000"/>
            </a:srgbClr>
          </a:solidFill>
          <a:ln/>
        </p:spPr>
      </p:sp>
      <p:sp>
        <p:nvSpPr>
          <p:cNvPr id="29" name="Shape 19"/>
          <p:cNvSpPr/>
          <p:nvPr/>
        </p:nvSpPr>
        <p:spPr>
          <a:xfrm>
            <a:off x="3221385" y="2056507"/>
            <a:ext cx="85725" cy="85725"/>
          </a:xfrm>
          <a:prstGeom prst="roundRect">
            <a:avLst>
              <a:gd name="adj" fmla="val 66667"/>
            </a:avLst>
          </a:prstGeom>
          <a:solidFill>
            <a:srgbClr val="D9EEF0"/>
          </a:solidFill>
          <a:ln w="7144">
            <a:solidFill>
              <a:srgbClr val="397C87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3221385" y="2163663"/>
            <a:ext cx="85725" cy="85725"/>
          </a:xfrm>
          <a:prstGeom prst="roundRect">
            <a:avLst>
              <a:gd name="adj" fmla="val 66667"/>
            </a:avLst>
          </a:prstGeom>
          <a:solidFill>
            <a:srgbClr val="D9EEF0"/>
          </a:solidFill>
          <a:ln w="7144">
            <a:solidFill>
              <a:srgbClr val="397C87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3114229" y="2198043"/>
            <a:ext cx="300038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12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× 2</a:t>
            </a:r>
            <a:endParaRPr lang="en-US" sz="600" dirty="0"/>
          </a:p>
        </p:txBody>
      </p:sp>
      <p:sp>
        <p:nvSpPr>
          <p:cNvPr id="32" name="Text 22"/>
          <p:cNvSpPr/>
          <p:nvPr/>
        </p:nvSpPr>
        <p:spPr>
          <a:xfrm>
            <a:off x="3612282" y="2119461"/>
            <a:ext cx="10715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8A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800" dirty="0"/>
          </a:p>
        </p:txBody>
      </p:sp>
      <p:sp>
        <p:nvSpPr>
          <p:cNvPr id="33" name="Shape 23"/>
          <p:cNvSpPr/>
          <p:nvPr/>
        </p:nvSpPr>
        <p:spPr>
          <a:xfrm>
            <a:off x="3756664" y="1994446"/>
            <a:ext cx="621506" cy="357187"/>
          </a:xfrm>
          <a:prstGeom prst="roundRect">
            <a:avLst>
              <a:gd name="adj" fmla="val 15360"/>
            </a:avLst>
          </a:prstGeom>
          <a:solidFill>
            <a:srgbClr val="FFFFFF">
              <a:alpha val="92000"/>
            </a:srgbClr>
          </a:solidFill>
          <a:ln w="7144">
            <a:solidFill>
              <a:srgbClr val="122033">
                <a:alpha val="13000"/>
              </a:srgbClr>
            </a:solidFill>
            <a:prstDash val="solid"/>
          </a:ln>
          <a:effectLst>
            <a:outerShdw sx="100000" sy="100000" kx="0" ky="0" algn="bl" rotWithShape="0" blurRad="100013" dist="35719" dir="5400000">
              <a:srgbClr val="0F172A">
                <a:alpha val="6000"/>
              </a:srgbClr>
            </a:outerShdw>
          </a:effectLst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03067" y="2056507"/>
            <a:ext cx="128588" cy="12858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3910199" y="2198043"/>
            <a:ext cx="314325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12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热图缓冲</a:t>
            </a:r>
            <a:endParaRPr lang="en-US" sz="600" dirty="0"/>
          </a:p>
        </p:txBody>
      </p:sp>
      <p:sp>
        <p:nvSpPr>
          <p:cNvPr id="36" name="Text 25"/>
          <p:cNvSpPr/>
          <p:nvPr/>
        </p:nvSpPr>
        <p:spPr>
          <a:xfrm>
            <a:off x="4415396" y="2119461"/>
            <a:ext cx="10715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8A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800" dirty="0"/>
          </a:p>
        </p:txBody>
      </p:sp>
      <p:sp>
        <p:nvSpPr>
          <p:cNvPr id="37" name="Shape 26"/>
          <p:cNvSpPr/>
          <p:nvPr/>
        </p:nvSpPr>
        <p:spPr>
          <a:xfrm>
            <a:off x="4559777" y="1994446"/>
            <a:ext cx="621506" cy="357187"/>
          </a:xfrm>
          <a:prstGeom prst="roundRect">
            <a:avLst>
              <a:gd name="adj" fmla="val 15360"/>
            </a:avLst>
          </a:prstGeom>
          <a:solidFill>
            <a:srgbClr val="FFFFFF">
              <a:alpha val="92000"/>
            </a:srgbClr>
          </a:solidFill>
          <a:ln w="7144">
            <a:solidFill>
              <a:srgbClr val="122033">
                <a:alpha val="13000"/>
              </a:srgbClr>
            </a:solidFill>
            <a:prstDash val="solid"/>
          </a:ln>
          <a:effectLst>
            <a:outerShdw sx="100000" sy="100000" kx="0" ky="0" algn="bl" rotWithShape="0" blurRad="100013" dist="35719" dir="5400000">
              <a:srgbClr val="0F172A">
                <a:alpha val="6000"/>
              </a:srgbClr>
            </a:outerShdw>
          </a:effectLst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06181" y="2056507"/>
            <a:ext cx="128588" cy="12858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4763319" y="2198043"/>
            <a:ext cx="214313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12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</a:t>
            </a:r>
            <a:endParaRPr lang="en-US" sz="600" dirty="0"/>
          </a:p>
        </p:txBody>
      </p:sp>
      <p:sp>
        <p:nvSpPr>
          <p:cNvPr id="40" name="Text 28"/>
          <p:cNvSpPr/>
          <p:nvPr/>
        </p:nvSpPr>
        <p:spPr>
          <a:xfrm>
            <a:off x="542032" y="2373064"/>
            <a:ext cx="227885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500" dirty="0">
                <a:solidFill>
                  <a:srgbClr val="A3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上游：不可丢帧</a:t>
            </a:r>
            <a:endParaRPr lang="en-US" sz="500" dirty="0"/>
          </a:p>
        </p:txBody>
      </p:sp>
      <p:sp>
        <p:nvSpPr>
          <p:cNvPr id="41" name="Text 29"/>
          <p:cNvSpPr/>
          <p:nvPr/>
        </p:nvSpPr>
        <p:spPr>
          <a:xfrm>
            <a:off x="2904827" y="2373064"/>
            <a:ext cx="227885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506"/>
              </a:lnSpc>
              <a:buNone/>
            </a:pPr>
            <a:r>
              <a:rPr lang="en-US" sz="500" dirty="0">
                <a:solidFill>
                  <a:srgbClr val="347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下游：允许跳帧</a:t>
            </a:r>
            <a:endParaRPr lang="en-US" sz="500" dirty="0"/>
          </a:p>
        </p:txBody>
      </p:sp>
      <p:sp>
        <p:nvSpPr>
          <p:cNvPr id="42" name="Shape 30"/>
          <p:cNvSpPr/>
          <p:nvPr/>
        </p:nvSpPr>
        <p:spPr>
          <a:xfrm>
            <a:off x="477738" y="2594521"/>
            <a:ext cx="2350294" cy="785813"/>
          </a:xfrm>
          <a:prstGeom prst="roundRect">
            <a:avLst>
              <a:gd name="adj" fmla="val 14810"/>
            </a:avLst>
          </a:prstGeom>
          <a:solidFill>
            <a:srgbClr val="FFFFFF">
              <a:alpha val="72000"/>
            </a:srgbClr>
          </a:solidFill>
          <a:ln w="7144">
            <a:solidFill>
              <a:srgbClr val="122033">
                <a:alpha val="9000"/>
              </a:srgbClr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477738" y="2594521"/>
            <a:ext cx="28575" cy="771525"/>
          </a:xfrm>
          <a:prstGeom prst="rect">
            <a:avLst/>
          </a:prstGeom>
          <a:solidFill>
            <a:srgbClr val="B34242"/>
          </a:solidFill>
          <a:ln/>
        </p:spPr>
      </p:sp>
      <p:sp>
        <p:nvSpPr>
          <p:cNvPr id="44" name="Text 32"/>
          <p:cNvSpPr/>
          <p:nvPr/>
        </p:nvSpPr>
        <p:spPr>
          <a:xfrm>
            <a:off x="562961" y="2680246"/>
            <a:ext cx="635794" cy="135731"/>
          </a:xfrm>
          <a:prstGeom prst="roundRect">
            <a:avLst>
              <a:gd name="adj" fmla="val 84211"/>
            </a:avLst>
          </a:prstGeom>
          <a:solidFill>
            <a:srgbClr val="BE4242">
              <a:alpha val="9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81"/>
              </a:spcAft>
              <a:buNone/>
            </a:pPr>
            <a:r>
              <a:rPr lang="en-US" sz="500" b="1" dirty="0">
                <a:solidFill>
                  <a:srgbClr val="A3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高影响 · 状态扩散</a:t>
            </a:r>
            <a:endParaRPr lang="en-US" sz="500" dirty="0"/>
          </a:p>
        </p:txBody>
      </p:sp>
      <p:sp>
        <p:nvSpPr>
          <p:cNvPr id="45" name="Text 33"/>
          <p:cNvSpPr/>
          <p:nvPr/>
        </p:nvSpPr>
        <p:spPr>
          <a:xfrm>
            <a:off x="563463" y="2850245"/>
            <a:ext cx="217884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Aft>
                <a:spcPts val="225"/>
              </a:spcAft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丢一帧</a:t>
            </a:r>
            <a:endParaRPr lang="en-US" sz="700" dirty="0"/>
          </a:p>
        </p:txBody>
      </p:sp>
      <p:sp>
        <p:nvSpPr>
          <p:cNvPr id="46" name="Text 34"/>
          <p:cNvSpPr/>
          <p:nvPr/>
        </p:nvSpPr>
        <p:spPr>
          <a:xfrm>
            <a:off x="563463" y="2992338"/>
            <a:ext cx="2178844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9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当前帧失配后，后续所有帧持续失配，影响整条检测链。</a:t>
            </a:r>
            <a:endParaRPr lang="en-US" sz="500" dirty="0"/>
          </a:p>
        </p:txBody>
      </p:sp>
      <p:sp>
        <p:nvSpPr>
          <p:cNvPr id="47" name="Shape 35"/>
          <p:cNvSpPr/>
          <p:nvPr/>
        </p:nvSpPr>
        <p:spPr>
          <a:xfrm>
            <a:off x="2897684" y="2594521"/>
            <a:ext cx="2350294" cy="785813"/>
          </a:xfrm>
          <a:prstGeom prst="roundRect">
            <a:avLst>
              <a:gd name="adj" fmla="val 14810"/>
            </a:avLst>
          </a:prstGeom>
          <a:solidFill>
            <a:srgbClr val="FFFFFF">
              <a:alpha val="72000"/>
            </a:srgbClr>
          </a:solidFill>
          <a:ln w="7144">
            <a:solidFill>
              <a:srgbClr val="122033">
                <a:alpha val="9000"/>
              </a:srgbClr>
            </a:solidFill>
            <a:prstDash val="solid"/>
          </a:ln>
        </p:spPr>
      </p:sp>
      <p:sp>
        <p:nvSpPr>
          <p:cNvPr id="48" name="Shape 36"/>
          <p:cNvSpPr/>
          <p:nvPr/>
        </p:nvSpPr>
        <p:spPr>
          <a:xfrm>
            <a:off x="2897684" y="2594521"/>
            <a:ext cx="28575" cy="771525"/>
          </a:xfrm>
          <a:prstGeom prst="rect">
            <a:avLst/>
          </a:prstGeom>
          <a:solidFill>
            <a:srgbClr val="3E8B72"/>
          </a:solidFill>
          <a:ln/>
        </p:spPr>
      </p:sp>
      <p:sp>
        <p:nvSpPr>
          <p:cNvPr id="49" name="Text 37"/>
          <p:cNvSpPr/>
          <p:nvPr/>
        </p:nvSpPr>
        <p:spPr>
          <a:xfrm>
            <a:off x="2982906" y="2680246"/>
            <a:ext cx="635794" cy="135731"/>
          </a:xfrm>
          <a:prstGeom prst="roundRect">
            <a:avLst>
              <a:gd name="adj" fmla="val 84211"/>
            </a:avLst>
          </a:prstGeom>
          <a:solidFill>
            <a:srgbClr val="3E8B72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81"/>
              </a:spcAft>
              <a:buNone/>
            </a:pPr>
            <a:r>
              <a:rPr lang="en-US" sz="500" b="1" dirty="0">
                <a:solidFill>
                  <a:srgbClr val="347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可控制 · 单点损失</a:t>
            </a:r>
            <a:endParaRPr lang="en-US" sz="500" dirty="0"/>
          </a:p>
        </p:txBody>
      </p:sp>
      <p:sp>
        <p:nvSpPr>
          <p:cNvPr id="50" name="Text 38"/>
          <p:cNvSpPr/>
          <p:nvPr/>
        </p:nvSpPr>
        <p:spPr>
          <a:xfrm>
            <a:off x="2983409" y="2850245"/>
            <a:ext cx="2178844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Aft>
                <a:spcPts val="225"/>
              </a:spcAft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跳一帧</a:t>
            </a:r>
            <a:endParaRPr lang="en-US" sz="700" dirty="0"/>
          </a:p>
        </p:txBody>
      </p:sp>
      <p:sp>
        <p:nvSpPr>
          <p:cNvPr id="51" name="Text 39"/>
          <p:cNvSpPr/>
          <p:nvPr/>
        </p:nvSpPr>
        <p:spPr>
          <a:xfrm>
            <a:off x="2983409" y="2992338"/>
            <a:ext cx="2178844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9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仅损失一个检测结果，不污染后续帧的状态与配准关系。</a:t>
            </a:r>
            <a:endParaRPr lang="en-US" sz="500" dirty="0"/>
          </a:p>
        </p:txBody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76845" y="3451771"/>
            <a:ext cx="4772025" cy="550069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564356" y="3530352"/>
            <a:ext cx="671513" cy="39290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633"/>
              </a:lnSpc>
              <a:spcBef>
                <a:spcPts val="225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真实缺陷已修复</a:t>
            </a:r>
            <a:endParaRPr lang="en-US" sz="1600" dirty="0"/>
          </a:p>
        </p:txBody>
      </p:sp>
      <p:sp>
        <p:nvSpPr>
          <p:cNvPr id="54" name="Shape 41"/>
          <p:cNvSpPr/>
          <p:nvPr/>
        </p:nvSpPr>
        <p:spPr>
          <a:xfrm>
            <a:off x="1315343" y="3530352"/>
            <a:ext cx="1893094" cy="392906"/>
          </a:xfrm>
          <a:prstGeom prst="roundRect">
            <a:avLst>
              <a:gd name="adj" fmla="val 9521"/>
            </a:avLst>
          </a:prstGeom>
          <a:solidFill>
            <a:srgbClr val="FFFFFF">
              <a:alpha val="72000"/>
            </a:srgbClr>
          </a:solidFill>
          <a:ln/>
        </p:spPr>
      </p:sp>
      <p:sp>
        <p:nvSpPr>
          <p:cNvPr id="55" name="Text 42"/>
          <p:cNvSpPr/>
          <p:nvPr/>
        </p:nvSpPr>
        <p:spPr>
          <a:xfrm>
            <a:off x="1372493" y="3572489"/>
            <a:ext cx="1778794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8"/>
              </a:lnSpc>
              <a:spcAft>
                <a:spcPts val="169"/>
              </a:spcAft>
              <a:buNone/>
            </a:pPr>
            <a:r>
              <a:rPr lang="en-US" sz="500" dirty="0">
                <a:solidFill>
                  <a:srgbClr val="3154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Mat::operator=</a:t>
            </a:r>
            <a:endParaRPr lang="en-US" sz="500" dirty="0"/>
          </a:p>
        </p:txBody>
      </p:sp>
      <p:sp>
        <p:nvSpPr>
          <p:cNvPr id="56" name="Text 43"/>
          <p:cNvSpPr/>
          <p:nvPr/>
        </p:nvSpPr>
        <p:spPr>
          <a:xfrm>
            <a:off x="1372493" y="3672669"/>
            <a:ext cx="1778794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00" dirty="0">
                <a:solidFill>
                  <a:srgbClr val="6A4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浅拷贝 → 悬垂指针</a:t>
            </a:r>
            <a:endParaRPr lang="en-US" sz="500" dirty="0"/>
          </a:p>
        </p:txBody>
      </p:sp>
      <p:sp>
        <p:nvSpPr>
          <p:cNvPr id="57" name="Shape 44"/>
          <p:cNvSpPr/>
          <p:nvPr/>
        </p:nvSpPr>
        <p:spPr>
          <a:xfrm>
            <a:off x="3267373" y="3530352"/>
            <a:ext cx="1893094" cy="392906"/>
          </a:xfrm>
          <a:prstGeom prst="roundRect">
            <a:avLst>
              <a:gd name="adj" fmla="val 9521"/>
            </a:avLst>
          </a:prstGeom>
          <a:solidFill>
            <a:srgbClr val="FFFFFF">
              <a:alpha val="72000"/>
            </a:srgbClr>
          </a:solidFill>
          <a:ln/>
        </p:spPr>
      </p:sp>
      <p:sp>
        <p:nvSpPr>
          <p:cNvPr id="58" name="Text 45"/>
          <p:cNvSpPr/>
          <p:nvPr/>
        </p:nvSpPr>
        <p:spPr>
          <a:xfrm>
            <a:off x="3324523" y="3572489"/>
            <a:ext cx="1778794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8"/>
              </a:lnSpc>
              <a:spcAft>
                <a:spcPts val="169"/>
              </a:spcAft>
              <a:buNone/>
            </a:pPr>
            <a:r>
              <a:rPr lang="en-US" sz="500" dirty="0">
                <a:solidFill>
                  <a:srgbClr val="3154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config_defaults</a:t>
            </a:r>
            <a:endParaRPr lang="en-US" sz="500" dirty="0"/>
          </a:p>
        </p:txBody>
      </p:sp>
      <p:sp>
        <p:nvSpPr>
          <p:cNvPr id="59" name="Text 46"/>
          <p:cNvSpPr/>
          <p:nvPr/>
        </p:nvSpPr>
        <p:spPr>
          <a:xfrm>
            <a:off x="3324523" y="3672669"/>
            <a:ext cx="1778794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00" dirty="0">
                <a:solidFill>
                  <a:srgbClr val="6A4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漏设 5 字段 → 门限读取栈垃圾</a:t>
            </a:r>
            <a:endParaRPr lang="en-US" sz="500" dirty="0"/>
          </a:p>
        </p:txBody>
      </p:sp>
      <p:sp>
        <p:nvSpPr>
          <p:cNvPr id="60" name="Shape 47"/>
          <p:cNvSpPr/>
          <p:nvPr/>
        </p:nvSpPr>
        <p:spPr>
          <a:xfrm>
            <a:off x="5495330" y="1271588"/>
            <a:ext cx="3707606" cy="2886075"/>
          </a:xfrm>
          <a:prstGeom prst="roundRect">
            <a:avLst>
              <a:gd name="adj" fmla="val 1882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61" name="Text 48"/>
          <p:cNvSpPr/>
          <p:nvPr/>
        </p:nvSpPr>
        <p:spPr>
          <a:xfrm>
            <a:off x="5619229" y="1393701"/>
            <a:ext cx="564356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交付与验收</a:t>
            </a:r>
            <a:endParaRPr lang="en-US" sz="900" dirty="0"/>
          </a:p>
        </p:txBody>
      </p:sp>
      <p:sp>
        <p:nvSpPr>
          <p:cNvPr id="62" name="Text 49"/>
          <p:cNvSpPr/>
          <p:nvPr/>
        </p:nvSpPr>
        <p:spPr>
          <a:xfrm>
            <a:off x="8231219" y="1411505"/>
            <a:ext cx="850106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04"/>
              </a:lnSpc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可交付 · 可验证 · 可部署</a:t>
            </a:r>
            <a:endParaRPr lang="en-US" sz="600" dirty="0"/>
          </a:p>
        </p:txBody>
      </p:sp>
      <p:sp>
        <p:nvSpPr>
          <p:cNvPr id="63" name="Shape 50"/>
          <p:cNvSpPr/>
          <p:nvPr/>
        </p:nvSpPr>
        <p:spPr>
          <a:xfrm>
            <a:off x="5616773" y="1593503"/>
            <a:ext cx="3464719" cy="614363"/>
          </a:xfrm>
          <a:prstGeom prst="roundRect">
            <a:avLst>
              <a:gd name="adj" fmla="val 6490"/>
            </a:avLst>
          </a:prstGeom>
          <a:solidFill>
            <a:srgbClr val="FFFFFF">
              <a:alpha val="74000"/>
            </a:srgbClr>
          </a:solidFill>
          <a:ln w="7144">
            <a:solidFill>
              <a:srgbClr val="122033">
                <a:alpha val="9000"/>
              </a:srgbClr>
            </a:solidFill>
            <a:prstDash val="solid"/>
          </a:ln>
          <a:effectLst>
            <a:outerShdw sx="100000" sy="100000" kx="0" ky="0" algn="bl" rotWithShape="0" blurRad="114300" dist="42863" dir="5400000">
              <a:srgbClr val="0F172A">
                <a:alpha val="4300"/>
              </a:srgbClr>
            </a:outerShdw>
          </a:effectLst>
        </p:spPr>
      </p:sp>
      <p:sp>
        <p:nvSpPr>
          <p:cNvPr id="64" name="Text 51"/>
          <p:cNvSpPr/>
          <p:nvPr/>
        </p:nvSpPr>
        <p:spPr>
          <a:xfrm>
            <a:off x="5702498" y="1673312"/>
            <a:ext cx="3028950" cy="10001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编译交付</a:t>
            </a:r>
            <a:endParaRPr lang="en-US" sz="600" dirty="0"/>
          </a:p>
        </p:txBody>
      </p:sp>
      <p:sp>
        <p:nvSpPr>
          <p:cNvPr id="65" name="Shape 52"/>
          <p:cNvSpPr/>
          <p:nvPr/>
        </p:nvSpPr>
        <p:spPr>
          <a:xfrm>
            <a:off x="5702498" y="1673312"/>
            <a:ext cx="42863" cy="42863"/>
          </a:xfrm>
          <a:prstGeom prst="rect">
            <a:avLst/>
          </a:prstGeom>
          <a:solidFill>
            <a:srgbClr val="C4974D"/>
          </a:solidFill>
          <a:ln/>
        </p:spPr>
      </p:sp>
      <p:sp>
        <p:nvSpPr>
          <p:cNvPr id="66" name="Text 53"/>
          <p:cNvSpPr/>
          <p:nvPr/>
        </p:nvSpPr>
        <p:spPr>
          <a:xfrm>
            <a:off x="5702498" y="1801899"/>
            <a:ext cx="3028950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500" b="1" dirty="0">
                <a:solidFill>
                  <a:srgbClr val="3154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libmosaic_pipeline.a</a:t>
            </a:r>
            <a:pPr algn="l" indent="0" marL="0">
              <a:buNone/>
            </a:pPr>
            <a:endParaRPr lang="en-US" sz="500" dirty="0"/>
          </a:p>
          <a:p>
            <a:pPr algn="l" indent="0" marL="0">
              <a:lnSpc>
                <a:spcPts val="683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主机 / aarch64 交叉纯 C 编译通过</a:t>
            </a:r>
            <a:endParaRPr lang="en-US" sz="500" dirty="0"/>
          </a:p>
        </p:txBody>
      </p:sp>
      <p:sp>
        <p:nvSpPr>
          <p:cNvPr id="67" name="Text 54"/>
          <p:cNvSpPr/>
          <p:nvPr/>
        </p:nvSpPr>
        <p:spPr>
          <a:xfrm>
            <a:off x="5704284" y="1993441"/>
            <a:ext cx="442912" cy="135731"/>
          </a:xfrm>
          <a:prstGeom prst="roundRect">
            <a:avLst>
              <a:gd name="adj" fmla="val 84211"/>
            </a:avLst>
          </a:prstGeom>
          <a:solidFill>
            <a:srgbClr val="3E8B72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347C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双平台通过</a:t>
            </a:r>
            <a:endParaRPr lang="en-US" sz="400" dirty="0"/>
          </a:p>
        </p:txBody>
      </p:sp>
      <p:sp>
        <p:nvSpPr>
          <p:cNvPr id="68" name="Text 55"/>
          <p:cNvSpPr/>
          <p:nvPr/>
        </p:nvSpPr>
        <p:spPr>
          <a:xfrm>
            <a:off x="8801100" y="1786328"/>
            <a:ext cx="192881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10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.a</a:t>
            </a:r>
            <a:pPr algn="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r" indent="0" marL="0">
              <a:lnSpc>
                <a:spcPts val="608"/>
              </a:lnSpc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静态库</a:t>
            </a:r>
            <a:endParaRPr lang="en-US" sz="100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16773" y="2270373"/>
            <a:ext cx="3464719" cy="614363"/>
          </a:xfrm>
          <a:prstGeom prst="rect">
            <a:avLst/>
          </a:prstGeom>
        </p:spPr>
      </p:pic>
      <p:sp>
        <p:nvSpPr>
          <p:cNvPr id="70" name="Text 56"/>
          <p:cNvSpPr/>
          <p:nvPr/>
        </p:nvSpPr>
        <p:spPr>
          <a:xfrm>
            <a:off x="5703112" y="2426419"/>
            <a:ext cx="2757488" cy="10001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吞吐表现</a:t>
            </a:r>
            <a:endParaRPr lang="en-US" sz="600" dirty="0"/>
          </a:p>
        </p:txBody>
      </p:sp>
      <p:sp>
        <p:nvSpPr>
          <p:cNvPr id="71" name="Shape 57"/>
          <p:cNvSpPr/>
          <p:nvPr/>
        </p:nvSpPr>
        <p:spPr>
          <a:xfrm>
            <a:off x="5703112" y="2426419"/>
            <a:ext cx="42863" cy="42863"/>
          </a:xfrm>
          <a:prstGeom prst="rect">
            <a:avLst/>
          </a:prstGeom>
          <a:solidFill>
            <a:srgbClr val="C4974D"/>
          </a:solidFill>
          <a:ln/>
        </p:spPr>
      </p:sp>
      <p:sp>
        <p:nvSpPr>
          <p:cNvPr id="72" name="Text 58"/>
          <p:cNvSpPr/>
          <p:nvPr/>
        </p:nvSpPr>
        <p:spPr>
          <a:xfrm>
            <a:off x="5703112" y="2557295"/>
            <a:ext cx="275748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3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当前最优 · 97.2% 占用</a:t>
            </a:r>
            <a:pPr algn="l" indent="0" marL="0">
              <a:buNone/>
            </a:pPr>
            <a:endParaRPr lang="en-US" sz="500" dirty="0"/>
          </a:p>
          <a:p>
            <a:pPr algn="l" indent="0" marL="0">
              <a:lnSpc>
                <a:spcPts val="683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性能天花板 ≈ 15.3–15.6 fps</a:t>
            </a:r>
            <a:endParaRPr lang="en-US" sz="500" dirty="0"/>
          </a:p>
        </p:txBody>
      </p:sp>
      <p:sp>
        <p:nvSpPr>
          <p:cNvPr id="73" name="Text 59"/>
          <p:cNvSpPr/>
          <p:nvPr/>
        </p:nvSpPr>
        <p:spPr>
          <a:xfrm>
            <a:off x="8530196" y="2445339"/>
            <a:ext cx="464344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4"/>
              </a:lnSpc>
              <a:buNone/>
            </a:pPr>
            <a:r>
              <a:rPr lang="en-US" sz="12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14.838</a:t>
            </a:r>
            <a:pPr algn="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r" indent="0" marL="0">
              <a:lnSpc>
                <a:spcPts val="608"/>
              </a:lnSpc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</a:t>
            </a:r>
            <a:endParaRPr lang="en-US" sz="1200" dirty="0"/>
          </a:p>
        </p:txBody>
      </p:sp>
      <p:sp>
        <p:nvSpPr>
          <p:cNvPr id="74" name="Shape 60"/>
          <p:cNvSpPr/>
          <p:nvPr/>
        </p:nvSpPr>
        <p:spPr>
          <a:xfrm>
            <a:off x="5616773" y="2947243"/>
            <a:ext cx="3464719" cy="614363"/>
          </a:xfrm>
          <a:prstGeom prst="roundRect">
            <a:avLst>
              <a:gd name="adj" fmla="val 6490"/>
            </a:avLst>
          </a:prstGeom>
          <a:solidFill>
            <a:srgbClr val="FFFFFF">
              <a:alpha val="74000"/>
            </a:srgbClr>
          </a:solidFill>
          <a:ln w="7144">
            <a:solidFill>
              <a:srgbClr val="122033">
                <a:alpha val="9000"/>
              </a:srgbClr>
            </a:solidFill>
            <a:prstDash val="solid"/>
          </a:ln>
          <a:effectLst>
            <a:outerShdw sx="100000" sy="100000" kx="0" ky="0" algn="bl" rotWithShape="0" blurRad="114300" dist="42863" dir="5400000">
              <a:srgbClr val="0F172A">
                <a:alpha val="4300"/>
              </a:srgbClr>
            </a:outerShdw>
          </a:effectLst>
        </p:spPr>
      </p:sp>
      <p:sp>
        <p:nvSpPr>
          <p:cNvPr id="75" name="Text 61"/>
          <p:cNvSpPr/>
          <p:nvPr/>
        </p:nvSpPr>
        <p:spPr>
          <a:xfrm>
            <a:off x="5703894" y="3098490"/>
            <a:ext cx="2836069" cy="10001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核心杠杆</a:t>
            </a:r>
            <a:endParaRPr lang="en-US" sz="600" dirty="0"/>
          </a:p>
        </p:txBody>
      </p:sp>
      <p:sp>
        <p:nvSpPr>
          <p:cNvPr id="76" name="Shape 62"/>
          <p:cNvSpPr/>
          <p:nvPr/>
        </p:nvSpPr>
        <p:spPr>
          <a:xfrm>
            <a:off x="5703894" y="3098490"/>
            <a:ext cx="42863" cy="42863"/>
          </a:xfrm>
          <a:prstGeom prst="rect">
            <a:avLst/>
          </a:prstGeom>
          <a:solidFill>
            <a:srgbClr val="C4974D"/>
          </a:solidFill>
          <a:ln/>
        </p:spPr>
      </p:sp>
      <p:sp>
        <p:nvSpPr>
          <p:cNvPr id="77" name="Text 63"/>
          <p:cNvSpPr/>
          <p:nvPr/>
        </p:nvSpPr>
        <p:spPr>
          <a:xfrm>
            <a:off x="5703894" y="3227077"/>
            <a:ext cx="2836069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3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上下文 1 → 2</a:t>
            </a:r>
            <a:pPr algn="l" indent="0" marL="0">
              <a:buNone/>
            </a:pPr>
            <a:endParaRPr lang="en-US" sz="500" dirty="0"/>
          </a:p>
          <a:p>
            <a:pPr algn="l" indent="0" marL="0">
              <a:lnSpc>
                <a:spcPts val="759"/>
              </a:lnSpc>
              <a:buNone/>
            </a:pPr>
            <a:r>
              <a:rPr lang="en-US" sz="500" b="1" dirty="0">
                <a:solidFill>
                  <a:srgbClr val="3154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7.984 → 14.654 fps</a:t>
            </a:r>
            <a:endParaRPr lang="en-US" sz="500" dirty="0"/>
          </a:p>
        </p:txBody>
      </p:sp>
      <p:sp>
        <p:nvSpPr>
          <p:cNvPr id="78" name="Text 64"/>
          <p:cNvSpPr/>
          <p:nvPr/>
        </p:nvSpPr>
        <p:spPr>
          <a:xfrm>
            <a:off x="8609614" y="3122209"/>
            <a:ext cx="385763" cy="2643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4"/>
              </a:lnSpc>
              <a:buNone/>
            </a:pPr>
            <a:r>
              <a:rPr lang="en-US" sz="12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1.84×</a:t>
            </a:r>
            <a:pPr algn="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r" indent="0" marL="0">
              <a:lnSpc>
                <a:spcPts val="608"/>
              </a:lnSpc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吞吐提升</a:t>
            </a:r>
            <a:endParaRPr lang="en-US" sz="1200" dirty="0"/>
          </a:p>
        </p:txBody>
      </p:sp>
      <p:pic>
        <p:nvPicPr>
          <p:cNvPr id="79" name="Image 12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616773" y="3624114"/>
            <a:ext cx="3464719" cy="614363"/>
          </a:xfrm>
          <a:prstGeom prst="rect">
            <a:avLst/>
          </a:prstGeom>
        </p:spPr>
      </p:pic>
      <p:sp>
        <p:nvSpPr>
          <p:cNvPr id="80" name="Text 65"/>
          <p:cNvSpPr/>
          <p:nvPr/>
        </p:nvSpPr>
        <p:spPr>
          <a:xfrm>
            <a:off x="5705959" y="3818781"/>
            <a:ext cx="2821781" cy="10001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部署瓶颈已定位</a:t>
            </a:r>
            <a:endParaRPr lang="en-US" sz="600" dirty="0"/>
          </a:p>
        </p:txBody>
      </p:sp>
      <p:sp>
        <p:nvSpPr>
          <p:cNvPr id="81" name="Shape 66"/>
          <p:cNvSpPr/>
          <p:nvPr/>
        </p:nvSpPr>
        <p:spPr>
          <a:xfrm>
            <a:off x="5705959" y="3818781"/>
            <a:ext cx="42863" cy="42863"/>
          </a:xfrm>
          <a:prstGeom prst="rect">
            <a:avLst/>
          </a:prstGeom>
          <a:solidFill>
            <a:srgbClr val="B34242"/>
          </a:solidFill>
          <a:ln/>
        </p:spPr>
      </p:sp>
      <p:sp>
        <p:nvSpPr>
          <p:cNvPr id="82" name="Text 67"/>
          <p:cNvSpPr/>
          <p:nvPr/>
        </p:nvSpPr>
        <p:spPr>
          <a:xfrm>
            <a:off x="5705959" y="3946922"/>
            <a:ext cx="2821781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3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同线程串行执行 </a:t>
            </a:r>
            <a:pPr algn="l" indent="0" marL="0">
              <a:lnSpc>
                <a:spcPts val="759"/>
              </a:lnSpc>
              <a:buNone/>
            </a:pPr>
            <a:r>
              <a:rPr lang="en-US" sz="500" b="1" dirty="0">
                <a:solidFill>
                  <a:srgbClr val="3154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</a:t>
            </a:r>
            <a:pPr algn="l" indent="0" marL="0">
              <a:lnSpc>
                <a:spcPts val="683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pPr algn="l" indent="0" marL="0">
              <a:lnSpc>
                <a:spcPts val="759"/>
              </a:lnSpc>
              <a:buNone/>
            </a:pPr>
            <a:r>
              <a:rPr lang="en-US" sz="500" b="1" dirty="0">
                <a:solidFill>
                  <a:srgbClr val="3154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rknn_run</a:t>
            </a:r>
            <a:pPr algn="l" indent="0" marL="0">
              <a:lnSpc>
                <a:spcPts val="683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，形成 NPU 核资源争抢。</a:t>
            </a:r>
            <a:endParaRPr lang="en-US" sz="500" dirty="0"/>
          </a:p>
        </p:txBody>
      </p:sp>
      <p:sp>
        <p:nvSpPr>
          <p:cNvPr id="83" name="Text 68"/>
          <p:cNvSpPr/>
          <p:nvPr/>
        </p:nvSpPr>
        <p:spPr>
          <a:xfrm>
            <a:off x="8600852" y="3816939"/>
            <a:ext cx="392906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1000" b="1" dirty="0">
                <a:solidFill>
                  <a:srgbClr val="A3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130.98</a:t>
            </a:r>
            <a:pPr algn="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r" indent="0" marL="0">
              <a:lnSpc>
                <a:spcPts val="608"/>
              </a:lnSpc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A3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 / 帧 / 线程</a:t>
            </a:r>
            <a:endParaRPr lang="en-US" sz="1000" dirty="0"/>
          </a:p>
        </p:txBody>
      </p:sp>
      <p:sp>
        <p:nvSpPr>
          <p:cNvPr id="84" name="Text 69"/>
          <p:cNvSpPr/>
          <p:nvPr/>
        </p:nvSpPr>
        <p:spPr>
          <a:xfrm>
            <a:off x="357188" y="4286250"/>
            <a:ext cx="884396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600" dirty="0"/>
          </a:p>
        </p:txBody>
      </p:sp>
      <p:pic>
        <p:nvPicPr>
          <p:cNvPr id="85" name="Image 13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57188" y="357188"/>
            <a:ext cx="8843963" cy="785813"/>
          </a:xfrm>
          <a:prstGeom prst="rect">
            <a:avLst/>
          </a:prstGeom>
        </p:spPr>
      </p:pic>
      <p:sp>
        <p:nvSpPr>
          <p:cNvPr id="86" name="Text 70"/>
          <p:cNvSpPr/>
          <p:nvPr/>
        </p:nvSpPr>
        <p:spPr>
          <a:xfrm>
            <a:off x="476845" y="1594396"/>
            <a:ext cx="4772025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交付结论</a:t>
            </a:r>
            <a:pPr algn="l" indent="0" marL="0">
              <a:spcAft>
                <a:spcPts val="563"/>
              </a:spcAft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端到端库必须同时覆盖纯 C ABI、错误路径与部署验收。</a:t>
            </a:r>
            <a:endParaRPr lang="en-US" sz="700" dirty="0"/>
          </a:p>
        </p:txBody>
      </p:sp>
      <p:pic>
        <p:nvPicPr>
          <p:cNvPr id="87" name="Image 14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42032" y="2373064"/>
            <a:ext cx="2278856" cy="107156"/>
          </a:xfrm>
          <a:prstGeom prst="rect">
            <a:avLst/>
          </a:prstGeom>
        </p:spPr>
      </p:pic>
      <p:pic>
        <p:nvPicPr>
          <p:cNvPr id="88" name="Image 15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904827" y="2373064"/>
            <a:ext cx="2278856" cy="107156"/>
          </a:xfrm>
          <a:prstGeom prst="rect">
            <a:avLst/>
          </a:prstGeom>
        </p:spPr>
      </p:pic>
      <p:pic>
        <p:nvPicPr>
          <p:cNvPr id="89" name="Image 16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64356" y="3530352"/>
            <a:ext cx="671513" cy="392906"/>
          </a:xfrm>
          <a:prstGeom prst="rect">
            <a:avLst/>
          </a:prstGeom>
        </p:spPr>
      </p:pic>
      <p:pic>
        <p:nvPicPr>
          <p:cNvPr id="90" name="Image 17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57188" y="4286250"/>
            <a:ext cx="884396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57188" y="357188"/>
            <a:ext cx="8843963" cy="785813"/>
          </a:xfrm>
          <a:prstGeom prst="rect">
            <a:avLst/>
          </a:prstGeom>
          <a:ln/>
        </p:spPr>
      </p:sp>
      <p:sp>
        <p:nvSpPr>
          <p:cNvPr id="6" name="Text 3"/>
          <p:cNvSpPr/>
          <p:nvPr/>
        </p:nvSpPr>
        <p:spPr>
          <a:xfrm>
            <a:off x="356964" y="215764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遗留问题：两条战线各剩什么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6438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主动摆出未解项，比被追问出来强得多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15/18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55736" y="1271588"/>
            <a:ext cx="2907506" cy="2043113"/>
          </a:xfrm>
          <a:prstGeom prst="roundRect">
            <a:avLst>
              <a:gd name="adj" fmla="val 313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14313" dist="85725" dir="5400000">
              <a:srgbClr val="0F172A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5775" y="1488467"/>
            <a:ext cx="1028700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747"/>
              </a:spcBef>
              <a:spcAft>
                <a:spcPts val="747"/>
              </a:spcAft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战线 A｜等价性锚定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33129" y="1431317"/>
            <a:ext cx="600075" cy="250031"/>
          </a:xfrm>
          <a:prstGeom prst="roundRect">
            <a:avLst>
              <a:gd name="adj" fmla="val 45714"/>
            </a:avLst>
          </a:prstGeom>
          <a:solidFill>
            <a:srgbClr val="B84A4A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F3F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零丢帧是前提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84324" y="1798439"/>
            <a:ext cx="2650331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2"/>
              </a:lnSpc>
              <a:buNone/>
            </a:pPr>
            <a:r>
              <a:rPr lang="en-US" sz="1600" b="1" dirty="0">
                <a:solidFill>
                  <a:srgbClr val="B84A4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dropped == 0</a:t>
            </a:r>
            <a:pPr algn="l" indent="0" marL="0">
              <a:spcBef>
                <a:spcPts val="619"/>
              </a:spcBef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锚定门槛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4324" y="2816312"/>
            <a:ext cx="2650331" cy="1143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B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60.8 ms</a:t>
            </a:r>
            <a:pPr algn="l" indent="0" marL="0">
              <a:buNone/>
            </a:pPr>
            <a:r>
              <a:rPr lang="en-US" sz="600" dirty="0">
                <a:solidFill>
                  <a:srgbClr val="6B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6B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step2 差 4×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484324" y="2980618"/>
            <a:ext cx="2650331" cy="71438"/>
          </a:xfrm>
          <a:prstGeom prst="roundRect">
            <a:avLst>
              <a:gd name="adj" fmla="val 159999"/>
            </a:avLst>
          </a:prstGeom>
          <a:solidFill>
            <a:srgbClr val="EDF0F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324" y="2980618"/>
            <a:ext cx="2650331" cy="7143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233092" y="2944899"/>
            <a:ext cx="14288" cy="142875"/>
          </a:xfrm>
          <a:prstGeom prst="roundRect">
            <a:avLst>
              <a:gd name="adj" fmla="val 799972"/>
            </a:avLst>
          </a:prstGeom>
          <a:solidFill>
            <a:srgbClr val="B84A4A"/>
          </a:solidFill>
          <a:ln/>
        </p:spPr>
      </p:sp>
      <p:sp>
        <p:nvSpPr>
          <p:cNvPr id="18" name="Shape 14"/>
          <p:cNvSpPr/>
          <p:nvPr/>
        </p:nvSpPr>
        <p:spPr>
          <a:xfrm>
            <a:off x="3061767" y="2966331"/>
            <a:ext cx="100012" cy="100012"/>
          </a:xfrm>
          <a:prstGeom prst="ellipse">
            <a:avLst/>
          </a:prstGeom>
          <a:solidFill>
            <a:srgbClr val="B84A4A"/>
          </a:solidFill>
          <a:ln w="14288">
            <a:solidFill>
              <a:srgbClr val="FFFFFF"/>
            </a:solidFill>
            <a:prstDash val="solid"/>
          </a:ln>
          <a:effectLst>
            <a:outerShdw sx="100000" sy="100000" kx="0" ky="0" algn="bl" rotWithShape="0" blurRad="28575" dist="7144" dir="5400000">
              <a:srgbClr val="122033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84324" y="3108313"/>
            <a:ext cx="2650331" cy="10001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600" b="1" dirty="0">
                <a:solidFill>
                  <a:srgbClr val="B8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仍超红线</a:t>
            </a:r>
            <a:pPr algn="l" indent="0" marL="0">
              <a:lnSpc>
                <a:spcPts val="773"/>
              </a:lnSpc>
              <a:spcBef>
                <a:spcPts val="450"/>
              </a:spcBef>
              <a:buNone/>
            </a:pPr>
            <a:r>
              <a:rPr lang="en-US" sz="600" dirty="0">
                <a:solidFill>
                  <a:srgbClr val="6A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773"/>
              </a:lnSpc>
              <a:buNone/>
            </a:pPr>
            <a:r>
              <a:rPr lang="en-US" sz="600" dirty="0">
                <a:solidFill>
                  <a:srgbClr val="6A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step10 · GMC 吞吐</a:t>
            </a:r>
            <a:endParaRPr lang="en-US" sz="600" dirty="0"/>
          </a:p>
        </p:txBody>
      </p:sp>
      <p:sp>
        <p:nvSpPr>
          <p:cNvPr id="20" name="Shape 16"/>
          <p:cNvSpPr/>
          <p:nvPr/>
        </p:nvSpPr>
        <p:spPr>
          <a:xfrm>
            <a:off x="3346177" y="1271588"/>
            <a:ext cx="2907506" cy="2043113"/>
          </a:xfrm>
          <a:prstGeom prst="roundRect">
            <a:avLst>
              <a:gd name="adj" fmla="val 313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14313" dist="85725" dir="5400000">
              <a:srgbClr val="0F172A">
                <a:alpha val="7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3476104" y="1488467"/>
            <a:ext cx="914400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747"/>
              </a:spcBef>
              <a:spcAft>
                <a:spcPts val="747"/>
              </a:spcAft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战线 B｜吞吐上限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602263" y="1431317"/>
            <a:ext cx="521494" cy="250031"/>
          </a:xfrm>
          <a:prstGeom prst="roundRect">
            <a:avLst>
              <a:gd name="adj" fmla="val 45714"/>
            </a:avLst>
          </a:prstGeom>
          <a:solidFill>
            <a:srgbClr val="315F8D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15F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吞吐已饱和</a:t>
            </a:r>
            <a:endParaRPr lang="en-US" sz="600" dirty="0"/>
          </a:p>
        </p:txBody>
      </p:sp>
      <p:sp>
        <p:nvSpPr>
          <p:cNvPr id="23" name="Text 19"/>
          <p:cNvSpPr/>
          <p:nvPr/>
        </p:nvSpPr>
        <p:spPr>
          <a:xfrm>
            <a:off x="3474765" y="1798439"/>
            <a:ext cx="2650331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2"/>
              </a:lnSpc>
              <a:buNone/>
            </a:pPr>
            <a:r>
              <a:rPr lang="en-US" sz="1600" b="1" dirty="0">
                <a:solidFill>
                  <a:srgbClr val="244F7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14.838 fps</a:t>
            </a:r>
            <a:pPr algn="l" indent="0" marL="0">
              <a:spcBef>
                <a:spcPts val="619"/>
              </a:spcBef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实测最优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3474765" y="2510917"/>
            <a:ext cx="2650331" cy="1143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B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容量占用 97.2%</a:t>
            </a:r>
            <a:pPr algn="l" indent="0" marL="0">
              <a:buNone/>
            </a:pPr>
            <a:r>
              <a:rPr lang="en-US" sz="600" dirty="0">
                <a:solidFill>
                  <a:srgbClr val="6B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6B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 ≈ 15.3–15.6 fps</a:t>
            </a:r>
            <a:endParaRPr lang="en-US" sz="600" dirty="0"/>
          </a:p>
        </p:txBody>
      </p:sp>
      <p:sp>
        <p:nvSpPr>
          <p:cNvPr id="25" name="Shape 21"/>
          <p:cNvSpPr/>
          <p:nvPr/>
        </p:nvSpPr>
        <p:spPr>
          <a:xfrm>
            <a:off x="3474765" y="2675223"/>
            <a:ext cx="2650331" cy="71438"/>
          </a:xfrm>
          <a:prstGeom prst="roundRect">
            <a:avLst>
              <a:gd name="adj" fmla="val 159999"/>
            </a:avLst>
          </a:prstGeom>
          <a:solidFill>
            <a:srgbClr val="EDF0F4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6885" y="2675223"/>
            <a:ext cx="2571750" cy="71438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6052319" y="2660935"/>
            <a:ext cx="100012" cy="100012"/>
          </a:xfrm>
          <a:prstGeom prst="ellipse">
            <a:avLst/>
          </a:prstGeom>
          <a:solidFill>
            <a:srgbClr val="244F79"/>
          </a:solidFill>
          <a:ln w="14288">
            <a:solidFill>
              <a:srgbClr val="FFFFFF"/>
            </a:solidFill>
            <a:prstDash val="solid"/>
          </a:ln>
          <a:effectLst>
            <a:outerShdw sx="100000" sy="100000" kx="0" ky="0" algn="bl" rotWithShape="0" blurRad="28575" dist="7144" dir="5400000">
              <a:srgbClr val="122033">
                <a:alpha val="18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3476997" y="2812740"/>
            <a:ext cx="321469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600" dirty="0">
                <a:solidFill>
                  <a:srgbClr val="8B96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17.51 fps</a:t>
            </a:r>
            <a:endParaRPr lang="en-US" sz="600" dirty="0"/>
          </a:p>
        </p:txBody>
      </p:sp>
      <p:sp>
        <p:nvSpPr>
          <p:cNvPr id="29" name="Text 24"/>
          <p:cNvSpPr/>
          <p:nvPr/>
        </p:nvSpPr>
        <p:spPr>
          <a:xfrm>
            <a:off x="5823719" y="2802024"/>
            <a:ext cx="300038" cy="121444"/>
          </a:xfrm>
          <a:prstGeom prst="roundRect">
            <a:avLst>
              <a:gd name="adj" fmla="val 66436"/>
            </a:avLst>
          </a:prstGeom>
          <a:solidFill>
            <a:srgbClr val="5A6879">
              <a:alpha val="9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0" b="1" dirty="0">
                <a:solidFill>
                  <a:srgbClr val="7180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已作废</a:t>
            </a:r>
            <a:endParaRPr lang="en-US" sz="500" dirty="0"/>
          </a:p>
        </p:txBody>
      </p:sp>
      <p:sp>
        <p:nvSpPr>
          <p:cNvPr id="30" name="Text 25"/>
          <p:cNvSpPr/>
          <p:nvPr/>
        </p:nvSpPr>
        <p:spPr>
          <a:xfrm>
            <a:off x="3474765" y="2978832"/>
            <a:ext cx="2650331" cy="228600"/>
          </a:xfrm>
          <a:prstGeom prst="roundRect">
            <a:avLst>
              <a:gd name="adj" fmla="val 31250"/>
            </a:avLst>
          </a:prstGeom>
          <a:solidFill>
            <a:srgbClr val="C9974D">
              <a:alpha val="7000"/>
            </a:srgbClr>
          </a:solidFill>
          <a:ln w="7144">
            <a:solidFill>
              <a:srgbClr val="C9974D">
                <a:alpha val="2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 离线测速低估</a:t>
            </a:r>
            <a:pPr algn="l" indent="0" marL="0">
              <a:spcBef>
                <a:spcPts val="450"/>
              </a:spcBef>
              <a:buNone/>
            </a:pPr>
            <a:r>
              <a:rPr lang="en-US" sz="600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700" b="1" dirty="0">
                <a:solidFill>
                  <a:srgbClr val="244F7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1.78×</a:t>
            </a:r>
            <a:endParaRPr lang="en-US" sz="6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7969" y="3400425"/>
            <a:ext cx="5893594" cy="757237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71488" y="3543300"/>
            <a:ext cx="471488" cy="471488"/>
          </a:xfrm>
          <a:prstGeom prst="roundRect">
            <a:avLst>
              <a:gd name="adj" fmla="val 13223"/>
            </a:avLst>
          </a:prstGeom>
          <a:solidFill>
            <a:srgbClr val="122033"/>
          </a:solidFill>
          <a:ln/>
          <a:effectLst>
            <a:outerShdw sx="100000" sy="100000" kx="0" ky="0" algn="bl" rotWithShape="0" blurRad="142875" dist="57150" dir="5400000">
              <a:srgbClr val="122033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1/4</a:t>
            </a:r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spcBef>
                <a:spcPts val="225"/>
              </a:spcBef>
              <a:buNone/>
            </a:pPr>
            <a:r>
              <a:rPr lang="en-US" sz="500" dirty="0">
                <a:solidFill>
                  <a:srgbClr val="DBE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场景覆盖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078706" y="3575447"/>
            <a:ext cx="964406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横切｜场景不可复制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5809431" y="3564731"/>
            <a:ext cx="328613" cy="150019"/>
          </a:xfrm>
          <a:prstGeom prst="roundRect">
            <a:avLst>
              <a:gd name="adj" fmla="val 76190"/>
            </a:avLst>
          </a:prstGeom>
          <a:solidFill>
            <a:srgbClr val="C9974D">
              <a:alpha val="13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待补齐</a:t>
            </a:r>
            <a:endParaRPr lang="en-US" sz="500" dirty="0"/>
          </a:p>
        </p:txBody>
      </p:sp>
      <p:sp>
        <p:nvSpPr>
          <p:cNvPr id="35" name="Text 29"/>
          <p:cNvSpPr/>
          <p:nvPr/>
        </p:nvSpPr>
        <p:spPr>
          <a:xfrm>
            <a:off x="1077981" y="3764756"/>
            <a:ext cx="1378744" cy="228600"/>
          </a:xfrm>
          <a:prstGeom prst="roundRect">
            <a:avLst>
              <a:gd name="adj" fmla="val 28125"/>
            </a:avLst>
          </a:prstGeom>
          <a:solidFill>
            <a:srgbClr val="FFFFFF">
              <a:alpha val="7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352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 Skill</a:t>
            </a:r>
            <a:endParaRPr lang="en-US" sz="600" dirty="0"/>
          </a:p>
        </p:txBody>
      </p:sp>
      <p:sp>
        <p:nvSpPr>
          <p:cNvPr id="36" name="Text 30"/>
          <p:cNvSpPr/>
          <p:nvPr/>
        </p:nvSpPr>
        <p:spPr>
          <a:xfrm>
            <a:off x="2506005" y="3807619"/>
            <a:ext cx="121444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08B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2678069" y="3764756"/>
            <a:ext cx="1607344" cy="228600"/>
          </a:xfrm>
          <a:prstGeom prst="roundRect">
            <a:avLst>
              <a:gd name="adj" fmla="val 28125"/>
            </a:avLst>
          </a:prstGeom>
          <a:solidFill>
            <a:srgbClr val="B84A4A">
              <a:alpha val="7000"/>
            </a:srgbClr>
          </a:solidFill>
          <a:ln w="7144">
            <a:solidFill>
              <a:srgbClr val="B84A4A">
                <a:alpha val="16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F3F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1 个场景验证</a:t>
            </a:r>
            <a:endParaRPr lang="en-US" sz="600" dirty="0"/>
          </a:p>
        </p:txBody>
      </p:sp>
      <p:sp>
        <p:nvSpPr>
          <p:cNvPr id="38" name="Text 32"/>
          <p:cNvSpPr/>
          <p:nvPr/>
        </p:nvSpPr>
        <p:spPr>
          <a:xfrm>
            <a:off x="4336033" y="3807619"/>
            <a:ext cx="121444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08B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4508376" y="3764756"/>
            <a:ext cx="1628775" cy="228600"/>
          </a:xfrm>
          <a:prstGeom prst="roundRect">
            <a:avLst>
              <a:gd name="adj" fmla="val 28125"/>
            </a:avLst>
          </a:prstGeom>
          <a:solidFill>
            <a:srgbClr val="FFFFFF">
              <a:alpha val="7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352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无领域迁移 SOP</a:t>
            </a:r>
            <a:endParaRPr lang="en-US" sz="600" dirty="0"/>
          </a:p>
        </p:txBody>
      </p:sp>
      <p:sp>
        <p:nvSpPr>
          <p:cNvPr id="40" name="Shape 34"/>
          <p:cNvSpPr/>
          <p:nvPr/>
        </p:nvSpPr>
        <p:spPr>
          <a:xfrm>
            <a:off x="6365807" y="1271588"/>
            <a:ext cx="2836069" cy="2886075"/>
          </a:xfrm>
          <a:prstGeom prst="roundRect">
            <a:avLst>
              <a:gd name="adj" fmla="val 1624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14313" dist="85725" dir="5400000">
              <a:srgbClr val="0F172A">
                <a:alpha val="7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6487251" y="1400845"/>
            <a:ext cx="2593181" cy="214313"/>
          </a:xfrm>
          <a:prstGeom prst="rect">
            <a:avLst/>
          </a:prstGeom>
          <a:ln/>
        </p:spPr>
      </p:sp>
      <p:sp>
        <p:nvSpPr>
          <p:cNvPr id="42" name="Text 36"/>
          <p:cNvSpPr/>
          <p:nvPr/>
        </p:nvSpPr>
        <p:spPr>
          <a:xfrm>
            <a:off x="6488088" y="1400845"/>
            <a:ext cx="914400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还没被解开的根因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8580648" y="1429420"/>
            <a:ext cx="500063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RISKS</a:t>
            </a:r>
            <a:endParaRPr lang="en-US" sz="500" dirty="0"/>
          </a:p>
        </p:txBody>
      </p:sp>
      <p:sp>
        <p:nvSpPr>
          <p:cNvPr id="44" name="Shape 38"/>
          <p:cNvSpPr/>
          <p:nvPr/>
        </p:nvSpPr>
        <p:spPr>
          <a:xfrm>
            <a:off x="6487251" y="1686706"/>
            <a:ext cx="2593181" cy="535781"/>
          </a:xfrm>
          <a:prstGeom prst="roundRect">
            <a:avLst>
              <a:gd name="adj" fmla="val 6258"/>
            </a:avLst>
          </a:prstGeom>
          <a:solidFill>
            <a:srgbClr val="F8FAFC">
              <a:alpha val="76000"/>
            </a:srgbClr>
          </a:solidFill>
          <a:ln/>
        </p:spPr>
      </p:sp>
      <p:sp>
        <p:nvSpPr>
          <p:cNvPr id="45" name="Shape 39"/>
          <p:cNvSpPr/>
          <p:nvPr/>
        </p:nvSpPr>
        <p:spPr>
          <a:xfrm>
            <a:off x="6487251" y="1751000"/>
            <a:ext cx="21431" cy="406078"/>
          </a:xfrm>
          <a:prstGeom prst="rect">
            <a:avLst/>
          </a:prstGeom>
          <a:solidFill>
            <a:srgbClr val="B84A4A"/>
          </a:solidFill>
          <a:ln/>
        </p:spPr>
      </p:sp>
      <p:sp>
        <p:nvSpPr>
          <p:cNvPr id="46" name="Text 40"/>
          <p:cNvSpPr/>
          <p:nvPr/>
        </p:nvSpPr>
        <p:spPr>
          <a:xfrm>
            <a:off x="6580956" y="1744414"/>
            <a:ext cx="34290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343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锚定缺陷</a:t>
            </a:r>
            <a:endParaRPr lang="en-US" sz="600" dirty="0"/>
          </a:p>
        </p:txBody>
      </p:sp>
      <p:sp>
        <p:nvSpPr>
          <p:cNvPr id="47" name="Text 41"/>
          <p:cNvSpPr/>
          <p:nvPr/>
        </p:nvSpPr>
        <p:spPr>
          <a:xfrm>
            <a:off x="8502737" y="1744414"/>
            <a:ext cx="514350" cy="121444"/>
          </a:xfrm>
          <a:prstGeom prst="roundRect">
            <a:avLst>
              <a:gd name="adj" fmla="val 66436"/>
            </a:avLst>
          </a:prstGeom>
          <a:solidFill>
            <a:srgbClr val="5A6879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A87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历史锚定</a:t>
            </a:r>
            <a:endParaRPr lang="en-US" sz="500" dirty="0"/>
          </a:p>
        </p:txBody>
      </p:sp>
      <p:sp>
        <p:nvSpPr>
          <p:cNvPr id="48" name="Text 42"/>
          <p:cNvSpPr/>
          <p:nvPr/>
        </p:nvSpPr>
        <p:spPr>
          <a:xfrm>
            <a:off x="6580119" y="1893875"/>
            <a:ext cx="2436019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3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消费计数与物理帧号分叉，有丢帧时静默错位。</a:t>
            </a:r>
            <a:endParaRPr lang="en-US" sz="600" dirty="0"/>
          </a:p>
        </p:txBody>
      </p:sp>
      <p:sp>
        <p:nvSpPr>
          <p:cNvPr id="49" name="Text 43"/>
          <p:cNvSpPr/>
          <p:nvPr/>
        </p:nvSpPr>
        <p:spPr>
          <a:xfrm>
            <a:off x="6581794" y="2043336"/>
            <a:ext cx="557213" cy="121444"/>
          </a:xfrm>
          <a:prstGeom prst="roundRect">
            <a:avLst>
              <a:gd name="adj" fmla="val 66436"/>
            </a:avLst>
          </a:prstGeom>
          <a:solidFill>
            <a:srgbClr val="B84A4A">
              <a:alpha val="7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9F3F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abs_counter</a:t>
            </a:r>
            <a:endParaRPr lang="en-US" sz="500" dirty="0"/>
          </a:p>
        </p:txBody>
      </p:sp>
      <p:sp>
        <p:nvSpPr>
          <p:cNvPr id="50" name="Text 44"/>
          <p:cNvSpPr/>
          <p:nvPr/>
        </p:nvSpPr>
        <p:spPr>
          <a:xfrm>
            <a:off x="7175004" y="2064767"/>
            <a:ext cx="42863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B8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500" dirty="0"/>
          </a:p>
        </p:txBody>
      </p:sp>
      <p:sp>
        <p:nvSpPr>
          <p:cNvPr id="51" name="Text 45"/>
          <p:cNvSpPr/>
          <p:nvPr/>
        </p:nvSpPr>
        <p:spPr>
          <a:xfrm>
            <a:off x="7253529" y="2043336"/>
            <a:ext cx="385763" cy="121444"/>
          </a:xfrm>
          <a:prstGeom prst="roundRect">
            <a:avLst>
              <a:gd name="adj" fmla="val 66436"/>
            </a:avLst>
          </a:prstGeom>
          <a:solidFill>
            <a:srgbClr val="B84A4A">
              <a:alpha val="7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9F3F3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next_id</a:t>
            </a:r>
            <a:endParaRPr lang="en-US" sz="500" dirty="0"/>
          </a:p>
        </p:txBody>
      </p:sp>
      <p:sp>
        <p:nvSpPr>
          <p:cNvPr id="52" name="Text 46"/>
          <p:cNvSpPr/>
          <p:nvPr/>
        </p:nvSpPr>
        <p:spPr>
          <a:xfrm>
            <a:off x="7675513" y="2064767"/>
            <a:ext cx="71438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B8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500" dirty="0"/>
          </a:p>
        </p:txBody>
      </p:sp>
      <p:sp>
        <p:nvSpPr>
          <p:cNvPr id="53" name="Text 47"/>
          <p:cNvSpPr/>
          <p:nvPr/>
        </p:nvSpPr>
        <p:spPr>
          <a:xfrm>
            <a:off x="7782669" y="2050479"/>
            <a:ext cx="28575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977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静默错位</a:t>
            </a:r>
            <a:endParaRPr lang="en-US" sz="500" dirty="0"/>
          </a:p>
        </p:txBody>
      </p:sp>
      <p:sp>
        <p:nvSpPr>
          <p:cNvPr id="54" name="Shape 48"/>
          <p:cNvSpPr/>
          <p:nvPr/>
        </p:nvSpPr>
        <p:spPr>
          <a:xfrm>
            <a:off x="6487251" y="2285107"/>
            <a:ext cx="2593181" cy="492919"/>
          </a:xfrm>
          <a:prstGeom prst="roundRect">
            <a:avLst>
              <a:gd name="adj" fmla="val 7393"/>
            </a:avLst>
          </a:prstGeom>
          <a:solidFill>
            <a:srgbClr val="F8FAFC">
              <a:alpha val="76000"/>
            </a:srgbClr>
          </a:solidFill>
          <a:ln/>
        </p:spPr>
      </p:sp>
      <p:sp>
        <p:nvSpPr>
          <p:cNvPr id="55" name="Shape 49"/>
          <p:cNvSpPr/>
          <p:nvPr/>
        </p:nvSpPr>
        <p:spPr>
          <a:xfrm>
            <a:off x="6487251" y="2349401"/>
            <a:ext cx="21431" cy="362099"/>
          </a:xfrm>
          <a:prstGeom prst="rect">
            <a:avLst/>
          </a:prstGeom>
          <a:solidFill>
            <a:srgbClr val="8B96A4"/>
          </a:solidFill>
          <a:ln/>
        </p:spPr>
      </p:sp>
      <p:sp>
        <p:nvSpPr>
          <p:cNvPr id="56" name="Text 50"/>
          <p:cNvSpPr/>
          <p:nvPr/>
        </p:nvSpPr>
        <p:spPr>
          <a:xfrm>
            <a:off x="6580956" y="2343373"/>
            <a:ext cx="257175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6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禁用项</a:t>
            </a:r>
            <a:endParaRPr lang="en-US" sz="600" dirty="0"/>
          </a:p>
        </p:txBody>
      </p:sp>
      <p:sp>
        <p:nvSpPr>
          <p:cNvPr id="57" name="Text 51"/>
          <p:cNvSpPr/>
          <p:nvPr/>
        </p:nvSpPr>
        <p:spPr>
          <a:xfrm>
            <a:off x="8736695" y="2343373"/>
            <a:ext cx="278606" cy="121444"/>
          </a:xfrm>
          <a:prstGeom prst="roundRect">
            <a:avLst>
              <a:gd name="adj" fmla="val 66436"/>
            </a:avLst>
          </a:prstGeom>
          <a:solidFill>
            <a:srgbClr val="5A6879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A87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负结果</a:t>
            </a:r>
            <a:endParaRPr lang="en-US" sz="500" dirty="0"/>
          </a:p>
        </p:txBody>
      </p:sp>
      <p:sp>
        <p:nvSpPr>
          <p:cNvPr id="58" name="Text 52"/>
          <p:cNvSpPr/>
          <p:nvPr/>
        </p:nvSpPr>
        <p:spPr>
          <a:xfrm>
            <a:off x="6580119" y="2492276"/>
            <a:ext cx="2436019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53617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--npu-core-mask 7</a:t>
            </a:r>
            <a:pPr algn="l" indent="0" marL="0">
              <a:lnSpc>
                <a:spcPts val="835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3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：崩溃 </a:t>
            </a:r>
            <a:pPr algn="l" indent="0" marL="0">
              <a:lnSpc>
                <a:spcPts val="835"/>
              </a:lnSpc>
              <a:buNone/>
            </a:pPr>
            <a:r>
              <a:rPr lang="en-US" sz="600" b="1" dirty="0">
                <a:solidFill>
                  <a:srgbClr val="53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139</a:t>
            </a:r>
            <a:pPr algn="l" indent="0" marL="0">
              <a:buNone/>
            </a:pPr>
            <a:endParaRPr lang="en-US" sz="600" dirty="0"/>
          </a:p>
          <a:p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53617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queue_depth 16</a:t>
            </a:r>
            <a:pPr algn="l" indent="0" marL="0">
              <a:lnSpc>
                <a:spcPts val="835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3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53617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post_workers 2</a:t>
            </a:r>
            <a:pPr algn="l" indent="0" marL="0">
              <a:lnSpc>
                <a:spcPts val="835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3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均无效</a:t>
            </a:r>
            <a:endParaRPr lang="en-US" sz="600" dirty="0"/>
          </a:p>
        </p:txBody>
      </p:sp>
      <p:sp>
        <p:nvSpPr>
          <p:cNvPr id="59" name="Shape 53"/>
          <p:cNvSpPr/>
          <p:nvPr/>
        </p:nvSpPr>
        <p:spPr>
          <a:xfrm>
            <a:off x="6487251" y="2840645"/>
            <a:ext cx="2593181" cy="535781"/>
          </a:xfrm>
          <a:prstGeom prst="roundRect">
            <a:avLst>
              <a:gd name="adj" fmla="val 6258"/>
            </a:avLst>
          </a:prstGeom>
          <a:solidFill>
            <a:srgbClr val="F8FAFC">
              <a:alpha val="76000"/>
            </a:srgbClr>
          </a:solidFill>
          <a:ln/>
        </p:spPr>
      </p:sp>
      <p:sp>
        <p:nvSpPr>
          <p:cNvPr id="60" name="Shape 54"/>
          <p:cNvSpPr/>
          <p:nvPr/>
        </p:nvSpPr>
        <p:spPr>
          <a:xfrm>
            <a:off x="6487251" y="2904939"/>
            <a:ext cx="21431" cy="406078"/>
          </a:xfrm>
          <a:prstGeom prst="rect">
            <a:avLst/>
          </a:prstGeom>
          <a:solidFill>
            <a:srgbClr val="C9974D"/>
          </a:solidFill>
          <a:ln/>
        </p:spPr>
      </p:sp>
      <p:sp>
        <p:nvSpPr>
          <p:cNvPr id="61" name="Text 55"/>
          <p:cNvSpPr/>
          <p:nvPr/>
        </p:nvSpPr>
        <p:spPr>
          <a:xfrm>
            <a:off x="6580956" y="2898353"/>
            <a:ext cx="5143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精度链待统一</a:t>
            </a:r>
            <a:endParaRPr lang="en-US" sz="600" dirty="0"/>
          </a:p>
        </p:txBody>
      </p:sp>
      <p:sp>
        <p:nvSpPr>
          <p:cNvPr id="62" name="Text 56"/>
          <p:cNvSpPr/>
          <p:nvPr/>
        </p:nvSpPr>
        <p:spPr>
          <a:xfrm>
            <a:off x="8608107" y="2898353"/>
            <a:ext cx="407194" cy="121444"/>
          </a:xfrm>
          <a:prstGeom prst="roundRect">
            <a:avLst>
              <a:gd name="adj" fmla="val 66436"/>
            </a:avLst>
          </a:prstGeom>
          <a:solidFill>
            <a:srgbClr val="5A6879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A87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需统一口径</a:t>
            </a:r>
            <a:endParaRPr lang="en-US" sz="500" dirty="0"/>
          </a:p>
        </p:txBody>
      </p:sp>
      <p:sp>
        <p:nvSpPr>
          <p:cNvPr id="63" name="Text 57"/>
          <p:cNvSpPr/>
          <p:nvPr/>
        </p:nvSpPr>
        <p:spPr>
          <a:xfrm>
            <a:off x="6580119" y="3047814"/>
            <a:ext cx="243601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53617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ref@fullGT = 0.891871</a:t>
            </a:r>
            <a:endParaRPr lang="en-US" sz="600" dirty="0"/>
          </a:p>
        </p:txBody>
      </p:sp>
      <p:sp>
        <p:nvSpPr>
          <p:cNvPr id="64" name="Text 58"/>
          <p:cNvSpPr/>
          <p:nvPr/>
        </p:nvSpPr>
        <p:spPr>
          <a:xfrm>
            <a:off x="6582519" y="3204418"/>
            <a:ext cx="1357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B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臂</a:t>
            </a:r>
            <a:endParaRPr lang="en-US" sz="500" dirty="0"/>
          </a:p>
        </p:txBody>
      </p:sp>
      <p:sp>
        <p:nvSpPr>
          <p:cNvPr id="65" name="Text 59"/>
          <p:cNvSpPr/>
          <p:nvPr/>
        </p:nvSpPr>
        <p:spPr>
          <a:xfrm>
            <a:off x="6763290" y="3197275"/>
            <a:ext cx="414338" cy="121444"/>
          </a:xfrm>
          <a:prstGeom prst="roundRect">
            <a:avLst>
              <a:gd name="adj" fmla="val 55363"/>
            </a:avLst>
          </a:prstGeom>
          <a:solidFill>
            <a:srgbClr val="C9974D">
              <a:alpha val="9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0.891676</a:t>
            </a:r>
            <a:endParaRPr lang="en-US" sz="500" dirty="0"/>
          </a:p>
        </p:txBody>
      </p:sp>
      <p:sp>
        <p:nvSpPr>
          <p:cNvPr id="66" name="Text 60"/>
          <p:cNvSpPr/>
          <p:nvPr/>
        </p:nvSpPr>
        <p:spPr>
          <a:xfrm>
            <a:off x="7220322" y="3218706"/>
            <a:ext cx="21431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B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endParaRPr lang="en-US" sz="500" dirty="0"/>
          </a:p>
        </p:txBody>
      </p:sp>
      <p:sp>
        <p:nvSpPr>
          <p:cNvPr id="67" name="Text 61"/>
          <p:cNvSpPr/>
          <p:nvPr/>
        </p:nvSpPr>
        <p:spPr>
          <a:xfrm>
            <a:off x="7284448" y="3197275"/>
            <a:ext cx="414338" cy="121444"/>
          </a:xfrm>
          <a:prstGeom prst="roundRect">
            <a:avLst>
              <a:gd name="adj" fmla="val 55363"/>
            </a:avLst>
          </a:prstGeom>
          <a:solidFill>
            <a:srgbClr val="C9974D">
              <a:alpha val="9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0.891871</a:t>
            </a:r>
            <a:endParaRPr lang="en-US" sz="500" dirty="0"/>
          </a:p>
        </p:txBody>
      </p:sp>
      <p:sp>
        <p:nvSpPr>
          <p:cNvPr id="68" name="Text 62"/>
          <p:cNvSpPr/>
          <p:nvPr/>
        </p:nvSpPr>
        <p:spPr>
          <a:xfrm>
            <a:off x="7742262" y="3204418"/>
            <a:ext cx="285750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B7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双数并存</a:t>
            </a:r>
            <a:endParaRPr lang="en-US" sz="500" dirty="0"/>
          </a:p>
        </p:txBody>
      </p:sp>
      <p:sp>
        <p:nvSpPr>
          <p:cNvPr id="69" name="Shape 63"/>
          <p:cNvSpPr/>
          <p:nvPr/>
        </p:nvSpPr>
        <p:spPr>
          <a:xfrm>
            <a:off x="6487251" y="3650456"/>
            <a:ext cx="2593181" cy="400050"/>
          </a:xfrm>
          <a:prstGeom prst="roundRect">
            <a:avLst>
              <a:gd name="adj" fmla="val 13265"/>
            </a:avLst>
          </a:prstGeom>
          <a:solidFill>
            <a:srgbClr val="122033"/>
          </a:solidFill>
          <a:ln/>
        </p:spPr>
      </p:sp>
      <p:sp>
        <p:nvSpPr>
          <p:cNvPr id="70" name="Text 64"/>
          <p:cNvSpPr/>
          <p:nvPr/>
        </p:nvSpPr>
        <p:spPr>
          <a:xfrm>
            <a:off x="6565832" y="3721894"/>
            <a:ext cx="2436019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CFD9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已定位主杠杆 · NPU 上下文 1→2</a:t>
            </a:r>
            <a:pPr algn="l" indent="0" marL="0">
              <a:buNone/>
            </a:pPr>
            <a:r>
              <a:rPr lang="en-US" sz="500" dirty="0">
                <a:solidFill>
                  <a:srgbClr val="CFD9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800" b="1" dirty="0">
                <a:solidFill>
                  <a:srgbClr val="F0D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1.84×</a:t>
            </a:r>
            <a:endParaRPr lang="en-US" sz="500" dirty="0"/>
          </a:p>
        </p:txBody>
      </p:sp>
      <p:sp>
        <p:nvSpPr>
          <p:cNvPr id="71" name="Text 65"/>
          <p:cNvSpPr/>
          <p:nvPr/>
        </p:nvSpPr>
        <p:spPr>
          <a:xfrm>
            <a:off x="6565832" y="3864769"/>
            <a:ext cx="243601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B9C6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预期收益</a:t>
            </a:r>
            <a:pPr algn="l" indent="0" marL="0">
              <a:spcBef>
                <a:spcPts val="169"/>
              </a:spcBef>
              <a:buNone/>
            </a:pPr>
            <a:r>
              <a:rPr lang="en-US" sz="6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9EAC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jitter 仅 +1.2%</a:t>
            </a:r>
            <a:endParaRPr lang="en-US" sz="600" dirty="0"/>
          </a:p>
        </p:txBody>
      </p:sp>
      <p:sp>
        <p:nvSpPr>
          <p:cNvPr id="72" name="Text 66"/>
          <p:cNvSpPr/>
          <p:nvPr/>
        </p:nvSpPr>
        <p:spPr>
          <a:xfrm>
            <a:off x="357188" y="4286250"/>
            <a:ext cx="884396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600" dirty="0"/>
          </a:p>
        </p:txBody>
      </p:sp>
      <p:pic>
        <p:nvPicPr>
          <p:cNvPr id="7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7188" y="357188"/>
            <a:ext cx="8843963" cy="785813"/>
          </a:xfrm>
          <a:prstGeom prst="rect">
            <a:avLst/>
          </a:prstGeom>
        </p:spPr>
      </p:pic>
      <p:sp>
        <p:nvSpPr>
          <p:cNvPr id="74" name="Text 67"/>
          <p:cNvSpPr/>
          <p:nvPr/>
        </p:nvSpPr>
        <p:spPr>
          <a:xfrm>
            <a:off x="484324" y="2084747"/>
            <a:ext cx="2650331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7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深缓冲不能替代零丢帧</a:t>
            </a:r>
            <a:endParaRPr lang="en-US" sz="700" dirty="0"/>
          </a:p>
          <a:p>
            <a:pPr algn="l" indent="0" marL="0">
              <a:lnSpc>
                <a:spcPts val="987"/>
              </a:lnSpc>
              <a:buNone/>
            </a:pPr>
            <a:r>
              <a:rPr lang="en-US" sz="7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GMC 吞吐仍未过相机率红线</a:t>
            </a:r>
            <a:endParaRPr lang="en-US" sz="700" dirty="0"/>
          </a:p>
        </p:txBody>
      </p:sp>
      <p:sp>
        <p:nvSpPr>
          <p:cNvPr id="75" name="Text 68"/>
          <p:cNvSpPr/>
          <p:nvPr/>
        </p:nvSpPr>
        <p:spPr>
          <a:xfrm>
            <a:off x="3474765" y="2084747"/>
            <a:ext cx="2650331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7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理论天花板 ≈ 15.3–15.6 fps</a:t>
            </a:r>
            <a:endParaRPr lang="en-US" sz="700" dirty="0"/>
          </a:p>
          <a:p>
            <a:pPr algn="l" indent="0" marL="0">
              <a:lnSpc>
                <a:spcPts val="987"/>
              </a:lnSpc>
              <a:buNone/>
            </a:pPr>
            <a:r>
              <a:rPr lang="en-US" sz="7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容量占用已达 97.2%</a:t>
            </a:r>
            <a:endParaRPr lang="en-US" sz="700" dirty="0"/>
          </a:p>
        </p:txBody>
      </p:sp>
      <p:pic>
        <p:nvPicPr>
          <p:cNvPr id="7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87251" y="1400845"/>
            <a:ext cx="2593181" cy="214313"/>
          </a:xfrm>
          <a:prstGeom prst="rect">
            <a:avLst/>
          </a:prstGeom>
        </p:spPr>
      </p:pic>
      <p:pic>
        <p:nvPicPr>
          <p:cNvPr id="7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7188" y="4286250"/>
            <a:ext cx="884396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57188" y="357188"/>
            <a:ext cx="8843963" cy="785813"/>
          </a:xfrm>
          <a:prstGeom prst="rect">
            <a:avLst/>
          </a:prstGeom>
          <a:ln/>
        </p:spPr>
      </p:sp>
      <p:sp>
        <p:nvSpPr>
          <p:cNvPr id="6" name="Text 3"/>
          <p:cNvSpPr/>
          <p:nvPr/>
        </p:nvSpPr>
        <p:spPr>
          <a:xfrm>
            <a:off x="356964" y="215764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A｜Lite GMC / No-GMC：解开硬保证与可对账的互斥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6438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内容门控保等价，算法替换释放吞吐。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16/18</a:t>
            </a:r>
            <a:endParaRPr lang="en-US" sz="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908" y="1271588"/>
            <a:ext cx="2007394" cy="3857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8149" y="1385888"/>
            <a:ext cx="364331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2.39×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96262" y="1353741"/>
            <a:ext cx="714375" cy="2214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spcAft>
                <a:spcPts val="113"/>
              </a:spcAft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吞吐提升</a:t>
            </a:r>
            <a:pPr algn="l" indent="0" marL="0">
              <a:lnSpc>
                <a:spcPts val="809"/>
              </a:lnSpc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6.156 → 14.704 fps</a:t>
            </a:r>
            <a:endParaRPr lang="en-US" sz="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35237" y="1271588"/>
            <a:ext cx="2007394" cy="3857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34357" y="1385888"/>
            <a:ext cx="692944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−0.000195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297622" y="1353741"/>
            <a:ext cx="685800" cy="2214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spcAft>
                <a:spcPts val="113"/>
              </a:spcAft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变化</a:t>
            </a:r>
            <a:pPr algn="l" indent="0" marL="0">
              <a:lnSpc>
                <a:spcPts val="809"/>
              </a:lnSpc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语义切换几乎免费</a:t>
            </a:r>
            <a:endParaRPr lang="en-US" sz="600" dirty="0"/>
          </a:p>
        </p:txBody>
      </p:sp>
      <p:sp>
        <p:nvSpPr>
          <p:cNvPr id="16" name="Shape 11"/>
          <p:cNvSpPr/>
          <p:nvPr/>
        </p:nvSpPr>
        <p:spPr>
          <a:xfrm>
            <a:off x="4514013" y="1271588"/>
            <a:ext cx="2307431" cy="385763"/>
          </a:xfrm>
          <a:prstGeom prst="roundRect">
            <a:avLst>
              <a:gd name="adj" fmla="val 17558"/>
            </a:avLst>
          </a:prstGeom>
          <a:solidFill>
            <a:srgbClr val="F4F6F9">
              <a:alpha val="90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57163" dist="57150" dir="5400000">
              <a:srgbClr val="0F172A">
                <a:alpha val="55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4613356" y="1385888"/>
            <a:ext cx="48577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+ 21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171182" y="1353741"/>
            <a:ext cx="821531" cy="2214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spcAft>
                <a:spcPts val="113"/>
              </a:spcAft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恒等场景跳过</a:t>
            </a:r>
            <a:pPr algn="l" indent="0" marL="0">
              <a:lnSpc>
                <a:spcPts val="809"/>
              </a:lnSpc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拟合与 warp 全部跳过</a:t>
            </a:r>
            <a:endParaRPr lang="en-US" sz="600" dirty="0"/>
          </a:p>
        </p:txBody>
      </p:sp>
      <p:sp>
        <p:nvSpPr>
          <p:cNvPr id="19" name="Shape 14"/>
          <p:cNvSpPr/>
          <p:nvPr/>
        </p:nvSpPr>
        <p:spPr>
          <a:xfrm>
            <a:off x="6893216" y="1271588"/>
            <a:ext cx="2307431" cy="385763"/>
          </a:xfrm>
          <a:prstGeom prst="roundRect">
            <a:avLst>
              <a:gd name="adj" fmla="val 17558"/>
            </a:avLst>
          </a:prstGeom>
          <a:solidFill>
            <a:srgbClr val="F4F6F9">
              <a:alpha val="90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57163" dist="57150" dir="5400000">
              <a:srgbClr val="0F172A">
                <a:alpha val="55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992838" y="1385888"/>
            <a:ext cx="61436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61.71 ms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678471" y="1353741"/>
            <a:ext cx="921544" cy="2214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spcAft>
                <a:spcPts val="113"/>
              </a:spcAft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下一主瓶颈</a:t>
            </a:r>
            <a:pPr algn="l" indent="0" marL="0">
              <a:lnSpc>
                <a:spcPts val="809"/>
              </a:lnSpc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删除 GMC 后残余 99.9%</a:t>
            </a:r>
            <a:endParaRPr lang="en-US" sz="600" dirty="0"/>
          </a:p>
        </p:txBody>
      </p:sp>
      <p:sp>
        <p:nvSpPr>
          <p:cNvPr id="22" name="Shape 17"/>
          <p:cNvSpPr/>
          <p:nvPr/>
        </p:nvSpPr>
        <p:spPr>
          <a:xfrm>
            <a:off x="357690" y="1721644"/>
            <a:ext cx="5107781" cy="1635919"/>
          </a:xfrm>
          <a:prstGeom prst="roundRect">
            <a:avLst>
              <a:gd name="adj" fmla="val 5858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477906" y="1850175"/>
            <a:ext cx="1843088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内容门控：以等价判据替代墙钟判据</a:t>
            </a:r>
            <a:endParaRPr lang="en-US" sz="700" dirty="0"/>
          </a:p>
        </p:txBody>
      </p:sp>
      <p:sp>
        <p:nvSpPr>
          <p:cNvPr id="24" name="Shape 19"/>
          <p:cNvSpPr/>
          <p:nvPr/>
        </p:nvSpPr>
        <p:spPr>
          <a:xfrm>
            <a:off x="477906" y="1850175"/>
            <a:ext cx="28575" cy="114300"/>
          </a:xfrm>
          <a:prstGeom prst="rect">
            <a:avLst/>
          </a:prstGeom>
          <a:solidFill>
            <a:srgbClr val="C9974D"/>
          </a:solidFill>
          <a:ln/>
        </p:spPr>
      </p:sp>
      <p:sp>
        <p:nvSpPr>
          <p:cNvPr id="25" name="Text 20"/>
          <p:cNvSpPr/>
          <p:nvPr/>
        </p:nvSpPr>
        <p:spPr>
          <a:xfrm>
            <a:off x="4335587" y="1828800"/>
            <a:ext cx="1007269" cy="164306"/>
          </a:xfrm>
          <a:prstGeom prst="roundRect">
            <a:avLst>
              <a:gd name="adj" fmla="val 69565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只拟合 1 个矩阵 · ≈1.8 ms</a:t>
            </a:r>
            <a:endParaRPr lang="en-US" sz="500" dirty="0"/>
          </a:p>
        </p:txBody>
      </p:sp>
      <p:sp>
        <p:nvSpPr>
          <p:cNvPr id="26" name="Text 21"/>
          <p:cNvSpPr/>
          <p:nvPr/>
        </p:nvSpPr>
        <p:spPr>
          <a:xfrm>
            <a:off x="477180" y="2063874"/>
            <a:ext cx="1064419" cy="400050"/>
          </a:xfrm>
          <a:prstGeom prst="roundRect">
            <a:avLst>
              <a:gd name="adj" fmla="val 13265"/>
            </a:avLst>
          </a:prstGeom>
          <a:solidFill>
            <a:srgbClr val="F4F6F9">
              <a:alpha val="88000"/>
            </a:srgbClr>
          </a:solidFill>
          <a:ln w="7144">
            <a:solidFill>
              <a:srgbClr val="122033">
                <a:alpha val="9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34"/>
              </a:lnSpc>
              <a:spcAft>
                <a:spcPts val="113"/>
              </a:spcAft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810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输入帧组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615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帧</a:t>
            </a:r>
            <a:endParaRPr lang="en-US" sz="500" dirty="0"/>
          </a:p>
        </p:txBody>
      </p:sp>
      <p:sp>
        <p:nvSpPr>
          <p:cNvPr id="27" name="Text 22"/>
          <p:cNvSpPr/>
          <p:nvPr/>
        </p:nvSpPr>
        <p:spPr>
          <a:xfrm>
            <a:off x="1540148" y="2063874"/>
            <a:ext cx="128588" cy="4000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033">
                    <a:alpha val="3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670298" y="2063874"/>
            <a:ext cx="1185863" cy="400050"/>
          </a:xfrm>
          <a:prstGeom prst="roundRect">
            <a:avLst>
              <a:gd name="adj" fmla="val 13265"/>
            </a:avLst>
          </a:prstGeom>
          <a:solidFill>
            <a:srgbClr val="C9974D">
              <a:alpha val="14000"/>
            </a:srgbClr>
          </a:solidFill>
          <a:ln w="7144">
            <a:solidFill>
              <a:srgbClr val="C9974D">
                <a:alpha val="3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34"/>
              </a:lnSpc>
              <a:spcAft>
                <a:spcPts val="113"/>
              </a:spcAft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810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内容门控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615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净位移判定</a:t>
            </a:r>
            <a:endParaRPr lang="en-US" sz="500" dirty="0"/>
          </a:p>
        </p:txBody>
      </p:sp>
      <p:sp>
        <p:nvSpPr>
          <p:cNvPr id="29" name="Text 24"/>
          <p:cNvSpPr/>
          <p:nvPr/>
        </p:nvSpPr>
        <p:spPr>
          <a:xfrm>
            <a:off x="2857723" y="2063874"/>
            <a:ext cx="128588" cy="4000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033">
                    <a:alpha val="3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2987539" y="2063874"/>
            <a:ext cx="1250156" cy="400050"/>
          </a:xfrm>
          <a:prstGeom prst="roundRect">
            <a:avLst>
              <a:gd name="adj" fmla="val 13265"/>
            </a:avLst>
          </a:prstGeom>
          <a:solidFill>
            <a:srgbClr val="F4F6F9">
              <a:alpha val="88000"/>
            </a:srgbClr>
          </a:solidFill>
          <a:ln w="7144">
            <a:solidFill>
              <a:srgbClr val="122033">
                <a:alpha val="9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34"/>
              </a:lnSpc>
              <a:spcAft>
                <a:spcPts val="113"/>
              </a:spcAft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ESTIMATE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810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拟合 1 个矩阵</a:t>
            </a:r>
            <a:pPr algn="ctr" indent="0" marL="0">
              <a:buNone/>
            </a:pPr>
            <a:r>
              <a:rPr lang="en-US" sz="900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615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≈1.8 ms</a:t>
            </a:r>
            <a:endParaRPr lang="en-US" sz="500" dirty="0"/>
          </a:p>
        </p:txBody>
      </p:sp>
      <p:sp>
        <p:nvSpPr>
          <p:cNvPr id="31" name="Text 26"/>
          <p:cNvSpPr/>
          <p:nvPr/>
        </p:nvSpPr>
        <p:spPr>
          <a:xfrm>
            <a:off x="4238923" y="2063874"/>
            <a:ext cx="128588" cy="4000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033">
                    <a:alpha val="3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4366506" y="2063874"/>
            <a:ext cx="978694" cy="400050"/>
          </a:xfrm>
          <a:prstGeom prst="roundRect">
            <a:avLst>
              <a:gd name="adj" fmla="val 13265"/>
            </a:avLst>
          </a:prstGeom>
          <a:solidFill>
            <a:srgbClr val="122033"/>
          </a:solidFill>
          <a:ln w="7144">
            <a:solidFill>
              <a:srgbClr val="12203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34"/>
              </a:lnSpc>
              <a:spcAft>
                <a:spcPts val="113"/>
              </a:spcAft>
              <a:buNone/>
            </a:pPr>
            <a:r>
              <a:rPr lang="en-US" sz="500" b="1" dirty="0">
                <a:solidFill>
                  <a:srgbClr val="F8FAFC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</a:t>
            </a:r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810"/>
              </a:lnSpc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身份判定</a:t>
            </a:r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615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F8FAFC">
                    <a:alpha val="6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内容分支</a:t>
            </a:r>
            <a:endParaRPr lang="en-US" sz="500" dirty="0"/>
          </a:p>
        </p:txBody>
      </p:sp>
      <p:sp>
        <p:nvSpPr>
          <p:cNvPr id="33" name="Shape 28"/>
          <p:cNvSpPr/>
          <p:nvPr/>
        </p:nvSpPr>
        <p:spPr>
          <a:xfrm>
            <a:off x="2912023" y="2527548"/>
            <a:ext cx="7144" cy="57150"/>
          </a:xfrm>
          <a:prstGeom prst="rect">
            <a:avLst/>
          </a:prstGeom>
          <a:solidFill>
            <a:srgbClr val="122033">
              <a:alpha val="18000"/>
            </a:srgbClr>
          </a:solidFill>
          <a:ln/>
        </p:spPr>
      </p:sp>
      <p:sp>
        <p:nvSpPr>
          <p:cNvPr id="34" name="Shape 29"/>
          <p:cNvSpPr/>
          <p:nvPr/>
        </p:nvSpPr>
        <p:spPr>
          <a:xfrm>
            <a:off x="1695578" y="2577554"/>
            <a:ext cx="2433004" cy="7144"/>
          </a:xfrm>
          <a:prstGeom prst="rect">
            <a:avLst/>
          </a:prstGeom>
          <a:solidFill>
            <a:srgbClr val="122033">
              <a:alpha val="18000"/>
            </a:srgbClr>
          </a:solidFill>
          <a:ln/>
        </p:spPr>
      </p:sp>
      <p:sp>
        <p:nvSpPr>
          <p:cNvPr id="35" name="Shape 30"/>
          <p:cNvSpPr/>
          <p:nvPr/>
        </p:nvSpPr>
        <p:spPr>
          <a:xfrm>
            <a:off x="477069" y="2584698"/>
            <a:ext cx="2400300" cy="364331"/>
          </a:xfrm>
          <a:prstGeom prst="roundRect">
            <a:avLst>
              <a:gd name="adj" fmla="val 17224"/>
            </a:avLst>
          </a:prstGeom>
          <a:solidFill>
            <a:srgbClr val="437E65">
              <a:alpha val="9000"/>
            </a:srgbClr>
          </a:solidFill>
          <a:ln w="7144">
            <a:solidFill>
              <a:srgbClr val="437E65">
                <a:alpha val="2200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57213" y="2659707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437E65">
              <a:alpha val="13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F74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834256" y="2654350"/>
            <a:ext cx="196453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3"/>
              </a:spcAft>
              <a:buNone/>
            </a:pPr>
            <a:r>
              <a:rPr lang="en-US" sz="600" b="1" dirty="0">
                <a:solidFill>
                  <a:srgbClr val="3566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近恒等｜恒等等价</a:t>
            </a:r>
            <a:endParaRPr lang="en-US" sz="600" dirty="0"/>
          </a:p>
        </p:txBody>
      </p:sp>
      <p:sp>
        <p:nvSpPr>
          <p:cNvPr id="38" name="Text 33"/>
          <p:cNvSpPr/>
          <p:nvPr/>
        </p:nvSpPr>
        <p:spPr>
          <a:xfrm>
            <a:off x="834256" y="2788295"/>
            <a:ext cx="1964531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0" b="1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warp(I,I) ≡ I</a:t>
            </a:r>
            <a:pPr algn="l" indent="0" marL="0">
              <a:lnSpc>
                <a:spcPts val="703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，跳过 21 拟合 + 21 warp</a:t>
            </a:r>
            <a:endParaRPr lang="en-US" sz="500" dirty="0"/>
          </a:p>
        </p:txBody>
      </p:sp>
      <p:sp>
        <p:nvSpPr>
          <p:cNvPr id="39" name="Shape 34"/>
          <p:cNvSpPr/>
          <p:nvPr/>
        </p:nvSpPr>
        <p:spPr>
          <a:xfrm>
            <a:off x="2945681" y="2584698"/>
            <a:ext cx="2400300" cy="364331"/>
          </a:xfrm>
          <a:prstGeom prst="roundRect">
            <a:avLst>
              <a:gd name="adj" fmla="val 17224"/>
            </a:avLst>
          </a:prstGeom>
          <a:solidFill>
            <a:srgbClr val="F4F6F9">
              <a:alpha val="74000"/>
            </a:srgbClr>
          </a:solidFill>
          <a:ln w="7144">
            <a:solidFill>
              <a:srgbClr val="122033">
                <a:alpha val="9000"/>
              </a:srgbClr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3025825" y="2659707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122033">
              <a:alpha val="7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↺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3302868" y="2654350"/>
            <a:ext cx="196453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3"/>
              </a:spcAft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未通过｜兼容回退</a:t>
            </a:r>
            <a:endParaRPr lang="en-US" sz="600" dirty="0"/>
          </a:p>
        </p:txBody>
      </p:sp>
      <p:sp>
        <p:nvSpPr>
          <p:cNvPr id="42" name="Text 37"/>
          <p:cNvSpPr/>
          <p:nvPr/>
        </p:nvSpPr>
        <p:spPr>
          <a:xfrm>
            <a:off x="3302868" y="2788295"/>
            <a:ext cx="1964531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保留原 GMC 路径，保证兼容与可对账</a:t>
            </a:r>
            <a:endParaRPr lang="en-US" sz="500" dirty="0"/>
          </a:p>
        </p:txBody>
      </p:sp>
      <p:sp>
        <p:nvSpPr>
          <p:cNvPr id="43" name="Text 38"/>
          <p:cNvSpPr/>
          <p:nvPr/>
        </p:nvSpPr>
        <p:spPr>
          <a:xfrm>
            <a:off x="479134" y="2997584"/>
            <a:ext cx="4864894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9"/>
              </a:lnSpc>
              <a:spcBef>
                <a:spcPts val="394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门控以内容而非墙钟决定是否计算：少算，但不牺牲等价性与对账基线。</a:t>
            </a:r>
            <a:endParaRPr lang="en-US" sz="500" dirty="0"/>
          </a:p>
        </p:txBody>
      </p:sp>
      <p:sp>
        <p:nvSpPr>
          <p:cNvPr id="44" name="Shape 39"/>
          <p:cNvSpPr/>
          <p:nvPr/>
        </p:nvSpPr>
        <p:spPr>
          <a:xfrm>
            <a:off x="5551029" y="1721644"/>
            <a:ext cx="3650456" cy="1635919"/>
          </a:xfrm>
          <a:prstGeom prst="roundRect">
            <a:avLst>
              <a:gd name="adj" fmla="val 5858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5643897" y="1814513"/>
            <a:ext cx="3464719" cy="692944"/>
          </a:xfrm>
          <a:prstGeom prst="roundRect">
            <a:avLst>
              <a:gd name="adj" fmla="val 5101"/>
            </a:avLst>
          </a:prstGeom>
          <a:solidFill>
            <a:srgbClr val="F4F6F9">
              <a:alpha val="6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5728841" y="1907381"/>
            <a:ext cx="757237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 GMC vs No-GMC</a:t>
            </a:r>
            <a:endParaRPr lang="en-US" sz="500" dirty="0"/>
          </a:p>
        </p:txBody>
      </p:sp>
      <p:sp>
        <p:nvSpPr>
          <p:cNvPr id="47" name="Text 42"/>
          <p:cNvSpPr/>
          <p:nvPr/>
        </p:nvSpPr>
        <p:spPr>
          <a:xfrm>
            <a:off x="8551683" y="1885950"/>
            <a:ext cx="471488" cy="128588"/>
          </a:xfrm>
          <a:prstGeom prst="roundRect">
            <a:avLst>
              <a:gd name="adj" fmla="val 88889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几乎不变</a:t>
            </a:r>
            <a:endParaRPr lang="en-US" sz="500" dirty="0"/>
          </a:p>
        </p:txBody>
      </p:sp>
      <p:sp>
        <p:nvSpPr>
          <p:cNvPr id="48" name="Shape 43"/>
          <p:cNvSpPr/>
          <p:nvPr/>
        </p:nvSpPr>
        <p:spPr>
          <a:xfrm>
            <a:off x="5729622" y="2050256"/>
            <a:ext cx="2621756" cy="364331"/>
          </a:xfrm>
          <a:prstGeom prst="rect">
            <a:avLst/>
          </a:prstGeom>
          <a:ln/>
        </p:spPr>
      </p:sp>
      <p:sp>
        <p:nvSpPr>
          <p:cNvPr id="49" name="Text 44"/>
          <p:cNvSpPr/>
          <p:nvPr/>
        </p:nvSpPr>
        <p:spPr>
          <a:xfrm>
            <a:off x="6772554" y="2107406"/>
            <a:ext cx="164306" cy="642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5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6.156</a:t>
            </a:r>
            <a:endParaRPr lang="en-US" sz="500" dirty="0"/>
          </a:p>
        </p:txBody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47607" y="2185988"/>
            <a:ext cx="214313" cy="121444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7126170" y="1957388"/>
            <a:ext cx="200025" cy="642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5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14.704</a:t>
            </a:r>
            <a:endParaRPr lang="en-US" sz="500" dirty="0"/>
          </a:p>
        </p:txBody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9082" y="2035969"/>
            <a:ext cx="214313" cy="271463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8656941" y="2050256"/>
            <a:ext cx="364331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12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2.39×</a:t>
            </a:r>
            <a:endParaRPr lang="en-US" sz="1200" dirty="0"/>
          </a:p>
        </p:txBody>
      </p:sp>
      <p:sp>
        <p:nvSpPr>
          <p:cNvPr id="54" name="Text 47"/>
          <p:cNvSpPr/>
          <p:nvPr/>
        </p:nvSpPr>
        <p:spPr>
          <a:xfrm>
            <a:off x="8665034" y="2237333"/>
            <a:ext cx="357187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41"/>
              </a:lnSpc>
              <a:spcBef>
                <a:spcPts val="225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吞吐量提升</a:t>
            </a:r>
            <a:endParaRPr lang="en-US" sz="500" dirty="0"/>
          </a:p>
        </p:txBody>
      </p:sp>
      <p:sp>
        <p:nvSpPr>
          <p:cNvPr id="55" name="Text 48"/>
          <p:cNvSpPr/>
          <p:nvPr/>
        </p:nvSpPr>
        <p:spPr>
          <a:xfrm>
            <a:off x="8528633" y="2338685"/>
            <a:ext cx="492919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ΔF1 −0.000195</a:t>
            </a:r>
            <a:endParaRPr lang="en-US" sz="500" dirty="0"/>
          </a:p>
        </p:txBody>
      </p:sp>
      <p:sp>
        <p:nvSpPr>
          <p:cNvPr id="56" name="Shape 49"/>
          <p:cNvSpPr/>
          <p:nvPr/>
        </p:nvSpPr>
        <p:spPr>
          <a:xfrm>
            <a:off x="5643897" y="2571750"/>
            <a:ext cx="3464719" cy="692944"/>
          </a:xfrm>
          <a:prstGeom prst="roundRect">
            <a:avLst>
              <a:gd name="adj" fmla="val 5101"/>
            </a:avLst>
          </a:prstGeom>
          <a:solidFill>
            <a:srgbClr val="C9974D">
              <a:alpha val="8000"/>
            </a:srgbClr>
          </a:solidFill>
          <a:ln w="7144">
            <a:solidFill>
              <a:srgbClr val="C9974D">
                <a:alpha val="20000"/>
              </a:srgbClr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5731520" y="2653903"/>
            <a:ext cx="76438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 GMC 后残余时间</a:t>
            </a:r>
            <a:endParaRPr lang="en-US" sz="500" dirty="0"/>
          </a:p>
        </p:txBody>
      </p:sp>
      <p:sp>
        <p:nvSpPr>
          <p:cNvPr id="58" name="Text 51"/>
          <p:cNvSpPr/>
          <p:nvPr/>
        </p:nvSpPr>
        <p:spPr>
          <a:xfrm>
            <a:off x="8473939" y="2643188"/>
            <a:ext cx="550069" cy="128588"/>
          </a:xfrm>
          <a:prstGeom prst="roundRect">
            <a:avLst>
              <a:gd name="adj" fmla="val 88889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 / A3 主目标</a:t>
            </a:r>
            <a:endParaRPr lang="en-US" sz="500" dirty="0"/>
          </a:p>
        </p:txBody>
      </p:sp>
      <p:sp>
        <p:nvSpPr>
          <p:cNvPr id="59" name="Text 52"/>
          <p:cNvSpPr/>
          <p:nvPr/>
        </p:nvSpPr>
        <p:spPr>
          <a:xfrm>
            <a:off x="5730292" y="2807494"/>
            <a:ext cx="628650" cy="2357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61.71 ms </a:t>
            </a:r>
            <a:pPr algn="l" indent="0" marL="0">
              <a:lnSpc>
                <a:spcPts val="506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剩余主瓶颈</a:t>
            </a:r>
            <a:endParaRPr lang="en-US" sz="1100" dirty="0"/>
          </a:p>
        </p:txBody>
      </p:sp>
      <p:sp>
        <p:nvSpPr>
          <p:cNvPr id="60" name="Shape 53"/>
          <p:cNvSpPr/>
          <p:nvPr/>
        </p:nvSpPr>
        <p:spPr>
          <a:xfrm>
            <a:off x="6429710" y="2839641"/>
            <a:ext cx="2593181" cy="64294"/>
          </a:xfrm>
          <a:prstGeom prst="roundRect">
            <a:avLst>
              <a:gd name="adj" fmla="val 177777"/>
            </a:avLst>
          </a:prstGeom>
          <a:solidFill>
            <a:srgbClr val="122033">
              <a:alpha val="8000"/>
            </a:srgbClr>
          </a:solidFill>
          <a:ln/>
        </p:spPr>
      </p:sp>
      <p:pic>
        <p:nvPicPr>
          <p:cNvPr id="61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31942" y="2839641"/>
            <a:ext cx="2586038" cy="64294"/>
          </a:xfrm>
          <a:prstGeom prst="rect">
            <a:avLst/>
          </a:prstGeom>
        </p:spPr>
      </p:pic>
      <p:sp>
        <p:nvSpPr>
          <p:cNvPr id="62" name="Text 54"/>
          <p:cNvSpPr/>
          <p:nvPr/>
        </p:nvSpPr>
        <p:spPr>
          <a:xfrm>
            <a:off x="6429710" y="2932509"/>
            <a:ext cx="2593181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可微 GMC-Net + median</a:t>
            </a:r>
            <a:pPr algn="l" indent="0" marL="0">
              <a:lnSpc>
                <a:spcPts val="506"/>
              </a:lnSpc>
              <a:spcBef>
                <a:spcPts val="225"/>
              </a:spcBef>
              <a:buNone/>
            </a:pPr>
            <a:r>
              <a:rPr lang="en-US" sz="5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619"/>
              </a:lnSpc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99.9%</a:t>
            </a:r>
            <a:endParaRPr lang="en-US" sz="500" dirty="0"/>
          </a:p>
        </p:txBody>
      </p:sp>
      <p:sp>
        <p:nvSpPr>
          <p:cNvPr id="63" name="Shape 55"/>
          <p:cNvSpPr/>
          <p:nvPr/>
        </p:nvSpPr>
        <p:spPr>
          <a:xfrm>
            <a:off x="357188" y="3421856"/>
            <a:ext cx="2900362" cy="385763"/>
          </a:xfrm>
          <a:prstGeom prst="roundRect">
            <a:avLst>
              <a:gd name="adj" fmla="val 16461"/>
            </a:avLst>
          </a:prstGeom>
          <a:solidFill>
            <a:srgbClr val="FFFFFF">
              <a:alpha val="7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42875" dist="50006" dir="5400000">
              <a:srgbClr val="0F172A">
                <a:alpha val="4300"/>
              </a:srgbClr>
            </a:outerShdw>
          </a:effectLst>
        </p:spPr>
      </p:sp>
      <p:sp>
        <p:nvSpPr>
          <p:cNvPr id="64" name="Text 56"/>
          <p:cNvSpPr/>
          <p:nvPr/>
        </p:nvSpPr>
        <p:spPr>
          <a:xfrm>
            <a:off x="442913" y="3511153"/>
            <a:ext cx="557213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已知基线 </a:t>
            </a:r>
            <a:pPr algn="l" indent="0" marL="0">
              <a:lnSpc>
                <a:spcPts val="668"/>
              </a:lnSpc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</a:t>
            </a:r>
            <a:endParaRPr lang="en-US" sz="600" dirty="0"/>
          </a:p>
        </p:txBody>
      </p:sp>
      <p:sp>
        <p:nvSpPr>
          <p:cNvPr id="65" name="Text 57"/>
          <p:cNvSpPr/>
          <p:nvPr/>
        </p:nvSpPr>
        <p:spPr>
          <a:xfrm>
            <a:off x="1071563" y="3521869"/>
            <a:ext cx="2100263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Native</a:t>
            </a:r>
            <a:pPr algn="l" indent="0" marL="0">
              <a:lnSpc>
                <a:spcPts val="721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183.32 ms · F1 0.9062</a:t>
            </a:r>
            <a:pPr algn="l" indent="0" marL="0">
              <a:buNone/>
            </a:pPr>
            <a:endParaRPr lang="en-US" sz="500" dirty="0"/>
          </a:p>
          <a:p>
            <a:pPr algn="l" indent="0" marL="0">
              <a:lnSpc>
                <a:spcPts val="721"/>
              </a:lnSpc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No-GMC</a:t>
            </a:r>
            <a:pPr algn="l" indent="0" marL="0">
              <a:lnSpc>
                <a:spcPts val="721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61.78 ms · ΔF1 −0.0054</a:t>
            </a:r>
            <a:endParaRPr lang="en-US" sz="500" dirty="0"/>
          </a:p>
        </p:txBody>
      </p:sp>
      <p:sp>
        <p:nvSpPr>
          <p:cNvPr id="66" name="Shape 58"/>
          <p:cNvSpPr/>
          <p:nvPr/>
        </p:nvSpPr>
        <p:spPr>
          <a:xfrm>
            <a:off x="3328988" y="3421856"/>
            <a:ext cx="2900362" cy="385763"/>
          </a:xfrm>
          <a:prstGeom prst="roundRect">
            <a:avLst>
              <a:gd name="adj" fmla="val 16461"/>
            </a:avLst>
          </a:prstGeom>
          <a:solidFill>
            <a:srgbClr val="FFFFFF">
              <a:alpha val="7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42875" dist="50006" dir="5400000">
              <a:srgbClr val="0F172A">
                <a:alpha val="4300"/>
              </a:srgbClr>
            </a:outerShdw>
          </a:effectLst>
        </p:spPr>
      </p:sp>
      <p:sp>
        <p:nvSpPr>
          <p:cNvPr id="67" name="Text 59"/>
          <p:cNvSpPr/>
          <p:nvPr/>
        </p:nvSpPr>
        <p:spPr>
          <a:xfrm>
            <a:off x="3414713" y="3511153"/>
            <a:ext cx="557213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两级缓存 </a:t>
            </a:r>
            <a:pPr algn="l" indent="0" marL="0">
              <a:lnSpc>
                <a:spcPts val="668"/>
              </a:lnSpc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免费提速</a:t>
            </a:r>
            <a:endParaRPr lang="en-US" sz="600" dirty="0"/>
          </a:p>
        </p:txBody>
      </p:sp>
      <p:sp>
        <p:nvSpPr>
          <p:cNvPr id="68" name="Text 60"/>
          <p:cNvSpPr/>
          <p:nvPr/>
        </p:nvSpPr>
        <p:spPr>
          <a:xfrm>
            <a:off x="4043363" y="3521869"/>
            <a:ext cx="2100263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恒定 22 帧</a:t>
            </a:r>
            <a:pPr algn="l" indent="0" marL="0">
              <a:lnSpc>
                <a:spcPts val="721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+7.19 MiB/引擎</a:t>
            </a:r>
            <a:pPr algn="l" indent="0" marL="0">
              <a:buNone/>
            </a:pPr>
            <a:endParaRPr lang="en-US" sz="500" dirty="0"/>
          </a:p>
          <a:p>
            <a:pPr algn="l" indent="0" marL="0">
              <a:lnSpc>
                <a:spcPts val="721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0.45–0.48 ms/帧</a:t>
            </a:r>
            <a:endParaRPr lang="en-US" sz="500" dirty="0"/>
          </a:p>
        </p:txBody>
      </p:sp>
      <p:sp>
        <p:nvSpPr>
          <p:cNvPr id="69" name="Shape 61"/>
          <p:cNvSpPr/>
          <p:nvPr/>
        </p:nvSpPr>
        <p:spPr>
          <a:xfrm>
            <a:off x="6300788" y="3421856"/>
            <a:ext cx="2900362" cy="385763"/>
          </a:xfrm>
          <a:prstGeom prst="roundRect">
            <a:avLst>
              <a:gd name="adj" fmla="val 16461"/>
            </a:avLst>
          </a:prstGeom>
          <a:solidFill>
            <a:srgbClr val="FFFFFF">
              <a:alpha val="76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42875" dist="50006" dir="5400000">
              <a:srgbClr val="0F172A">
                <a:alpha val="4300"/>
              </a:srgbClr>
            </a:outerShdw>
          </a:effectLst>
        </p:spPr>
      </p:sp>
      <p:sp>
        <p:nvSpPr>
          <p:cNvPr id="70" name="Text 62"/>
          <p:cNvSpPr/>
          <p:nvPr/>
        </p:nvSpPr>
        <p:spPr>
          <a:xfrm>
            <a:off x="6386513" y="3511153"/>
            <a:ext cx="557213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多引擎 </a:t>
            </a:r>
            <a:pPr algn="l" indent="0" marL="0">
              <a:lnSpc>
                <a:spcPts val="668"/>
              </a:lnSpc>
              <a:spcBef>
                <a:spcPts val="169"/>
              </a:spcBef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逐位一致</a:t>
            </a:r>
            <a:endParaRPr lang="en-US" sz="600" dirty="0"/>
          </a:p>
        </p:txBody>
      </p:sp>
      <p:sp>
        <p:nvSpPr>
          <p:cNvPr id="71" name="Text 63"/>
          <p:cNvSpPr/>
          <p:nvPr/>
        </p:nvSpPr>
        <p:spPr>
          <a:xfrm>
            <a:off x="7015163" y="3521869"/>
            <a:ext cx="2100263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1"/>
              </a:lnSpc>
              <a:buNone/>
            </a:pPr>
            <a:r>
              <a:rPr lang="en-US" sz="5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247.50 → 151.03</a:t>
            </a:r>
            <a:pPr algn="l" indent="0" marL="0">
              <a:lnSpc>
                <a:spcPts val="721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ms/帧</a:t>
            </a:r>
            <a:pPr algn="l" indent="0" marL="0">
              <a:buNone/>
            </a:pPr>
            <a:endParaRPr lang="en-US" sz="500" dirty="0"/>
          </a:p>
          <a:p>
            <a:pPr algn="l" indent="0" marL="0">
              <a:lnSpc>
                <a:spcPts val="721"/>
              </a:lnSpc>
              <a:buNone/>
            </a:pPr>
            <a:r>
              <a:rPr lang="en-US" sz="5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1.64× 并行加速</a:t>
            </a:r>
            <a:endParaRPr lang="en-US" sz="500" dirty="0"/>
          </a:p>
        </p:txBody>
      </p:sp>
      <p:sp>
        <p:nvSpPr>
          <p:cNvPr id="72" name="Shape 64"/>
          <p:cNvSpPr/>
          <p:nvPr/>
        </p:nvSpPr>
        <p:spPr>
          <a:xfrm>
            <a:off x="357188" y="3871913"/>
            <a:ext cx="8843963" cy="285750"/>
          </a:xfrm>
          <a:prstGeom prst="roundRect">
            <a:avLst>
              <a:gd name="adj" fmla="val 28000"/>
            </a:avLst>
          </a:prstGeom>
          <a:solidFill>
            <a:srgbClr val="C9974D">
              <a:alpha val="13000"/>
            </a:srgbClr>
          </a:solidFill>
          <a:ln w="7144">
            <a:solidFill>
              <a:srgbClr val="C9974D">
                <a:alpha val="25000"/>
              </a:srgbClr>
            </a:solidFill>
            <a:prstDash val="solid"/>
          </a:ln>
        </p:spPr>
      </p:sp>
      <p:pic>
        <p:nvPicPr>
          <p:cNvPr id="73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929063"/>
            <a:ext cx="171450" cy="171450"/>
          </a:xfrm>
          <a:prstGeom prst="rect">
            <a:avLst/>
          </a:prstGeom>
        </p:spPr>
      </p:pic>
      <p:sp>
        <p:nvSpPr>
          <p:cNvPr id="74" name="Text 65"/>
          <p:cNvSpPr/>
          <p:nvPr/>
        </p:nvSpPr>
        <p:spPr>
          <a:xfrm>
            <a:off x="699697" y="3961209"/>
            <a:ext cx="2957513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600" b="1" dirty="0">
                <a:solidFill>
                  <a:srgbClr val="5C4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前置实验：</a:t>
            </a:r>
            <a:pPr algn="l" indent="0" marL="0">
              <a:lnSpc>
                <a:spcPts val="841"/>
              </a:lnSpc>
              <a:buNone/>
            </a:pPr>
            <a:r>
              <a:rPr lang="en-US" sz="600" dirty="0">
                <a:solidFill>
                  <a:srgbClr val="6849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先测净位移幅度分布，再定门限；分布未测出前禁止预设阈值。</a:t>
            </a:r>
            <a:endParaRPr lang="en-US" sz="600" dirty="0"/>
          </a:p>
        </p:txBody>
      </p:sp>
      <p:sp>
        <p:nvSpPr>
          <p:cNvPr id="75" name="Text 66"/>
          <p:cNvSpPr/>
          <p:nvPr/>
        </p:nvSpPr>
        <p:spPr>
          <a:xfrm>
            <a:off x="357188" y="4286250"/>
            <a:ext cx="884396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600" dirty="0"/>
          </a:p>
        </p:txBody>
      </p:sp>
      <p:pic>
        <p:nvPicPr>
          <p:cNvPr id="76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7188" y="357188"/>
            <a:ext cx="8843963" cy="785813"/>
          </a:xfrm>
          <a:prstGeom prst="rect">
            <a:avLst/>
          </a:prstGeom>
        </p:spPr>
      </p:pic>
      <p:pic>
        <p:nvPicPr>
          <p:cNvPr id="77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29622" y="2050256"/>
            <a:ext cx="2621756" cy="364331"/>
          </a:xfrm>
          <a:prstGeom prst="rect">
            <a:avLst/>
          </a:prstGeom>
        </p:spPr>
      </p:pic>
      <p:pic>
        <p:nvPicPr>
          <p:cNvPr id="78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7188" y="4286250"/>
            <a:ext cx="884396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57188" y="357188"/>
            <a:ext cx="8843963" cy="785813"/>
          </a:xfrm>
          <a:prstGeom prst="rect">
            <a:avLst/>
          </a:prstGeom>
          <a:ln/>
        </p:spPr>
      </p:sp>
      <p:sp>
        <p:nvSpPr>
          <p:cNvPr id="6" name="Text 3"/>
          <p:cNvSpPr/>
          <p:nvPr/>
        </p:nvSpPr>
        <p:spPr>
          <a:xfrm>
            <a:off x="356964" y="215764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B / C / D：扩场景、交出去、降带宽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6438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三条线并行推进：复制能力｜交付能力｜带宽效率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17/18</a:t>
            </a:r>
            <a:endParaRPr lang="en-US" sz="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904" y="1271588"/>
            <a:ext cx="2893219" cy="23431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5904" y="1271588"/>
            <a:ext cx="2876367" cy="28575"/>
          </a:xfrm>
          <a:prstGeom prst="rect">
            <a:avLst/>
          </a:prstGeom>
          <a:solidFill>
            <a:srgbClr val="527DA8"/>
          </a:solidFill>
          <a:ln/>
        </p:spPr>
      </p:sp>
      <p:sp>
        <p:nvSpPr>
          <p:cNvPr id="12" name="Text 8"/>
          <p:cNvSpPr/>
          <p:nvPr/>
        </p:nvSpPr>
        <p:spPr>
          <a:xfrm>
            <a:off x="471488" y="1400175"/>
            <a:ext cx="300038" cy="300038"/>
          </a:xfrm>
          <a:prstGeom prst="roundRect">
            <a:avLst>
              <a:gd name="adj" fmla="val 23583"/>
            </a:avLst>
          </a:prstGeom>
          <a:solidFill>
            <a:srgbClr val="527DA8">
              <a:alpha val="11000"/>
            </a:srgbClr>
          </a:solidFill>
          <a:ln w="7144">
            <a:solidFill>
              <a:srgbClr val="547DA7">
                <a:alpha val="23922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00" b="1" dirty="0">
                <a:solidFill>
                  <a:srgbClr val="365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27391" y="1403691"/>
            <a:ext cx="2307431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6"/>
              </a:lnSpc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扩场景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27391" y="1593503"/>
            <a:ext cx="2307431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8"/>
              </a:lnSpc>
              <a:buNone/>
            </a:pPr>
            <a:r>
              <a:rPr lang="en-US" sz="500" b="1" dirty="0">
                <a:solidFill>
                  <a:srgbClr val="365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领域迁移 SOP｜可复制</a:t>
            </a:r>
            <a:endParaRPr lang="en-US" sz="5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929" y="1960959"/>
            <a:ext cx="7144" cy="8643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1660" y="1903809"/>
            <a:ext cx="2443163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600" dirty="0">
                <a:solidFill>
                  <a:srgbClr val="334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定界</a:t>
            </a:r>
            <a:endParaRPr lang="en-US" sz="600" dirty="0"/>
          </a:p>
        </p:txBody>
      </p:sp>
      <p:sp>
        <p:nvSpPr>
          <p:cNvPr id="17" name="Text 12"/>
          <p:cNvSpPr/>
          <p:nvPr/>
        </p:nvSpPr>
        <p:spPr>
          <a:xfrm>
            <a:off x="691660" y="2046684"/>
            <a:ext cx="2443163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600" dirty="0">
                <a:solidFill>
                  <a:srgbClr val="334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split config</a:t>
            </a:r>
            <a:endParaRPr lang="en-US" sz="600" dirty="0"/>
          </a:p>
        </p:txBody>
      </p:sp>
      <p:sp>
        <p:nvSpPr>
          <p:cNvPr id="18" name="Text 13"/>
          <p:cNvSpPr/>
          <p:nvPr/>
        </p:nvSpPr>
        <p:spPr>
          <a:xfrm>
            <a:off x="691660" y="2189559"/>
            <a:ext cx="2443163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600" dirty="0">
                <a:solidFill>
                  <a:srgbClr val="334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官方特征</a:t>
            </a:r>
            <a:endParaRPr lang="en-US" sz="600" dirty="0"/>
          </a:p>
        </p:txBody>
      </p:sp>
      <p:sp>
        <p:nvSpPr>
          <p:cNvPr id="19" name="Text 14"/>
          <p:cNvSpPr/>
          <p:nvPr/>
        </p:nvSpPr>
        <p:spPr>
          <a:xfrm>
            <a:off x="691660" y="2332434"/>
            <a:ext cx="2443163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600" dirty="0">
                <a:solidFill>
                  <a:srgbClr val="334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GT 对账</a:t>
            </a:r>
            <a:endParaRPr lang="en-US" sz="600" dirty="0"/>
          </a:p>
        </p:txBody>
      </p:sp>
      <p:sp>
        <p:nvSpPr>
          <p:cNvPr id="20" name="Text 15"/>
          <p:cNvSpPr/>
          <p:nvPr/>
        </p:nvSpPr>
        <p:spPr>
          <a:xfrm>
            <a:off x="691660" y="2475309"/>
            <a:ext cx="2443163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600" dirty="0">
                <a:solidFill>
                  <a:srgbClr val="334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特征固化</a:t>
            </a:r>
            <a:endParaRPr lang="en-US" sz="600" dirty="0"/>
          </a:p>
        </p:txBody>
      </p:sp>
      <p:sp>
        <p:nvSpPr>
          <p:cNvPr id="21" name="Text 16"/>
          <p:cNvSpPr/>
          <p:nvPr/>
        </p:nvSpPr>
        <p:spPr>
          <a:xfrm>
            <a:off x="691660" y="2618184"/>
            <a:ext cx="2443163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600" dirty="0">
                <a:solidFill>
                  <a:srgbClr val="334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防护网</a:t>
            </a:r>
            <a:endParaRPr lang="en-US" sz="600" dirty="0"/>
          </a:p>
        </p:txBody>
      </p:sp>
      <p:sp>
        <p:nvSpPr>
          <p:cNvPr id="22" name="Text 17"/>
          <p:cNvSpPr/>
          <p:nvPr/>
        </p:nvSpPr>
        <p:spPr>
          <a:xfrm>
            <a:off x="691660" y="2761059"/>
            <a:ext cx="2443163" cy="1214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600" b="1" dirty="0">
                <a:solidFill>
                  <a:srgbClr val="365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接线</a:t>
            </a:r>
            <a:endParaRPr lang="en-US" sz="600" dirty="0"/>
          </a:p>
        </p:txBody>
      </p:sp>
      <p:sp>
        <p:nvSpPr>
          <p:cNvPr id="23" name="Shape 18"/>
          <p:cNvSpPr/>
          <p:nvPr/>
        </p:nvSpPr>
        <p:spPr>
          <a:xfrm>
            <a:off x="470204" y="3064669"/>
            <a:ext cx="2664619" cy="442912"/>
          </a:xfrm>
          <a:prstGeom prst="roundRect">
            <a:avLst>
              <a:gd name="adj" fmla="val 8325"/>
            </a:avLst>
          </a:prstGeom>
          <a:solidFill>
            <a:srgbClr val="527DA8">
              <a:alpha val="11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577360" y="3132981"/>
            <a:ext cx="2486025" cy="642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spcAft>
                <a:spcPts val="225"/>
              </a:spcAft>
              <a:buNone/>
            </a:pPr>
            <a:r>
              <a:rPr lang="en-US" sz="500" b="1" dirty="0">
                <a:solidFill>
                  <a:srgbClr val="365F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验收判据</a:t>
            </a:r>
            <a:endParaRPr lang="en-US" sz="500" dirty="0"/>
          </a:p>
        </p:txBody>
      </p:sp>
      <p:sp>
        <p:nvSpPr>
          <p:cNvPr id="25" name="Text 20"/>
          <p:cNvSpPr/>
          <p:nvPr/>
        </p:nvSpPr>
        <p:spPr>
          <a:xfrm>
            <a:off x="577360" y="3225850"/>
            <a:ext cx="2486025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跑通第二个场景</a:t>
            </a:r>
            <a:endParaRPr lang="en-US" sz="600" dirty="0"/>
          </a:p>
        </p:txBody>
      </p:sp>
      <p:sp>
        <p:nvSpPr>
          <p:cNvPr id="26" name="Text 21"/>
          <p:cNvSpPr/>
          <p:nvPr/>
        </p:nvSpPr>
        <p:spPr>
          <a:xfrm>
            <a:off x="577360" y="3353991"/>
            <a:ext cx="2486025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8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6675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从“能用”到“可复制”的唯一验收</a:t>
            </a:r>
            <a:endParaRPr lang="en-US" sz="5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32392" y="1271588"/>
            <a:ext cx="2893219" cy="234315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3332392" y="1271588"/>
            <a:ext cx="2876588" cy="28575"/>
          </a:xfrm>
          <a:prstGeom prst="rect">
            <a:avLst/>
          </a:prstGeom>
          <a:solidFill>
            <a:srgbClr val="4C9185"/>
          </a:solidFill>
          <a:ln/>
        </p:spPr>
      </p:sp>
      <p:sp>
        <p:nvSpPr>
          <p:cNvPr id="29" name="Text 23"/>
          <p:cNvSpPr/>
          <p:nvPr/>
        </p:nvSpPr>
        <p:spPr>
          <a:xfrm>
            <a:off x="3447864" y="1400175"/>
            <a:ext cx="300038" cy="300038"/>
          </a:xfrm>
          <a:prstGeom prst="roundRect">
            <a:avLst>
              <a:gd name="adj" fmla="val 23583"/>
            </a:avLst>
          </a:prstGeom>
          <a:solidFill>
            <a:srgbClr val="4C9185">
              <a:alpha val="11000"/>
            </a:srgbClr>
          </a:solidFill>
          <a:ln w="7144">
            <a:solidFill>
              <a:srgbClr val="4B9286">
                <a:alpha val="23922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00" b="1" dirty="0">
                <a:solidFill>
                  <a:srgbClr val="3276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3803879" y="1403691"/>
            <a:ext cx="2307431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6"/>
              </a:lnSpc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交出去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3803879" y="1593503"/>
            <a:ext cx="2307431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8"/>
              </a:lnSpc>
              <a:buNone/>
            </a:pPr>
            <a:r>
              <a:rPr lang="en-US" sz="500" b="1" dirty="0">
                <a:solidFill>
                  <a:srgbClr val="3276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嵌入式集成｜可交付</a:t>
            </a:r>
            <a:endParaRPr lang="en-US" sz="500" dirty="0"/>
          </a:p>
        </p:txBody>
      </p:sp>
      <p:sp>
        <p:nvSpPr>
          <p:cNvPr id="32" name="Text 26"/>
          <p:cNvSpPr/>
          <p:nvPr/>
        </p:nvSpPr>
        <p:spPr>
          <a:xfrm>
            <a:off x="3447194" y="1932384"/>
            <a:ext cx="1300163" cy="192881"/>
          </a:xfrm>
          <a:prstGeom prst="roundRect">
            <a:avLst>
              <a:gd name="adj" fmla="val 39506"/>
            </a:avLst>
          </a:prstGeom>
          <a:solidFill>
            <a:srgbClr val="4C9185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00" b="1" dirty="0">
                <a:solidFill>
                  <a:srgbClr val="334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ABI 版本化</a:t>
            </a:r>
            <a:endParaRPr lang="en-US" sz="500" dirty="0"/>
          </a:p>
        </p:txBody>
      </p:sp>
      <p:sp>
        <p:nvSpPr>
          <p:cNvPr id="33" name="Shape 27"/>
          <p:cNvSpPr/>
          <p:nvPr/>
        </p:nvSpPr>
        <p:spPr>
          <a:xfrm>
            <a:off x="3447194" y="1932384"/>
            <a:ext cx="35719" cy="35719"/>
          </a:xfrm>
          <a:prstGeom prst="rect">
            <a:avLst/>
          </a:prstGeom>
          <a:solidFill>
            <a:srgbClr val="4C9185"/>
          </a:solidFill>
          <a:ln/>
        </p:spPr>
      </p:sp>
      <p:sp>
        <p:nvSpPr>
          <p:cNvPr id="34" name="Text 28"/>
          <p:cNvSpPr/>
          <p:nvPr/>
        </p:nvSpPr>
        <p:spPr>
          <a:xfrm>
            <a:off x="4810423" y="1932384"/>
            <a:ext cx="1300163" cy="192881"/>
          </a:xfrm>
          <a:prstGeom prst="roundRect">
            <a:avLst>
              <a:gd name="adj" fmla="val 39506"/>
            </a:avLst>
          </a:prstGeom>
          <a:solidFill>
            <a:srgbClr val="4C9185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00" b="1" dirty="0">
                <a:solidFill>
                  <a:srgbClr val="334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契约文档</a:t>
            </a:r>
            <a:endParaRPr lang="en-US" sz="500" dirty="0"/>
          </a:p>
        </p:txBody>
      </p:sp>
      <p:sp>
        <p:nvSpPr>
          <p:cNvPr id="35" name="Shape 29"/>
          <p:cNvSpPr/>
          <p:nvPr/>
        </p:nvSpPr>
        <p:spPr>
          <a:xfrm>
            <a:off x="4810423" y="1932384"/>
            <a:ext cx="35719" cy="35719"/>
          </a:xfrm>
          <a:prstGeom prst="rect">
            <a:avLst/>
          </a:prstGeom>
          <a:solidFill>
            <a:srgbClr val="4C9185"/>
          </a:solidFill>
          <a:ln/>
        </p:spPr>
      </p:sp>
      <p:sp>
        <p:nvSpPr>
          <p:cNvPr id="36" name="Text 30"/>
          <p:cNvSpPr/>
          <p:nvPr/>
        </p:nvSpPr>
        <p:spPr>
          <a:xfrm>
            <a:off x="3447194" y="2175272"/>
            <a:ext cx="1300163" cy="192881"/>
          </a:xfrm>
          <a:prstGeom prst="roundRect">
            <a:avLst>
              <a:gd name="adj" fmla="val 39506"/>
            </a:avLst>
          </a:prstGeom>
          <a:solidFill>
            <a:srgbClr val="4C9185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00" b="1" dirty="0">
                <a:solidFill>
                  <a:srgbClr val="334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告警分级</a:t>
            </a:r>
            <a:endParaRPr lang="en-US" sz="500" dirty="0"/>
          </a:p>
        </p:txBody>
      </p:sp>
      <p:sp>
        <p:nvSpPr>
          <p:cNvPr id="37" name="Shape 31"/>
          <p:cNvSpPr/>
          <p:nvPr/>
        </p:nvSpPr>
        <p:spPr>
          <a:xfrm>
            <a:off x="3447194" y="2175272"/>
            <a:ext cx="35719" cy="35719"/>
          </a:xfrm>
          <a:prstGeom prst="rect">
            <a:avLst/>
          </a:prstGeom>
          <a:solidFill>
            <a:srgbClr val="4C9185"/>
          </a:solidFill>
          <a:ln/>
        </p:spPr>
      </p:sp>
      <p:sp>
        <p:nvSpPr>
          <p:cNvPr id="38" name="Text 32"/>
          <p:cNvSpPr/>
          <p:nvPr/>
        </p:nvSpPr>
        <p:spPr>
          <a:xfrm>
            <a:off x="4810423" y="2175272"/>
            <a:ext cx="1300163" cy="192881"/>
          </a:xfrm>
          <a:prstGeom prst="roundRect">
            <a:avLst>
              <a:gd name="adj" fmla="val 39506"/>
            </a:avLst>
          </a:prstGeom>
          <a:solidFill>
            <a:srgbClr val="4C9185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00" b="1" dirty="0">
                <a:solidFill>
                  <a:srgbClr val="334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背压参数化</a:t>
            </a:r>
            <a:endParaRPr lang="en-US" sz="500" dirty="0"/>
          </a:p>
        </p:txBody>
      </p:sp>
      <p:sp>
        <p:nvSpPr>
          <p:cNvPr id="39" name="Shape 33"/>
          <p:cNvSpPr/>
          <p:nvPr/>
        </p:nvSpPr>
        <p:spPr>
          <a:xfrm>
            <a:off x="4810423" y="2175272"/>
            <a:ext cx="35719" cy="35719"/>
          </a:xfrm>
          <a:prstGeom prst="rect">
            <a:avLst/>
          </a:prstGeom>
          <a:solidFill>
            <a:srgbClr val="4C9185"/>
          </a:solidFill>
          <a:ln/>
        </p:spPr>
      </p:sp>
      <p:sp>
        <p:nvSpPr>
          <p:cNvPr id="40" name="Text 34"/>
          <p:cNvSpPr/>
          <p:nvPr/>
        </p:nvSpPr>
        <p:spPr>
          <a:xfrm>
            <a:off x="3447194" y="2418159"/>
            <a:ext cx="1300163" cy="192881"/>
          </a:xfrm>
          <a:prstGeom prst="roundRect">
            <a:avLst>
              <a:gd name="adj" fmla="val 39506"/>
            </a:avLst>
          </a:prstGeom>
          <a:solidFill>
            <a:srgbClr val="4C9185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00" b="1" dirty="0">
                <a:solidFill>
                  <a:srgbClr val="334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构建对齐</a:t>
            </a:r>
            <a:endParaRPr lang="en-US" sz="500" dirty="0"/>
          </a:p>
        </p:txBody>
      </p:sp>
      <p:sp>
        <p:nvSpPr>
          <p:cNvPr id="41" name="Shape 35"/>
          <p:cNvSpPr/>
          <p:nvPr/>
        </p:nvSpPr>
        <p:spPr>
          <a:xfrm>
            <a:off x="3447194" y="2418159"/>
            <a:ext cx="35719" cy="35719"/>
          </a:xfrm>
          <a:prstGeom prst="rect">
            <a:avLst/>
          </a:prstGeom>
          <a:solidFill>
            <a:srgbClr val="4C9185"/>
          </a:solidFill>
          <a:ln/>
        </p:spPr>
      </p:sp>
      <p:sp>
        <p:nvSpPr>
          <p:cNvPr id="42" name="Text 36"/>
          <p:cNvSpPr/>
          <p:nvPr/>
        </p:nvSpPr>
        <p:spPr>
          <a:xfrm>
            <a:off x="4810423" y="2418159"/>
            <a:ext cx="1300163" cy="192881"/>
          </a:xfrm>
          <a:prstGeom prst="roundRect">
            <a:avLst>
              <a:gd name="adj" fmla="val 39506"/>
            </a:avLst>
          </a:prstGeom>
          <a:solidFill>
            <a:srgbClr val="4C9185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00" b="1" dirty="0">
                <a:solidFill>
                  <a:srgbClr val="334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兼容矩阵</a:t>
            </a:r>
            <a:endParaRPr lang="en-US" sz="500" dirty="0"/>
          </a:p>
        </p:txBody>
      </p:sp>
      <p:sp>
        <p:nvSpPr>
          <p:cNvPr id="43" name="Shape 37"/>
          <p:cNvSpPr/>
          <p:nvPr/>
        </p:nvSpPr>
        <p:spPr>
          <a:xfrm>
            <a:off x="4810423" y="2418159"/>
            <a:ext cx="35719" cy="35719"/>
          </a:xfrm>
          <a:prstGeom prst="rect">
            <a:avLst/>
          </a:prstGeom>
          <a:solidFill>
            <a:srgbClr val="4C9185"/>
          </a:solidFill>
          <a:ln/>
        </p:spPr>
      </p:sp>
      <p:sp>
        <p:nvSpPr>
          <p:cNvPr id="44" name="Text 38"/>
          <p:cNvSpPr/>
          <p:nvPr/>
        </p:nvSpPr>
        <p:spPr>
          <a:xfrm>
            <a:off x="3447194" y="2661047"/>
            <a:ext cx="1300163" cy="192881"/>
          </a:xfrm>
          <a:prstGeom prst="roundRect">
            <a:avLst>
              <a:gd name="adj" fmla="val 39506"/>
            </a:avLst>
          </a:prstGeom>
          <a:solidFill>
            <a:srgbClr val="4C9185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00" b="1" dirty="0">
                <a:solidFill>
                  <a:srgbClr val="334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自检产品化</a:t>
            </a:r>
            <a:endParaRPr lang="en-US" sz="500" dirty="0"/>
          </a:p>
        </p:txBody>
      </p:sp>
      <p:sp>
        <p:nvSpPr>
          <p:cNvPr id="45" name="Shape 39"/>
          <p:cNvSpPr/>
          <p:nvPr/>
        </p:nvSpPr>
        <p:spPr>
          <a:xfrm>
            <a:off x="3447194" y="2661047"/>
            <a:ext cx="35719" cy="35719"/>
          </a:xfrm>
          <a:prstGeom prst="rect">
            <a:avLst/>
          </a:prstGeom>
          <a:solidFill>
            <a:srgbClr val="4C9185"/>
          </a:solidFill>
          <a:ln/>
        </p:spPr>
      </p:sp>
      <p:sp>
        <p:nvSpPr>
          <p:cNvPr id="46" name="Text 40"/>
          <p:cNvSpPr/>
          <p:nvPr/>
        </p:nvSpPr>
        <p:spPr>
          <a:xfrm>
            <a:off x="4810423" y="2661047"/>
            <a:ext cx="1300163" cy="192881"/>
          </a:xfrm>
          <a:prstGeom prst="roundRect">
            <a:avLst>
              <a:gd name="adj" fmla="val 39506"/>
            </a:avLst>
          </a:prstGeom>
          <a:solidFill>
            <a:srgbClr val="4C9185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00" b="1" dirty="0">
                <a:solidFill>
                  <a:srgbClr val="3276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第三方验收</a:t>
            </a:r>
            <a:endParaRPr lang="en-US" sz="500" dirty="0"/>
          </a:p>
        </p:txBody>
      </p:sp>
      <p:sp>
        <p:nvSpPr>
          <p:cNvPr id="47" name="Shape 41"/>
          <p:cNvSpPr/>
          <p:nvPr/>
        </p:nvSpPr>
        <p:spPr>
          <a:xfrm>
            <a:off x="4810423" y="2661047"/>
            <a:ext cx="35719" cy="35719"/>
          </a:xfrm>
          <a:prstGeom prst="rect">
            <a:avLst/>
          </a:prstGeom>
          <a:solidFill>
            <a:srgbClr val="4C9185"/>
          </a:solidFill>
          <a:ln/>
        </p:spPr>
      </p:sp>
      <p:sp>
        <p:nvSpPr>
          <p:cNvPr id="48" name="Shape 42"/>
          <p:cNvSpPr/>
          <p:nvPr/>
        </p:nvSpPr>
        <p:spPr>
          <a:xfrm>
            <a:off x="3446692" y="3064669"/>
            <a:ext cx="2664619" cy="442912"/>
          </a:xfrm>
          <a:prstGeom prst="roundRect">
            <a:avLst>
              <a:gd name="adj" fmla="val 8325"/>
            </a:avLst>
          </a:prstGeom>
          <a:solidFill>
            <a:srgbClr val="4C9185">
              <a:alpha val="11000"/>
            </a:srgbClr>
          </a:solidFill>
          <a:ln/>
        </p:spPr>
      </p:sp>
      <p:sp>
        <p:nvSpPr>
          <p:cNvPr id="49" name="Text 43"/>
          <p:cNvSpPr/>
          <p:nvPr/>
        </p:nvSpPr>
        <p:spPr>
          <a:xfrm>
            <a:off x="3553848" y="3172495"/>
            <a:ext cx="2486025" cy="642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spcAft>
                <a:spcPts val="225"/>
              </a:spcAft>
              <a:buNone/>
            </a:pPr>
            <a:r>
              <a:rPr lang="en-US" sz="500" b="1" dirty="0">
                <a:solidFill>
                  <a:srgbClr val="3276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验收判据</a:t>
            </a:r>
            <a:endParaRPr lang="en-US" sz="500" dirty="0"/>
          </a:p>
        </p:txBody>
      </p:sp>
      <p:sp>
        <p:nvSpPr>
          <p:cNvPr id="50" name="Text 44"/>
          <p:cNvSpPr/>
          <p:nvPr/>
        </p:nvSpPr>
        <p:spPr>
          <a:xfrm>
            <a:off x="3555020" y="3286795"/>
            <a:ext cx="1309762" cy="10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第三方在干净环境按文档即可跑出</a:t>
            </a:r>
            <a:endParaRPr lang="en-US" sz="600" dirty="0"/>
          </a:p>
        </p:txBody>
      </p:sp>
      <p:sp>
        <p:nvSpPr>
          <p:cNvPr id="51" name="Text 45"/>
          <p:cNvSpPr/>
          <p:nvPr/>
        </p:nvSpPr>
        <p:spPr>
          <a:xfrm>
            <a:off x="4865675" y="3293213"/>
            <a:ext cx="500063" cy="107156"/>
          </a:xfrm>
          <a:prstGeom prst="roundRect">
            <a:avLst>
              <a:gd name="adj" fmla="val 85334"/>
            </a:avLst>
          </a:prstGeom>
          <a:solidFill>
            <a:srgbClr val="122033">
              <a:alpha val="75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5"/>
              </a:lnSpc>
              <a:spcBef>
                <a:spcPts val="225"/>
              </a:spcBef>
              <a:buNone/>
            </a:pPr>
            <a:r>
              <a:rPr lang="en-US" sz="400" b="1" dirty="0">
                <a:solidFill>
                  <a:srgbClr val="2638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/ FAIL</a:t>
            </a:r>
            <a:endParaRPr lang="en-US" sz="400" dirty="0"/>
          </a:p>
        </p:txBody>
      </p:sp>
      <p:sp>
        <p:nvSpPr>
          <p:cNvPr id="52" name="Text 46"/>
          <p:cNvSpPr/>
          <p:nvPr/>
        </p:nvSpPr>
        <p:spPr>
          <a:xfrm>
            <a:off x="5366631" y="3286795"/>
            <a:ext cx="195337" cy="10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清单</a:t>
            </a:r>
            <a:endParaRPr lang="en-US" sz="600" dirty="0"/>
          </a:p>
        </p:txBody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08880" y="1271588"/>
            <a:ext cx="2893219" cy="2343150"/>
          </a:xfrm>
          <a:prstGeom prst="rect">
            <a:avLst/>
          </a:prstGeom>
        </p:spPr>
      </p:pic>
      <p:sp>
        <p:nvSpPr>
          <p:cNvPr id="54" name="Shape 47"/>
          <p:cNvSpPr/>
          <p:nvPr/>
        </p:nvSpPr>
        <p:spPr>
          <a:xfrm>
            <a:off x="6308880" y="1271588"/>
            <a:ext cx="2876367" cy="28575"/>
          </a:xfrm>
          <a:prstGeom prst="rect">
            <a:avLst/>
          </a:prstGeom>
          <a:solidFill>
            <a:srgbClr val="C17B42"/>
          </a:solidFill>
          <a:ln/>
        </p:spPr>
      </p:sp>
      <p:sp>
        <p:nvSpPr>
          <p:cNvPr id="55" name="Text 48"/>
          <p:cNvSpPr/>
          <p:nvPr/>
        </p:nvSpPr>
        <p:spPr>
          <a:xfrm>
            <a:off x="6424464" y="1400175"/>
            <a:ext cx="300038" cy="300038"/>
          </a:xfrm>
          <a:prstGeom prst="roundRect">
            <a:avLst>
              <a:gd name="adj" fmla="val 23583"/>
            </a:avLst>
          </a:prstGeom>
          <a:solidFill>
            <a:srgbClr val="C17B42">
              <a:alpha val="12000"/>
            </a:srgbClr>
          </a:solidFill>
          <a:ln w="7144">
            <a:solidFill>
              <a:srgbClr val="C07943">
                <a:alpha val="23922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00" b="1" dirty="0">
                <a:solidFill>
                  <a:srgbClr val="9B5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200" dirty="0"/>
          </a:p>
        </p:txBody>
      </p:sp>
      <p:sp>
        <p:nvSpPr>
          <p:cNvPr id="56" name="Text 49"/>
          <p:cNvSpPr/>
          <p:nvPr/>
        </p:nvSpPr>
        <p:spPr>
          <a:xfrm>
            <a:off x="6780368" y="1403691"/>
            <a:ext cx="2307431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6"/>
              </a:lnSpc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降带宽</a:t>
            </a:r>
            <a:endParaRPr lang="en-US" sz="1100" dirty="0"/>
          </a:p>
        </p:txBody>
      </p:sp>
      <p:sp>
        <p:nvSpPr>
          <p:cNvPr id="57" name="Text 50"/>
          <p:cNvSpPr/>
          <p:nvPr/>
        </p:nvSpPr>
        <p:spPr>
          <a:xfrm>
            <a:off x="6780368" y="1593503"/>
            <a:ext cx="2307431" cy="928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8"/>
              </a:lnSpc>
              <a:buNone/>
            </a:pPr>
            <a:r>
              <a:rPr lang="en-US" sz="500" b="1" dirty="0">
                <a:solidFill>
                  <a:srgbClr val="9B5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f16 → int8｜可持续降本</a:t>
            </a:r>
            <a:endParaRPr lang="en-US" sz="500" dirty="0"/>
          </a:p>
        </p:txBody>
      </p:sp>
      <p:sp>
        <p:nvSpPr>
          <p:cNvPr id="58" name="Text 51"/>
          <p:cNvSpPr/>
          <p:nvPr/>
        </p:nvSpPr>
        <p:spPr>
          <a:xfrm>
            <a:off x="6425580" y="2005608"/>
            <a:ext cx="1207294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1000" b="1" dirty="0">
                <a:solidFill>
                  <a:srgbClr val="6B7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45.41 ms</a:t>
            </a:r>
            <a:endParaRPr lang="en-US" sz="1000" dirty="0"/>
          </a:p>
        </p:txBody>
      </p:sp>
      <p:sp>
        <p:nvSpPr>
          <p:cNvPr id="59" name="Text 52"/>
          <p:cNvSpPr/>
          <p:nvPr/>
        </p:nvSpPr>
        <p:spPr>
          <a:xfrm>
            <a:off x="6425580" y="2168128"/>
            <a:ext cx="1207294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34"/>
              </a:lnSpc>
              <a:spcBef>
                <a:spcPts val="281"/>
              </a:spcBef>
              <a:buNone/>
            </a:pPr>
            <a:r>
              <a:rPr lang="en-US" sz="500" b="1" dirty="0">
                <a:solidFill>
                  <a:srgbClr val="7180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f16</a:t>
            </a:r>
            <a:endParaRPr lang="en-US" sz="500" dirty="0"/>
          </a:p>
        </p:txBody>
      </p:sp>
      <p:sp>
        <p:nvSpPr>
          <p:cNvPr id="60" name="Text 53"/>
          <p:cNvSpPr/>
          <p:nvPr/>
        </p:nvSpPr>
        <p:spPr>
          <a:xfrm>
            <a:off x="7669709" y="2028825"/>
            <a:ext cx="171450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17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61" name="Shape 54"/>
          <p:cNvSpPr/>
          <p:nvPr/>
        </p:nvSpPr>
        <p:spPr>
          <a:xfrm>
            <a:off x="7698284" y="2200275"/>
            <a:ext cx="114300" cy="7144"/>
          </a:xfrm>
          <a:prstGeom prst="rect">
            <a:avLst/>
          </a:prstGeom>
          <a:solidFill>
            <a:srgbClr val="C27A43">
              <a:alpha val="36078"/>
            </a:srgbClr>
          </a:solidFill>
          <a:ln/>
        </p:spPr>
      </p:sp>
      <p:sp>
        <p:nvSpPr>
          <p:cNvPr id="62" name="Text 55"/>
          <p:cNvSpPr/>
          <p:nvPr/>
        </p:nvSpPr>
        <p:spPr>
          <a:xfrm>
            <a:off x="7877994" y="1969889"/>
            <a:ext cx="1207294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500" b="1" dirty="0">
                <a:solidFill>
                  <a:srgbClr val="9B5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0.34 ms</a:t>
            </a:r>
            <a:endParaRPr lang="en-US" sz="1500" dirty="0"/>
          </a:p>
        </p:txBody>
      </p:sp>
      <p:sp>
        <p:nvSpPr>
          <p:cNvPr id="63" name="Text 56"/>
          <p:cNvSpPr/>
          <p:nvPr/>
        </p:nvSpPr>
        <p:spPr>
          <a:xfrm>
            <a:off x="7877994" y="2203847"/>
            <a:ext cx="1207294" cy="71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34"/>
              </a:lnSpc>
              <a:spcBef>
                <a:spcPts val="281"/>
              </a:spcBef>
              <a:buNone/>
            </a:pPr>
            <a:r>
              <a:rPr lang="en-US" sz="500" b="1" dirty="0">
                <a:solidFill>
                  <a:srgbClr val="7180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INT8</a:t>
            </a:r>
            <a:endParaRPr lang="en-US" sz="500" dirty="0"/>
          </a:p>
        </p:txBody>
      </p:sp>
      <p:sp>
        <p:nvSpPr>
          <p:cNvPr id="64" name="Text 57"/>
          <p:cNvSpPr/>
          <p:nvPr/>
        </p:nvSpPr>
        <p:spPr>
          <a:xfrm>
            <a:off x="6882724" y="2287786"/>
            <a:ext cx="292894" cy="128588"/>
          </a:xfrm>
          <a:prstGeom prst="roundRect">
            <a:avLst>
              <a:gd name="adj" fmla="val 88889"/>
            </a:avLst>
          </a:prstGeom>
          <a:solidFill>
            <a:srgbClr val="C9974D">
              <a:alpha val="13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133×</a:t>
            </a:r>
            <a:endParaRPr lang="en-US" sz="500" dirty="0"/>
          </a:p>
        </p:txBody>
      </p:sp>
      <p:sp>
        <p:nvSpPr>
          <p:cNvPr id="65" name="Shape 58"/>
          <p:cNvSpPr/>
          <p:nvPr/>
        </p:nvSpPr>
        <p:spPr>
          <a:xfrm>
            <a:off x="6423180" y="2473523"/>
            <a:ext cx="2664619" cy="371475"/>
          </a:xfrm>
          <a:prstGeom prst="roundRect">
            <a:avLst>
              <a:gd name="adj" fmla="val 11834"/>
            </a:avLst>
          </a:prstGeom>
          <a:solidFill>
            <a:srgbClr val="C17B42">
              <a:alpha val="12000"/>
            </a:srgbClr>
          </a:solidFill>
          <a:ln/>
        </p:spPr>
      </p:sp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8757" y="2577108"/>
            <a:ext cx="164306" cy="164306"/>
          </a:xfrm>
          <a:prstGeom prst="rect">
            <a:avLst/>
          </a:prstGeom>
        </p:spPr>
      </p:pic>
      <p:sp>
        <p:nvSpPr>
          <p:cNvPr id="67" name="Text 59"/>
          <p:cNvSpPr/>
          <p:nvPr/>
        </p:nvSpPr>
        <p:spPr>
          <a:xfrm>
            <a:off x="6709656" y="2609199"/>
            <a:ext cx="1878806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500" b="1" dirty="0">
                <a:solidFill>
                  <a:srgbClr val="6D49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QAT 不能同时兼得：更高准确度 + 更低 INT8 输入延时</a:t>
            </a:r>
            <a:endParaRPr lang="en-US" sz="500" dirty="0"/>
          </a:p>
        </p:txBody>
      </p:sp>
      <p:sp>
        <p:nvSpPr>
          <p:cNvPr id="68" name="Shape 60"/>
          <p:cNvSpPr/>
          <p:nvPr/>
        </p:nvSpPr>
        <p:spPr>
          <a:xfrm>
            <a:off x="6423180" y="3064669"/>
            <a:ext cx="2664619" cy="442912"/>
          </a:xfrm>
          <a:prstGeom prst="roundRect">
            <a:avLst>
              <a:gd name="adj" fmla="val 8325"/>
            </a:avLst>
          </a:prstGeom>
          <a:solidFill>
            <a:srgbClr val="C17B42">
              <a:alpha val="12000"/>
            </a:srgbClr>
          </a:solidFill>
          <a:ln/>
        </p:spPr>
      </p:sp>
      <p:sp>
        <p:nvSpPr>
          <p:cNvPr id="69" name="Text 61"/>
          <p:cNvSpPr/>
          <p:nvPr/>
        </p:nvSpPr>
        <p:spPr>
          <a:xfrm>
            <a:off x="6530336" y="3119475"/>
            <a:ext cx="2486025" cy="642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spcAft>
                <a:spcPts val="225"/>
              </a:spcAft>
              <a:buNone/>
            </a:pPr>
            <a:r>
              <a:rPr lang="en-US" sz="500" b="1" dirty="0">
                <a:solidFill>
                  <a:srgbClr val="9B5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验收判据</a:t>
            </a:r>
            <a:endParaRPr lang="en-US" sz="500" dirty="0"/>
          </a:p>
        </p:txBody>
      </p:sp>
      <p:sp>
        <p:nvSpPr>
          <p:cNvPr id="70" name="Text 62"/>
          <p:cNvSpPr/>
          <p:nvPr/>
        </p:nvSpPr>
        <p:spPr>
          <a:xfrm>
            <a:off x="6531620" y="3233775"/>
            <a:ext cx="366787" cy="10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输入张量</a:t>
            </a:r>
            <a:endParaRPr lang="en-US" sz="600" dirty="0"/>
          </a:p>
        </p:txBody>
      </p:sp>
      <p:sp>
        <p:nvSpPr>
          <p:cNvPr id="71" name="Text 63"/>
          <p:cNvSpPr/>
          <p:nvPr/>
        </p:nvSpPr>
        <p:spPr>
          <a:xfrm>
            <a:off x="6896844" y="3240193"/>
            <a:ext cx="542925" cy="107156"/>
          </a:xfrm>
          <a:prstGeom prst="roundRect">
            <a:avLst>
              <a:gd name="adj" fmla="val 85334"/>
            </a:avLst>
          </a:prstGeom>
          <a:solidFill>
            <a:srgbClr val="122033">
              <a:alpha val="75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5"/>
              </a:lnSpc>
              <a:spcBef>
                <a:spcPts val="225"/>
              </a:spcBef>
              <a:buNone/>
            </a:pPr>
            <a:r>
              <a:rPr lang="en-US" sz="400" b="1" dirty="0">
                <a:solidFill>
                  <a:srgbClr val="2638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 = INT8</a:t>
            </a:r>
            <a:endParaRPr lang="en-US" sz="400" dirty="0"/>
          </a:p>
        </p:txBody>
      </p:sp>
      <p:sp>
        <p:nvSpPr>
          <p:cNvPr id="72" name="Text 64"/>
          <p:cNvSpPr/>
          <p:nvPr/>
        </p:nvSpPr>
        <p:spPr>
          <a:xfrm>
            <a:off x="6532680" y="3367608"/>
            <a:ext cx="1393031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8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6675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构建日志 InputOperator 自证</a:t>
            </a:r>
            <a:endParaRPr lang="en-US" sz="500" dirty="0"/>
          </a:p>
        </p:txBody>
      </p:sp>
      <p:sp>
        <p:nvSpPr>
          <p:cNvPr id="73" name="Shape 65"/>
          <p:cNvSpPr/>
          <p:nvPr/>
        </p:nvSpPr>
        <p:spPr>
          <a:xfrm>
            <a:off x="7985150" y="3211171"/>
            <a:ext cx="1028700" cy="242888"/>
          </a:xfrm>
          <a:prstGeom prst="rect">
            <a:avLst/>
          </a:prstGeom>
          <a:ln/>
        </p:spPr>
      </p:sp>
      <p:sp>
        <p:nvSpPr>
          <p:cNvPr id="74" name="Text 66"/>
          <p:cNvSpPr/>
          <p:nvPr/>
        </p:nvSpPr>
        <p:spPr>
          <a:xfrm>
            <a:off x="8049444" y="3212343"/>
            <a:ext cx="96440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三轨全量 F1 不劣</a:t>
            </a:r>
            <a:endParaRPr lang="en-US" sz="600" dirty="0"/>
          </a:p>
        </p:txBody>
      </p:sp>
      <p:sp>
        <p:nvSpPr>
          <p:cNvPr id="75" name="Text 67"/>
          <p:cNvSpPr/>
          <p:nvPr/>
        </p:nvSpPr>
        <p:spPr>
          <a:xfrm>
            <a:off x="8049444" y="3340484"/>
            <a:ext cx="964406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8"/>
              </a:lnSpc>
              <a:spcBef>
                <a:spcPts val="169"/>
              </a:spcBef>
              <a:buNone/>
            </a:pPr>
            <a:r>
              <a:rPr lang="en-US" sz="500" dirty="0">
                <a:solidFill>
                  <a:srgbClr val="6675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精度约束同步成立</a:t>
            </a:r>
            <a:endParaRPr lang="en-US" sz="500" dirty="0"/>
          </a:p>
        </p:txBody>
      </p:sp>
      <p:sp>
        <p:nvSpPr>
          <p:cNvPr id="76" name="Shape 68"/>
          <p:cNvSpPr/>
          <p:nvPr/>
        </p:nvSpPr>
        <p:spPr>
          <a:xfrm>
            <a:off x="355904" y="3700463"/>
            <a:ext cx="2893219" cy="457200"/>
          </a:xfrm>
          <a:prstGeom prst="roundRect">
            <a:avLst>
              <a:gd name="adj" fmla="val 14063"/>
            </a:avLst>
          </a:prstGeom>
          <a:solidFill>
            <a:srgbClr val="122033"/>
          </a:solidFill>
          <a:ln/>
          <a:effectLst>
            <a:outerShdw sx="100000" sy="100000" kx="0" ky="0" algn="bl" rotWithShape="0" blurRad="242888" dist="100013" dir="5400000">
              <a:srgbClr val="0F172A">
                <a:alpha val="16000"/>
              </a:srgbClr>
            </a:outerShdw>
          </a:effectLst>
        </p:spPr>
      </p:sp>
      <p:sp>
        <p:nvSpPr>
          <p:cNvPr id="77" name="Shape 69"/>
          <p:cNvSpPr/>
          <p:nvPr/>
        </p:nvSpPr>
        <p:spPr>
          <a:xfrm>
            <a:off x="3117971" y="3800475"/>
            <a:ext cx="14288" cy="257175"/>
          </a:xfrm>
          <a:prstGeom prst="rect">
            <a:avLst/>
          </a:prstGeom>
          <a:solidFill>
            <a:srgbClr val="C9974D">
              <a:alpha val="72000"/>
            </a:srgbClr>
          </a:solidFill>
          <a:ln/>
        </p:spPr>
      </p:sp>
      <p:sp>
        <p:nvSpPr>
          <p:cNvPr id="78" name="Text 70"/>
          <p:cNvSpPr/>
          <p:nvPr/>
        </p:nvSpPr>
        <p:spPr>
          <a:xfrm>
            <a:off x="500063" y="3831729"/>
            <a:ext cx="564356" cy="200025"/>
          </a:xfrm>
          <a:prstGeom prst="roundRect">
            <a:avLst>
              <a:gd name="adj" fmla="val 57143"/>
            </a:avLst>
          </a:prstGeom>
          <a:solidFill>
            <a:srgbClr val="C9974D">
              <a:alpha val="16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E1B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</a:t>
            </a:r>
            <a:endParaRPr lang="en-US" sz="500" dirty="0"/>
          </a:p>
        </p:txBody>
      </p:sp>
      <p:sp>
        <p:nvSpPr>
          <p:cNvPr id="79" name="Text 71"/>
          <p:cNvSpPr/>
          <p:nvPr/>
        </p:nvSpPr>
        <p:spPr>
          <a:xfrm>
            <a:off x="1163148" y="3699625"/>
            <a:ext cx="1643062" cy="4643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的硬闸门：只有 </a:t>
            </a:r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E5C3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toolkit 自己完成全图 INT8 量化</a:t>
            </a:r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，输入才能真正停在 INT8。</a:t>
            </a:r>
            <a:endParaRPr lang="en-US" sz="900" dirty="0"/>
          </a:p>
        </p:txBody>
      </p:sp>
      <p:sp>
        <p:nvSpPr>
          <p:cNvPr id="80" name="Text 72"/>
          <p:cNvSpPr/>
          <p:nvPr/>
        </p:nvSpPr>
        <p:spPr>
          <a:xfrm>
            <a:off x="2904939" y="3828157"/>
            <a:ext cx="200025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C384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▥</a:t>
            </a:r>
            <a:endParaRPr lang="en-US" sz="1100" dirty="0"/>
          </a:p>
        </p:txBody>
      </p:sp>
      <p:sp>
        <p:nvSpPr>
          <p:cNvPr id="81" name="Text 73"/>
          <p:cNvSpPr/>
          <p:nvPr/>
        </p:nvSpPr>
        <p:spPr>
          <a:xfrm>
            <a:off x="357188" y="4286250"/>
            <a:ext cx="884396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600" dirty="0"/>
          </a:p>
        </p:txBody>
      </p:sp>
      <p:pic>
        <p:nvPicPr>
          <p:cNvPr id="82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7188" y="357188"/>
            <a:ext cx="8843963" cy="785813"/>
          </a:xfrm>
          <a:prstGeom prst="rect">
            <a:avLst/>
          </a:prstGeom>
        </p:spPr>
      </p:pic>
      <p:pic>
        <p:nvPicPr>
          <p:cNvPr id="83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0204" y="3064669"/>
            <a:ext cx="2664619" cy="442912"/>
          </a:xfrm>
          <a:prstGeom prst="rect">
            <a:avLst/>
          </a:prstGeom>
        </p:spPr>
      </p:pic>
      <p:pic>
        <p:nvPicPr>
          <p:cNvPr id="84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446692" y="3064669"/>
            <a:ext cx="2664619" cy="442912"/>
          </a:xfrm>
          <a:prstGeom prst="rect">
            <a:avLst/>
          </a:prstGeom>
        </p:spPr>
      </p:pic>
      <p:pic>
        <p:nvPicPr>
          <p:cNvPr id="85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23180" y="3064669"/>
            <a:ext cx="2664619" cy="442912"/>
          </a:xfrm>
          <a:prstGeom prst="rect">
            <a:avLst/>
          </a:prstGeom>
        </p:spPr>
      </p:pic>
      <p:pic>
        <p:nvPicPr>
          <p:cNvPr id="86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985150" y="3211171"/>
            <a:ext cx="1028700" cy="242888"/>
          </a:xfrm>
          <a:prstGeom prst="rect">
            <a:avLst/>
          </a:prstGeom>
        </p:spPr>
      </p:pic>
      <p:pic>
        <p:nvPicPr>
          <p:cNvPr id="87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57188" y="4286250"/>
            <a:ext cx="8843963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5731" y="150019"/>
            <a:ext cx="8872538" cy="4843463"/>
          </a:xfrm>
          <a:prstGeom prst="roundRect">
            <a:avLst>
              <a:gd name="adj" fmla="val 780"/>
            </a:avLst>
          </a:prstGeom>
          <a:solidFill>
            <a:srgbClr val="FFFFFF">
              <a:alpha val="84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0F172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57188" y="357188"/>
            <a:ext cx="8843963" cy="785813"/>
          </a:xfrm>
          <a:prstGeom prst="rect">
            <a:avLst/>
          </a:prstGeom>
          <a:ln/>
        </p:spPr>
      </p:sp>
      <p:sp>
        <p:nvSpPr>
          <p:cNvPr id="6" name="Text 3"/>
          <p:cNvSpPr/>
          <p:nvPr/>
        </p:nvSpPr>
        <p:spPr>
          <a:xfrm>
            <a:off x="356964" y="215764"/>
            <a:ext cx="1121569" cy="214313"/>
          </a:xfrm>
          <a:prstGeom prst="roundRect">
            <a:avLst>
              <a:gd name="adj" fmla="val 53333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NARRATIVE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57188" y="529363"/>
            <a:ext cx="7643813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spcBef>
                <a:spcPts val="788"/>
              </a:spcBef>
              <a:buNone/>
            </a:pPr>
            <a:r>
              <a:rPr lang="en-US" sz="2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问题闭环状态表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57188" y="885825"/>
            <a:ext cx="7643813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优先推进高确定性、低投入、可并行事项；硬指标不降级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43900" y="357188"/>
            <a:ext cx="857250" cy="242888"/>
          </a:xfrm>
          <a:prstGeom prst="roundRect">
            <a:avLst>
              <a:gd name="adj" fmla="val 38754"/>
            </a:avLst>
          </a:prstGeom>
          <a:solidFill>
            <a:srgbClr val="12203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18/18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55402" y="1271588"/>
            <a:ext cx="5014913" cy="2371725"/>
          </a:xfrm>
          <a:prstGeom prst="roundRect">
            <a:avLst>
              <a:gd name="adj" fmla="val 2787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2554" y="1471613"/>
            <a:ext cx="12001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推进优先级｜先做什么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469309" y="1503759"/>
            <a:ext cx="735806" cy="785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PRIORITY ORDER</a:t>
            </a:r>
            <a:endParaRPr lang="en-US" sz="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708" y="1720360"/>
            <a:ext cx="4686300" cy="5500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2931" y="1860947"/>
            <a:ext cx="300038" cy="300038"/>
          </a:xfrm>
          <a:prstGeom prst="roundRect">
            <a:avLst>
              <a:gd name="adj" fmla="val 23583"/>
            </a:avLst>
          </a:prstGeom>
          <a:solidFill>
            <a:srgbClr val="C9974D">
              <a:alpha val="14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007325" y="1849562"/>
            <a:ext cx="921544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恒等门控 GMC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984511" y="1870993"/>
            <a:ext cx="371475" cy="128588"/>
          </a:xfrm>
          <a:prstGeom prst="roundRect">
            <a:avLst>
              <a:gd name="adj" fmla="val 88889"/>
            </a:avLst>
          </a:prstGeom>
          <a:solidFill>
            <a:srgbClr val="C9974D">
              <a:alpha val="13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A1</a:t>
            </a:r>
            <a:endParaRPr lang="en-US" sz="500" dirty="0"/>
          </a:p>
        </p:txBody>
      </p:sp>
      <p:sp>
        <p:nvSpPr>
          <p:cNvPr id="17" name="Text 13"/>
          <p:cNvSpPr/>
          <p:nvPr/>
        </p:nvSpPr>
        <p:spPr>
          <a:xfrm>
            <a:off x="1005483" y="2057400"/>
            <a:ext cx="3078956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1"/>
              </a:lnSpc>
              <a:spcBef>
                <a:spcPts val="281"/>
              </a:spcBef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收益确定性高 · 投入低 · 命中战线 A 的 L1 / L2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4711303" y="1814513"/>
            <a:ext cx="400050" cy="1143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6D5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首要推进</a:t>
            </a:r>
            <a:endParaRPr lang="en-US" sz="600" dirty="0"/>
          </a:p>
        </p:txBody>
      </p:sp>
      <p:sp>
        <p:nvSpPr>
          <p:cNvPr id="19" name="Shape 15"/>
          <p:cNvSpPr/>
          <p:nvPr/>
        </p:nvSpPr>
        <p:spPr>
          <a:xfrm>
            <a:off x="4711303" y="1814513"/>
            <a:ext cx="42863" cy="42863"/>
          </a:xfrm>
          <a:prstGeom prst="rect">
            <a:avLst/>
          </a:prstGeom>
          <a:solidFill>
            <a:srgbClr val="C9974D"/>
          </a:solidFill>
          <a:ln/>
        </p:spPr>
      </p:sp>
      <p:sp>
        <p:nvSpPr>
          <p:cNvPr id="20" name="Text 16"/>
          <p:cNvSpPr/>
          <p:nvPr/>
        </p:nvSpPr>
        <p:spPr>
          <a:xfrm>
            <a:off x="4168378" y="1950244"/>
            <a:ext cx="942975" cy="1643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4"/>
              </a:lnSpc>
              <a:spcBef>
                <a:spcPts val="169"/>
              </a:spcBef>
              <a:buNone/>
            </a:pPr>
            <a:r>
              <a:rPr lang="en-US" sz="1200" b="1" dirty="0">
                <a:solidFill>
                  <a:srgbClr val="B24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60.8 </a:t>
            </a:r>
            <a:pPr algn="r" indent="0" marL="0">
              <a:lnSpc>
                <a:spcPts val="675"/>
              </a:lnSpc>
              <a:buNone/>
            </a:pPr>
            <a:r>
              <a:rPr lang="en-US" sz="600" b="1" dirty="0">
                <a:solidFill>
                  <a:srgbClr val="B24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168378" y="2143125"/>
            <a:ext cx="942975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75"/>
              </a:lnSpc>
              <a:spcBef>
                <a:spcPts val="225"/>
              </a:spcBef>
              <a:buNone/>
            </a:pPr>
            <a:r>
              <a:rPr lang="en-US" sz="500" dirty="0">
                <a:solidFill>
                  <a:srgbClr val="9B5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仍超 40 ms 红线</a:t>
            </a:r>
            <a:endParaRPr lang="en-US" sz="500" dirty="0"/>
          </a:p>
        </p:txBody>
      </p:sp>
      <p:sp>
        <p:nvSpPr>
          <p:cNvPr id="22" name="Shape 18"/>
          <p:cNvSpPr/>
          <p:nvPr/>
        </p:nvSpPr>
        <p:spPr>
          <a:xfrm>
            <a:off x="519708" y="2325123"/>
            <a:ext cx="4686300" cy="550069"/>
          </a:xfrm>
          <a:prstGeom prst="roundRect">
            <a:avLst>
              <a:gd name="adj" fmla="val 9715"/>
            </a:avLst>
          </a:prstGeom>
          <a:solidFill>
            <a:srgbClr val="F8FAFC">
              <a:alpha val="88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1431" dir="16200000">
              <a:srgbClr val="3A71A7">
                <a:alpha val="64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592931" y="2450083"/>
            <a:ext cx="300038" cy="300038"/>
          </a:xfrm>
          <a:prstGeom prst="roundRect">
            <a:avLst>
              <a:gd name="adj" fmla="val 23583"/>
            </a:avLst>
          </a:prstGeom>
          <a:solidFill>
            <a:srgbClr val="3A71A7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15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007269" y="2438698"/>
            <a:ext cx="70008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嵌入式集成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764506" y="2460129"/>
            <a:ext cx="328613" cy="128588"/>
          </a:xfrm>
          <a:prstGeom prst="roundRect">
            <a:avLst>
              <a:gd name="adj" fmla="val 88889"/>
            </a:avLst>
          </a:prstGeom>
          <a:solidFill>
            <a:srgbClr val="3A71A7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500" b="1" dirty="0">
                <a:solidFill>
                  <a:srgbClr val="315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C</a:t>
            </a:r>
            <a:endParaRPr lang="en-US" sz="500" dirty="0"/>
          </a:p>
        </p:txBody>
      </p:sp>
      <p:sp>
        <p:nvSpPr>
          <p:cNvPr id="26" name="Text 22"/>
          <p:cNvSpPr/>
          <p:nvPr/>
        </p:nvSpPr>
        <p:spPr>
          <a:xfrm>
            <a:off x="1005483" y="2646536"/>
            <a:ext cx="3078956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1"/>
              </a:lnSpc>
              <a:spcBef>
                <a:spcPts val="281"/>
              </a:spcBef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八项交付工作 · 不占算力 · 可与其他工作线并行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4789884" y="2488369"/>
            <a:ext cx="321469" cy="1143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15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可并行</a:t>
            </a:r>
            <a:endParaRPr lang="en-US" sz="600" dirty="0"/>
          </a:p>
        </p:txBody>
      </p:sp>
      <p:sp>
        <p:nvSpPr>
          <p:cNvPr id="28" name="Shape 24"/>
          <p:cNvSpPr/>
          <p:nvPr/>
        </p:nvSpPr>
        <p:spPr>
          <a:xfrm>
            <a:off x="4789884" y="2488369"/>
            <a:ext cx="42863" cy="42863"/>
          </a:xfrm>
          <a:prstGeom prst="rect">
            <a:avLst/>
          </a:prstGeom>
          <a:solidFill>
            <a:srgbClr val="4B79AA"/>
          </a:solidFill>
          <a:ln/>
        </p:spPr>
      </p:sp>
      <p:sp>
        <p:nvSpPr>
          <p:cNvPr id="29" name="Text 25"/>
          <p:cNvSpPr/>
          <p:nvPr/>
        </p:nvSpPr>
        <p:spPr>
          <a:xfrm>
            <a:off x="4168378" y="2632304"/>
            <a:ext cx="942975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04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不与 A1 形成算力互斥</a:t>
            </a:r>
            <a:endParaRPr lang="en-US" sz="600" dirty="0"/>
          </a:p>
        </p:txBody>
      </p:sp>
      <p:sp>
        <p:nvSpPr>
          <p:cNvPr id="30" name="Shape 26"/>
          <p:cNvSpPr/>
          <p:nvPr/>
        </p:nvSpPr>
        <p:spPr>
          <a:xfrm>
            <a:off x="519708" y="2929886"/>
            <a:ext cx="4686300" cy="550069"/>
          </a:xfrm>
          <a:prstGeom prst="roundRect">
            <a:avLst>
              <a:gd name="adj" fmla="val 9715"/>
            </a:avLst>
          </a:prstGeom>
          <a:solidFill>
            <a:srgbClr val="F8FAFC">
              <a:alpha val="88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101600" dist="21431" dir="16200000">
              <a:srgbClr val="C27F36">
                <a:alpha val="72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592931" y="3054846"/>
            <a:ext cx="300038" cy="300038"/>
          </a:xfrm>
          <a:prstGeom prst="roundRect">
            <a:avLst>
              <a:gd name="adj" fmla="val 23583"/>
            </a:avLst>
          </a:prstGeom>
          <a:solidFill>
            <a:srgbClr val="C27F36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007269" y="3043461"/>
            <a:ext cx="70008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第二个场景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1764506" y="3064892"/>
            <a:ext cx="328613" cy="128588"/>
          </a:xfrm>
          <a:prstGeom prst="roundRect">
            <a:avLst>
              <a:gd name="adj" fmla="val 88889"/>
            </a:avLst>
          </a:prstGeom>
          <a:solidFill>
            <a:srgbClr val="C27F36">
              <a:alpha val="11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500" b="1" dirty="0">
                <a:solidFill>
                  <a:srgbClr val="9257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B</a:t>
            </a:r>
            <a:endParaRPr lang="en-US" sz="500" dirty="0"/>
          </a:p>
        </p:txBody>
      </p:sp>
      <p:sp>
        <p:nvSpPr>
          <p:cNvPr id="34" name="Text 30"/>
          <p:cNvSpPr/>
          <p:nvPr/>
        </p:nvSpPr>
        <p:spPr>
          <a:xfrm>
            <a:off x="1005483" y="3251299"/>
            <a:ext cx="3078956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1"/>
              </a:lnSpc>
              <a:spcBef>
                <a:spcPts val="281"/>
              </a:spcBef>
              <a:buNone/>
            </a:pPr>
            <a:r>
              <a:rPr lang="en-US" sz="600" dirty="0">
                <a:solidFill>
                  <a:srgbClr val="4B5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需要长周期验证 · 决定 SOP 是否真正具备可复制性</a:t>
            </a:r>
            <a:endParaRPr lang="en-US" sz="600" dirty="0"/>
          </a:p>
        </p:txBody>
      </p:sp>
      <p:sp>
        <p:nvSpPr>
          <p:cNvPr id="35" name="Text 31"/>
          <p:cNvSpPr/>
          <p:nvPr/>
        </p:nvSpPr>
        <p:spPr>
          <a:xfrm>
            <a:off x="4711303" y="3093132"/>
            <a:ext cx="400050" cy="1143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9257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持续验证</a:t>
            </a:r>
            <a:endParaRPr lang="en-US" sz="600" dirty="0"/>
          </a:p>
        </p:txBody>
      </p:sp>
      <p:sp>
        <p:nvSpPr>
          <p:cNvPr id="36" name="Shape 32"/>
          <p:cNvSpPr/>
          <p:nvPr/>
        </p:nvSpPr>
        <p:spPr>
          <a:xfrm>
            <a:off x="4711303" y="3093132"/>
            <a:ext cx="42863" cy="42863"/>
          </a:xfrm>
          <a:prstGeom prst="rect">
            <a:avLst/>
          </a:prstGeom>
          <a:solidFill>
            <a:srgbClr val="C27F36"/>
          </a:solidFill>
          <a:ln/>
        </p:spPr>
      </p:sp>
      <p:sp>
        <p:nvSpPr>
          <p:cNvPr id="37" name="Text 33"/>
          <p:cNvSpPr/>
          <p:nvPr/>
        </p:nvSpPr>
        <p:spPr>
          <a:xfrm>
            <a:off x="4168378" y="3237068"/>
            <a:ext cx="942975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04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 SOP 可复制性</a:t>
            </a:r>
            <a:endParaRPr lang="en-US" sz="600" dirty="0"/>
          </a:p>
        </p:txBody>
      </p:sp>
      <p:sp>
        <p:nvSpPr>
          <p:cNvPr id="38" name="Shape 34"/>
          <p:cNvSpPr/>
          <p:nvPr/>
        </p:nvSpPr>
        <p:spPr>
          <a:xfrm>
            <a:off x="5495330" y="1271588"/>
            <a:ext cx="3707606" cy="2371725"/>
          </a:xfrm>
          <a:prstGeom prst="roundRect">
            <a:avLst>
              <a:gd name="adj" fmla="val 2787"/>
            </a:avLst>
          </a:prstGeom>
          <a:solidFill>
            <a:srgbClr val="FFFFFF">
              <a:alpha val="82000"/>
            </a:srgbClr>
          </a:solidFill>
          <a:ln w="7144">
            <a:solidFill>
              <a:srgbClr val="122033">
                <a:alpha val="8000"/>
              </a:srgbClr>
            </a:solidFill>
            <a:prstDash val="solid"/>
          </a:ln>
          <a:effectLst>
            <a:outerShdw sx="100000" sy="100000" kx="0" ky="0" algn="bl" rotWithShape="0" blurRad="257175" dist="100013" dir="5400000">
              <a:srgbClr val="0F172A">
                <a:alpha val="8000"/>
              </a:srgbClr>
            </a:outerShdw>
          </a:effectLst>
        </p:spPr>
      </p:sp>
      <p:sp>
        <p:nvSpPr>
          <p:cNvPr id="39" name="Text 35"/>
          <p:cNvSpPr/>
          <p:nvPr/>
        </p:nvSpPr>
        <p:spPr>
          <a:xfrm>
            <a:off x="5662482" y="1471613"/>
            <a:ext cx="12001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残留硬指标｜持续监控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8543925" y="1485900"/>
            <a:ext cx="492919" cy="1143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B7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底线不降级</a:t>
            </a:r>
            <a:endParaRPr lang="en-US" sz="600" dirty="0"/>
          </a:p>
        </p:txBody>
      </p:sp>
      <p:sp>
        <p:nvSpPr>
          <p:cNvPr id="41" name="Shape 37"/>
          <p:cNvSpPr/>
          <p:nvPr/>
        </p:nvSpPr>
        <p:spPr>
          <a:xfrm>
            <a:off x="8543925" y="1485900"/>
            <a:ext cx="50006" cy="50006"/>
          </a:xfrm>
          <a:prstGeom prst="rect">
            <a:avLst/>
          </a:prstGeom>
          <a:solidFill>
            <a:srgbClr val="C9974D"/>
          </a:solidFill>
          <a:ln/>
        </p:spPr>
      </p:sp>
      <p:sp>
        <p:nvSpPr>
          <p:cNvPr id="42" name="Shape 38"/>
          <p:cNvSpPr/>
          <p:nvPr/>
        </p:nvSpPr>
        <p:spPr>
          <a:xfrm>
            <a:off x="5659636" y="1720360"/>
            <a:ext cx="3378994" cy="550069"/>
          </a:xfrm>
          <a:prstGeom prst="roundRect">
            <a:avLst>
              <a:gd name="adj" fmla="val 9175"/>
            </a:avLst>
          </a:prstGeom>
          <a:solidFill>
            <a:srgbClr val="F8FAFC">
              <a:alpha val="8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738440" y="1870044"/>
            <a:ext cx="464344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GMC 吞吐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6258706" y="1877132"/>
            <a:ext cx="221456" cy="107156"/>
          </a:xfrm>
          <a:prstGeom prst="roundRect">
            <a:avLst>
              <a:gd name="adj" fmla="val 106667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</a:t>
            </a:r>
            <a:endParaRPr lang="en-US" sz="500" dirty="0"/>
          </a:p>
        </p:txBody>
      </p:sp>
      <p:sp>
        <p:nvSpPr>
          <p:cNvPr id="45" name="Text 41"/>
          <p:cNvSpPr/>
          <p:nvPr/>
        </p:nvSpPr>
        <p:spPr>
          <a:xfrm>
            <a:off x="5738217" y="2019560"/>
            <a:ext cx="2307431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 40 ms · step2 差 4 倍</a:t>
            </a:r>
            <a:endParaRPr lang="en-US" sz="600" dirty="0"/>
          </a:p>
        </p:txBody>
      </p:sp>
      <p:sp>
        <p:nvSpPr>
          <p:cNvPr id="46" name="Text 42"/>
          <p:cNvSpPr/>
          <p:nvPr/>
        </p:nvSpPr>
        <p:spPr>
          <a:xfrm>
            <a:off x="8115300" y="1859663"/>
            <a:ext cx="842962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40"/>
              </a:lnSpc>
              <a:buNone/>
            </a:pPr>
            <a:r>
              <a:rPr lang="en-US" sz="1100" b="1" dirty="0">
                <a:solidFill>
                  <a:srgbClr val="B24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60.8–61.2 </a:t>
            </a:r>
            <a:pPr algn="r" indent="0" marL="0">
              <a:lnSpc>
                <a:spcPts val="650"/>
              </a:lnSpc>
              <a:buNone/>
            </a:pPr>
            <a:r>
              <a:rPr lang="en-US" sz="600" b="1" dirty="0">
                <a:solidFill>
                  <a:srgbClr val="B24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8115300" y="2045568"/>
            <a:ext cx="842962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75"/>
              </a:lnSpc>
              <a:spcBef>
                <a:spcPts val="225"/>
              </a:spcBef>
              <a:buNone/>
            </a:pPr>
            <a:r>
              <a:rPr lang="en-US" sz="500" dirty="0">
                <a:solidFill>
                  <a:srgbClr val="6B7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尚未通过板端红线</a:t>
            </a:r>
            <a:endParaRPr lang="en-US" sz="500" dirty="0"/>
          </a:p>
        </p:txBody>
      </p:sp>
      <p:sp>
        <p:nvSpPr>
          <p:cNvPr id="48" name="Shape 44"/>
          <p:cNvSpPr/>
          <p:nvPr/>
        </p:nvSpPr>
        <p:spPr>
          <a:xfrm>
            <a:off x="5659636" y="2325123"/>
            <a:ext cx="3378994" cy="550069"/>
          </a:xfrm>
          <a:prstGeom prst="roundRect">
            <a:avLst>
              <a:gd name="adj" fmla="val 9175"/>
            </a:avLst>
          </a:prstGeom>
          <a:solidFill>
            <a:srgbClr val="F8FAFC">
              <a:alpha val="8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5740003" y="2474807"/>
            <a:ext cx="600075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吞吐剩余空间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6397563" y="2481895"/>
            <a:ext cx="221456" cy="107156"/>
          </a:xfrm>
          <a:prstGeom prst="roundRect">
            <a:avLst>
              <a:gd name="adj" fmla="val 106667"/>
            </a:avLst>
          </a:prstGeom>
          <a:solidFill>
            <a:srgbClr val="C997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500" b="1" dirty="0">
                <a:solidFill>
                  <a:srgbClr val="7D5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偏紧</a:t>
            </a:r>
            <a:endParaRPr lang="en-US" sz="500" dirty="0"/>
          </a:p>
        </p:txBody>
      </p:sp>
      <p:sp>
        <p:nvSpPr>
          <p:cNvPr id="51" name="Text 47"/>
          <p:cNvSpPr/>
          <p:nvPr/>
        </p:nvSpPr>
        <p:spPr>
          <a:xfrm>
            <a:off x="5738217" y="2624324"/>
            <a:ext cx="2307431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upload 移出 NPU 线程可回收约 10%</a:t>
            </a:r>
            <a:endParaRPr lang="en-US" sz="600" dirty="0"/>
          </a:p>
        </p:txBody>
      </p:sp>
      <p:sp>
        <p:nvSpPr>
          <p:cNvPr id="52" name="Text 48"/>
          <p:cNvSpPr/>
          <p:nvPr/>
        </p:nvSpPr>
        <p:spPr>
          <a:xfrm>
            <a:off x="8115300" y="2464426"/>
            <a:ext cx="842962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40"/>
              </a:lnSpc>
              <a:buNone/>
            </a:pPr>
            <a:r>
              <a:rPr lang="en-US" sz="1100" b="1" dirty="0">
                <a:solidFill>
                  <a:srgbClr val="9A6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3%–5%</a:t>
            </a:r>
            <a:endParaRPr lang="en-US" sz="1100" dirty="0"/>
          </a:p>
        </p:txBody>
      </p:sp>
      <p:sp>
        <p:nvSpPr>
          <p:cNvPr id="53" name="Text 49"/>
          <p:cNvSpPr/>
          <p:nvPr/>
        </p:nvSpPr>
        <p:spPr>
          <a:xfrm>
            <a:off x="8115300" y="2650331"/>
            <a:ext cx="842962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75"/>
              </a:lnSpc>
              <a:spcBef>
                <a:spcPts val="225"/>
              </a:spcBef>
              <a:buNone/>
            </a:pPr>
            <a:r>
              <a:rPr lang="en-US" sz="500" dirty="0">
                <a:solidFill>
                  <a:srgbClr val="6B7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10% 回收机会</a:t>
            </a:r>
            <a:endParaRPr lang="en-US" sz="500" dirty="0"/>
          </a:p>
        </p:txBody>
      </p:sp>
      <p:sp>
        <p:nvSpPr>
          <p:cNvPr id="54" name="Shape 50"/>
          <p:cNvSpPr/>
          <p:nvPr/>
        </p:nvSpPr>
        <p:spPr>
          <a:xfrm>
            <a:off x="5659636" y="2929886"/>
            <a:ext cx="3378994" cy="550069"/>
          </a:xfrm>
          <a:prstGeom prst="roundRect">
            <a:avLst>
              <a:gd name="adj" fmla="val 9175"/>
            </a:avLst>
          </a:prstGeom>
          <a:solidFill>
            <a:srgbClr val="F8FAFC">
              <a:alpha val="88000"/>
            </a:srgbClr>
          </a:solidFill>
          <a:ln w="7144">
            <a:solidFill>
              <a:srgbClr val="122033">
                <a:alpha val="700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5740003" y="3079570"/>
            <a:ext cx="4000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b="1" dirty="0">
                <a:solidFill>
                  <a:srgbClr val="12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dropped</a:t>
            </a:r>
            <a:endParaRPr lang="en-US" sz="700" dirty="0"/>
          </a:p>
        </p:txBody>
      </p:sp>
      <p:sp>
        <p:nvSpPr>
          <p:cNvPr id="56" name="Text 52"/>
          <p:cNvSpPr/>
          <p:nvPr/>
        </p:nvSpPr>
        <p:spPr>
          <a:xfrm>
            <a:off x="6197203" y="3086658"/>
            <a:ext cx="271463" cy="107156"/>
          </a:xfrm>
          <a:prstGeom prst="roundRect">
            <a:avLst>
              <a:gd name="adj" fmla="val 106667"/>
            </a:avLst>
          </a:prstGeom>
          <a:solidFill>
            <a:srgbClr val="28785C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500" b="1" dirty="0">
                <a:solidFill>
                  <a:srgbClr val="28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</a:t>
            </a:r>
            <a:endParaRPr lang="en-US" sz="500" dirty="0"/>
          </a:p>
        </p:txBody>
      </p:sp>
      <p:sp>
        <p:nvSpPr>
          <p:cNvPr id="57" name="Text 53"/>
          <p:cNvSpPr/>
          <p:nvPr/>
        </p:nvSpPr>
        <p:spPr>
          <a:xfrm>
            <a:off x="5738217" y="3229087"/>
            <a:ext cx="2307431" cy="100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spcBef>
                <a:spcPts val="225"/>
              </a:spcBef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锚定等价的前提，必须持续守住</a:t>
            </a:r>
            <a:endParaRPr lang="en-US" sz="600" dirty="0"/>
          </a:p>
        </p:txBody>
      </p:sp>
      <p:sp>
        <p:nvSpPr>
          <p:cNvPr id="58" name="Text 54"/>
          <p:cNvSpPr/>
          <p:nvPr/>
        </p:nvSpPr>
        <p:spPr>
          <a:xfrm>
            <a:off x="8115300" y="3069189"/>
            <a:ext cx="842962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40"/>
              </a:lnSpc>
              <a:buNone/>
            </a:pPr>
            <a:r>
              <a:rPr lang="en-US" sz="1100" b="1" dirty="0">
                <a:solidFill>
                  <a:srgbClr val="28785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== 0</a:t>
            </a:r>
            <a:endParaRPr lang="en-US" sz="1100" dirty="0"/>
          </a:p>
        </p:txBody>
      </p:sp>
      <p:sp>
        <p:nvSpPr>
          <p:cNvPr id="59" name="Text 55"/>
          <p:cNvSpPr/>
          <p:nvPr/>
        </p:nvSpPr>
        <p:spPr>
          <a:xfrm>
            <a:off x="8115300" y="3255094"/>
            <a:ext cx="842962" cy="85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75"/>
              </a:lnSpc>
              <a:spcBef>
                <a:spcPts val="225"/>
              </a:spcBef>
              <a:buNone/>
            </a:pPr>
            <a:r>
              <a:rPr lang="en-US" sz="500" dirty="0">
                <a:solidFill>
                  <a:srgbClr val="6B7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持续监控</a:t>
            </a:r>
            <a:endParaRPr lang="en-US" sz="500" dirty="0"/>
          </a:p>
        </p:txBody>
      </p:sp>
      <p:sp>
        <p:nvSpPr>
          <p:cNvPr id="60" name="Shape 56"/>
          <p:cNvSpPr/>
          <p:nvPr/>
        </p:nvSpPr>
        <p:spPr>
          <a:xfrm>
            <a:off x="355402" y="3757613"/>
            <a:ext cx="5014913" cy="400050"/>
          </a:xfrm>
          <a:prstGeom prst="roundRect">
            <a:avLst>
              <a:gd name="adj" fmla="val 20408"/>
            </a:avLst>
          </a:prstGeom>
          <a:solidFill>
            <a:srgbClr val="122033"/>
          </a:solidFill>
          <a:ln/>
          <a:effectLst>
            <a:outerShdw sx="100000" sy="100000" kx="0" ky="0" algn="bl" rotWithShape="0" blurRad="214313" dist="85725" dir="5400000">
              <a:srgbClr val="0F172A">
                <a:alpha val="14000"/>
              </a:srgbClr>
            </a:outerShdw>
          </a:effectLst>
        </p:spPr>
      </p:sp>
      <p:sp>
        <p:nvSpPr>
          <p:cNvPr id="61" name="Text 57"/>
          <p:cNvSpPr/>
          <p:nvPr/>
        </p:nvSpPr>
        <p:spPr>
          <a:xfrm>
            <a:off x="485384" y="3875484"/>
            <a:ext cx="671513" cy="164306"/>
          </a:xfrm>
          <a:prstGeom prst="roundRect">
            <a:avLst>
              <a:gd name="adj" fmla="val 60492"/>
            </a:avLst>
          </a:prstGeom>
          <a:solidFill>
            <a:srgbClr val="C9974D">
              <a:alpha val="18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4C7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PHASE</a:t>
            </a:r>
            <a:endParaRPr lang="en-US" sz="500" dirty="0"/>
          </a:p>
        </p:txBody>
      </p:sp>
      <p:sp>
        <p:nvSpPr>
          <p:cNvPr id="62" name="Text 58"/>
          <p:cNvSpPr/>
          <p:nvPr/>
        </p:nvSpPr>
        <p:spPr>
          <a:xfrm>
            <a:off x="1269076" y="3871913"/>
            <a:ext cx="2893219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下一阶段的核心是 </a:t>
            </a:r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4C7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“少算”</a:t>
            </a:r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而不是“多算”——把</a:t>
            </a:r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4C7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</a:t>
            </a:r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4C7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搬运</a:t>
            </a:r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打到极致</a:t>
            </a:r>
            <a:endParaRPr lang="en-US" sz="1100" dirty="0"/>
          </a:p>
        </p:txBody>
      </p:sp>
      <p:sp>
        <p:nvSpPr>
          <p:cNvPr id="63" name="Text 59"/>
          <p:cNvSpPr/>
          <p:nvPr/>
        </p:nvSpPr>
        <p:spPr>
          <a:xfrm>
            <a:off x="4275032" y="3900488"/>
            <a:ext cx="964406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EB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消除冗余计算与数据搬运 →</a:t>
            </a:r>
            <a:endParaRPr lang="en-US" sz="600" dirty="0"/>
          </a:p>
        </p:txBody>
      </p:sp>
      <p:sp>
        <p:nvSpPr>
          <p:cNvPr id="64" name="Text 60"/>
          <p:cNvSpPr/>
          <p:nvPr/>
        </p:nvSpPr>
        <p:spPr>
          <a:xfrm>
            <a:off x="357188" y="4286250"/>
            <a:ext cx="8843963" cy="500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Editorial Light Master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5A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600" dirty="0"/>
          </a:p>
        </p:txBody>
      </p:sp>
      <p:pic>
        <p:nvPicPr>
          <p:cNvPr id="6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7188" y="357188"/>
            <a:ext cx="8843963" cy="785813"/>
          </a:xfrm>
          <a:prstGeom prst="rect">
            <a:avLst/>
          </a:prstGeom>
        </p:spPr>
      </p:pic>
      <p:pic>
        <p:nvPicPr>
          <p:cNvPr id="6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7188" y="4286250"/>
            <a:ext cx="8843963" cy="5000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2026-10-28T09:26:47Z</dcterms:created>
  <dcterms:modified xsi:type="dcterms:W3CDTF">2026-10-28T09:26:47Z</dcterms:modified>
</cp:coreProperties>
</file>